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so far in this series has talked to a user. In this lesson we point the same building block, a Kernel plus an IChatCompletionService, at a different job: grading another agent's output. A TargetAgent, a simple customer-support bot, answers a fixed set of test questions. A separate JudgeAgent then scores each answer against a known ground truth using a rubric-driven prompt. For each test case the program prints a pass or fail verdict, a numeric score and the judge's written reasoning. There is no UI and no persistence; it is one run through an in-memory test suite, structured the same way a real regression-testing harness for prompts or model changes would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shift. We've had one model review another before: the critic loops in Lessons 11 and 18 read a draft and sent feedback back for a rewrite. But nothing there produced a score, and there was no known-correct answer to compare against, so whether the final output was actually right was still judged by eye, one run at a time. This lesson is the first automated, scored test harness. A judge agent compares the first agent's answer with a known ground truth and applies an explicit rubric, so 'is this good?' becomes a repeatable, criteria-based check you can rerun whenever you change a prompt or a model. Nothing new is needed in the kernel: both agents share the same IChatCompletionService. What changes is the job we give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recent lessons. You need the .NET 10 SDK and a console application, opened as Evaluator.slnx. The project references Microsoft.SemanticKernel and Microsoft.SemanticKernel.Connectors.OpenAI, both at version 1.78.0. The key comes from the OPENAI_API_KEY environment variable, and the program throws at startup if it isn't set. The model is gpt-4.1-mini, registered once with AddOpenAIChatCompletion. Program.cs pulls the IChatCompletionService out of the kernel and hands that one service to both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has a few small pieces, each with one job. TestCase is a record holding a question and its ground-truth answer; the array of two test cases is the seed of what evaluation people call a golden dataset. TargetAgent is the agent under test, a customer-support bot told to answer briefly. JudgeAgent never talks to a user; its only job is to score one answer against the ground truth. Its verdict comes back as an EvaluationResult, a small class with a score, the judge's reasoning and a passed flag. Program.cs ties them together into an evaluation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test case the loop does four things. First it prints the question and asks the TargetAgent, which answers under its support-bot persona at temperature 0.4. Second, highlighted here, it hands three strings to the JudgeAgent: the original question, the agent's answer and the ground truth. Third, the judge's JSON reply is deserialized into an EvaluationResult. Fourth, the program prints PASS or FAIL with the score out of five, followed by the judge's reasoning. Notice that the judge never sees the target's system prompt. It grades only what the agent actually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judge's prompt from JudgeAgent, slightly shortened. It casts the model as a strict quality-assurance judge and spells out a rubric: five means perfectly accurate and aligned with the ground truth, three means partially accurate but missing key details, and one means inaccurate or contradicting the ground truth. It also states the pass rule outright: passed is true only for a score of four or five. The three highlighted lines are interpolated C# values: the question, the ground truth and the agent's response. The prompt ends by demanding JSON in a fixed shape, with the reasoning first, then the score, then the passed flag. Writing the rubric down is what turns a subjective judgment into one that is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agents use OpenAIPromptExecutionSettings, but with deliberately opposite values. The TargetAgent runs at temperature 0.4, a little warmth so its answers sound natural, the way you would actually ship a support bot. The JudgeAgent runs at temperature 0.0 so its scoring is as deterministic as possible, and it sets ResponseFormat to json_object, which tells OpenAI to return only a valid JSON object. A judge that gives different verdicts for the same answer is useless as a regression test, so the judge is the one that runs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 ResponseFormat set, the judge's reply isn't trusted blindly. If it is valid JSON, JsonSerializer maps the score, reasoning and passed fields onto EvaluationResult through their JsonPropertyName attributes. If the model literally returns null, Deserialize returns null and the null-coalescing operator supplies a failure result instead. The highlighted case is the more likely one: JSON that is truncated or the wrong shape makes Deserialize throw a JsonException. The lesson catches that and returns the same safe result, passed false with the reasoning 'Failed to parse JSON'. Without that catch, one bad reply would abort the whole suite and throw away every result gathered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AI Evaluation Suite Started, then for each test a header, the question, the agent's answer, a verdict line and the judge's reasoning. The structure of those lines is fixed by Program.cs; the answers, scores and reasoning shown on this slide are illustrative, and yours will differ from run to run. Expect the first test to pass easily, since any model knows the capital of France. The second test is the interesting one: the support bot was never told that Premium laptops have a 14-day return window, so its answer may not match the ground truth, and that is exactly the kind of gap a judge is there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third TestCase to the tests array, perhaps one the support bot can only answer if you put the policy in its persona. Count the passes inside the loop and print a summary line at the end. Then set Environment.ExitCode to 1 when anything failed, so a build pipeline would stop on a regression. Finally, check that a judge reply that can't be parsed shows up in your count as a failure rather than crashing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built an LLM-as-a-judge harness in which a second agent scores the first against ground truth with an explicit rubric, returns strict JSON that we read into a typed result, runs cold while the target runs warm, and fails safely when its reply can't be parsed. These ideas keep coming back. In the capstone, Lesson 29's ReviewerAgent is a judge for generated code, running at temperature 0.0. Lesson 31 applies the same warm-draft, cold-critique split inside a single agent that reviews its own work. Lesson 34's moderator returns its speaker choice as JSON with the same defensive parsing, and Lesson 36 gets a whole plan back as parsed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26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Evaluator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LLM-as-a-judge: one agent answers, a second agent grades it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TestCase[] tests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PASS / FAIL + score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a second agent to grade the first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a rubric the judge can apply the same way every time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Force JSON output and read it into a typed result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Pick temperature by role: warm answers, cold judging</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Turn a bad judge response into a safe FAIL</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From critiquing a draft to scoring a test set</a:t>
            </a:r>
            <a:endParaRPr lang="en-US" sz="275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Earlier lessons</a:t>
            </a:r>
            <a:endParaRPr lang="en-US" sz="1700" dirty="0"/>
          </a:p>
        </p:txBody>
      </p:sp>
      <p:sp>
        <p:nvSpPr>
          <p:cNvPr id="8" name="Text 5"/>
          <p:cNvSpPr txBox="1"/>
          <p:nvPr/>
        </p:nvSpPr>
        <p:spPr>
          <a:xfrm>
            <a:off x="68580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Critics review drafts (Lessons 11, 18)</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Feedback drives a rewrite, not a score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known answers to check against</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26: agent grades agent</a:t>
            </a:r>
            <a:endParaRPr lang="en-US" sz="1700" dirty="0"/>
          </a:p>
        </p:txBody>
      </p:sp>
      <p:sp>
        <p:nvSpPr>
          <p:cNvPr id="13" name="Text 9"/>
          <p:cNvSpPr txBox="1"/>
          <p:nvPr/>
        </p:nvSpPr>
        <p:spPr>
          <a:xfrm>
            <a:off x="4983480" y="2194560"/>
            <a:ext cx="3474720" cy="10972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judge scores another agent's answer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rubric and ground truth define good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same suite reruns after every change</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Kernel, same chat service: only the job of the prompt changes.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Evaluator.slnx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chat service, shared by both the target agent and the judge.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test harness built from four small parts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Evaluation suite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Program.cs runs each test case through the target, then the judge.</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TestCase</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record of Question and GroundTruth: the seed of a golden dataset.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TargetAgent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agent under test: a support bot.</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JudgeAgent</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Grades an answer against ground truth.</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Verdict</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EvaluationResult: score, reasoning and passed.</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SUITE LOOP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happens for every test case</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Ask</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TargetAgent answers the question at temperature 0.4.</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Judge</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EvaluateAsync gets the question, the answer and the ground truth.</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Parse</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judge's JSON becomes a typed EvaluationResult.</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Report</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Prints PASS or FAIL, the score out of 5, and the reasoning.</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judge never sees the target's persona, only what it said.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RUBRIC PROMPT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judge's prompt turns 'good' into a rule</a:t>
            </a:r>
            <a:endParaRPr lang="en-US" sz="2800" dirty="0"/>
          </a:p>
        </p:txBody>
      </p:sp>
      <p:sp>
        <p:nvSpPr>
          <p:cNvPr id="4" name="Shape 2"/>
          <p:cNvSpPr/>
          <p:nvPr/>
        </p:nvSpPr>
        <p:spPr>
          <a:xfrm>
            <a:off x="457200" y="1325880"/>
            <a:ext cx="5257800" cy="2377440"/>
          </a:xfrm>
          <a:prstGeom prst="roundRect">
            <a:avLst>
              <a:gd name="adj" fmla="val 3077"/>
            </a:avLst>
          </a:prstGeom>
          <a:solidFill>
            <a:srgbClr val="0F1420"/>
          </a:solidFill>
          <a:ln w="12700">
            <a:solidFill>
              <a:srgbClr val="0F1420"/>
            </a:solidFill>
            <a:prstDash val="solid"/>
          </a:ln>
        </p:spPr>
      </p:sp>
      <p:sp>
        <p:nvSpPr>
          <p:cNvPr id="5" name="Text 3"/>
          <p:cNvSpPr txBox="1"/>
          <p:nvPr/>
        </p:nvSpPr>
        <p:spPr>
          <a:xfrm>
            <a:off x="640080" y="1463040"/>
            <a:ext cx="4892040" cy="2103120"/>
          </a:xfrm>
          <a:prstGeom prst="rect">
            <a:avLst/>
          </a:prstGeom>
          <a:noFill/>
          <a:ln/>
        </p:spPr>
        <p:txBody>
          <a:bodyPr wrap="square" lIns="0" tIns="0" rIns="0" bIns="0" rtlCol="0" anchor="t"/>
          <a:lstStyle/>
          <a:p>
            <a:pPr indent="0" marL="0">
              <a:buNone/>
            </a:pPr>
            <a:r>
              <a:rPr lang="en-US" sz="1200" dirty="0">
                <a:solidFill>
                  <a:srgbClr val="D7E3F4"/>
                </a:solidFill>
                <a:latin typeface="Courier New" pitchFamily="34" charset="0"/>
                <a:ea typeface="Courier New" pitchFamily="34" charset="-122"/>
                <a:cs typeface="Courier New" pitchFamily="34" charset="-120"/>
              </a:rPr>
              <a:t>You are a strict Quality Assurance Judge.</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RUBRIC:</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Score 5: Perfectly accurate ...</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Score 3: Partially accurate ...</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Score 1: Inaccurate or contradicts ...</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 PASSED: True if score is 4 or 5.</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User Question: {question}</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Ground Truth: {groundTruth}</a:t>
            </a:r>
            <a:endParaRPr lang="en-US" sz="1200" dirty="0"/>
          </a:p>
          <a:p>
            <a:pPr indent="0" marL="0">
              <a:buNone/>
            </a:pPr>
            <a:r>
              <a:rPr lang="en-US" sz="1200" b="1" dirty="0">
                <a:solidFill>
                  <a:srgbClr val="F5A623"/>
                </a:solidFill>
                <a:latin typeface="Courier New" pitchFamily="34" charset="0"/>
                <a:ea typeface="Courier New" pitchFamily="34" charset="-122"/>
                <a:cs typeface="Courier New" pitchFamily="34" charset="-120"/>
              </a:rPr>
              <a:t>Agent Response: {targetResponse}</a:t>
            </a:r>
            <a:endParaRPr lang="en-US" sz="1200" dirty="0"/>
          </a:p>
          <a:p>
            <a:pPr indent="0" marL="0">
              <a:buNone/>
            </a:pPr>
            <a:r>
              <a:rPr lang="en-US" sz="1200" dirty="0">
                <a:solidFill>
                  <a:srgbClr val="D7E3F4"/>
                </a:solidFill>
                <a:latin typeface="Courier New" pitchFamily="34" charset="0"/>
                <a:ea typeface="Courier New" pitchFamily="34" charset="-122"/>
                <a:cs typeface="Courier New" pitchFamily="34" charset="-120"/>
              </a:rPr>
              <a:t>Output ONLY valid JSON matching this schema:</a:t>
            </a:r>
            <a:endParaRPr lang="en-US" sz="1200" dirty="0"/>
          </a:p>
          <a:p>
            <a:pPr indent="0" marL="0">
              <a:buNone/>
            </a:pPr>
            <a:r>
              <a:rPr lang="en-US" sz="1200" dirty="0">
                <a:solidFill>
                  <a:srgbClr val="9FE6B8"/>
                </a:solidFill>
                <a:latin typeface="Courier New" pitchFamily="34" charset="0"/>
                <a:ea typeface="Courier New" pitchFamily="34" charset="-122"/>
                <a:cs typeface="Courier New" pitchFamily="34" charset="-120"/>
              </a:rPr>
              <a:t>{ "reasoning", "score": [1-5], "passed" }</a:t>
            </a:r>
            <a:endParaRPr lang="en-US" sz="12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Numeric rubric</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5, 3 and 1 each have a written meaning.</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Pass rule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Passed means a score of 4 or 5, nothing else.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JSON schema</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Reasoning first, then score and passed.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EXECUTION SETTINGS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Temperature is chosen for the role, not the model</a:t>
            </a:r>
            <a:endParaRPr lang="en-US" sz="2500" dirty="0"/>
          </a:p>
        </p:txBody>
      </p:sp>
      <p:sp>
        <p:nvSpPr>
          <p:cNvPr id="4" name="Shape 2"/>
          <p:cNvSpPr/>
          <p:nvPr/>
        </p:nvSpPr>
        <p:spPr>
          <a:xfrm>
            <a:off x="457200" y="1371600"/>
            <a:ext cx="3931920" cy="1783080"/>
          </a:xfrm>
          <a:prstGeom prst="roundRect">
            <a:avLst>
              <a:gd name="adj" fmla="val 4103"/>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TargetAgent: 0.4</a:t>
            </a:r>
            <a:endParaRPr lang="en-US" sz="1700" dirty="0"/>
          </a:p>
        </p:txBody>
      </p:sp>
      <p:sp>
        <p:nvSpPr>
          <p:cNvPr id="8" name="Text 5"/>
          <p:cNvSpPr txBox="1"/>
          <p:nvPr/>
        </p:nvSpPr>
        <p:spPr>
          <a:xfrm>
            <a:off x="685800" y="2194560"/>
            <a:ext cx="3474720" cy="11430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little variety for natural answers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Plain text back, no format constraint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Behaves like the bot you would ship</a:t>
            </a:r>
            <a:endParaRPr lang="en-US" sz="1300" dirty="0"/>
          </a:p>
        </p:txBody>
      </p:sp>
      <p:sp>
        <p:nvSpPr>
          <p:cNvPr id="9" name="Shape 6"/>
          <p:cNvSpPr/>
          <p:nvPr/>
        </p:nvSpPr>
        <p:spPr>
          <a:xfrm>
            <a:off x="4754880" y="1371600"/>
            <a:ext cx="3931920" cy="1783080"/>
          </a:xfrm>
          <a:prstGeom prst="roundRect">
            <a:avLst>
              <a:gd name="adj" fmla="val 4103"/>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JudgeAgent: 0.0</a:t>
            </a:r>
            <a:endParaRPr lang="en-US" sz="1700" dirty="0"/>
          </a:p>
        </p:txBody>
      </p:sp>
      <p:sp>
        <p:nvSpPr>
          <p:cNvPr id="13" name="Text 9"/>
          <p:cNvSpPr txBox="1"/>
          <p:nvPr/>
        </p:nvSpPr>
        <p:spPr>
          <a:xfrm>
            <a:off x="4983480" y="2194560"/>
            <a:ext cx="3474720" cy="11430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As deterministic as the model allows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ResponseFormat = "json_object"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answer in, same verdict out</a:t>
            </a:r>
            <a:endParaRPr lang="en-US" sz="1300" dirty="0"/>
          </a:p>
        </p:txBody>
      </p:sp>
      <p:sp>
        <p:nvSpPr>
          <p:cNvPr id="14" name="Text 10"/>
          <p:cNvSpPr txBox="1"/>
          <p:nvPr/>
        </p:nvSpPr>
        <p:spPr>
          <a:xfrm>
            <a:off x="457200" y="34290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Generation benefits from variety; judgment benefits from consistency.</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DEFENSIVE PARSING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A bad judge reply becomes a FAIL, not a crash</a:t>
            </a:r>
            <a:endParaRPr lang="en-US" sz="2750" dirty="0"/>
          </a:p>
        </p:txBody>
      </p:sp>
      <p:sp>
        <p:nvSpPr>
          <p:cNvPr id="4" name="Shape 2"/>
          <p:cNvSpPr/>
          <p:nvPr/>
        </p:nvSpPr>
        <p:spPr>
          <a:xfrm>
            <a:off x="457200" y="1371600"/>
            <a:ext cx="256032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Valid JSON</a:t>
            </a:r>
            <a:endParaRPr lang="en-US" sz="1500" dirty="0"/>
          </a:p>
        </p:txBody>
      </p:sp>
      <p:sp>
        <p:nvSpPr>
          <p:cNvPr id="8" name="Text 5"/>
          <p:cNvSpPr txBox="1"/>
          <p:nvPr/>
        </p:nvSpPr>
        <p:spPr>
          <a:xfrm>
            <a:off x="64008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JsonSerializer fills EvaluationResult through its JsonPropertyName attributes.</a:t>
            </a:r>
            <a:endParaRPr lang="en-US" sz="1200" dirty="0"/>
          </a:p>
        </p:txBody>
      </p:sp>
      <p:sp>
        <p:nvSpPr>
          <p:cNvPr id="9" name="Shape 6"/>
          <p:cNvSpPr/>
          <p:nvPr/>
        </p:nvSpPr>
        <p:spPr>
          <a:xfrm>
            <a:off x="3291840" y="1371600"/>
            <a:ext cx="2560320" cy="1600200"/>
          </a:xfrm>
          <a:prstGeom prst="roundRect">
            <a:avLst>
              <a:gd name="adj" fmla="val 457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Literal null</a:t>
            </a:r>
            <a:endParaRPr lang="en-US" sz="1500" dirty="0"/>
          </a:p>
        </p:txBody>
      </p:sp>
      <p:sp>
        <p:nvSpPr>
          <p:cNvPr id="13" name="Text 9"/>
          <p:cNvSpPr txBox="1"/>
          <p:nvPr/>
        </p:nvSpPr>
        <p:spPr>
          <a:xfrm>
            <a:off x="3474720" y="2057400"/>
            <a:ext cx="219456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Deserialize returns null, so ?? supplies Passed = false with a reason.</a:t>
            </a:r>
            <a:endParaRPr lang="en-US" sz="1200" dirty="0"/>
          </a:p>
        </p:txBody>
      </p:sp>
      <p:sp>
        <p:nvSpPr>
          <p:cNvPr id="14" name="Shape 10"/>
          <p:cNvSpPr/>
          <p:nvPr/>
        </p:nvSpPr>
        <p:spPr>
          <a:xfrm>
            <a:off x="6126480" y="1371600"/>
            <a:ext cx="2560320" cy="1600200"/>
          </a:xfrm>
          <a:prstGeom prst="roundRect">
            <a:avLst>
              <a:gd name="adj" fmla="val 457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Malformed</a:t>
            </a:r>
            <a:endParaRPr lang="en-US" sz="1500" dirty="0"/>
          </a:p>
        </p:txBody>
      </p:sp>
      <p:sp>
        <p:nvSpPr>
          <p:cNvPr id="18" name="Text 13"/>
          <p:cNvSpPr txBox="1"/>
          <p:nvPr/>
        </p:nvSpPr>
        <p:spPr>
          <a:xfrm>
            <a:off x="6309360" y="2057400"/>
            <a:ext cx="219456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catch (JsonException) returns the same safe result: "Failed to parse JSON".</a:t>
            </a:r>
            <a:endParaRPr lang="en-US" sz="1200" dirty="0"/>
          </a:p>
        </p:txBody>
      </p:sp>
      <p:sp>
        <p:nvSpPr>
          <p:cNvPr id="19" name="Text 14"/>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broken reply fails one test case; the rest of the suite still runs.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two test cases, two verdicts</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AI Evaluation Suite Started...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Running Test 1 ---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Q: What is the capital of France?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 The capital of France is Paris.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Verdict: PASS (Score: 5/5)</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Judge's Reasoning: The response matches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Running Test 2 ---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Q: How long is the return window for a Premium laptop?</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 Return windows vary; please check our policy...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Verdict: FAIL (Score: 1/5)</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Judge's Reasoning: The response does not state ...</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lines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Headers, Q: lines and the verdict format come from Program.cs.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Answers, scores and reasoning here are examples. Yours will differ.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Test 2</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bot never saw the 14-day policy, so it may well fail.</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Turn the run into a real regression check</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 third test case, print a pass-rate summary after the loop, and set a non-zero exit code if any test fails.</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Lesson26-Evaluator/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Evaluator/Program.cs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third TestCase runs alongside the first two</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last line prints how many tests passed, e.g. Passed 2/3</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Environment.ExitCode is 1 when any test fails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'Failed to parse JSON' result counts as a failure, not a crash</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agent that judges code</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29  </a:t>
            </a:r>
            <a:pPr indent="0" marL="0">
              <a:buNone/>
            </a:pPr>
            <a:r>
              <a:rPr lang="en-US" sz="1250" dirty="0">
                <a:solidFill>
                  <a:srgbClr val="FFFFFF"/>
                </a:solidFill>
                <a:latin typeface="Calibri" pitchFamily="34" charset="0"/>
                <a:ea typeface="Calibri" pitchFamily="34" charset="-122"/>
                <a:cs typeface="Calibri" pitchFamily="34" charset="-120"/>
              </a:rPr>
              <a:t>ReviewerAgent approves or rejects each task at 0.0</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Warm drafts, cold judgment</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One agent drafts at 0.7 and critiques itself at 0.0</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JSON with a safe fallback</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The moderator's speaker choice uses the same pattern</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Typed, parsed verdicts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The Planner's whole plan comes back as parsed JSON</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26 — The Evaluator</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26 — The Evaluator</dc:title>
  <dc:subject>PptxGenJS Presentation</dc:subject>
  <dc:creator>Media Six LLC</dc:creator>
  <cp:lastModifiedBy>Media Six LLC</cp:lastModifiedBy>
  <cp:revision>1</cp:revision>
  <dcterms:created xsi:type="dcterms:W3CDTF">2026-10-21T23:23:47Z</dcterms:created>
  <dcterms:modified xsi:type="dcterms:W3CDTF">2026-10-21T23:23:47Z</dcterms:modified>
</cp:coreProperties>
</file>