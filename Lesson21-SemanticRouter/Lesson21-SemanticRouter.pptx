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 build an interactive help desk. Each free-text request is first classified by a dedicated router call to OpenAI that must answer in strict JSON with one of three intents: TECH, BILLING or GENERAL. The request is then dispatched to a specialist. TechSupportAgent can reset passwords, BillingAgent can look up balances, and general questions go straight to the model with no tools at all. The key design choice is isolation: each specialist runs on its own cloned Kernel that holds only its own tool, so neither agent can reach the other's function, however the request is phrased. This classify-then-dispatch pattern is how agent systems scale past a single crowded toolbox.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lessons, like Lesson 15's multi-tool agent, hand one agent the whole toolbox and let the model pick the right function. That works until the toolbox grows. Every extra tool is another chance for the model to pick the wrong one, sometimes called tool hallucination, and if one tool is sensitive, nothing but a prompt instruction keeps it out of reach. Lesson 21 splits the job in two. A cheap router call classifies the intent up front, and the request then goes to a narrowly scoped specialist that can only see its own tool. The isolation is structural: the other functions simply aren't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usual one. You need the .NET 10 SDK and a console application, which opens in Visual Studio 2026 as SemanticRouter.slnx. The project references Microsoft.SemanticKernel and Microsoft.SemanticKernel.Connectors.OpenAI, both at version 1.78.0. The key comes from the OPENAI_API_KEY environment variable. A single gpt-4.1-mini registration on the base kernel serves the router and, through cloning, both specialists.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runs in four steps. Step 1 builds the base kernel with gpt-4.1-mini. Step 2 creates the router and the two specialists, then starts a loop that reads a request from the console, skipping blank lines and stopping on exit. Step 3, highlighted, calls router.RouteAsync and prints which lane it chose and why. Step 4 switches on the intent, upper-cased so the casing doesn't matter. TECH goes to TechSupportAgent, BILLING goes to BillingAgent, and anything else is treated as GENERAL and sent directly to baseKernel.InvokePromptAsync with no tools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router's system prompt, condensed on the slide: the real prompt also describes each category. TECH covers technical support, password resets and troubleshooting; BILLING covers invoices, balances and payments; GENERAL is anything else. The prompt then demands JSON in a fixed schema. Two execution settings make the output dependable: ResponseFormat set to json_object forces valid JSON, and Temperature 0.0 makes the classification deterministic. Notice the order of the keys. The schema asks for reasoning before intent, and models tend to emit keys in the order shown, so the model writes a short justification before it commits to a category. That chain-of-thought-first ordering improves classification accuracy at no extra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isolation works. The base kernel is built once and carries the OpenAI chat service but no plugins. Each specialist's constructor calls baseKernel.Clone, which gives it a kernel with the same AI services, then registers only its own class as a plugin with Plugins.AddFromObject. TechSupportAgent's clone holds TechPlugin with ResetPassword; BillingAgent's clone holds BillingPlugin with GetBalance. Both tools are mock functions that return a SYSTEM API string. Each specialist calls InvokePromptAsync with AutoInvokeKernelFunctions turned on. That would be risky on a shared kernel full of tools, but here each kernel has exactly one tool, so there is no wrong tool to pick. General requests use the base kernel directly, with no tools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router's reply is just a string until we parse it. RouteDecision is a plain data-transfer object with two properties, Reasoning and Intent, each decorated with JsonPropertyName so JsonSerializer.Deserialize can map the lowercase JSON keys straight onto it. The rest of the program branches on that typed object, not on pattern-matched text. Even with ResponseFormat set, the model could in principle return truncated or invalid JSON, so the deserialization is wrapped in a try/catch: a JsonException, or a null result, falls back to a GENERAL decision instead of crashing the console loop. Program.cs also upper-cases the intent before the switch, so tech or Tech still routes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After Semantic Router Online, type a request. For each one the program prints a ROUTER line naming the lane and the model's reason, then an AGENT line with the specialist's answer. The requests, reasons and replies on this slide are illustrative; real reasons are usually a full sentence, and the wording will differ. What should hold is the routing: a password problem goes to TECH, whose tool returns a reset-link message; a balance question goes to BILLING, whose mock tool always reports 145 dollars 50; and small talk goes to GENERAL, which answers with no tools. Type exit to quit.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Create ShippingAgent following the same shape as BillingAgent: clone the base kernel in the constructor, register the agent as ShippingPlugin, and give it a mock TrackOrder function that takes an order ID. Then add a SHIPPING category to the router prompt and its JSON schema, and a SHIPPING case to the switch in Program.cs. Check that a where-is-my-order request is routed to SHIPPING, that the existing lanes still work, and that ShippingAgent cannot reset a password even if you ask it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classified intent with a strict-JSON router call that reasons before it decides, parsed the result into a typed DTO with a safe fallback, and dispatched to specialists whose cloned kernels make tool isolation structural. These ideas come back. Lesson 28's capstone clones the kernel so only the Planner can create tasks. Lesson 26's judge returns its verdict as strict JSON. Lesson 34 has a moderator make the same kind of structured decision to pick who speaks next in a debate. Lesson 22 adds filters that audit every tool call a specialist makes. And the planned Lesson 39 turns this single level of dispatch into a tree of orchestrators delegating to sub-orchestrators.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21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Semantic Routing</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Classify intent first, then hand off to an isolated specialist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User Request: ...</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TECH | BILLING | GENERAL</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Classify intent with a strict-JSON router call</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Ask for reasoning before the verdict</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Deserialize the model's JSON into a typed DTO</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Isolate each specialist's tools with Kernel.Clone()</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Fall back safely when the router misbehaves</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21 — Semantic Routing</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50" b="1" dirty="0">
                <a:solidFill>
                  <a:srgbClr val="1F2937"/>
                </a:solidFill>
                <a:latin typeface="Cambria" pitchFamily="34" charset="0"/>
                <a:ea typeface="Cambria" pitchFamily="34" charset="-122"/>
                <a:cs typeface="Cambria" pitchFamily="34" charset="-120"/>
              </a:rPr>
              <a:t>From one crowded toolbox to route, then specialize</a:t>
            </a:r>
            <a:endParaRPr lang="en-US" sz="245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One shared toolbox</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tool is offered on every call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More tools, more wrong picks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Isolation is only a prompt rule</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21: router + specialists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cheap classifier call picks a lane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specialist sees one tool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Isolation is structural</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Fewer options per call means less tool hallucination.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21 — Semantic Routing</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as SemanticRouter.slnx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model serves all three roles: the router and both specialists.</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21 — Semantic Routing</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4</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request to answer in four moves</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Read input</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console loop reads a request; exit quits.</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Classify</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router returns JSON with reasoning and intent.</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Dispatch</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switch on the intent picks TECH, BILLING or GENERAL.</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Respond</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chosen agent answers, using only its own tool.</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GENERAL needs no tools: it goes straight to the base kernel.</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21 — Semantic Routing</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ROUTER PROMPT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50" b="1" dirty="0">
                <a:solidFill>
                  <a:srgbClr val="1F2937"/>
                </a:solidFill>
                <a:latin typeface="Cambria" pitchFamily="34" charset="0"/>
                <a:ea typeface="Cambria" pitchFamily="34" charset="-122"/>
                <a:cs typeface="Cambria" pitchFamily="34" charset="-120"/>
              </a:rPr>
              <a:t>The router answers in strict JSON, reasoning first</a:t>
            </a:r>
            <a:endParaRPr lang="en-US" sz="2450" dirty="0"/>
          </a:p>
        </p:txBody>
      </p:sp>
      <p:sp>
        <p:nvSpPr>
          <p:cNvPr id="4" name="Shape 2"/>
          <p:cNvSpPr/>
          <p:nvPr/>
        </p:nvSpPr>
        <p:spPr>
          <a:xfrm>
            <a:off x="457200" y="1325880"/>
            <a:ext cx="5257800" cy="1828800"/>
          </a:xfrm>
          <a:prstGeom prst="roundRect">
            <a:avLst>
              <a:gd name="adj" fmla="val 4000"/>
            </a:avLst>
          </a:prstGeom>
          <a:solidFill>
            <a:srgbClr val="0F1420"/>
          </a:solidFill>
          <a:ln w="12700">
            <a:solidFill>
              <a:srgbClr val="0F1420"/>
            </a:solidFill>
            <a:prstDash val="solid"/>
          </a:ln>
        </p:spPr>
      </p:sp>
      <p:sp>
        <p:nvSpPr>
          <p:cNvPr id="5" name="Text 3"/>
          <p:cNvSpPr txBox="1"/>
          <p:nvPr/>
        </p:nvSpPr>
        <p:spPr>
          <a:xfrm>
            <a:off x="640080" y="1463040"/>
            <a:ext cx="4892040" cy="155448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You are a highly efficient Semantic Router.</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Analyze the user's input and classify their intent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into one of three categories: TECH, BILLING, GENERAL.</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You MUST output valid JSON matching this schema:</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  "reasoning": "Briefly explain why you chose...",</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  "intent": "TECH" || "BILLING" || "GENERAL"</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json_object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ResponseFormat forces valid JSON instead of free text.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Temperature 0.0</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same request should land in the same lane every time.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Reasoning first</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model explains itself before it commits to an intent.</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21 — Semantic Routing</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KERNEL ISOLATION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Kernel.Clone() makes tool isolation structural</a:t>
            </a:r>
            <a:endParaRPr lang="en-US" sz="27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baseKernel</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Built once with the OpenAI chat service and no plugins.</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Tech support</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Clone plus TechPlugin: ResetPassword only.</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Billing</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Clone plus BillingPlugin: GetBalance only.</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General</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No clone, no plugins: a plain InvokePromptAsync.</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tool that isn't loaded can't be called, however the request is phrased.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21 — Semantic Routing</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TYPED DECISIONS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From raw JSON to a decision the code can trust</a:t>
            </a:r>
            <a:endParaRPr lang="en-US" sz="2700" dirty="0"/>
          </a:p>
        </p:txBody>
      </p:sp>
      <p:sp>
        <p:nvSpPr>
          <p:cNvPr id="4" name="Shape 2"/>
          <p:cNvSpPr/>
          <p:nvPr/>
        </p:nvSpPr>
        <p:spPr>
          <a:xfrm>
            <a:off x="457200" y="1371600"/>
            <a:ext cx="1851660" cy="1600200"/>
          </a:xfrm>
          <a:prstGeom prst="roundRect">
            <a:avLst>
              <a:gd name="adj" fmla="val 457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DTO</a:t>
            </a:r>
            <a:endParaRPr lang="en-US" sz="1300" dirty="0"/>
          </a:p>
        </p:txBody>
      </p:sp>
      <p:sp>
        <p:nvSpPr>
          <p:cNvPr id="8" name="Text 5"/>
          <p:cNvSpPr txBox="1"/>
          <p:nvPr/>
        </p:nvSpPr>
        <p:spPr>
          <a:xfrm>
            <a:off x="64008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RouteDecision has two properties, each tagged [JsonPropertyName].</a:t>
            </a:r>
            <a:endParaRPr lang="en-US" sz="1200" dirty="0"/>
          </a:p>
        </p:txBody>
      </p:sp>
      <p:sp>
        <p:nvSpPr>
          <p:cNvPr id="9" name="Shape 6"/>
          <p:cNvSpPr/>
          <p:nvPr/>
        </p:nvSpPr>
        <p:spPr>
          <a:xfrm>
            <a:off x="2583180" y="1371600"/>
            <a:ext cx="1851660" cy="1600200"/>
          </a:xfrm>
          <a:prstGeom prst="roundRect">
            <a:avLst>
              <a:gd name="adj" fmla="val 4571"/>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Deserialize</a:t>
            </a:r>
            <a:endParaRPr lang="en-US" sz="1300" dirty="0"/>
          </a:p>
        </p:txBody>
      </p:sp>
      <p:sp>
        <p:nvSpPr>
          <p:cNvPr id="13" name="Text 9"/>
          <p:cNvSpPr txBox="1"/>
          <p:nvPr/>
        </p:nvSpPr>
        <p:spPr>
          <a:xfrm>
            <a:off x="276606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JsonSerializer turns the reply into a typed object.</a:t>
            </a:r>
            <a:endParaRPr lang="en-US" sz="1200" dirty="0"/>
          </a:p>
        </p:txBody>
      </p:sp>
      <p:sp>
        <p:nvSpPr>
          <p:cNvPr id="14" name="Shape 10"/>
          <p:cNvSpPr/>
          <p:nvPr/>
        </p:nvSpPr>
        <p:spPr>
          <a:xfrm>
            <a:off x="4709160" y="1371600"/>
            <a:ext cx="1851660" cy="1600200"/>
          </a:xfrm>
          <a:prstGeom prst="roundRect">
            <a:avLst>
              <a:gd name="adj" fmla="val 4571"/>
            </a:avLst>
          </a:prstGeom>
          <a:solidFill>
            <a:srgbClr val="512BD4"/>
          </a:solidFill>
          <a:ln w="12700">
            <a:solidFill>
              <a:srgbClr val="512BD4"/>
            </a:solidFill>
            <a:prstDash val="solid"/>
          </a:ln>
        </p:spPr>
      </p:sp>
      <p:sp>
        <p:nvSpPr>
          <p:cNvPr id="15" name="Shape 11"/>
          <p:cNvSpPr/>
          <p:nvPr/>
        </p:nvSpPr>
        <p:spPr>
          <a:xfrm>
            <a:off x="489204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Fallback</a:t>
            </a:r>
            <a:endParaRPr lang="en-US" sz="1300" dirty="0"/>
          </a:p>
        </p:txBody>
      </p:sp>
      <p:sp>
        <p:nvSpPr>
          <p:cNvPr id="18" name="Text 13"/>
          <p:cNvSpPr txBox="1"/>
          <p:nvPr/>
        </p:nvSpPr>
        <p:spPr>
          <a:xfrm>
            <a:off x="4892040" y="2057400"/>
            <a:ext cx="148590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Bad JSON or a null result routes to GENERAL.</a:t>
            </a:r>
            <a:endParaRPr lang="en-US" sz="1200" dirty="0"/>
          </a:p>
        </p:txBody>
      </p:sp>
      <p:sp>
        <p:nvSpPr>
          <p:cNvPr id="19" name="Shape 14"/>
          <p:cNvSpPr/>
          <p:nvPr/>
        </p:nvSpPr>
        <p:spPr>
          <a:xfrm>
            <a:off x="6835140" y="1371600"/>
            <a:ext cx="1851660" cy="1600200"/>
          </a:xfrm>
          <a:prstGeom prst="roundRect">
            <a:avLst>
              <a:gd name="adj" fmla="val 4571"/>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Case-safe</a:t>
            </a:r>
            <a:endParaRPr lang="en-US" sz="1300" dirty="0"/>
          </a:p>
        </p:txBody>
      </p:sp>
      <p:sp>
        <p:nvSpPr>
          <p:cNvPr id="23" name="Text 17"/>
          <p:cNvSpPr txBox="1"/>
          <p:nvPr/>
        </p:nvSpPr>
        <p:spPr>
          <a:xfrm>
            <a:off x="701802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switch upper-cases the intent before matching.</a:t>
            </a:r>
            <a:endParaRPr lang="en-US" sz="1200" dirty="0"/>
          </a:p>
        </p:txBody>
      </p:sp>
      <p:sp>
        <p:nvSpPr>
          <p:cNvPr id="24" name="Text 18"/>
          <p:cNvSpPr txBox="1"/>
          <p:nvPr/>
        </p:nvSpPr>
        <p:spPr>
          <a:xfrm>
            <a:off x="457200" y="32004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exception from the router can end the session.</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21 — Semantic Routing</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three requests, three lanes</a:t>
            </a:r>
            <a:endParaRPr lang="en-US" sz="2800" dirty="0"/>
          </a:p>
        </p:txBody>
      </p:sp>
      <p:sp>
        <p:nvSpPr>
          <p:cNvPr id="4" name="Shape 2"/>
          <p:cNvSpPr/>
          <p:nvPr/>
        </p:nvSpPr>
        <p:spPr>
          <a:xfrm>
            <a:off x="457200" y="1325880"/>
            <a:ext cx="5257800" cy="2240280"/>
          </a:xfrm>
          <a:prstGeom prst="roundRect">
            <a:avLst>
              <a:gd name="adj" fmla="val 3265"/>
            </a:avLst>
          </a:prstGeom>
          <a:solidFill>
            <a:srgbClr val="0F1420"/>
          </a:solidFill>
          <a:ln w="12700">
            <a:solidFill>
              <a:srgbClr val="0F1420"/>
            </a:solidFill>
            <a:prstDash val="solid"/>
          </a:ln>
        </p:spPr>
      </p:sp>
      <p:sp>
        <p:nvSpPr>
          <p:cNvPr id="5" name="Text 3"/>
          <p:cNvSpPr txBox="1"/>
          <p:nvPr/>
        </p:nvSpPr>
        <p:spPr>
          <a:xfrm>
            <a:off x="640080" y="1463040"/>
            <a:ext cx="4892040" cy="19659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Semantic Router Online.  (type 'exit' to quit)</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Request: I forgot my password, my username is jdoe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[ROUTER]: Directed to TECH (Reason: password reset)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[AGENT]: A password reset link has been emailed to jdoe.</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Request: What's the balance on account 4411?</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[ROUTER]: Directed to BILLING (Reason: balance query)</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[AGENT]: Account 4411 has a balance of $145.50.</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Request: Tell me a fun fact about owls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[ROUTER]: Directed to GENERAL (Reason: small talk)</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[AGENT]: Owls can rotate their heads about 270 degrees.</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Request: exit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Wording varies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Requests, reasons and replies here are illustrative.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Mock tools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$145.50 and the reset link come from the C# tools.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Check the lane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[ROUTER] line shows each intent and why.</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21 — Semantic Routing</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 third specialist for shipping</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a ShippingAgent with its own cloned kernel and a TrackOrder tool, and teach the router a SHIPPING intent.</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Lesson21-SemanticRouter/</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SemanticRouter/ShippingAgent.cs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Order-tracking requests route to SHIPPING</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ShippingAgent's kernel holds only TrackOrder</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Tech and billing requests still route as before</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new class has its own .cs file and XML comments</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21 — Semantic Routing</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Kernel.Clone() isolation</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28  </a:t>
            </a:r>
            <a:pPr indent="0" marL="0">
              <a:buNone/>
            </a:pPr>
            <a:r>
              <a:rPr lang="en-US" sz="1250" dirty="0">
                <a:solidFill>
                  <a:srgbClr val="FFFFFF"/>
                </a:solidFill>
                <a:latin typeface="Calibri" pitchFamily="34" charset="0"/>
                <a:ea typeface="Calibri" pitchFamily="34" charset="-122"/>
                <a:cs typeface="Calibri" pitchFamily="34" charset="-120"/>
              </a:rPr>
              <a:t>Only the Planner's clone can create tasks</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Strict JSON via ResponseFormat</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26  </a:t>
            </a:r>
            <a:pPr indent="0" marL="0">
              <a:buNone/>
            </a:pPr>
            <a:r>
              <a:rPr lang="en-US" sz="1250" dirty="0">
                <a:solidFill>
                  <a:srgbClr val="FFFFFF"/>
                </a:solidFill>
                <a:latin typeface="Calibri" pitchFamily="34" charset="0"/>
                <a:ea typeface="Calibri" pitchFamily="34" charset="-122"/>
                <a:cs typeface="Calibri" pitchFamily="34" charset="-120"/>
              </a:rPr>
              <a:t>A judge returns its verdict as JSON</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 LLM picks the next step</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34  </a:t>
            </a:r>
            <a:pPr indent="0" marL="0">
              <a:buNone/>
            </a:pPr>
            <a:r>
              <a:rPr lang="en-US" sz="1250" dirty="0">
                <a:solidFill>
                  <a:srgbClr val="FFFFFF"/>
                </a:solidFill>
                <a:latin typeface="Calibri" pitchFamily="34" charset="0"/>
                <a:ea typeface="Calibri" pitchFamily="34" charset="-122"/>
                <a:cs typeface="Calibri" pitchFamily="34" charset="-120"/>
              </a:rPr>
              <a:t>A moderator picks who speaks next</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Specialists that call tools</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Filters audit every tool call</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level of dispatch</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39  </a:t>
            </a:r>
            <a:pPr indent="0" marL="0">
              <a:buNone/>
            </a:pPr>
            <a:r>
              <a:rPr lang="en-US" sz="1250" dirty="0">
                <a:solidFill>
                  <a:srgbClr val="FFFFFF"/>
                </a:solidFill>
                <a:latin typeface="Calibri" pitchFamily="34" charset="0"/>
                <a:ea typeface="Calibri" pitchFamily="34" charset="-122"/>
                <a:cs typeface="Calibri" pitchFamily="34" charset="-120"/>
              </a:rPr>
              <a:t>Orchestrators delegate to sub-orchestrators (planned)</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21 — Semantic Routing</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21 — Semantic Routing</dc:title>
  <dc:subject>PptxGenJS Presentation</dc:subject>
  <dc:creator>Media Six LLC</dc:creator>
  <cp:lastModifiedBy>Media Six LLC</cp:lastModifiedBy>
  <cp:revision>1</cp:revision>
  <dcterms:created xsi:type="dcterms:W3CDTF">2026-10-21T23:09:19Z</dcterms:created>
  <dcterms:modified xsi:type="dcterms:W3CDTF">2026-10-21T23:09:19Z</dcterms:modified>
</cp:coreProperties>
</file>