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completes the parallelization pattern that Lesson 7 left half finished. Lesson 7 ran several independent extraction calls over a batch of feedback, then combined the results with plain C# and LINQ, grouping and counting. Here, three independent drafts of the same answer are generated concurrently, and the fan-in step is itself a model call: a synthesis editor that combines the strongest elements of all three drafts into one answer that is better than any single draft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7 produced structured records: sentiment, product, summary and priority for each feedback item. Records with fields are easy to fan back in with code, so it grouped and counted them with LINQ. Lesson 7 also made its calls one at a time in a foreach loop. This lesson changes both halves. The fan-out runs concurrently with Task.WhenAll, and what comes back is three qualitative, free-text drafts instead of records. There is no deterministic way to combine those. Taking the best analogy from draft 2 and the clearest phrasing from draft 1 is a judgment call, not a LINQ query, so the fan-in becomes a model invocation of its own: the reducer.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is the standard two-package footprint. You need the .NET 10 SDK and a console application referencing Microsoft.SemanticKernel and Microsoft.SemanticKernel.Connectors.OpenAI, both at 1.78.0. The API key comes from OPENAI_API_KEY, and the program throws at startup if it is missing. The model is gpt-4.1-mini, registered with AddOpenAIChatCompletion. The program resolves one IChatCompletionService from the kernel and hands it to both the Drafter and the Reducer.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Program.cs reads top to bottom as the pattern. The task asks for a one-paragraph explanation of a closure for someone who has never programmed, using a single real-world analogy. Enumerable.Range builds three GenerateDraftAsync calls, and Task.WhenAll runs them concurrently, so three HTTP round trips to OpenAI happen at the same time. The program prints each draft, then passes the task and all three drafts to the Reducer's SynthesizeAsync. Finally it prints the synthesis rationale and the final answer. Nothing about the fan-out is agentic; it is the same concurrency primitive you would use for any three independent async calls. The highlighted reducer is where the new idea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Reducer is where fan-in happens. It joins the drafts into one block with labeled headers, DRAFT 1, DRAFT 2 and DRAFT 3, and puts them all in a single prompt. A single call lets the model weigh every candidate against the others at once, instead of a chain of pairwise merges that could drift from the task at each step. The instructions are explicit about what synthesis means: combine the strongest elements into one answer that is better than any single draft, and do not pick one verbatim or simply concatenate them. The result is a SynthesisResult with two fields: the synthesized answer, and a rationale naming what was kept from each draft. The rationale isn't required for the pattern to work, but it is what makes better than any individual draft visible on camera instead of something you take on faith. Voting is a legitimate fan-in too, and Lesson 33 builds it as a separate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what temperature is doing on each side. All three drafts use the identical task and the identical system prompt, You are a technical writer, answer directly with no commentary. The only reason they differ is Temperature 0.9 plus the model's own sampling. That isolates the payoff of fan-in cleanly: the drafts vary because of sampling, not because they were told different things. Each GenerateDraftAsync call also builds its own fresh ChatHistory, so no drafter ever sees another drafter's output. On the other side, the reducer runs at 0.2, close to deterministic, so the same three drafts reliably produce a similar synthesis rather than the reducer adding fresh randomness on top of what it is meant to consolidate. Its output is constrained by ResponseFormat set to typeof SynthesisResult. This is the same split Lesson 31 used between drafting and critiquing.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details make this dependable. The reducer's result is typed: SynthesisResult has two properties, synthesizedAnswer and rationale, mapped with JsonPropertyName. If the reducer's JSON cannot be parsed, or deserializes to null, FallbackTo returns the first draft as the answer with a rationale that says parsing failed, so the run still produces something honest instead of crashing. The drafts stay independent because each one is generated from its own fresh history. And because the fan-out is concurrent, three drafts cost roughly the wall-clock time of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This transcript is abridged from the lesson's sample run, and your analogies will differ, since sampling at 0.9 guarantees it. In this run the three drafts used a backpack, a photograph, and a chef sealing spices in a jar. The rationale says the backpack analogy was clearest for a beginner, so it became the base; the chef draft's sealed-in phrasing conveyed permanence better than packs, so that language was borrowed; and the photograph was set aside as less concrete. The final output is a single coherent paragraph: a backpack the function seals shut before it leaves home. The shape is what stays fixed: three genuinely different drafts, a rationale with specific borrowing from each, and one answer that reads as a whole rather than a patchwork.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Replace the FanOutCount constant with a value read from args, keeping three as the default. Wrap the Task.WhenAll call in a Stopwatch and print how long the fan-out took. Run it with one draft and then with five: if the calls really run concurrently, the times should be close. Check that the rationale still has one sentence per draft, since the reducer prompt already uses drafts.Count. As a stretch, watch how the synthesis changes when the reducer has more raw material to choose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fanned out three drafts concurrently with Task.WhenAll, got diversity from temperature rather than different prompts, and fanned back in with an LLM reducer that synthesizes instead of selecting and explains what it kept. Lesson 33 keeps exactly this fan-out but fans in by majority vote, for problems with one right answer. Lesson 34 uses another structured LLM decision, a moderator choosing who speaks next. Lesson 35 collects structured bids from several participants and reconciles them in code. And the planned Lesson 39 takes delegation further, with orchestrators handing work to sub-orchestrators.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32  ·  PART 2</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LLM-Based Fan-In</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Three drafts in parallel, merged by a model into one answer better than any of them</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1 task, 3 drafters</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1 synthesized answer</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Fan out N calls at once with Task.WhenAll</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Get diversity from temperature, not prompts</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Fan back in with an LLM reducer, not LINQ</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Ask for synthesis, not selection</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Make the reducer explain what it kept</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32 — LLM-Based Fan-In</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000" b="1" dirty="0">
                <a:solidFill>
                  <a:srgbClr val="1F2937"/>
                </a:solidFill>
                <a:latin typeface="Cambria" pitchFamily="34" charset="0"/>
                <a:ea typeface="Cambria" pitchFamily="34" charset="-122"/>
                <a:cs typeface="Cambria" pitchFamily="34" charset="-120"/>
              </a:rPr>
              <a:t>Lesson 7 fanned in with code; this lesson fans in with a model</a:t>
            </a:r>
            <a:endParaRPr lang="en-US" sz="2000" dirty="0"/>
          </a:p>
        </p:txBody>
      </p:sp>
      <p:sp>
        <p:nvSpPr>
          <p:cNvPr id="4" name="Shape 2"/>
          <p:cNvSpPr/>
          <p:nvPr/>
        </p:nvSpPr>
        <p:spPr>
          <a:xfrm>
            <a:off x="457200" y="1371600"/>
            <a:ext cx="3931920" cy="1828800"/>
          </a:xfrm>
          <a:prstGeom prst="roundRect">
            <a:avLst>
              <a:gd name="adj" fmla="val 40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7: LINQ fan-in</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One typed record per feedback item</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Calls made one after another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GroupBy and Count build the report</a:t>
            </a:r>
            <a:endParaRPr lang="en-US" sz="1300" dirty="0"/>
          </a:p>
        </p:txBody>
      </p:sp>
      <p:sp>
        <p:nvSpPr>
          <p:cNvPr id="9" name="Shape 6"/>
          <p:cNvSpPr/>
          <p:nvPr/>
        </p:nvSpPr>
        <p:spPr>
          <a:xfrm>
            <a:off x="4754880" y="1371600"/>
            <a:ext cx="3931920" cy="1828800"/>
          </a:xfrm>
          <a:prstGeom prst="roundRect">
            <a:avLst>
              <a:gd name="adj" fmla="val 400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32: LLM fan-in</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Three free-text drafts of one answer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Drafted concurrently with Task.WhenAll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reducer call merges their strengths</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Records with fields can be counted. Prose can only be judged.</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32 — LLM-Based Fan-In</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.NET 10 SDK</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console app targeting net10.0, opened from LLMFanIn.slnx in Visual Studio 2026.</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NuGet packages</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Microsoft.SemanticKernel.Connectors.OpenAI, both 1.78.0.</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The program throws at startup if it is missing.</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gpt-4.1-mini</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chat service shared by the Drafter and the Reducer.</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32 — LLM-Based Fan-In</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THE PIPELINE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350" b="1" dirty="0">
                <a:solidFill>
                  <a:srgbClr val="1F2937"/>
                </a:solidFill>
                <a:latin typeface="Cambria" pitchFamily="34" charset="0"/>
                <a:ea typeface="Cambria" pitchFamily="34" charset="-122"/>
                <a:cs typeface="Cambria" pitchFamily="34" charset="-120"/>
              </a:rPr>
              <a:t>Fan out three drafts, fan them back in with one call</a:t>
            </a:r>
            <a:endParaRPr lang="en-US" sz="2350" dirty="0"/>
          </a:p>
        </p:txBody>
      </p:sp>
      <p:sp>
        <p:nvSpPr>
          <p:cNvPr id="4" name="Shape 2"/>
          <p:cNvSpPr/>
          <p:nvPr/>
        </p:nvSpPr>
        <p:spPr>
          <a:xfrm>
            <a:off x="457200" y="1417320"/>
            <a:ext cx="1367942" cy="2185416"/>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One task</a:t>
            </a:r>
            <a:endParaRPr lang="en-US" sz="1300" dirty="0"/>
          </a:p>
        </p:txBody>
      </p:sp>
      <p:sp>
        <p:nvSpPr>
          <p:cNvPr id="8" name="Text 5"/>
          <p:cNvSpPr txBox="1"/>
          <p:nvPr/>
        </p:nvSpPr>
        <p:spPr>
          <a:xfrm>
            <a:off x="640080"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Explain a closure with one analogy.</a:t>
            </a:r>
            <a:endParaRPr lang="en-US" sz="1200" dirty="0"/>
          </a:p>
        </p:txBody>
      </p:sp>
      <p:sp>
        <p:nvSpPr>
          <p:cNvPr id="9" name="Shape 6"/>
          <p:cNvSpPr/>
          <p:nvPr/>
        </p:nvSpPr>
        <p:spPr>
          <a:xfrm>
            <a:off x="1889150"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2185416"/>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Fan out</a:t>
            </a:r>
            <a:endParaRPr lang="en-US" sz="1300" dirty="0"/>
          </a:p>
        </p:txBody>
      </p:sp>
      <p:sp>
        <p:nvSpPr>
          <p:cNvPr id="14" name="Text 10"/>
          <p:cNvSpPr txBox="1"/>
          <p:nvPr/>
        </p:nvSpPr>
        <p:spPr>
          <a:xfrm>
            <a:off x="2355494"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FanOutCount = 3 calls via Task.WhenAll.</a:t>
            </a:r>
            <a:endParaRPr lang="en-US" sz="1200" dirty="0"/>
          </a:p>
        </p:txBody>
      </p:sp>
      <p:sp>
        <p:nvSpPr>
          <p:cNvPr id="15" name="Shape 11"/>
          <p:cNvSpPr/>
          <p:nvPr/>
        </p:nvSpPr>
        <p:spPr>
          <a:xfrm>
            <a:off x="3604565"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2185416"/>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Three drafts</a:t>
            </a:r>
            <a:endParaRPr lang="en-US" sz="1300" dirty="0"/>
          </a:p>
        </p:txBody>
      </p:sp>
      <p:sp>
        <p:nvSpPr>
          <p:cNvPr id="20" name="Text 15"/>
          <p:cNvSpPr txBox="1"/>
          <p:nvPr/>
        </p:nvSpPr>
        <p:spPr>
          <a:xfrm>
            <a:off x="4070909"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Same prompt, varied by temperature 0.9.</a:t>
            </a:r>
            <a:endParaRPr lang="en-US" sz="1200" dirty="0"/>
          </a:p>
        </p:txBody>
      </p:sp>
      <p:sp>
        <p:nvSpPr>
          <p:cNvPr id="21" name="Shape 16"/>
          <p:cNvSpPr/>
          <p:nvPr/>
        </p:nvSpPr>
        <p:spPr>
          <a:xfrm>
            <a:off x="5319979"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2185416"/>
          </a:xfrm>
          <a:prstGeom prst="roundRect">
            <a:avLst>
              <a:gd name="adj" fmla="val 5348"/>
            </a:avLst>
          </a:prstGeom>
          <a:solidFill>
            <a:srgbClr val="512BD4"/>
          </a:solidFill>
          <a:ln w="12700">
            <a:solidFill>
              <a:srgbClr val="512BD4"/>
            </a:solidFill>
            <a:prstDash val="solid"/>
          </a:ln>
        </p:spPr>
      </p:sp>
      <p:sp>
        <p:nvSpPr>
          <p:cNvPr id="23" name="Shape 18"/>
          <p:cNvSpPr/>
          <p:nvPr/>
        </p:nvSpPr>
        <p:spPr>
          <a:xfrm>
            <a:off x="5786323"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Reduce</a:t>
            </a:r>
            <a:endParaRPr lang="en-US" sz="1300" dirty="0"/>
          </a:p>
        </p:txBody>
      </p:sp>
      <p:sp>
        <p:nvSpPr>
          <p:cNvPr id="26" name="Text 20"/>
          <p:cNvSpPr txBox="1"/>
          <p:nvPr/>
        </p:nvSpPr>
        <p:spPr>
          <a:xfrm>
            <a:off x="5786323" y="2606040"/>
            <a:ext cx="1047902"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One call reads all drafts at 0.2.</a:t>
            </a:r>
            <a:endParaRPr lang="en-US" sz="1200" dirty="0"/>
          </a:p>
        </p:txBody>
      </p:sp>
      <p:sp>
        <p:nvSpPr>
          <p:cNvPr id="27" name="Shape 21"/>
          <p:cNvSpPr/>
          <p:nvPr/>
        </p:nvSpPr>
        <p:spPr>
          <a:xfrm>
            <a:off x="7035394" y="2400300"/>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2185416"/>
          </a:xfrm>
          <a:prstGeom prst="roundRect">
            <a:avLst>
              <a:gd name="adj" fmla="val 5348"/>
            </a:avLst>
          </a:prstGeom>
          <a:solidFill>
            <a:srgbClr val="EFEBFC"/>
          </a:solidFill>
          <a:ln w="12700">
            <a:solidFill>
              <a:srgbClr val="EFEBFC"/>
            </a:solidFill>
            <a:prstDash val="solid"/>
          </a:ln>
        </p:spPr>
      </p:sp>
      <p:sp>
        <p:nvSpPr>
          <p:cNvPr id="29" name="Shape 23"/>
          <p:cNvSpPr/>
          <p:nvPr/>
        </p:nvSpPr>
        <p:spPr>
          <a:xfrm>
            <a:off x="7501738" y="1618488"/>
            <a:ext cx="457200" cy="457200"/>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Answer</a:t>
            </a:r>
            <a:endParaRPr lang="en-US" sz="1300" dirty="0"/>
          </a:p>
        </p:txBody>
      </p:sp>
      <p:sp>
        <p:nvSpPr>
          <p:cNvPr id="32" name="Text 25"/>
          <p:cNvSpPr txBox="1"/>
          <p:nvPr/>
        </p:nvSpPr>
        <p:spPr>
          <a:xfrm>
            <a:off x="7501738"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Prints the rationale, then the final output.</a:t>
            </a:r>
            <a:endParaRPr lang="en-US" sz="1200" dirty="0"/>
          </a:p>
        </p:txBody>
      </p:sp>
      <p:sp>
        <p:nvSpPr>
          <p:cNvPr id="33" name="Text 26"/>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fan-out is plain async C#. Only the fan-in needs a model.</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32 — LLM-Based Fan-In</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the reducer prompt asks for</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Synthesis editor</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Reducer.SynthesizeAsync: one prompt, every draft, one JSON result.</a:t>
            </a:r>
            <a:endParaRPr lang="en-US" sz="1300" dirty="0"/>
          </a:p>
        </p:txBody>
      </p:sp>
      <p:sp>
        <p:nvSpPr>
          <p:cNvPr id="9" name="Shape 6"/>
          <p:cNvSpPr/>
          <p:nvPr/>
        </p:nvSpPr>
        <p:spPr>
          <a:xfrm>
            <a:off x="2926080" y="1645920"/>
            <a:ext cx="502920" cy="0"/>
          </a:xfrm>
          <a:prstGeom prst="line">
            <a:avLst/>
          </a:prstGeom>
          <a:noFill/>
          <a:ln w="25400">
            <a:solidFill>
              <a:srgbClr val="F5A623"/>
            </a:solidFill>
            <a:prstDash val="solid"/>
          </a:ln>
        </p:spPr>
      </p:sp>
      <p:sp>
        <p:nvSpPr>
          <p:cNvPr id="10" name="Shape 7"/>
          <p:cNvSpPr/>
          <p:nvPr/>
        </p:nvSpPr>
        <p:spPr>
          <a:xfrm>
            <a:off x="3429000" y="1417320"/>
            <a:ext cx="5257800" cy="457200"/>
          </a:xfrm>
          <a:prstGeom prst="roundRect">
            <a:avLst>
              <a:gd name="adj" fmla="val 16000"/>
            </a:avLst>
          </a:prstGeom>
          <a:solidFill>
            <a:srgbClr val="EFEBFC"/>
          </a:solidFill>
          <a:ln w="12700">
            <a:solidFill>
              <a:srgbClr val="EFEBFC"/>
            </a:solidFill>
            <a:prstDash val="solid"/>
          </a:ln>
        </p:spPr>
      </p:sp>
      <p:sp>
        <p:nvSpPr>
          <p:cNvPr id="11" name="Shape 8"/>
          <p:cNvSpPr/>
          <p:nvPr/>
        </p:nvSpPr>
        <p:spPr>
          <a:xfrm>
            <a:off x="3593592" y="145389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553748"/>
            <a:ext cx="184343" cy="184343"/>
          </a:xfrm>
          <a:prstGeom prst="rect">
            <a:avLst/>
          </a:prstGeom>
        </p:spPr>
      </p:pic>
      <p:sp>
        <p:nvSpPr>
          <p:cNvPr id="13" name="Text 9"/>
          <p:cNvSpPr txBox="1"/>
          <p:nvPr/>
        </p:nvSpPr>
        <p:spPr>
          <a:xfrm>
            <a:off x="4142232" y="150876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All at once</a:t>
            </a:r>
            <a:endParaRPr lang="en-US" sz="1500" dirty="0"/>
          </a:p>
        </p:txBody>
      </p:sp>
      <p:sp>
        <p:nvSpPr>
          <p:cNvPr id="14" name="Text 10"/>
          <p:cNvSpPr txBox="1"/>
          <p:nvPr/>
        </p:nvSpPr>
        <p:spPr>
          <a:xfrm>
            <a:off x="5577840" y="150876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DRAFT 1, 2 and 3 under labeled headers in a single call.</a:t>
            </a:r>
            <a:endParaRPr lang="en-US" sz="1200" dirty="0"/>
          </a:p>
        </p:txBody>
      </p:sp>
      <p:sp>
        <p:nvSpPr>
          <p:cNvPr id="15" name="Shape 11"/>
          <p:cNvSpPr/>
          <p:nvPr/>
        </p:nvSpPr>
        <p:spPr>
          <a:xfrm>
            <a:off x="2926080" y="2286000"/>
            <a:ext cx="502920" cy="0"/>
          </a:xfrm>
          <a:prstGeom prst="line">
            <a:avLst/>
          </a:prstGeom>
          <a:noFill/>
          <a:ln w="25400">
            <a:solidFill>
              <a:srgbClr val="F5A623"/>
            </a:solidFill>
            <a:prstDash val="solid"/>
          </a:ln>
        </p:spPr>
      </p:sp>
      <p:sp>
        <p:nvSpPr>
          <p:cNvPr id="16" name="Shape 12"/>
          <p:cNvSpPr/>
          <p:nvPr/>
        </p:nvSpPr>
        <p:spPr>
          <a:xfrm>
            <a:off x="3429000" y="2057400"/>
            <a:ext cx="5257800" cy="457200"/>
          </a:xfrm>
          <a:prstGeom prst="roundRect">
            <a:avLst>
              <a:gd name="adj" fmla="val 16000"/>
            </a:avLst>
          </a:prstGeom>
          <a:solidFill>
            <a:srgbClr val="EFEBFC"/>
          </a:solidFill>
          <a:ln w="12700">
            <a:solidFill>
              <a:srgbClr val="EFEBFC"/>
            </a:solidFill>
            <a:prstDash val="solid"/>
          </a:ln>
        </p:spPr>
      </p:sp>
      <p:sp>
        <p:nvSpPr>
          <p:cNvPr id="17" name="Shape 13"/>
          <p:cNvSpPr/>
          <p:nvPr/>
        </p:nvSpPr>
        <p:spPr>
          <a:xfrm>
            <a:off x="3593592" y="209397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193828"/>
            <a:ext cx="184343" cy="184343"/>
          </a:xfrm>
          <a:prstGeom prst="rect">
            <a:avLst/>
          </a:prstGeom>
        </p:spPr>
      </p:pic>
      <p:sp>
        <p:nvSpPr>
          <p:cNvPr id="19" name="Text 14"/>
          <p:cNvSpPr txBox="1"/>
          <p:nvPr/>
        </p:nvSpPr>
        <p:spPr>
          <a:xfrm>
            <a:off x="4142232" y="214884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Not selection</a:t>
            </a:r>
            <a:endParaRPr lang="en-US" sz="1500" dirty="0"/>
          </a:p>
        </p:txBody>
      </p:sp>
      <p:sp>
        <p:nvSpPr>
          <p:cNvPr id="20" name="Text 15"/>
          <p:cNvSpPr txBox="1"/>
          <p:nvPr/>
        </p:nvSpPr>
        <p:spPr>
          <a:xfrm>
            <a:off x="5577840" y="214884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Must not pick one draft verbatim or just concatenate.</a:t>
            </a:r>
            <a:endParaRPr lang="en-US" sz="1200" dirty="0"/>
          </a:p>
        </p:txBody>
      </p:sp>
      <p:sp>
        <p:nvSpPr>
          <p:cNvPr id="21" name="Shape 16"/>
          <p:cNvSpPr/>
          <p:nvPr/>
        </p:nvSpPr>
        <p:spPr>
          <a:xfrm>
            <a:off x="2926080" y="2926080"/>
            <a:ext cx="502920" cy="0"/>
          </a:xfrm>
          <a:prstGeom prst="line">
            <a:avLst/>
          </a:prstGeom>
          <a:noFill/>
          <a:ln w="25400">
            <a:solidFill>
              <a:srgbClr val="F5A623"/>
            </a:solidFill>
            <a:prstDash val="solid"/>
          </a:ln>
        </p:spPr>
      </p:sp>
      <p:sp>
        <p:nvSpPr>
          <p:cNvPr id="22" name="Shape 17"/>
          <p:cNvSpPr/>
          <p:nvPr/>
        </p:nvSpPr>
        <p:spPr>
          <a:xfrm>
            <a:off x="3429000" y="2697480"/>
            <a:ext cx="5257800" cy="457200"/>
          </a:xfrm>
          <a:prstGeom prst="roundRect">
            <a:avLst>
              <a:gd name="adj" fmla="val 16000"/>
            </a:avLst>
          </a:prstGeom>
          <a:solidFill>
            <a:srgbClr val="EFEBFC"/>
          </a:solidFill>
          <a:ln w="12700">
            <a:solidFill>
              <a:srgbClr val="EFEBFC"/>
            </a:solidFill>
            <a:prstDash val="solid"/>
          </a:ln>
        </p:spPr>
      </p:sp>
      <p:sp>
        <p:nvSpPr>
          <p:cNvPr id="23" name="Shape 18"/>
          <p:cNvSpPr/>
          <p:nvPr/>
        </p:nvSpPr>
        <p:spPr>
          <a:xfrm>
            <a:off x="3593592" y="27340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2833908"/>
            <a:ext cx="184343" cy="184343"/>
          </a:xfrm>
          <a:prstGeom prst="rect">
            <a:avLst/>
          </a:prstGeom>
        </p:spPr>
      </p:pic>
      <p:sp>
        <p:nvSpPr>
          <p:cNvPr id="25" name="Text 19"/>
          <p:cNvSpPr txBox="1"/>
          <p:nvPr/>
        </p:nvSpPr>
        <p:spPr>
          <a:xfrm>
            <a:off x="4142232" y="278892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Better answer</a:t>
            </a:r>
            <a:endParaRPr lang="en-US" sz="1500" dirty="0"/>
          </a:p>
        </p:txBody>
      </p:sp>
      <p:sp>
        <p:nvSpPr>
          <p:cNvPr id="26" name="Text 20"/>
          <p:cNvSpPr txBox="1"/>
          <p:nvPr/>
        </p:nvSpPr>
        <p:spPr>
          <a:xfrm>
            <a:off x="5577840" y="278892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Combine the strongest elements into one answer.</a:t>
            </a:r>
            <a:endParaRPr lang="en-US" sz="1200" dirty="0"/>
          </a:p>
        </p:txBody>
      </p:sp>
      <p:sp>
        <p:nvSpPr>
          <p:cNvPr id="27" name="Shape 21"/>
          <p:cNvSpPr/>
          <p:nvPr/>
        </p:nvSpPr>
        <p:spPr>
          <a:xfrm>
            <a:off x="2926080" y="3566160"/>
            <a:ext cx="502920" cy="0"/>
          </a:xfrm>
          <a:prstGeom prst="line">
            <a:avLst/>
          </a:prstGeom>
          <a:noFill/>
          <a:ln w="25400">
            <a:solidFill>
              <a:srgbClr val="F5A623"/>
            </a:solidFill>
            <a:prstDash val="solid"/>
          </a:ln>
        </p:spPr>
      </p:sp>
      <p:sp>
        <p:nvSpPr>
          <p:cNvPr id="28" name="Shape 22"/>
          <p:cNvSpPr/>
          <p:nvPr/>
        </p:nvSpPr>
        <p:spPr>
          <a:xfrm>
            <a:off x="3429000" y="3337560"/>
            <a:ext cx="5257800" cy="457200"/>
          </a:xfrm>
          <a:prstGeom prst="roundRect">
            <a:avLst>
              <a:gd name="adj" fmla="val 16000"/>
            </a:avLst>
          </a:prstGeom>
          <a:solidFill>
            <a:srgbClr val="EFEBFC"/>
          </a:solidFill>
          <a:ln w="12700">
            <a:solidFill>
              <a:srgbClr val="EFEBFC"/>
            </a:solidFill>
            <a:prstDash val="solid"/>
          </a:ln>
        </p:spPr>
      </p:sp>
      <p:sp>
        <p:nvSpPr>
          <p:cNvPr id="29" name="Shape 23"/>
          <p:cNvSpPr/>
          <p:nvPr/>
        </p:nvSpPr>
        <p:spPr>
          <a:xfrm>
            <a:off x="3593592" y="3374136"/>
            <a:ext cx="384048" cy="384048"/>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3693444" y="3473988"/>
            <a:ext cx="184343" cy="184343"/>
          </a:xfrm>
          <a:prstGeom prst="rect">
            <a:avLst/>
          </a:prstGeom>
        </p:spPr>
      </p:pic>
      <p:sp>
        <p:nvSpPr>
          <p:cNvPr id="31" name="Text 24"/>
          <p:cNvSpPr txBox="1"/>
          <p:nvPr/>
        </p:nvSpPr>
        <p:spPr>
          <a:xfrm>
            <a:off x="4142232" y="342900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Rationale</a:t>
            </a:r>
            <a:endParaRPr lang="en-US" sz="1500" dirty="0"/>
          </a:p>
        </p:txBody>
      </p:sp>
      <p:sp>
        <p:nvSpPr>
          <p:cNvPr id="32" name="Text 25"/>
          <p:cNvSpPr txBox="1"/>
          <p:nvPr/>
        </p:nvSpPr>
        <p:spPr>
          <a:xfrm>
            <a:off x="5577840" y="342900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One short sentence per draft on what it kept.</a:t>
            </a:r>
            <a:endParaRPr lang="en-US" sz="1200" dirty="0"/>
          </a:p>
        </p:txBody>
      </p:sp>
      <p:sp>
        <p:nvSpPr>
          <p:cNvPr id="33" name="Text 26"/>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Voting is a different fan-in strategy; Lesson 33 builds it.</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32 — LLM-Based Fan-In</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TEMPERATURE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the drafters hot and the reducer cool</a:t>
            </a:r>
            <a:endParaRPr lang="en-US" sz="2800" dirty="0"/>
          </a:p>
        </p:txBody>
      </p:sp>
      <p:sp>
        <p:nvSpPr>
          <p:cNvPr id="4" name="Shape 2"/>
          <p:cNvSpPr/>
          <p:nvPr/>
        </p:nvSpPr>
        <p:spPr>
          <a:xfrm>
            <a:off x="457200" y="1371600"/>
            <a:ext cx="3931920" cy="1828800"/>
          </a:xfrm>
          <a:prstGeom prst="roundRect">
            <a:avLst>
              <a:gd name="adj" fmla="val 4000"/>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Drafter: 0.9</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Identical task and system prompt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Sampling alone makes the drafts differ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Fresh ChatHistory per draft</a:t>
            </a:r>
            <a:endParaRPr lang="en-US" sz="1300" dirty="0"/>
          </a:p>
        </p:txBody>
      </p:sp>
      <p:sp>
        <p:nvSpPr>
          <p:cNvPr id="9" name="Shape 6"/>
          <p:cNvSpPr/>
          <p:nvPr/>
        </p:nvSpPr>
        <p:spPr>
          <a:xfrm>
            <a:off x="4754880" y="1371600"/>
            <a:ext cx="3931920" cy="1828800"/>
          </a:xfrm>
          <a:prstGeom prst="roundRect">
            <a:avLst>
              <a:gd name="adj" fmla="val 4000"/>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Reducer: 0.2</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Consolidates, rather than adds, randomness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Same drafts, similar synthesis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Typed JSON via ResponseFormat</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same hot-generation, cold-judgment split as Lesson 31.</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32 — LLM-Based Fan-In</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ROBUSTNESS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Small pieces that keep the fan-in dependable</a:t>
            </a:r>
            <a:endParaRPr lang="en-US" sz="2800" dirty="0"/>
          </a:p>
        </p:txBody>
      </p:sp>
      <p:sp>
        <p:nvSpPr>
          <p:cNvPr id="4" name="Shape 2"/>
          <p:cNvSpPr/>
          <p:nvPr/>
        </p:nvSpPr>
        <p:spPr>
          <a:xfrm>
            <a:off x="457200" y="1371600"/>
            <a:ext cx="1851660" cy="1691640"/>
          </a:xfrm>
          <a:prstGeom prst="roundRect">
            <a:avLst>
              <a:gd name="adj" fmla="val 4324"/>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Typed result</a:t>
            </a:r>
            <a:endParaRPr lang="en-US" sz="1300" dirty="0"/>
          </a:p>
        </p:txBody>
      </p:sp>
      <p:sp>
        <p:nvSpPr>
          <p:cNvPr id="8" name="Text 5"/>
          <p:cNvSpPr txBox="1"/>
          <p:nvPr/>
        </p:nvSpPr>
        <p:spPr>
          <a:xfrm>
            <a:off x="640080" y="2057400"/>
            <a:ext cx="1485900" cy="9144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SynthesisResult: synthesizedAnswer and rationale.</a:t>
            </a:r>
            <a:endParaRPr lang="en-US" sz="1200" dirty="0"/>
          </a:p>
        </p:txBody>
      </p:sp>
      <p:sp>
        <p:nvSpPr>
          <p:cNvPr id="9" name="Shape 6"/>
          <p:cNvSpPr/>
          <p:nvPr/>
        </p:nvSpPr>
        <p:spPr>
          <a:xfrm>
            <a:off x="2583180" y="1371600"/>
            <a:ext cx="1851660" cy="1691640"/>
          </a:xfrm>
          <a:prstGeom prst="roundRect">
            <a:avLst>
              <a:gd name="adj" fmla="val 4324"/>
            </a:avLst>
          </a:prstGeom>
          <a:solidFill>
            <a:srgbClr val="512BD4"/>
          </a:solidFill>
          <a:ln w="12700">
            <a:solidFill>
              <a:srgbClr val="512BD4"/>
            </a:solidFill>
            <a:prstDash val="solid"/>
          </a:ln>
        </p:spPr>
      </p:sp>
      <p:sp>
        <p:nvSpPr>
          <p:cNvPr id="10" name="Shape 7"/>
          <p:cNvSpPr/>
          <p:nvPr/>
        </p:nvSpPr>
        <p:spPr>
          <a:xfrm>
            <a:off x="2766060" y="1554480"/>
            <a:ext cx="384048" cy="384048"/>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2865912" y="1654332"/>
            <a:ext cx="184343" cy="184343"/>
          </a:xfrm>
          <a:prstGeom prst="rect">
            <a:avLst/>
          </a:prstGeom>
        </p:spPr>
      </p:pic>
      <p:sp>
        <p:nvSpPr>
          <p:cNvPr id="12" name="Text 8"/>
          <p:cNvSpPr txBox="1"/>
          <p:nvPr/>
        </p:nvSpPr>
        <p:spPr>
          <a:xfrm>
            <a:off x="326898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Fallback</a:t>
            </a:r>
            <a:endParaRPr lang="en-US" sz="1300" dirty="0"/>
          </a:p>
        </p:txBody>
      </p:sp>
      <p:sp>
        <p:nvSpPr>
          <p:cNvPr id="13" name="Text 9"/>
          <p:cNvSpPr txBox="1"/>
          <p:nvPr/>
        </p:nvSpPr>
        <p:spPr>
          <a:xfrm>
            <a:off x="2766060" y="2057400"/>
            <a:ext cx="1485900" cy="9144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Bad JSON falls back to draft 1 and says so in the rationale.</a:t>
            </a:r>
            <a:endParaRPr lang="en-US" sz="1200" dirty="0"/>
          </a:p>
        </p:txBody>
      </p:sp>
      <p:sp>
        <p:nvSpPr>
          <p:cNvPr id="14" name="Shape 10"/>
          <p:cNvSpPr/>
          <p:nvPr/>
        </p:nvSpPr>
        <p:spPr>
          <a:xfrm>
            <a:off x="4709160" y="1371600"/>
            <a:ext cx="1851660" cy="1691640"/>
          </a:xfrm>
          <a:prstGeom prst="roundRect">
            <a:avLst>
              <a:gd name="adj" fmla="val 4324"/>
            </a:avLst>
          </a:prstGeom>
          <a:solidFill>
            <a:srgbClr val="EFEBFC"/>
          </a:solidFill>
          <a:ln w="12700">
            <a:solidFill>
              <a:srgbClr val="EFEBFC"/>
            </a:solidFill>
            <a:prstDash val="solid"/>
          </a:ln>
        </p:spPr>
      </p:sp>
      <p:sp>
        <p:nvSpPr>
          <p:cNvPr id="15" name="Shape 11"/>
          <p:cNvSpPr/>
          <p:nvPr/>
        </p:nvSpPr>
        <p:spPr>
          <a:xfrm>
            <a:off x="489204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4991892" y="1654332"/>
            <a:ext cx="184343" cy="184343"/>
          </a:xfrm>
          <a:prstGeom prst="rect">
            <a:avLst/>
          </a:prstGeom>
        </p:spPr>
      </p:pic>
      <p:sp>
        <p:nvSpPr>
          <p:cNvPr id="17" name="Text 12"/>
          <p:cNvSpPr txBox="1"/>
          <p:nvPr/>
        </p:nvSpPr>
        <p:spPr>
          <a:xfrm>
            <a:off x="539496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Independent</a:t>
            </a:r>
            <a:endParaRPr lang="en-US" sz="1300" dirty="0"/>
          </a:p>
        </p:txBody>
      </p:sp>
      <p:sp>
        <p:nvSpPr>
          <p:cNvPr id="18" name="Text 13"/>
          <p:cNvSpPr txBox="1"/>
          <p:nvPr/>
        </p:nvSpPr>
        <p:spPr>
          <a:xfrm>
            <a:off x="4892040" y="2057400"/>
            <a:ext cx="1485900" cy="9144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 drafter sees another's output, so their drafts stay distinct.</a:t>
            </a:r>
            <a:endParaRPr lang="en-US" sz="1200" dirty="0"/>
          </a:p>
        </p:txBody>
      </p:sp>
      <p:sp>
        <p:nvSpPr>
          <p:cNvPr id="19" name="Shape 14"/>
          <p:cNvSpPr/>
          <p:nvPr/>
        </p:nvSpPr>
        <p:spPr>
          <a:xfrm>
            <a:off x="6835140" y="1371600"/>
            <a:ext cx="1851660" cy="1691640"/>
          </a:xfrm>
          <a:prstGeom prst="roundRect">
            <a:avLst>
              <a:gd name="adj" fmla="val 4324"/>
            </a:avLst>
          </a:prstGeom>
          <a:solidFill>
            <a:srgbClr val="EFEBFC"/>
          </a:solidFill>
          <a:ln w="12700">
            <a:solidFill>
              <a:srgbClr val="EFEBFC"/>
            </a:solidFill>
            <a:prstDash val="solid"/>
          </a:ln>
        </p:spPr>
      </p:sp>
      <p:sp>
        <p:nvSpPr>
          <p:cNvPr id="20" name="Shape 15"/>
          <p:cNvSpPr/>
          <p:nvPr/>
        </p:nvSpPr>
        <p:spPr>
          <a:xfrm>
            <a:off x="7018020" y="155448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117872" y="1654332"/>
            <a:ext cx="184343" cy="184343"/>
          </a:xfrm>
          <a:prstGeom prst="rect">
            <a:avLst/>
          </a:prstGeom>
        </p:spPr>
      </p:pic>
      <p:sp>
        <p:nvSpPr>
          <p:cNvPr id="22" name="Text 16"/>
          <p:cNvSpPr txBox="1"/>
          <p:nvPr/>
        </p:nvSpPr>
        <p:spPr>
          <a:xfrm>
            <a:off x="752094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Concurrent</a:t>
            </a:r>
            <a:endParaRPr lang="en-US" sz="1300" dirty="0"/>
          </a:p>
        </p:txBody>
      </p:sp>
      <p:sp>
        <p:nvSpPr>
          <p:cNvPr id="23" name="Text 17"/>
          <p:cNvSpPr txBox="1"/>
          <p:nvPr/>
        </p:nvSpPr>
        <p:spPr>
          <a:xfrm>
            <a:off x="7018020" y="2057400"/>
            <a:ext cx="1485900" cy="9144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Three round trips take about as long as one.</a:t>
            </a:r>
            <a:endParaRPr lang="en-US" sz="1200" dirty="0"/>
          </a:p>
        </p:txBody>
      </p:sp>
      <p:sp>
        <p:nvSpPr>
          <p:cNvPr id="24" name="Text 18"/>
          <p:cNvSpPr txBox="1"/>
          <p:nvPr/>
        </p:nvSpPr>
        <p:spPr>
          <a:xfrm>
            <a:off x="457200" y="32918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Whatever happens to the reducer, the run ends with an answer.</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32 — LLM-Based Fan-In</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three analogies, one synthesis</a:t>
            </a:r>
            <a:endParaRPr lang="en-US" sz="2800" dirty="0"/>
          </a:p>
        </p:txBody>
      </p:sp>
      <p:sp>
        <p:nvSpPr>
          <p:cNvPr id="4" name="Shape 2"/>
          <p:cNvSpPr/>
          <p:nvPr/>
        </p:nvSpPr>
        <p:spPr>
          <a:xfrm>
            <a:off x="457200" y="1325880"/>
            <a:ext cx="5257800" cy="2880360"/>
          </a:xfrm>
          <a:prstGeom prst="roundRect">
            <a:avLst>
              <a:gd name="adj" fmla="val 2540"/>
            </a:avLst>
          </a:prstGeom>
          <a:solidFill>
            <a:srgbClr val="0F1420"/>
          </a:solidFill>
          <a:ln w="12700">
            <a:solidFill>
              <a:srgbClr val="0F1420"/>
            </a:solidFill>
            <a:prstDash val="solid"/>
          </a:ln>
        </p:spPr>
      </p:sp>
      <p:sp>
        <p:nvSpPr>
          <p:cNvPr id="5" name="Text 3"/>
          <p:cNvSpPr txBox="1"/>
          <p:nvPr/>
        </p:nvSpPr>
        <p:spPr>
          <a:xfrm>
            <a:off x="640080" y="1463040"/>
            <a:ext cx="4892040" cy="2606040"/>
          </a:xfrm>
          <a:prstGeom prst="rect">
            <a:avLst/>
          </a:prstGeom>
          <a:noFill/>
          <a:ln/>
        </p:spPr>
        <p:txBody>
          <a:bodyPr wrap="square" lIns="0" tIns="0" rIns="0" bIns="0" rtlCol="0" anchor="t"/>
          <a:lstStyle/>
          <a:p>
            <a:pPr indent="0" marL="0">
              <a:buNone/>
            </a:pPr>
            <a:r>
              <a:rPr lang="en-US" sz="1050" dirty="0">
                <a:solidFill>
                  <a:srgbClr val="D7E3F4"/>
                </a:solidFill>
                <a:latin typeface="Courier New" pitchFamily="34" charset="0"/>
                <a:ea typeface="Courier New" pitchFamily="34" charset="-122"/>
                <a:cs typeface="Courier New" pitchFamily="34" charset="-120"/>
              </a:rPr>
              <a:t>TASK: Explain what a closure is to someone who has...</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Draft 1 ---</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Think of a closure like a backpack a function packs...</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Draft 2 ---</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A closure is like a photograph that keeps the room...</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Draft 3 ---</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Imagine a chef who writes down a recipe but also seals</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Synthesis Rationale ---</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Draft 1's backpack analogy was the clearest, so it's</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the base. Draft 3's "sealed in" phrasing was borrowed.</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Draft 2's photograph analogy was set aside.</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FINAL OUTPUT ---</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Think of a closure like a backpack a function seals</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shut before it leaves home...</a:t>
            </a:r>
            <a:endParaRPr lang="en-US" sz="105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Three different drafts</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Backpack, photograph and chef: sampling made them differ.</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Attributable rationale</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It names what it kept from each draft and what it dropped.</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Wording varies</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Abridged from the lesson's sample run. Yours will differ.</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32 — LLM-Based Fan-In</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50" b="1" dirty="0">
                <a:solidFill>
                  <a:srgbClr val="1F2937"/>
                </a:solidFill>
                <a:latin typeface="Cambria" pitchFamily="34" charset="0"/>
                <a:ea typeface="Cambria" pitchFamily="34" charset="-122"/>
                <a:cs typeface="Cambria" pitchFamily="34" charset="-120"/>
              </a:rPr>
              <a:t>Scale the fan-out and prove it runs in parallel</a:t>
            </a:r>
            <a:endParaRPr lang="en-US" sz="265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Read the draft count from the command line and time the fan-out with a Stopwatch, printing the elapsed seconds before the synthesis.</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Lesson32-LLMFanIn/</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LLMFanIn/Program.cs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dotnet run -- 5 prints five drafts</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With no argument it still uses FanOutCount = 3</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rationale has one sentence per draft</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Fan-out time for 5 drafts is close to the time for 1</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32 — LLM-Based Fan-In</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93776"/>
          </a:xfrm>
          <a:prstGeom prst="roundRect">
            <a:avLst>
              <a:gd name="adj" fmla="val 14815"/>
            </a:avLst>
          </a:prstGeom>
          <a:solidFill>
            <a:srgbClr val="1F2943"/>
          </a:solidFill>
          <a:ln w="12700">
            <a:solidFill>
              <a:srgbClr val="1F2943"/>
            </a:solidFill>
            <a:prstDash val="solid"/>
          </a:ln>
        </p:spPr>
      </p:sp>
      <p:sp>
        <p:nvSpPr>
          <p:cNvPr id="5" name="Text 3"/>
          <p:cNvSpPr txBox="1"/>
          <p:nvPr/>
        </p:nvSpPr>
        <p:spPr>
          <a:xfrm>
            <a:off x="621792" y="1234440"/>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Concurrent fan-out</a:t>
            </a:r>
            <a:endParaRPr lang="en-US" sz="1300" dirty="0"/>
          </a:p>
        </p:txBody>
      </p:sp>
      <p:sp>
        <p:nvSpPr>
          <p:cNvPr id="6" name="Shape 4"/>
          <p:cNvSpPr/>
          <p:nvPr/>
        </p:nvSpPr>
        <p:spPr>
          <a:xfrm>
            <a:off x="3493008" y="138988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33  </a:t>
            </a:r>
            <a:pPr indent="0" marL="0">
              <a:buNone/>
            </a:pPr>
            <a:r>
              <a:rPr lang="en-US" sz="1250" dirty="0">
                <a:solidFill>
                  <a:srgbClr val="FFFFFF"/>
                </a:solidFill>
                <a:latin typeface="Calibri" pitchFamily="34" charset="0"/>
                <a:ea typeface="Calibri" pitchFamily="34" charset="-122"/>
                <a:cs typeface="Calibri" pitchFamily="34" charset="-120"/>
              </a:rPr>
              <a:t>Same Task.WhenAll fan-out, fanned in by a vote</a:t>
            </a:r>
            <a:endParaRPr lang="en-US" sz="1250" dirty="0"/>
          </a:p>
        </p:txBody>
      </p:sp>
      <p:sp>
        <p:nvSpPr>
          <p:cNvPr id="8" name="Shape 6"/>
          <p:cNvSpPr/>
          <p:nvPr/>
        </p:nvSpPr>
        <p:spPr>
          <a:xfrm>
            <a:off x="457200" y="1837944"/>
            <a:ext cx="2926080" cy="493776"/>
          </a:xfrm>
          <a:prstGeom prst="roundRect">
            <a:avLst>
              <a:gd name="adj" fmla="val 14815"/>
            </a:avLst>
          </a:prstGeom>
          <a:solidFill>
            <a:srgbClr val="1F2943"/>
          </a:solidFill>
          <a:ln w="12700">
            <a:solidFill>
              <a:srgbClr val="1F2943"/>
            </a:solidFill>
            <a:prstDash val="solid"/>
          </a:ln>
        </p:spPr>
      </p:sp>
      <p:sp>
        <p:nvSpPr>
          <p:cNvPr id="9" name="Text 7"/>
          <p:cNvSpPr txBox="1"/>
          <p:nvPr/>
        </p:nvSpPr>
        <p:spPr>
          <a:xfrm>
            <a:off x="621792" y="1837944"/>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structured LLM decision</a:t>
            </a:r>
            <a:endParaRPr lang="en-US" sz="1300" dirty="0"/>
          </a:p>
        </p:txBody>
      </p:sp>
      <p:sp>
        <p:nvSpPr>
          <p:cNvPr id="10" name="Shape 8"/>
          <p:cNvSpPr/>
          <p:nvPr/>
        </p:nvSpPr>
        <p:spPr>
          <a:xfrm>
            <a:off x="3493008" y="199339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837944"/>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34  </a:t>
            </a:r>
            <a:pPr indent="0" marL="0">
              <a:buNone/>
            </a:pPr>
            <a:r>
              <a:rPr lang="en-US" sz="1250" dirty="0">
                <a:solidFill>
                  <a:srgbClr val="FFFFFF"/>
                </a:solidFill>
                <a:latin typeface="Calibri" pitchFamily="34" charset="0"/>
                <a:ea typeface="Calibri" pitchFamily="34" charset="-122"/>
                <a:cs typeface="Calibri" pitchFamily="34" charset="-120"/>
              </a:rPr>
              <a:t>A moderator returns who speaks next as JSON</a:t>
            </a:r>
            <a:endParaRPr lang="en-US" sz="1250" dirty="0"/>
          </a:p>
        </p:txBody>
      </p:sp>
      <p:sp>
        <p:nvSpPr>
          <p:cNvPr id="12" name="Shape 10"/>
          <p:cNvSpPr/>
          <p:nvPr/>
        </p:nvSpPr>
        <p:spPr>
          <a:xfrm>
            <a:off x="457200" y="2441448"/>
            <a:ext cx="2926080" cy="493776"/>
          </a:xfrm>
          <a:prstGeom prst="roundRect">
            <a:avLst>
              <a:gd name="adj" fmla="val 14815"/>
            </a:avLst>
          </a:prstGeom>
          <a:solidFill>
            <a:srgbClr val="1F2943"/>
          </a:solidFill>
          <a:ln w="12700">
            <a:solidFill>
              <a:srgbClr val="1F2943"/>
            </a:solidFill>
            <a:prstDash val="solid"/>
          </a:ln>
        </p:spPr>
      </p:sp>
      <p:sp>
        <p:nvSpPr>
          <p:cNvPr id="13" name="Text 11"/>
          <p:cNvSpPr txBox="1"/>
          <p:nvPr/>
        </p:nvSpPr>
        <p:spPr>
          <a:xfrm>
            <a:off x="621792" y="2441448"/>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Many participants, one result</a:t>
            </a:r>
            <a:endParaRPr lang="en-US" sz="1300" dirty="0"/>
          </a:p>
        </p:txBody>
      </p:sp>
      <p:sp>
        <p:nvSpPr>
          <p:cNvPr id="14" name="Shape 12"/>
          <p:cNvSpPr/>
          <p:nvPr/>
        </p:nvSpPr>
        <p:spPr>
          <a:xfrm>
            <a:off x="3493008" y="25968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441448"/>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35  </a:t>
            </a:r>
            <a:pPr indent="0" marL="0">
              <a:buNone/>
            </a:pPr>
            <a:r>
              <a:rPr lang="en-US" sz="1250" dirty="0">
                <a:solidFill>
                  <a:srgbClr val="FFFFFF"/>
                </a:solidFill>
                <a:latin typeface="Calibri" pitchFamily="34" charset="0"/>
                <a:ea typeface="Calibri" pitchFamily="34" charset="-122"/>
                <a:cs typeface="Calibri" pitchFamily="34" charset="-120"/>
              </a:rPr>
              <a:t>Team bids collected and reconciled in plain C#</a:t>
            </a:r>
            <a:endParaRPr lang="en-US" sz="1250" dirty="0"/>
          </a:p>
        </p:txBody>
      </p:sp>
      <p:sp>
        <p:nvSpPr>
          <p:cNvPr id="16" name="Shape 14"/>
          <p:cNvSpPr/>
          <p:nvPr/>
        </p:nvSpPr>
        <p:spPr>
          <a:xfrm>
            <a:off x="457200" y="3044952"/>
            <a:ext cx="2926080" cy="493776"/>
          </a:xfrm>
          <a:prstGeom prst="roundRect">
            <a:avLst>
              <a:gd name="adj" fmla="val 14815"/>
            </a:avLst>
          </a:prstGeom>
          <a:solidFill>
            <a:srgbClr val="1F2943"/>
          </a:solidFill>
          <a:ln w="12700">
            <a:solidFill>
              <a:srgbClr val="1F2943"/>
            </a:solidFill>
            <a:prstDash val="solid"/>
          </a:ln>
        </p:spPr>
      </p:sp>
      <p:sp>
        <p:nvSpPr>
          <p:cNvPr id="17" name="Text 15"/>
          <p:cNvSpPr txBox="1"/>
          <p:nvPr/>
        </p:nvSpPr>
        <p:spPr>
          <a:xfrm>
            <a:off x="621792" y="3044952"/>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Delegating to many workers</a:t>
            </a:r>
            <a:endParaRPr lang="en-US" sz="1300" dirty="0"/>
          </a:p>
        </p:txBody>
      </p:sp>
      <p:sp>
        <p:nvSpPr>
          <p:cNvPr id="18" name="Shape 16"/>
          <p:cNvSpPr/>
          <p:nvPr/>
        </p:nvSpPr>
        <p:spPr>
          <a:xfrm>
            <a:off x="3493008" y="320040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044952"/>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39  </a:t>
            </a:r>
            <a:pPr indent="0" marL="0">
              <a:buNone/>
            </a:pPr>
            <a:r>
              <a:rPr lang="en-US" sz="1250" dirty="0">
                <a:solidFill>
                  <a:srgbClr val="FFFFFF"/>
                </a:solidFill>
                <a:latin typeface="Calibri" pitchFamily="34" charset="0"/>
                <a:ea typeface="Calibri" pitchFamily="34" charset="-122"/>
                <a:cs typeface="Calibri" pitchFamily="34" charset="-120"/>
              </a:rPr>
              <a:t>Orchestrators delegate to sub-orchestrators (planned)</a:t>
            </a:r>
            <a:endParaRPr lang="en-US" sz="1250" dirty="0"/>
          </a:p>
        </p:txBody>
      </p:sp>
      <p:sp>
        <p:nvSpPr>
          <p:cNvPr id="20" name="Text 18"/>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2: Self-Directed Reasoning</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32 — LLM-Based Fan-In</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32 — LLM-Based Fan-In</dc:title>
  <dc:subject>PptxGenJS Presentation</dc:subject>
  <dc:creator>Media Six LLC</dc:creator>
  <cp:lastModifiedBy>Media Six LLC</cp:lastModifiedBy>
  <cp:revision>1</cp:revision>
  <dcterms:created xsi:type="dcterms:W3CDTF">2026-10-21T23:05:57Z</dcterms:created>
  <dcterms:modified xsi:type="dcterms:W3CDTF">2026-10-21T23:05:57Z</dcterms:modified>
</cp:coreProperties>
</file>