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Until now, an agent's memory has been its ChatHistory, which lives in RAM and disappears the moment the console app exits. In this lesson we build a terminal personal assistant that remembers facts about you across restarts. On every turn two things happen. MemoryAgent, the foreground conversationalist, answers you with every known fact injected into its system prompt. MemoryManager, a background fact miner, sends your message through a second, narrowly scoped LLM call that decides whether it contains a durable personal fact, such as your name, job or preferences, or answers NONE. Anything worth keeping is saved to user_memory.json immediately, so it is still known the next time you launch the app. No vector database is needed: a JSON file and careful read and write logic are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difference. ChatHistory is in-process state: useful within one session, gone when it ends, and full of every turn including small talk. Lesson 25 adds a second kind of memory: a short list of durable facts about the user, stored in user_memory.json and loaded again on the next launch. Only facts that are worth keeping make it in, because a dedicated extraction call filters out conversational filler. This is the first lesson in the series with real persistence, and it shows that long-term memory can start with nothing more than a JSON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is minimal. You need the .NET 10 SDK and a console application, LongTermMemory.slnx, referencing Microsoft.SemanticKernel and Microsoft.SemanticKernel.Connectors.OpenAI at version 1.78.0. Persistence uses System.Text.Json, which ships with .NET, so there's nothing extra to install. The key comes from OPENAI_API_KEY. A single gpt-4.1-mini chat model handles both the conversation and the fact extraction; this lesson uses no embedding model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splits the work between two classes that both receive the same IChatCompletionService. MemoryAgent owns the conversation and keeps its own ChatHistory. MemoryManager owns persistence: it loads the memory file at startup, runs the extraction prompt on each message, and writes the file back when it learns something. The data itself is UserMemory, a class with a single property, Facts, a List of strings mapped to a facts key in the JSON file. Program.cs wires the pieces together and runs the loop. Two independently purposed classes sharing one model foreshadows the multi-agent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one turn of the loop. At startup, MemoryManager loads user_memory.json and the program reports how many facts it found. On each turn, MemoryAgent builds its system message from the current facts, joined with semicolons, or says no facts are known yet. It inserts that message at index 0, adds your message, calls the model, and removes the system message again, so stale facts never pile up in the history. Then, highlighted, MemoryManager runs the extraction call on your raw input. If the answer is a real fact rather than NONE, it is appended to the list, the whole file is rewritten, and the program prints that a new fact was saved. Because the prompt is rebuilt every turn, that fact is used on the very next reply, with no restart.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extraction prompt from ExtractAndSaveFactAsync. It is engineered for one job: if the message states a permanent fact about the user, return it as a short sentence; otherwise return exactly NONE. That turns the model into a structured-output tool rather than a chatbot. Notice the shape of the history. The rules are the system message, and the user's text arrives as a separate user message: a history containing only a system message gives the model nothing to respond to. The reply is trimmed, and it is saved only if it is neither NONE, compared case-insensitively, nor blank. A blank reply isn't equal to NONE as a string, so it needs its own check, or an empty fact would be written to disk.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that persists can also stay broken, so the code guards it carefully. If user_memory.json is empty, truncated or hand-edited into invalid JSON, LoadMemory catches the JsonException, prints a warning and starts with fresh memory, instead of crashing on every future launch. If the chat call fails, MemoryAgent rolls back both the persona it inserted at index 0 and the user turn it just added, then rethrows; that's the same bug class Lesson 20 fixed with a finally block, plus the orphaned turn. Program.cs catches that per turn, prints an error and lets you try again. And blank extractor replies are never saved. Retries, deduplication and privacy controls for this plain-text file were left out deliberately as enhancements.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OPENAI_API_KEY and run the project. The slide shows two separate launches, trimmed of the exit hint and blank lines. The inputs, replies and the saved fact's wording are illustrative. On the first run, the app loads zero facts. Introduce yourself, and after the reply you'll see a MEMORY MANAGER line confirming a new fact was saved. Note that the program prints AI followed directly by the reply, with no colon. Type exit, then launch the app again: it now reports one existing fact, and when you ask what it remembers, the answer draws on that fact from the previous session. Open user_memory.json in the output folder to see the facts array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this on your own. In ExtractAndSaveFactAsync, compare a new fact against the existing list, case-insensitively, before adding it. Exact-match deduplication is a start; the extractor may word the same fact differently, which is a good discussion of why Lesson 38 moves to embeddings. Then add a public method that clears the facts and saves, and call it from Program.cs when the user types forget. Confirm that a restart afterwards reports zero existing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we persisted agent memory to a JSON file, used a second, strictly prompted LLM call as a fact extractor, rebuilt the system prompt from known facts on every turn, spliced the persona in and out of ChatHistory, and rolled history back when a call failed. Lesson 38 upgrades this flat fact list to a vector-indexed episodic store that recalls memories by relevance to the current question rather than by recency. Lesson 26 uses the same LLM-as-a-tool idea to have a judge score another agent's answers. Lesson 27's capstone grows two classes sharing one model into four agents sharing a ProjectState blackboard. And the planned Lesson 42 takes persistence further, checkpointing an orchestration mid-loop so it can resume after a restart.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25  ·  PART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Long-Term Memory</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An assistant that still remembers you after the app restarts</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user_memory.json</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facts across sessions</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Persist agent memory to a JSON file</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Use a second LLM call as a fact extractor</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Rebuild the system prompt from facts every turn</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Splice the persona in and out of ChatHistory</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Roll back history when a call fails</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25 — Long-Term Memory</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WHAT CHANGES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From history in RAM to facts on disk</a:t>
            </a:r>
            <a:endParaRPr lang="en-US" sz="2800" dirty="0"/>
          </a:p>
        </p:txBody>
      </p:sp>
      <p:sp>
        <p:nvSpPr>
          <p:cNvPr id="4" name="Shape 2"/>
          <p:cNvSpPr/>
          <p:nvPr/>
        </p:nvSpPr>
        <p:spPr>
          <a:xfrm>
            <a:off x="457200" y="1371600"/>
            <a:ext cx="3931920" cy="1920240"/>
          </a:xfrm>
          <a:prstGeom prst="roundRect">
            <a:avLst>
              <a:gd name="adj" fmla="val 381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Earlier lessons: ChatHistory</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Lives only in RAM</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Gone when the process exits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Keeps every turn, chatter included</a:t>
            </a:r>
            <a:endParaRPr lang="en-US" sz="1300" dirty="0"/>
          </a:p>
        </p:txBody>
      </p:sp>
      <p:sp>
        <p:nvSpPr>
          <p:cNvPr id="9" name="Shape 6"/>
          <p:cNvSpPr/>
          <p:nvPr/>
        </p:nvSpPr>
        <p:spPr>
          <a:xfrm>
            <a:off x="4754880" y="1371600"/>
            <a:ext cx="3931920" cy="1920240"/>
          </a:xfrm>
          <a:prstGeom prst="roundRect">
            <a:avLst>
              <a:gd name="adj" fmla="val 381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25: facts on disk</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Short facts in user_memory.json</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Reloaded on the next launch</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Only durable facts, not chatter</a:t>
            </a:r>
            <a:endParaRPr lang="en-US" sz="1300" dirty="0"/>
          </a:p>
        </p:txBody>
      </p:sp>
      <p:sp>
        <p:nvSpPr>
          <p:cNvPr id="14" name="Text 10"/>
          <p:cNvSpPr txBox="1"/>
          <p:nvPr/>
        </p:nvSpPr>
        <p:spPr>
          <a:xfrm>
            <a:off x="457200" y="35661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Long-term memory doesn't require a vector database.</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25 — Long-Term Memory</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you need before writing any code</a:t>
            </a:r>
            <a:endParaRPr lang="en-US" sz="2800" dirty="0"/>
          </a:p>
        </p:txBody>
      </p:sp>
      <p:sp>
        <p:nvSpPr>
          <p:cNvPr id="4" name="Shape 2"/>
          <p:cNvSpPr/>
          <p:nvPr/>
        </p:nvSpPr>
        <p:spPr>
          <a:xfrm>
            <a:off x="457200" y="1371600"/>
            <a:ext cx="397764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.NET 10 SDK</a:t>
            </a:r>
            <a:endParaRPr lang="en-US" sz="15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C# console app targeting net10.0, opened as LongTermMemory.slnx in Visual Studio 2026.</a:t>
            </a:r>
            <a:endParaRPr lang="en-US" sz="1200" dirty="0"/>
          </a:p>
        </p:txBody>
      </p:sp>
      <p:sp>
        <p:nvSpPr>
          <p:cNvPr id="9" name="Shape 6"/>
          <p:cNvSpPr/>
          <p:nvPr/>
        </p:nvSpPr>
        <p:spPr>
          <a:xfrm>
            <a:off x="4709160" y="1371600"/>
            <a:ext cx="397764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Two NuGet packages</a:t>
            </a:r>
            <a:endParaRPr lang="en-US" sz="15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Microsoft.SemanticKernel and Microsoft.SemanticKernel.Connectors.OpenAI, both version 1.78.0.</a:t>
            </a:r>
            <a:endParaRPr lang="en-US" sz="1200" dirty="0"/>
          </a:p>
        </p:txBody>
      </p:sp>
      <p:sp>
        <p:nvSpPr>
          <p:cNvPr id="14" name="Shape 10"/>
          <p:cNvSpPr/>
          <p:nvPr/>
        </p:nvSpPr>
        <p:spPr>
          <a:xfrm>
            <a:off x="457200" y="2994660"/>
            <a:ext cx="397764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40080" y="317754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OPENAI_API_KEY</a:t>
            </a:r>
            <a:endParaRPr lang="en-US" sz="15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Read from the environment, never hard-coded. The app throws at startup if it is missing.</a:t>
            </a:r>
            <a:endParaRPr lang="en-US" sz="1200" dirty="0"/>
          </a:p>
        </p:txBody>
      </p:sp>
      <p:sp>
        <p:nvSpPr>
          <p:cNvPr id="19" name="Shape 14"/>
          <p:cNvSpPr/>
          <p:nvPr/>
        </p:nvSpPr>
        <p:spPr>
          <a:xfrm>
            <a:off x="4709160" y="2994660"/>
            <a:ext cx="397764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489204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gpt-4.1-mini</a:t>
            </a:r>
            <a:endParaRPr lang="en-US" sz="15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One chat model for both jobs: chatting and fact extraction. No embedding model.</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25 — Long-Term Memory</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SEPARATION OF CONCERNS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Two jobs share one chat service</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One chat service</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 single IChatCompletionService from the kernel, handed to both classes.</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Chat agent</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MemoryAgent replies using the known facts.</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Fact miner</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MemoryManager extracts and saves facts.</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Fact store</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UserMemory: a flat List&lt;string&gt;, saved as JSON.</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Two independently purposed classes, one shared model.</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25 — Long-Term Memory</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ONE TURN</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One turn, from question to saved fact</a:t>
            </a:r>
            <a:endParaRPr lang="en-US" sz="2800" dirty="0"/>
          </a:p>
        </p:txBody>
      </p:sp>
      <p:sp>
        <p:nvSpPr>
          <p:cNvPr id="4" name="Shape 2"/>
          <p:cNvSpPr/>
          <p:nvPr/>
        </p:nvSpPr>
        <p:spPr>
          <a:xfrm>
            <a:off x="457200" y="1417320"/>
            <a:ext cx="1367942" cy="2185416"/>
          </a:xfrm>
          <a:prstGeom prst="roundRect">
            <a:avLst>
              <a:gd name="adj" fmla="val 5348"/>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Load</a:t>
            </a:r>
            <a:endParaRPr lang="en-US" sz="1300" dirty="0"/>
          </a:p>
        </p:txBody>
      </p:sp>
      <p:sp>
        <p:nvSpPr>
          <p:cNvPr id="8" name="Text 5"/>
          <p:cNvSpPr txBox="1"/>
          <p:nvPr/>
        </p:nvSpPr>
        <p:spPr>
          <a:xfrm>
            <a:off x="640080"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Facts are read from disk once, at startup.</a:t>
            </a:r>
            <a:endParaRPr lang="en-US" sz="1200" dirty="0"/>
          </a:p>
        </p:txBody>
      </p:sp>
      <p:sp>
        <p:nvSpPr>
          <p:cNvPr id="9" name="Shape 6"/>
          <p:cNvSpPr/>
          <p:nvPr/>
        </p:nvSpPr>
        <p:spPr>
          <a:xfrm>
            <a:off x="1889150" y="2400300"/>
            <a:ext cx="219456" cy="219456"/>
          </a:xfrm>
          <a:prstGeom prst="rightArrow">
            <a:avLst/>
          </a:prstGeom>
          <a:solidFill>
            <a:srgbClr val="F5A623"/>
          </a:solidFill>
          <a:ln w="12700">
            <a:solidFill>
              <a:srgbClr val="F5A623"/>
            </a:solidFill>
            <a:prstDash val="solid"/>
          </a:ln>
        </p:spPr>
      </p:sp>
      <p:sp>
        <p:nvSpPr>
          <p:cNvPr id="10" name="Shape 7"/>
          <p:cNvSpPr/>
          <p:nvPr/>
        </p:nvSpPr>
        <p:spPr>
          <a:xfrm>
            <a:off x="2172614" y="1417320"/>
            <a:ext cx="1367942" cy="2185416"/>
          </a:xfrm>
          <a:prstGeom prst="roundRect">
            <a:avLst>
              <a:gd name="adj" fmla="val 5348"/>
            </a:avLst>
          </a:prstGeom>
          <a:solidFill>
            <a:srgbClr val="EFEBFC"/>
          </a:solidFill>
          <a:ln w="12700">
            <a:solidFill>
              <a:srgbClr val="EFEBFC"/>
            </a:solidFill>
            <a:prstDash val="solid"/>
          </a:ln>
        </p:spPr>
      </p:sp>
      <p:sp>
        <p:nvSpPr>
          <p:cNvPr id="11" name="Shape 8"/>
          <p:cNvSpPr/>
          <p:nvPr/>
        </p:nvSpPr>
        <p:spPr>
          <a:xfrm>
            <a:off x="235549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474366" y="1737360"/>
            <a:ext cx="219456" cy="219456"/>
          </a:xfrm>
          <a:prstGeom prst="rect">
            <a:avLst/>
          </a:prstGeom>
        </p:spPr>
      </p:pic>
      <p:sp>
        <p:nvSpPr>
          <p:cNvPr id="13" name="Text 9"/>
          <p:cNvSpPr txBox="1"/>
          <p:nvPr/>
        </p:nvSpPr>
        <p:spPr>
          <a:xfrm>
            <a:off x="2355494"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Prompt</a:t>
            </a:r>
            <a:endParaRPr lang="en-US" sz="1300" dirty="0"/>
          </a:p>
        </p:txBody>
      </p:sp>
      <p:sp>
        <p:nvSpPr>
          <p:cNvPr id="14" name="Text 10"/>
          <p:cNvSpPr txBox="1"/>
          <p:nvPr/>
        </p:nvSpPr>
        <p:spPr>
          <a:xfrm>
            <a:off x="2355494"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system message is rebuilt from facts.</a:t>
            </a:r>
            <a:endParaRPr lang="en-US" sz="1200" dirty="0"/>
          </a:p>
        </p:txBody>
      </p:sp>
      <p:sp>
        <p:nvSpPr>
          <p:cNvPr id="15" name="Shape 11"/>
          <p:cNvSpPr/>
          <p:nvPr/>
        </p:nvSpPr>
        <p:spPr>
          <a:xfrm>
            <a:off x="3604565" y="2400300"/>
            <a:ext cx="219456" cy="219456"/>
          </a:xfrm>
          <a:prstGeom prst="rightArrow">
            <a:avLst/>
          </a:prstGeom>
          <a:solidFill>
            <a:srgbClr val="F5A623"/>
          </a:solidFill>
          <a:ln w="12700">
            <a:solidFill>
              <a:srgbClr val="F5A623"/>
            </a:solidFill>
            <a:prstDash val="solid"/>
          </a:ln>
        </p:spPr>
      </p:sp>
      <p:sp>
        <p:nvSpPr>
          <p:cNvPr id="16" name="Shape 12"/>
          <p:cNvSpPr/>
          <p:nvPr/>
        </p:nvSpPr>
        <p:spPr>
          <a:xfrm>
            <a:off x="3888029" y="1417320"/>
            <a:ext cx="1367942" cy="2185416"/>
          </a:xfrm>
          <a:prstGeom prst="roundRect">
            <a:avLst>
              <a:gd name="adj" fmla="val 5348"/>
            </a:avLst>
          </a:prstGeom>
          <a:solidFill>
            <a:srgbClr val="EFEBFC"/>
          </a:solidFill>
          <a:ln w="12700">
            <a:solidFill>
              <a:srgbClr val="EFEBFC"/>
            </a:solidFill>
            <a:prstDash val="solid"/>
          </a:ln>
        </p:spPr>
      </p:sp>
      <p:sp>
        <p:nvSpPr>
          <p:cNvPr id="17" name="Shape 13"/>
          <p:cNvSpPr/>
          <p:nvPr/>
        </p:nvSpPr>
        <p:spPr>
          <a:xfrm>
            <a:off x="4070909"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4189781" y="1737360"/>
            <a:ext cx="219456" cy="219456"/>
          </a:xfrm>
          <a:prstGeom prst="rect">
            <a:avLst/>
          </a:prstGeom>
        </p:spPr>
      </p:pic>
      <p:sp>
        <p:nvSpPr>
          <p:cNvPr id="19" name="Text 14"/>
          <p:cNvSpPr txBox="1"/>
          <p:nvPr/>
        </p:nvSpPr>
        <p:spPr>
          <a:xfrm>
            <a:off x="4070909"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Reply</a:t>
            </a:r>
            <a:endParaRPr lang="en-US" sz="1300" dirty="0"/>
          </a:p>
        </p:txBody>
      </p:sp>
      <p:sp>
        <p:nvSpPr>
          <p:cNvPr id="20" name="Text 15"/>
          <p:cNvSpPr txBox="1"/>
          <p:nvPr/>
        </p:nvSpPr>
        <p:spPr>
          <a:xfrm>
            <a:off x="4070909"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MemoryAgent answers, then drops the persona.</a:t>
            </a:r>
            <a:endParaRPr lang="en-US" sz="1200" dirty="0"/>
          </a:p>
        </p:txBody>
      </p:sp>
      <p:sp>
        <p:nvSpPr>
          <p:cNvPr id="21" name="Shape 16"/>
          <p:cNvSpPr/>
          <p:nvPr/>
        </p:nvSpPr>
        <p:spPr>
          <a:xfrm>
            <a:off x="5319979" y="2400300"/>
            <a:ext cx="219456" cy="219456"/>
          </a:xfrm>
          <a:prstGeom prst="rightArrow">
            <a:avLst/>
          </a:prstGeom>
          <a:solidFill>
            <a:srgbClr val="F5A623"/>
          </a:solidFill>
          <a:ln w="12700">
            <a:solidFill>
              <a:srgbClr val="F5A623"/>
            </a:solidFill>
            <a:prstDash val="solid"/>
          </a:ln>
        </p:spPr>
      </p:sp>
      <p:sp>
        <p:nvSpPr>
          <p:cNvPr id="22" name="Shape 17"/>
          <p:cNvSpPr/>
          <p:nvPr/>
        </p:nvSpPr>
        <p:spPr>
          <a:xfrm>
            <a:off x="5603443" y="1417320"/>
            <a:ext cx="1367942" cy="2185416"/>
          </a:xfrm>
          <a:prstGeom prst="roundRect">
            <a:avLst>
              <a:gd name="adj" fmla="val 5348"/>
            </a:avLst>
          </a:prstGeom>
          <a:solidFill>
            <a:srgbClr val="512BD4"/>
          </a:solidFill>
          <a:ln w="12700">
            <a:solidFill>
              <a:srgbClr val="512BD4"/>
            </a:solidFill>
            <a:prstDash val="solid"/>
          </a:ln>
        </p:spPr>
      </p:sp>
      <p:sp>
        <p:nvSpPr>
          <p:cNvPr id="23" name="Shape 18"/>
          <p:cNvSpPr/>
          <p:nvPr/>
        </p:nvSpPr>
        <p:spPr>
          <a:xfrm>
            <a:off x="5786323"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5905195" y="1737360"/>
            <a:ext cx="219456" cy="219456"/>
          </a:xfrm>
          <a:prstGeom prst="rect">
            <a:avLst/>
          </a:prstGeom>
        </p:spPr>
      </p:pic>
      <p:sp>
        <p:nvSpPr>
          <p:cNvPr id="25" name="Text 19"/>
          <p:cNvSpPr txBox="1"/>
          <p:nvPr/>
        </p:nvSpPr>
        <p:spPr>
          <a:xfrm>
            <a:off x="5786323" y="2194560"/>
            <a:ext cx="1047902" cy="41148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Extract</a:t>
            </a:r>
            <a:endParaRPr lang="en-US" sz="1300" dirty="0"/>
          </a:p>
        </p:txBody>
      </p:sp>
      <p:sp>
        <p:nvSpPr>
          <p:cNvPr id="26" name="Text 20"/>
          <p:cNvSpPr txBox="1"/>
          <p:nvPr/>
        </p:nvSpPr>
        <p:spPr>
          <a:xfrm>
            <a:off x="5786323" y="2606040"/>
            <a:ext cx="1047902" cy="9052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A second call returns a fact, or NONE.</a:t>
            </a:r>
            <a:endParaRPr lang="en-US" sz="1200" dirty="0"/>
          </a:p>
        </p:txBody>
      </p:sp>
      <p:sp>
        <p:nvSpPr>
          <p:cNvPr id="27" name="Shape 21"/>
          <p:cNvSpPr/>
          <p:nvPr/>
        </p:nvSpPr>
        <p:spPr>
          <a:xfrm>
            <a:off x="7035394" y="2400300"/>
            <a:ext cx="219456" cy="219456"/>
          </a:xfrm>
          <a:prstGeom prst="rightArrow">
            <a:avLst/>
          </a:prstGeom>
          <a:solidFill>
            <a:srgbClr val="F5A623"/>
          </a:solidFill>
          <a:ln w="12700">
            <a:solidFill>
              <a:srgbClr val="F5A623"/>
            </a:solidFill>
            <a:prstDash val="solid"/>
          </a:ln>
        </p:spPr>
      </p:sp>
      <p:sp>
        <p:nvSpPr>
          <p:cNvPr id="28" name="Shape 22"/>
          <p:cNvSpPr/>
          <p:nvPr/>
        </p:nvSpPr>
        <p:spPr>
          <a:xfrm>
            <a:off x="7318858" y="1417320"/>
            <a:ext cx="1367942" cy="2185416"/>
          </a:xfrm>
          <a:prstGeom prst="roundRect">
            <a:avLst>
              <a:gd name="adj" fmla="val 5348"/>
            </a:avLst>
          </a:prstGeom>
          <a:solidFill>
            <a:srgbClr val="EFEBFC"/>
          </a:solidFill>
          <a:ln w="12700">
            <a:solidFill>
              <a:srgbClr val="EFEBFC"/>
            </a:solidFill>
            <a:prstDash val="solid"/>
          </a:ln>
        </p:spPr>
      </p:sp>
      <p:sp>
        <p:nvSpPr>
          <p:cNvPr id="29" name="Shape 23"/>
          <p:cNvSpPr/>
          <p:nvPr/>
        </p:nvSpPr>
        <p:spPr>
          <a:xfrm>
            <a:off x="7501738" y="1618488"/>
            <a:ext cx="457200" cy="457200"/>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7620610" y="1737360"/>
            <a:ext cx="219456" cy="219456"/>
          </a:xfrm>
          <a:prstGeom prst="rect">
            <a:avLst/>
          </a:prstGeom>
        </p:spPr>
      </p:pic>
      <p:sp>
        <p:nvSpPr>
          <p:cNvPr id="31" name="Text 24"/>
          <p:cNvSpPr txBox="1"/>
          <p:nvPr/>
        </p:nvSpPr>
        <p:spPr>
          <a:xfrm>
            <a:off x="7501738"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Save</a:t>
            </a:r>
            <a:endParaRPr lang="en-US" sz="1300" dirty="0"/>
          </a:p>
        </p:txBody>
      </p:sp>
      <p:sp>
        <p:nvSpPr>
          <p:cNvPr id="32" name="Text 25"/>
          <p:cNvSpPr txBox="1"/>
          <p:nvPr/>
        </p:nvSpPr>
        <p:spPr>
          <a:xfrm>
            <a:off x="7501738"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new fact is appended and the file rewritten.</a:t>
            </a:r>
            <a:endParaRPr lang="en-US" sz="1200" dirty="0"/>
          </a:p>
        </p:txBody>
      </p:sp>
      <p:sp>
        <p:nvSpPr>
          <p:cNvPr id="33" name="Text 26"/>
          <p:cNvSpPr txBox="1"/>
          <p:nvPr/>
        </p:nvSpPr>
        <p:spPr>
          <a:xfrm>
            <a:off x="457200" y="3922776"/>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 fact learned this turn shapes the very next reply.</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25 — Long-Term Memory</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FACT EXTRACTOR</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500" b="1" dirty="0">
                <a:solidFill>
                  <a:srgbClr val="1F2937"/>
                </a:solidFill>
                <a:latin typeface="Cambria" pitchFamily="34" charset="0"/>
                <a:ea typeface="Cambria" pitchFamily="34" charset="-122"/>
                <a:cs typeface="Cambria" pitchFamily="34" charset="-120"/>
              </a:rPr>
              <a:t>A strict prompt turns the model into a classifier</a:t>
            </a:r>
            <a:endParaRPr lang="en-US" sz="2500" dirty="0"/>
          </a:p>
        </p:txBody>
      </p:sp>
      <p:sp>
        <p:nvSpPr>
          <p:cNvPr id="4" name="Shape 2"/>
          <p:cNvSpPr/>
          <p:nvPr/>
        </p:nvSpPr>
        <p:spPr>
          <a:xfrm>
            <a:off x="457200" y="1325880"/>
            <a:ext cx="5257800" cy="1691640"/>
          </a:xfrm>
          <a:prstGeom prst="roundRect">
            <a:avLst>
              <a:gd name="adj" fmla="val 4324"/>
            </a:avLst>
          </a:prstGeom>
          <a:solidFill>
            <a:srgbClr val="0F1420"/>
          </a:solidFill>
          <a:ln w="12700">
            <a:solidFill>
              <a:srgbClr val="0F1420"/>
            </a:solidFill>
            <a:prstDash val="solid"/>
          </a:ln>
        </p:spPr>
      </p:sp>
      <p:sp>
        <p:nvSpPr>
          <p:cNvPr id="5" name="Text 3"/>
          <p:cNvSpPr txBox="1"/>
          <p:nvPr/>
        </p:nvSpPr>
        <p:spPr>
          <a:xfrm>
            <a:off x="640080" y="1463040"/>
            <a:ext cx="4892040" cy="141732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system:</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Analyze the user's input.  If they state a permanent</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fact about themselves (e.g. their name, preferences,</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job, family), extract it as a short sentence.</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If there are no new personal facts, output exactly 'NONE'.</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user:</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{the user's latest message}</a:t>
            </a:r>
            <a:endParaRPr lang="en-US" sz="11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System + user</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Rules in the system message, the text in a user message.</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NONE or a fact</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Blank and NONE: never saved.</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Whole-file write</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SaveMemory rewrites user_memory.json each time.</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25 — Long-Term Memory</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ROBUSTNESS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Four ways the memory loop stays healthy</a:t>
            </a:r>
            <a:endParaRPr lang="en-US" sz="2800" dirty="0"/>
          </a:p>
        </p:txBody>
      </p:sp>
      <p:sp>
        <p:nvSpPr>
          <p:cNvPr id="4" name="Shape 2"/>
          <p:cNvSpPr/>
          <p:nvPr/>
        </p:nvSpPr>
        <p:spPr>
          <a:xfrm>
            <a:off x="457200" y="1371600"/>
            <a:ext cx="1851660" cy="1600200"/>
          </a:xfrm>
          <a:prstGeom prst="roundRect">
            <a:avLst>
              <a:gd name="adj" fmla="val 4571"/>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Bad file</a:t>
            </a:r>
            <a:endParaRPr lang="en-US" sz="1300" dirty="0"/>
          </a:p>
        </p:txBody>
      </p:sp>
      <p:sp>
        <p:nvSpPr>
          <p:cNvPr id="8" name="Text 5"/>
          <p:cNvSpPr txBox="1"/>
          <p:nvPr/>
        </p:nvSpPr>
        <p:spPr>
          <a:xfrm>
            <a:off x="640080" y="2057400"/>
            <a:ext cx="1485900" cy="8229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Corrupt JSON: a warning, then fresh memory.</a:t>
            </a:r>
            <a:endParaRPr lang="en-US" sz="1200" dirty="0"/>
          </a:p>
        </p:txBody>
      </p:sp>
      <p:sp>
        <p:nvSpPr>
          <p:cNvPr id="9" name="Shape 6"/>
          <p:cNvSpPr/>
          <p:nvPr/>
        </p:nvSpPr>
        <p:spPr>
          <a:xfrm>
            <a:off x="2583180" y="1371600"/>
            <a:ext cx="1851660" cy="1600200"/>
          </a:xfrm>
          <a:prstGeom prst="roundRect">
            <a:avLst>
              <a:gd name="adj" fmla="val 4571"/>
            </a:avLst>
          </a:prstGeom>
          <a:solidFill>
            <a:srgbClr val="512BD4"/>
          </a:solidFill>
          <a:ln w="12700">
            <a:solidFill>
              <a:srgbClr val="512BD4"/>
            </a:solidFill>
            <a:prstDash val="solid"/>
          </a:ln>
        </p:spPr>
      </p:sp>
      <p:sp>
        <p:nvSpPr>
          <p:cNvPr id="10" name="Shape 7"/>
          <p:cNvSpPr/>
          <p:nvPr/>
        </p:nvSpPr>
        <p:spPr>
          <a:xfrm>
            <a:off x="2766060" y="1554480"/>
            <a:ext cx="384048" cy="384048"/>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2865912" y="1654332"/>
            <a:ext cx="184343" cy="184343"/>
          </a:xfrm>
          <a:prstGeom prst="rect">
            <a:avLst/>
          </a:prstGeom>
        </p:spPr>
      </p:pic>
      <p:sp>
        <p:nvSpPr>
          <p:cNvPr id="12" name="Text 8"/>
          <p:cNvSpPr txBox="1"/>
          <p:nvPr/>
        </p:nvSpPr>
        <p:spPr>
          <a:xfrm>
            <a:off x="326898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FFFFFF"/>
                </a:solidFill>
                <a:latin typeface="Calibri" pitchFamily="34" charset="0"/>
                <a:ea typeface="Calibri" pitchFamily="34" charset="-122"/>
                <a:cs typeface="Calibri" pitchFamily="34" charset="-120"/>
              </a:rPr>
              <a:t>Rollback</a:t>
            </a:r>
            <a:endParaRPr lang="en-US" sz="1300" dirty="0"/>
          </a:p>
        </p:txBody>
      </p:sp>
      <p:sp>
        <p:nvSpPr>
          <p:cNvPr id="13" name="Text 9"/>
          <p:cNvSpPr txBox="1"/>
          <p:nvPr/>
        </p:nvSpPr>
        <p:spPr>
          <a:xfrm>
            <a:off x="2766060" y="2057400"/>
            <a:ext cx="1485900" cy="8229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A failed call removes the persona and the orphaned user turn.</a:t>
            </a:r>
            <a:endParaRPr lang="en-US" sz="1200" dirty="0"/>
          </a:p>
        </p:txBody>
      </p:sp>
      <p:sp>
        <p:nvSpPr>
          <p:cNvPr id="14" name="Shape 10"/>
          <p:cNvSpPr/>
          <p:nvPr/>
        </p:nvSpPr>
        <p:spPr>
          <a:xfrm>
            <a:off x="4709160" y="1371600"/>
            <a:ext cx="1851660" cy="1600200"/>
          </a:xfrm>
          <a:prstGeom prst="roundRect">
            <a:avLst>
              <a:gd name="adj" fmla="val 4571"/>
            </a:avLst>
          </a:prstGeom>
          <a:solidFill>
            <a:srgbClr val="EFEBFC"/>
          </a:solidFill>
          <a:ln w="12700">
            <a:solidFill>
              <a:srgbClr val="EFEBFC"/>
            </a:solidFill>
            <a:prstDash val="solid"/>
          </a:ln>
        </p:spPr>
      </p:sp>
      <p:sp>
        <p:nvSpPr>
          <p:cNvPr id="15" name="Shape 11"/>
          <p:cNvSpPr/>
          <p:nvPr/>
        </p:nvSpPr>
        <p:spPr>
          <a:xfrm>
            <a:off x="489204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4991892" y="1654332"/>
            <a:ext cx="184343" cy="184343"/>
          </a:xfrm>
          <a:prstGeom prst="rect">
            <a:avLst/>
          </a:prstGeom>
        </p:spPr>
      </p:pic>
      <p:sp>
        <p:nvSpPr>
          <p:cNvPr id="17" name="Text 12"/>
          <p:cNvSpPr txBox="1"/>
          <p:nvPr/>
        </p:nvSpPr>
        <p:spPr>
          <a:xfrm>
            <a:off x="539496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Turn errors</a:t>
            </a:r>
            <a:endParaRPr lang="en-US" sz="1300" dirty="0"/>
          </a:p>
        </p:txBody>
      </p:sp>
      <p:sp>
        <p:nvSpPr>
          <p:cNvPr id="18" name="Text 13"/>
          <p:cNvSpPr txBox="1"/>
          <p:nvPr/>
        </p:nvSpPr>
        <p:spPr>
          <a:xfrm>
            <a:off x="4892040" y="2057400"/>
            <a:ext cx="1485900" cy="8229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An [ERROR] line, then the loop carries on.</a:t>
            </a:r>
            <a:endParaRPr lang="en-US" sz="1200" dirty="0"/>
          </a:p>
        </p:txBody>
      </p:sp>
      <p:sp>
        <p:nvSpPr>
          <p:cNvPr id="19" name="Shape 14"/>
          <p:cNvSpPr/>
          <p:nvPr/>
        </p:nvSpPr>
        <p:spPr>
          <a:xfrm>
            <a:off x="6835140" y="1371600"/>
            <a:ext cx="1851660" cy="1600200"/>
          </a:xfrm>
          <a:prstGeom prst="roundRect">
            <a:avLst>
              <a:gd name="adj" fmla="val 4571"/>
            </a:avLst>
          </a:prstGeom>
          <a:solidFill>
            <a:srgbClr val="EFEBFC"/>
          </a:solidFill>
          <a:ln w="12700">
            <a:solidFill>
              <a:srgbClr val="EFEBFC"/>
            </a:solidFill>
            <a:prstDash val="solid"/>
          </a:ln>
        </p:spPr>
      </p:sp>
      <p:sp>
        <p:nvSpPr>
          <p:cNvPr id="20" name="Shape 15"/>
          <p:cNvSpPr/>
          <p:nvPr/>
        </p:nvSpPr>
        <p:spPr>
          <a:xfrm>
            <a:off x="7018020" y="155448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7117872" y="1654332"/>
            <a:ext cx="184343" cy="184343"/>
          </a:xfrm>
          <a:prstGeom prst="rect">
            <a:avLst/>
          </a:prstGeom>
        </p:spPr>
      </p:pic>
      <p:sp>
        <p:nvSpPr>
          <p:cNvPr id="22" name="Text 16"/>
          <p:cNvSpPr txBox="1"/>
          <p:nvPr/>
        </p:nvSpPr>
        <p:spPr>
          <a:xfrm>
            <a:off x="752094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Blank facts</a:t>
            </a:r>
            <a:endParaRPr lang="en-US" sz="1300" dirty="0"/>
          </a:p>
        </p:txBody>
      </p:sp>
      <p:sp>
        <p:nvSpPr>
          <p:cNvPr id="23" name="Text 17"/>
          <p:cNvSpPr txBox="1"/>
          <p:nvPr/>
        </p:nvSpPr>
        <p:spPr>
          <a:xfrm>
            <a:off x="7018020" y="2057400"/>
            <a:ext cx="1485900" cy="8229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Whitespace replies are never written to disk.</a:t>
            </a:r>
            <a:endParaRPr lang="en-US" sz="1200" dirty="0"/>
          </a:p>
        </p:txBody>
      </p:sp>
      <p:sp>
        <p:nvSpPr>
          <p:cNvPr id="24" name="Text 18"/>
          <p:cNvSpPr txBox="1"/>
          <p:nvPr/>
        </p:nvSpPr>
        <p:spPr>
          <a:xfrm>
            <a:off x="457200" y="32004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No retries, deduplication or privacy controls yet: those are enhancements.</a:t>
            </a:r>
            <a:endParaRPr lang="en-US" sz="1400" dirty="0"/>
          </a:p>
        </p:txBody>
      </p:sp>
      <p:sp>
        <p:nvSpPr>
          <p:cNvPr id="25"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25 — Long-Term Memory</a:t>
            </a:r>
            <a:endParaRPr lang="en-US" sz="900" dirty="0"/>
          </a:p>
        </p:txBody>
      </p:sp>
      <p:sp>
        <p:nvSpPr>
          <p:cNvPr id="26"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RESULT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Run it twice: the second run remembers</a:t>
            </a:r>
            <a:endParaRPr lang="en-US" sz="2800" dirty="0"/>
          </a:p>
        </p:txBody>
      </p:sp>
      <p:sp>
        <p:nvSpPr>
          <p:cNvPr id="4" name="Shape 2"/>
          <p:cNvSpPr/>
          <p:nvPr/>
        </p:nvSpPr>
        <p:spPr>
          <a:xfrm>
            <a:off x="457200" y="1325880"/>
            <a:ext cx="5257800" cy="2377440"/>
          </a:xfrm>
          <a:prstGeom prst="roundRect">
            <a:avLst>
              <a:gd name="adj" fmla="val 3077"/>
            </a:avLst>
          </a:prstGeom>
          <a:solidFill>
            <a:srgbClr val="0F1420"/>
          </a:solidFill>
          <a:ln w="12700">
            <a:solidFill>
              <a:srgbClr val="0F1420"/>
            </a:solidFill>
            <a:prstDash val="solid"/>
          </a:ln>
        </p:spPr>
      </p:sp>
      <p:sp>
        <p:nvSpPr>
          <p:cNvPr id="5" name="Text 3"/>
          <p:cNvSpPr txBox="1"/>
          <p:nvPr/>
        </p:nvSpPr>
        <p:spPr>
          <a:xfrm>
            <a:off x="640080" y="1463040"/>
            <a:ext cx="4892040" cy="210312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Long-Term memory agent online</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Loaded 0 existing facts.</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User: Hi, I'm Bob and I write C# for a living.</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AI Nice to meet you, Bob! What are you building?</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   [MEMORY MANAGER] New fact saved: The user's name is Bob and he writes C# for a living.</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User: exit</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Long-Term memory agent online</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Loaded 1 existing facts.</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User: What do you remember about me?</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AI You're Bob, and you write C# for a living.</a:t>
            </a:r>
            <a:endParaRPr lang="en-US" sz="11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Illustrative</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Your inputs, replies and fact wording will differ.</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Two launches</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second run starts by loading the saved fact.</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Check the file</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Open user_memory.json to see the facts list.</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25 — Long-Term Memory</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Stop the memory from repeating itself</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Skip saving a fact that's already in the list, and add a forget command that clears every fact from memory and disk.</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Lesson25-LongTermMemory/</a:t>
            </a:r>
            <a:endParaRPr lang="en-US" sz="850" dirty="0"/>
          </a:p>
          <a:p>
            <a:pPr indent="0" marL="0">
              <a:buNone/>
            </a:pPr>
            <a:r>
              <a:rPr lang="en-US" sz="850" dirty="0">
                <a:solidFill>
                  <a:srgbClr val="B8B2E6"/>
                </a:solidFill>
                <a:latin typeface="Courier New" pitchFamily="34" charset="0"/>
                <a:ea typeface="Courier New" pitchFamily="34" charset="-122"/>
                <a:cs typeface="Courier New" pitchFamily="34" charset="-120"/>
              </a:rPr>
              <a:t>LongTermMemory/MemoryManager.cs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Repeating your name doesn't add a second copy</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Typing forget empties the list and the file</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After forget and a restart, 0 facts load</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chat loop still works normally</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25 — Long-Term Memory</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93776"/>
          </a:xfrm>
          <a:prstGeom prst="roundRect">
            <a:avLst>
              <a:gd name="adj" fmla="val 14815"/>
            </a:avLst>
          </a:prstGeom>
          <a:solidFill>
            <a:srgbClr val="1F2943"/>
          </a:solidFill>
          <a:ln w="12700">
            <a:solidFill>
              <a:srgbClr val="1F2943"/>
            </a:solidFill>
            <a:prstDash val="solid"/>
          </a:ln>
        </p:spPr>
      </p:sp>
      <p:sp>
        <p:nvSpPr>
          <p:cNvPr id="5" name="Text 3"/>
          <p:cNvSpPr txBox="1"/>
          <p:nvPr/>
        </p:nvSpPr>
        <p:spPr>
          <a:xfrm>
            <a:off x="621792" y="1234440"/>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flat list of facts</a:t>
            </a:r>
            <a:endParaRPr lang="en-US" sz="1300" dirty="0"/>
          </a:p>
        </p:txBody>
      </p:sp>
      <p:sp>
        <p:nvSpPr>
          <p:cNvPr id="6" name="Shape 4"/>
          <p:cNvSpPr/>
          <p:nvPr/>
        </p:nvSpPr>
        <p:spPr>
          <a:xfrm>
            <a:off x="3493008" y="138988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38  </a:t>
            </a:r>
            <a:pPr indent="0" marL="0">
              <a:buNone/>
            </a:pPr>
            <a:r>
              <a:rPr lang="en-US" sz="1250" dirty="0">
                <a:solidFill>
                  <a:srgbClr val="FFFFFF"/>
                </a:solidFill>
                <a:latin typeface="Calibri" pitchFamily="34" charset="0"/>
                <a:ea typeface="Calibri" pitchFamily="34" charset="-122"/>
                <a:cs typeface="Calibri" pitchFamily="34" charset="-120"/>
              </a:rPr>
              <a:t>Episodes recalled by relevance, not recency</a:t>
            </a:r>
            <a:endParaRPr lang="en-US" sz="1250" dirty="0"/>
          </a:p>
        </p:txBody>
      </p:sp>
      <p:sp>
        <p:nvSpPr>
          <p:cNvPr id="8" name="Shape 6"/>
          <p:cNvSpPr/>
          <p:nvPr/>
        </p:nvSpPr>
        <p:spPr>
          <a:xfrm>
            <a:off x="457200" y="1837944"/>
            <a:ext cx="2926080" cy="493776"/>
          </a:xfrm>
          <a:prstGeom prst="roundRect">
            <a:avLst>
              <a:gd name="adj" fmla="val 14815"/>
            </a:avLst>
          </a:prstGeom>
          <a:solidFill>
            <a:srgbClr val="1F2943"/>
          </a:solidFill>
          <a:ln w="12700">
            <a:solidFill>
              <a:srgbClr val="1F2943"/>
            </a:solidFill>
            <a:prstDash val="solid"/>
          </a:ln>
        </p:spPr>
      </p:sp>
      <p:sp>
        <p:nvSpPr>
          <p:cNvPr id="9" name="Text 7"/>
          <p:cNvSpPr txBox="1"/>
          <p:nvPr/>
        </p:nvSpPr>
        <p:spPr>
          <a:xfrm>
            <a:off x="621792" y="1837944"/>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An LLM as a classifier</a:t>
            </a:r>
            <a:endParaRPr lang="en-US" sz="1300" dirty="0"/>
          </a:p>
        </p:txBody>
      </p:sp>
      <p:sp>
        <p:nvSpPr>
          <p:cNvPr id="10" name="Shape 8"/>
          <p:cNvSpPr/>
          <p:nvPr/>
        </p:nvSpPr>
        <p:spPr>
          <a:xfrm>
            <a:off x="3493008" y="199339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837944"/>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26  </a:t>
            </a:r>
            <a:pPr indent="0" marL="0">
              <a:buNone/>
            </a:pPr>
            <a:r>
              <a:rPr lang="en-US" sz="1250" dirty="0">
                <a:solidFill>
                  <a:srgbClr val="FFFFFF"/>
                </a:solidFill>
                <a:latin typeface="Calibri" pitchFamily="34" charset="0"/>
                <a:ea typeface="Calibri" pitchFamily="34" charset="-122"/>
                <a:cs typeface="Calibri" pitchFamily="34" charset="-120"/>
              </a:rPr>
              <a:t>A judge model scores another agent</a:t>
            </a:r>
            <a:endParaRPr lang="en-US" sz="1250" dirty="0"/>
          </a:p>
        </p:txBody>
      </p:sp>
      <p:sp>
        <p:nvSpPr>
          <p:cNvPr id="12" name="Shape 10"/>
          <p:cNvSpPr/>
          <p:nvPr/>
        </p:nvSpPr>
        <p:spPr>
          <a:xfrm>
            <a:off x="457200" y="2441448"/>
            <a:ext cx="2926080" cy="493776"/>
          </a:xfrm>
          <a:prstGeom prst="roundRect">
            <a:avLst>
              <a:gd name="adj" fmla="val 14815"/>
            </a:avLst>
          </a:prstGeom>
          <a:solidFill>
            <a:srgbClr val="1F2943"/>
          </a:solidFill>
          <a:ln w="12700">
            <a:solidFill>
              <a:srgbClr val="1F2943"/>
            </a:solidFill>
            <a:prstDash val="solid"/>
          </a:ln>
        </p:spPr>
      </p:sp>
      <p:sp>
        <p:nvSpPr>
          <p:cNvPr id="13" name="Text 11"/>
          <p:cNvSpPr txBox="1"/>
          <p:nvPr/>
        </p:nvSpPr>
        <p:spPr>
          <a:xfrm>
            <a:off x="621792" y="2441448"/>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Two classes, one model</a:t>
            </a:r>
            <a:endParaRPr lang="en-US" sz="1300" dirty="0"/>
          </a:p>
        </p:txBody>
      </p:sp>
      <p:sp>
        <p:nvSpPr>
          <p:cNvPr id="14" name="Shape 12"/>
          <p:cNvSpPr/>
          <p:nvPr/>
        </p:nvSpPr>
        <p:spPr>
          <a:xfrm>
            <a:off x="3493008" y="25968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441448"/>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27  </a:t>
            </a:r>
            <a:pPr indent="0" marL="0">
              <a:buNone/>
            </a:pPr>
            <a:r>
              <a:rPr lang="en-US" sz="1250" dirty="0">
                <a:solidFill>
                  <a:srgbClr val="FFFFFF"/>
                </a:solidFill>
                <a:latin typeface="Calibri" pitchFamily="34" charset="0"/>
                <a:ea typeface="Calibri" pitchFamily="34" charset="-122"/>
                <a:cs typeface="Calibri" pitchFamily="34" charset="-120"/>
              </a:rPr>
              <a:t>Four agents share a ProjectState blackboard</a:t>
            </a:r>
            <a:endParaRPr lang="en-US" sz="1250" dirty="0"/>
          </a:p>
        </p:txBody>
      </p:sp>
      <p:sp>
        <p:nvSpPr>
          <p:cNvPr id="16" name="Shape 14"/>
          <p:cNvSpPr/>
          <p:nvPr/>
        </p:nvSpPr>
        <p:spPr>
          <a:xfrm>
            <a:off x="457200" y="3044952"/>
            <a:ext cx="2926080" cy="493776"/>
          </a:xfrm>
          <a:prstGeom prst="roundRect">
            <a:avLst>
              <a:gd name="adj" fmla="val 14815"/>
            </a:avLst>
          </a:prstGeom>
          <a:solidFill>
            <a:srgbClr val="1F2943"/>
          </a:solidFill>
          <a:ln w="12700">
            <a:solidFill>
              <a:srgbClr val="1F2943"/>
            </a:solidFill>
            <a:prstDash val="solid"/>
          </a:ln>
        </p:spPr>
      </p:sp>
      <p:sp>
        <p:nvSpPr>
          <p:cNvPr id="17" name="Text 15"/>
          <p:cNvSpPr txBox="1"/>
          <p:nvPr/>
        </p:nvSpPr>
        <p:spPr>
          <a:xfrm>
            <a:off x="621792" y="3044952"/>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State that survives restarts</a:t>
            </a:r>
            <a:endParaRPr lang="en-US" sz="1300" dirty="0"/>
          </a:p>
        </p:txBody>
      </p:sp>
      <p:sp>
        <p:nvSpPr>
          <p:cNvPr id="18" name="Shape 16"/>
          <p:cNvSpPr/>
          <p:nvPr/>
        </p:nvSpPr>
        <p:spPr>
          <a:xfrm>
            <a:off x="3493008" y="320040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3044952"/>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42  </a:t>
            </a:r>
            <a:pPr indent="0" marL="0">
              <a:buNone/>
            </a:pPr>
            <a:r>
              <a:rPr lang="en-US" sz="1250" dirty="0">
                <a:solidFill>
                  <a:srgbClr val="FFFFFF"/>
                </a:solidFill>
                <a:latin typeface="Calibri" pitchFamily="34" charset="0"/>
                <a:ea typeface="Calibri" pitchFamily="34" charset="-122"/>
                <a:cs typeface="Calibri" pitchFamily="34" charset="-120"/>
              </a:rPr>
              <a:t>Checkpointed orchestration resumes mid-loop (planned)</a:t>
            </a:r>
            <a:endParaRPr lang="en-US" sz="1250" dirty="0"/>
          </a:p>
        </p:txBody>
      </p:sp>
      <p:sp>
        <p:nvSpPr>
          <p:cNvPr id="20" name="Text 18"/>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Part 1: Foundations &amp; Core Orchestration</a:t>
            </a:r>
            <a:endParaRPr lang="en-US" sz="1300" dirty="0"/>
          </a:p>
        </p:txBody>
      </p:sp>
      <p:sp>
        <p:nvSpPr>
          <p:cNvPr id="21"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25 — Long-Term Memory</a:t>
            </a:r>
            <a:endParaRPr lang="en-US" sz="900" dirty="0"/>
          </a:p>
        </p:txBody>
      </p:sp>
      <p:sp>
        <p:nvSpPr>
          <p:cNvPr id="22"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25 — Long-Term Memory</dc:title>
  <dc:subject>PptxGenJS Presentation</dc:subject>
  <dc:creator>Media Six LLC</dc:creator>
  <cp:lastModifiedBy>Media Six LLC</cp:lastModifiedBy>
  <cp:revision>1</cp:revision>
  <dcterms:created xsi:type="dcterms:W3CDTF">2026-10-21T23:15:35Z</dcterms:created>
  <dcterms:modified xsi:type="dcterms:W3CDTF">2026-10-21T23:15:35Z</dcterms:modified>
</cp:coreProperties>
</file>