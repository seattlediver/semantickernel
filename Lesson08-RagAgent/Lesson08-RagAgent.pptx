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builds a minimal Retrieval-Augmented Generation pipeline by hand, with no vector database. A tiny company knowledge base of five plain-text facts is turned into vectors with an OpenAI embedding model. The user's question is embedded the same way, and cosine similarity, computed in a plain for-loop, picks the single most relevant fact. That fact is placed into a prompt that tells the chat model to answer only from the supplied context. Doing every step manually makes the mechanics visible before later lessons hand the same steps to a real vector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grounded the model in the live web, but the provider chose what to search and which sources to use. Lesson 8 grounds the model in your own private data. Your code does the retrieval: it finds the fact most relevant to the question and hands only that to the model, with instructions to answer from it alone. The pattern is called retrieval-augmented generation: retrieve first, then generate. It is the core technique for answering questions about information the model was never trained on, and for reducing made-up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RagAgent, using the same two packages at version 1.78.0 and one OPENAI_API_KEY for both models. This is the first lesson to register two AI services on the same kernel: AddOpenAIChatCompletion with gpt-4.1-mini to generate answers, and AddOpenAIEmbeddingGenerator with text-embedding-3-small to turn text into vectors. The embedding registration is marked experimental in this version of Semantic Kernel and fails the build with SKEXP0010 unless you acknowledge it, so RagAgent.csproj adds SKEXP0010 to NoWarn. That is the same experimental-surface caveat the series applies to the Agents and Process namespaces, here applied to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building the kernel in Step 2, Step 3 pulls the embedding service out of it as an IEmbeddingGenerator of string and Embedding of float, the Microsoft.Extensions.AI abstraction that arrives with the OpenAI connector. Step 4 embeds each of the five facts once with GenerateVectorAsync and stores the text and vector together as KnowledgeDocument objects. Steps 5 and 6 embed the user's question, where can I heat my lunch, using the same model so both vectors live in the same space. Step 7, highlighted, ranks every document by cosine similarity with OrderByDescending and keeps the first. Step 7b guards against an empty knowledge base. Steps 8 to 10 build the grounded prompt, run it with InvokePromptAsync and print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search comes down to one small function. CalculateCosineSimilarity walks both vectors in a single for-loop, accumulating three sums: the dot product, which multiplies matching dimensions and adds them up, and the sum of squares for each vector, whose square roots are the vectors' magnitudes. The similarity is the dot product divided by the product of the two magnitudes. A value near 1 means the vectors point in the same direction, which for embeddings means similar meaning; near 0 means unrelated. The function also guards against a zero-magnitude vector by returning 0 instead of dividing by zero. A vector database does exactly this, just with indexes that avoid scoring every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prompt template from Step 8, shown exactly as it appears in the code, including a small typo, provide context. It makes the model a company librarian and restricts it to the supplied context. The lines in red are the grounding rules: if the context doesn't contain the answer, say I don't have enough information to answer that question; don't make anything up; don't use outside knowledge; don't add information that isn't in the context. Giving the model an explicit way out is what reduces hallucination: it has a sanctioned thing to say instead of guessing. Two placeholders, context and question, are filled through KernelArguments with the best match's text and the user's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manual approach is perfect for learning and fine for five facts, but it has clear limits. It keeps only the single best match, so a question that needs two facts can't be answered. It has no similarity threshold, so even an off-topic question gets the closest fact, and the prompt's way out has to catch it. The embeddings are recomputed on every run because nothing is stored. And retrieval is a linear scan: every document is scored for every question, which doesn't scale. The code also has no try/catch around the embedding or chat calls. Lesson 8a keeps the same five facts and the same prompt, and replaces the list and the for-loop with a Pinecone vector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reports that it is generating embeddings, echoes the question, where can I heat my lunch, and prints the retrieved document. You should expect the microwave fact to win, even though the question never says microwave: embeddings match on meaning, not on shared words. Then the model answers from that one fact. The answer on this slide is illustrative; the wording will vary from run to run. The code also contains a second question, about a frozen computer screen, commented out in Step 5. Swap it in and the help desk fact should be retrieved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Instead of keeping only the first result, compute the score for every document, sort them, and print each fact with its score. Pick a threshold by looking at real scores: try where can I heat my lunch, then something unrelated like what is the CEO's name. If the best score is below your threshold, print a not-enough-information message and skip the chat call entirely. This adds the confidence check the lesson deliberately leaves out, and it shows you why vector databases return scores alongside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registered a chat model and an embedding model on one kernel, turned facts and a question into vectors, ranked them with hand-written cosine similarity, and grounded the answer in the best match with a prompt that is allowed to say it doesn't know. Lesson 8a swaps the list and the for-loop for a Pinecone vector index while keeping the same facts and prompt. Lesson 14 takes the opposite approach and stuffs an entire manual into the prompt. Lesson 23 upgrades vector-only retrieval to a hybrid of vector and keyword search. Lesson 26 uses a judge model to score answers against known ground truth. And Lesson 38 reuses this exact embedding and cosine-similarity approach to rank past conversations by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8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Basic RAG Agent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Retrieval-augmented generation from first principles, no vector database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5-fact knowledge base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grounded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a chat and an embedding model together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text into vectors with an embedding generator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Rank documents with hand-written cosine similarity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Stuff the best match into a grounded prompt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Make the model say when it doesn't know</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250" b="1" dirty="0">
                <a:solidFill>
                  <a:srgbClr val="1F2937"/>
                </a:solidFill>
                <a:latin typeface="Cambria" pitchFamily="34" charset="0"/>
                <a:ea typeface="Cambria" pitchFamily="34" charset="-122"/>
                <a:cs typeface="Cambria" pitchFamily="34" charset="-120"/>
              </a:rPr>
              <a:t>From grounding on the web to grounding on your own data</a:t>
            </a:r>
            <a:endParaRPr lang="en-US" sz="225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5: the live web</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OpenAI's model does the searching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can't choose the sources</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AI RESEARCH REPORT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1. &lt;today's headline&gt; ...</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8: your documents</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Your code finds the right fact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may use only that fact</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[RAG RETRIEVAL] Found relevant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document: The microwave in...</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Retrieve first, then generate: the model answers from what you hand it.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in a net10.0 console app opened from RagAgent.slnx.</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key serves both models. The app throws at startup if it is missing.</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models</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answers questions.</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text-embedding-3-small turns text into vectors.</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SKEXP0010</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AddOpenAIEmbeddingGenerator is experimental, so RagAgent.csproj suppresses it with &lt;NoWarn&gt;.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2 TO 10</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RAG pipeline, one step at a time</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Embed facts</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Five facts become five vectors.</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Embed query</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model, same vector space.</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Cosine similarity; keep the top one.</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Ground</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match fills {{$context}}.</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replies from that context.</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If the knowledge base is empty, Step 7b prints a message and stops instead of crashing.</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Cosine similarity, written by hand</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Cosine similarity</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closely two vectors point the same way: 1.0 means same meaning, 0.0 unrelated.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Dot product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Sum of a[i] * b[i] across every dimension.</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Magnitudes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Square root of each vector's sum of squares.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Zero guard</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zero magnitude returns 0 instead of dividing.</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score is the dot product divided by the two magnitudes multiplied together.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GROUNDED PROMPT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prompt only allows the retrieved context</a:t>
            </a:r>
            <a:endParaRPr lang="en-US" sz="2800" dirty="0"/>
          </a:p>
        </p:txBody>
      </p:sp>
      <p:sp>
        <p:nvSpPr>
          <p:cNvPr id="4" name="Shape 2"/>
          <p:cNvSpPr/>
          <p:nvPr/>
        </p:nvSpPr>
        <p:spPr>
          <a:xfrm>
            <a:off x="457200" y="1325880"/>
            <a:ext cx="5257800" cy="2240280"/>
          </a:xfrm>
          <a:prstGeom prst="roundRect">
            <a:avLst>
              <a:gd name="adj" fmla="val 3265"/>
            </a:avLst>
          </a:prstGeom>
          <a:solidFill>
            <a:srgbClr val="0F1420"/>
          </a:solidFill>
          <a:ln w="12700">
            <a:solidFill>
              <a:srgbClr val="0F1420"/>
            </a:solidFill>
            <a:prstDash val="solid"/>
          </a:ln>
        </p:spPr>
      </p:sp>
      <p:sp>
        <p:nvSpPr>
          <p:cNvPr id="5" name="Text 3"/>
          <p:cNvSpPr txBox="1"/>
          <p:nvPr/>
        </p:nvSpPr>
        <p:spPr>
          <a:xfrm>
            <a:off x="640080" y="1463040"/>
            <a:ext cx="4892040" cy="19659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You are a helpful company librarian.  Answer the user's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question using ONLY the provide context.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If the context does not contain the answer, say 'I don't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have enough information to answer that question.'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Do not make up an answer.</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Do not use outside knowledge.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Do not provide any information that is not in the context.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CONTEXT: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{{$context}}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USER QUESTION:</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{{$question}}</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narrow role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company librarian, answering from the context only.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way out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fixed sentence to use when the answer isn't there.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Two slots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best match and the question, by name.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a vector database will automate</a:t>
            </a:r>
            <a:endParaRPr lang="en-US" sz="2800" dirty="0"/>
          </a:p>
        </p:txBody>
      </p:sp>
      <p:sp>
        <p:nvSpPr>
          <p:cNvPr id="4" name="Shape 2"/>
          <p:cNvSpPr/>
          <p:nvPr/>
        </p:nvSpPr>
        <p:spPr>
          <a:xfrm>
            <a:off x="457200" y="1371600"/>
            <a:ext cx="185166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Top-1 only</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FirstOrDefault keeps one match, even if two facts are needed.</a:t>
            </a:r>
            <a:endParaRPr lang="en-US" sz="1200" dirty="0"/>
          </a:p>
        </p:txBody>
      </p:sp>
      <p:sp>
        <p:nvSpPr>
          <p:cNvPr id="9" name="Shape 6"/>
          <p:cNvSpPr/>
          <p:nvPr/>
        </p:nvSpPr>
        <p:spPr>
          <a:xfrm>
            <a:off x="2583180" y="1371600"/>
            <a:ext cx="185166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No threshold</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best match is used even when its score is weak.</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No caching</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run re-embeds all five facts from scratch.</a:t>
            </a:r>
            <a:endParaRPr lang="en-US" sz="1200" dirty="0"/>
          </a:p>
        </p:txBody>
      </p:sp>
      <p:sp>
        <p:nvSpPr>
          <p:cNvPr id="19" name="Shape 14"/>
          <p:cNvSpPr/>
          <p:nvPr/>
        </p:nvSpPr>
        <p:spPr>
          <a:xfrm>
            <a:off x="6835140" y="1371600"/>
            <a:ext cx="1851660" cy="1508760"/>
          </a:xfrm>
          <a:prstGeom prst="roundRect">
            <a:avLst>
              <a:gd name="adj" fmla="val 4848"/>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Linear scan</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Every document is scored on every query.</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 8a keeps the same facts and prompt, and hands search to Pinecone.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microwave fact wins</a:t>
            </a:r>
            <a:endParaRPr lang="en-US" sz="2800" dirty="0"/>
          </a:p>
        </p:txBody>
      </p:sp>
      <p:sp>
        <p:nvSpPr>
          <p:cNvPr id="4" name="Shape 2"/>
          <p:cNvSpPr/>
          <p:nvPr/>
        </p:nvSpPr>
        <p:spPr>
          <a:xfrm>
            <a:off x="457200" y="1325880"/>
            <a:ext cx="5257800" cy="2011680"/>
          </a:xfrm>
          <a:prstGeom prst="roundRect">
            <a:avLst>
              <a:gd name="adj" fmla="val 3636"/>
            </a:avLst>
          </a:prstGeom>
          <a:solidFill>
            <a:srgbClr val="0F1420"/>
          </a:solidFill>
          <a:ln w="12700">
            <a:solidFill>
              <a:srgbClr val="0F1420"/>
            </a:solidFill>
            <a:prstDash val="solid"/>
          </a:ln>
        </p:spPr>
      </p:sp>
      <p:sp>
        <p:nvSpPr>
          <p:cNvPr id="5" name="Text 3"/>
          <p:cNvSpPr txBox="1"/>
          <p:nvPr/>
        </p:nvSpPr>
        <p:spPr>
          <a:xfrm>
            <a:off x="640080" y="1463040"/>
            <a:ext cx="4892040" cy="1737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Generating embeddings for the knowledge base documents...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Question: 'Where can I heat my lunch?'</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[RAG RETRIEVAL] Found relevant document: The microwave in the 2nd-floor breakroom is strictly for reheating food.  Do not use it to cook raw food.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Agent is reading the retrieved document and generating an answer...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AI LIBRARIAN ANSWER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Use the microwave in the 2nd-floor breakroom.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Expected match</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word overlap, yet the microwave fact ranks first.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 answer</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model's wording will vary.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Try another</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IT help desk question is in the code, commented out.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Show the scores and refuse weak matches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Print every fact with its similarity score, and skip the chat call when the best score falls below a threshold you choose.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Lesson08-RagAgent/</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RagAgent/Program.cs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All five facts print with scores, highest first</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lunch question still retrieves the microwave fact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off-topic question falls below the threshold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Below the threshold, the app says it lacks the information</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Hand-rolled retrieval</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8a  </a:t>
            </a:r>
            <a:pPr indent="0" marL="0">
              <a:buNone/>
            </a:pPr>
            <a:r>
              <a:rPr lang="en-US" sz="1250" dirty="0">
                <a:solidFill>
                  <a:srgbClr val="FFFFFF"/>
                </a:solidFill>
                <a:latin typeface="Calibri" pitchFamily="34" charset="0"/>
                <a:ea typeface="Calibri" pitchFamily="34" charset="-122"/>
                <a:cs typeface="Calibri" pitchFamily="34" charset="-120"/>
              </a:rPr>
              <a:t>A Pinecone index replaces the list and loop</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Context-only prompting</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A whole manual stuffed into the prompt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Vector-only search</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Hybrid vector and keyword retrieval</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Answers you can check</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scores answers against ground truth</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Cosine similarity by hand</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The same math ranks episodic memories</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8 — Basic RAG Agent</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 Basic RAG Agent</dc:title>
  <dc:subject>PptxGenJS Presentation</dc:subject>
  <dc:creator>Media Six LLC</dc:creator>
  <cp:lastModifiedBy>Media Six LLC</cp:lastModifiedBy>
  <cp:revision>1</cp:revision>
  <dcterms:created xsi:type="dcterms:W3CDTF">2026-10-21T23:16:04Z</dcterms:created>
  <dcterms:modified xsi:type="dcterms:W3CDTF">2026-10-21T23:16:04Z</dcterms:modified>
</cp:coreProperties>
</file>