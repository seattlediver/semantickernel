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three of the four-part Universal Project Manager capstone. By Lesson 28 the app had a GoalRefiner, a Planner and a Developer, each called once, in a fixed order, straight from Program.cs. Lesson 29 turns that into a genuinely orchestrated system. A new ProjectOrchestrator class owns the whole agent lifecycle: it runs the Refiner, Planner, Developer and a brand-new ReviewerAgent, and repeats the cycle until every task is both completed and approved, or until a safety cap of five cycles is reached. Program.cs no longer calls any agent directly; it builds the list of agents and hands control to the orchestrator.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in the capstone. Lesson 27 built the architecture and Lesson 28 added the Planner, the Developer and the CreateTask tool. Lesson 29, highlighted, adds the orchestrator and the Reviewer. Lesson 30 then deploys this exact orchestrator twice, as a console app and as a Web API. Today is the first time the blackboard gets a feedback loop. Until now every agent only ever moved a task forward; the Reviewer can send one backward, and a loop that can go backward needs a clear story for when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28, Program.cs awaited three agents one after another, each ran exactly once, and nobody checked the code the Developer produced. In Lesson 29, Program.cs creates the four agents, puts them in a List of IProjectAgent, and passes the list to a ProjectOrchestrator. The orchestrator's RunProjectAsync method repeats the cycle, and a new ReviewerAgent approves or rejects every completed task. The effect is a clean separation: the orchestrator decides how the workflow runs, and the agents decide what each step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to install. The project is still UniversalProjectManager, referencing Microsoft.SemanticKernel and Microsoft.SemanticKernel.Connectors.OpenAI at version 1.78.0, with the key read from OPENAI_API_KEY and gpt-4.1-mini as the model. Two files are new: ProjectOrchestrator.cs and ReviewerAgent.cs. The GoalRefiner, Planner, Developer, the plugin and the state classes all carry over from Lesson 28, each with its call to the model wrapped in a try/catch.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ProjectOrchestrator takes an IEnumerable of IProjectAgent in its constructor and copies it into a list. It knows nothing about what any agent does. Every cycle it simply calls ExecuteAsync with the shared state on each agent, in registration order: the GoalRefiner, the Planner, the Developer, and the new Reviewer. That is the payoff of the IProjectAgent contract from Lesson 27: adding the Reviewer meant writing one class and adding it to the list, with no change to the orchestrator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orchestration cycle. The orchestrator prints a cycle header, then runs the four agents in order. The GoalRefiner rewrites the goal, the Planner adds tasks for the Developer through CreateTask, the Developer writes code for every pending task, and the Reviewer, highlighted, inspects every completed task. After all four have run, the orchestrator checks ProjectState.IsFullyCompleted, the computed property from Lesson 27. If tasks exist and every one of them is still complete after review, it prints Project successfully completed and returns. Otherwise the next cycle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Reviewer's prompt, typos and all; the lesson deliberately leaves 'string' and 'Deos' as they are because they don't change the behavior. For each completed task, the prompt shows the task description and the code, and asks the model to answer exactly APPROVED or give a one-sentence explanation of what is wrong. It runs at temperature 0.0, like Lesson 26's judge, because the verdict needs to be repeatable. If the reply contains APPROVED, the task stays done. If not, the Reviewer sets IsCompleted back to false and appends the feedback to the task's Description. That is the whole rework mechanism: the Developer's own filter, pending tasks assigned to it, picks the task up next cycle, and its prompt now includes both the original requirement and the critique. There is no message bus; the shared state is the only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stop the loop. The early exit, highlighted, is IsFullyCompleted: as soon as every task has been completed and survived review, the run ends, often after a single cycle. The safety valve is maxCycles, set to five: if the Reviewer keeps rejecting, the orchestrator prints that it halted at the maximum number of cycles and returns anyway. The lesson is candid about two latent costs that the cap also bounds. The GoalRefiner and Planner run on every cycle, so a second cycle can add two more tasks to the list. And the Reviewer re-reviews every completed task each cycle, including ones it already approved, so a nondeterministic verdict could in principle flip. Both are left as-is here; the exercise fixes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After the banner and your idea, the orchestrator announces that it has started and prints the first cycle header. Inside the cycle you see the Planner's TOOL EXECUTED lines, the Developer's Executing task lines, and the Reviewer inspecting each task. In this illustrative run both tasks are approved, so IsFullyCompleted is true after one cycle and the program prints Project successfully completed, followed by the final project state with each task's description and code. The idea, task text, IDs and verdicts here are examples. If the Reviewer rejects a task, you'll see its one-sentence reason, then a cycle 2 header, and, because the Planner runs again, possibly new tasks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In PlannerAgent, return early if state.Tasks already holds tasks, so the plan is written once. For the Reviewer, add an IsApproved flag to ProjectTask, set it when the verdict is APPROVED, and skip approved tasks on later cycles; remember to update IsFullyCompleted if you want it to require approval. Then force a rejection, for example by making the Reviewer's prompt stricter, and confirm the rejected task is reworked while the approved one is left alone, and that the five-cycle cap still ends a loop that never converges.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moved the workflow into a ProjectOrchestrator that knows only IProjectAgent, added a ReviewerAgent that can reopen a task and append feedback, and bounded the resulting loop with an early exit on IsFullyCompleted and a five-cycle cap. Lesson 30 deploys this exact orchestrator, built by dependency injection for every HTTP request. In Part 2, the planned Lesson 39 extends this single layer into a tree, with orchestrators delegating to sub-orchestrators. Lesson 36 contrasts today's task-level rework with plan-level replanning, where a failure makes the Planner rethink the whole plan. Lesson 31 moves the reviewer role inside a single agent that critiques its own draft. And the planned Lesson 40 replaces this synchronous, in-process loop with agents coordinating over an event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29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Capstone I: Orchestration &amp; Review</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ProjectOrchestrator that loops four agents until the Reviewer approves the work</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28's fixed sequence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approved tasks, at most 5 cycles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Move the workflow out of Program.cs into an orchestrator</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Add a Reviewer that can send a task back</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a linear pipeline into a bounded loop</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Exit early once the state says the work is done</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CAPSTONE ARC</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Part 3 of 4: from a pipeline to a loop</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Architecture</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27: ProjectState, a contract, GoalRefiner</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Plugins</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28: Planner, Developer and a CreateTask tool</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Orchestration</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Lesson 29: an orchestrator and a Reviewer loop</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Deployment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30: console app plus a Web API with Scalar</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blackboard gets its first feedback loop: work can now move backward.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hand-written awaits to an orchestrator</a:t>
            </a:r>
            <a:endParaRPr lang="en-US" sz="28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28: Program.cs</a:t>
            </a:r>
            <a:endParaRPr lang="en-US" sz="1700" dirty="0"/>
          </a:p>
        </p:txBody>
      </p:sp>
      <p:sp>
        <p:nvSpPr>
          <p:cNvPr id="8" name="Text 5"/>
          <p:cNvSpPr txBox="1"/>
          <p:nvPr/>
        </p:nvSpPr>
        <p:spPr>
          <a:xfrm>
            <a:off x="68580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Three awaits in a fixed order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agent runs exactly once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Nobody checks the code</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29: orchestrator</a:t>
            </a:r>
            <a:endParaRPr lang="en-US" sz="1700" dirty="0"/>
          </a:p>
        </p:txBody>
      </p:sp>
      <p:sp>
        <p:nvSpPr>
          <p:cNvPr id="13" name="Text 9"/>
          <p:cNvSpPr txBox="1"/>
          <p:nvPr/>
        </p:nvSpPr>
        <p:spPr>
          <a:xfrm>
            <a:off x="498348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builds a List&lt;IProjectAgent&gt;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RunProjectAsync repeats the cycle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Reviewer approves or rejects each task</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How the workflow runs is now separate from what each step does.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project, same packages, one new agent</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UniversalProjectManager console app, opened from its .slnx file.</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new files</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ProjectOrchestrator.cs and ReviewerAgent.cs. Every other file carries over.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ORCHESTRATOR</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orchestrator only knows IProjectAgent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Orchestrator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ProjectOrchestrator calls ExecuteAsync(state) on each agent, in order, every cycle.</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GoalRefiner</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Writes RefinedGoal from the rough idea.</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Planner</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Calls CreateTask to add Developer tasks.</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Developer</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Writes code for every pending task.</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Reviewer</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Approves each completed task or sends it back.</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CYCLE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Every cycle runs all four agents, then checks</a:t>
            </a:r>
            <a:endParaRPr lang="en-US" sz="2750" dirty="0"/>
          </a:p>
        </p:txBody>
      </p:sp>
      <p:sp>
        <p:nvSpPr>
          <p:cNvPr id="4" name="Shape 2"/>
          <p:cNvSpPr/>
          <p:nvPr/>
        </p:nvSpPr>
        <p:spPr>
          <a:xfrm>
            <a:off x="457200" y="1417320"/>
            <a:ext cx="1367942" cy="1801368"/>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Refine</a:t>
            </a:r>
            <a:endParaRPr lang="en-US" sz="1300" dirty="0"/>
          </a:p>
        </p:txBody>
      </p:sp>
      <p:sp>
        <p:nvSpPr>
          <p:cNvPr id="8" name="Text 5"/>
          <p:cNvSpPr txBox="1"/>
          <p:nvPr/>
        </p:nvSpPr>
        <p:spPr>
          <a:xfrm>
            <a:off x="640080" y="2606040"/>
            <a:ext cx="104790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Rewrites the goal.</a:t>
            </a:r>
            <a:endParaRPr lang="en-US" sz="1200" dirty="0"/>
          </a:p>
        </p:txBody>
      </p:sp>
      <p:sp>
        <p:nvSpPr>
          <p:cNvPr id="9" name="Shape 6"/>
          <p:cNvSpPr/>
          <p:nvPr/>
        </p:nvSpPr>
        <p:spPr>
          <a:xfrm>
            <a:off x="188915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801368"/>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Plan</a:t>
            </a:r>
            <a:endParaRPr lang="en-US" sz="1300" dirty="0"/>
          </a:p>
        </p:txBody>
      </p:sp>
      <p:sp>
        <p:nvSpPr>
          <p:cNvPr id="14" name="Text 10"/>
          <p:cNvSpPr txBox="1"/>
          <p:nvPr/>
        </p:nvSpPr>
        <p:spPr>
          <a:xfrm>
            <a:off x="2355494" y="2606040"/>
            <a:ext cx="104790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Adds Developer tasks.</a:t>
            </a:r>
            <a:endParaRPr lang="en-US" sz="1200" dirty="0"/>
          </a:p>
        </p:txBody>
      </p:sp>
      <p:sp>
        <p:nvSpPr>
          <p:cNvPr id="15" name="Shape 11"/>
          <p:cNvSpPr/>
          <p:nvPr/>
        </p:nvSpPr>
        <p:spPr>
          <a:xfrm>
            <a:off x="3604565"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801368"/>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Develop</a:t>
            </a:r>
            <a:endParaRPr lang="en-US" sz="1300" dirty="0"/>
          </a:p>
        </p:txBody>
      </p:sp>
      <p:sp>
        <p:nvSpPr>
          <p:cNvPr id="20" name="Text 15"/>
          <p:cNvSpPr txBox="1"/>
          <p:nvPr/>
        </p:nvSpPr>
        <p:spPr>
          <a:xfrm>
            <a:off x="4070909" y="2606040"/>
            <a:ext cx="104790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Codes pending tasks.</a:t>
            </a:r>
            <a:endParaRPr lang="en-US" sz="1200" dirty="0"/>
          </a:p>
        </p:txBody>
      </p:sp>
      <p:sp>
        <p:nvSpPr>
          <p:cNvPr id="21" name="Shape 16"/>
          <p:cNvSpPr/>
          <p:nvPr/>
        </p:nvSpPr>
        <p:spPr>
          <a:xfrm>
            <a:off x="5319979" y="2208276"/>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801368"/>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26" name="Text 20"/>
          <p:cNvSpPr txBox="1"/>
          <p:nvPr/>
        </p:nvSpPr>
        <p:spPr>
          <a:xfrm>
            <a:off x="5786323" y="2606040"/>
            <a:ext cx="104790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Approves or reopens.</a:t>
            </a:r>
            <a:endParaRPr lang="en-US" sz="1200" dirty="0"/>
          </a:p>
        </p:txBody>
      </p:sp>
      <p:sp>
        <p:nvSpPr>
          <p:cNvPr id="27" name="Shape 21"/>
          <p:cNvSpPr/>
          <p:nvPr/>
        </p:nvSpPr>
        <p:spPr>
          <a:xfrm>
            <a:off x="7035394" y="2208276"/>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801368"/>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Check</a:t>
            </a:r>
            <a:endParaRPr lang="en-US" sz="1300" dirty="0"/>
          </a:p>
        </p:txBody>
      </p:sp>
      <p:sp>
        <p:nvSpPr>
          <p:cNvPr id="32" name="Text 25"/>
          <p:cNvSpPr txBox="1"/>
          <p:nvPr/>
        </p:nvSpPr>
        <p:spPr>
          <a:xfrm>
            <a:off x="7501738" y="2606040"/>
            <a:ext cx="104790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Done? Exit early.</a:t>
            </a:r>
            <a:endParaRPr lang="en-US" sz="1200" dirty="0"/>
          </a:p>
        </p:txBody>
      </p:sp>
      <p:sp>
        <p:nvSpPr>
          <p:cNvPr id="33" name="Text 2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If IsFullyCompleted is true, the loop returns; otherwise the next cycle starts.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REWORK LOOP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Reviewer can send a task backward</a:t>
            </a:r>
            <a:endParaRPr lang="en-US" sz="2800" dirty="0"/>
          </a:p>
        </p:txBody>
      </p:sp>
      <p:sp>
        <p:nvSpPr>
          <p:cNvPr id="4" name="Shape 2"/>
          <p:cNvSpPr/>
          <p:nvPr/>
        </p:nvSpPr>
        <p:spPr>
          <a:xfrm>
            <a:off x="457200" y="1325880"/>
            <a:ext cx="5257800" cy="1691640"/>
          </a:xfrm>
          <a:prstGeom prst="roundRect">
            <a:avLst>
              <a:gd name="adj" fmla="val 4324"/>
            </a:avLst>
          </a:prstGeom>
          <a:solidFill>
            <a:srgbClr val="0F1420"/>
          </a:solidFill>
          <a:ln w="12700">
            <a:solidFill>
              <a:srgbClr val="0F1420"/>
            </a:solidFill>
            <a:prstDash val="solid"/>
          </a:ln>
        </p:spPr>
      </p:sp>
      <p:sp>
        <p:nvSpPr>
          <p:cNvPr id="5" name="Text 3"/>
          <p:cNvSpPr txBox="1"/>
          <p:nvPr/>
        </p:nvSpPr>
        <p:spPr>
          <a:xfrm>
            <a:off x="640080" y="1463040"/>
            <a:ext cx="4892040" cy="1417320"/>
          </a:xfrm>
          <a:prstGeom prst="rect">
            <a:avLst/>
          </a:prstGeom>
          <a:noFill/>
          <a:ln/>
        </p:spPr>
        <p:txBody>
          <a:bodyPr wrap="square" lIns="0" tIns="0" rIns="0" bIns="0" rtlCol="0" anchor="t"/>
          <a:lstStyle/>
          <a:p>
            <a:pPr indent="0" marL="0">
              <a:buNone/>
            </a:pPr>
            <a:r>
              <a:rPr lang="en-US" sz="1200" dirty="0">
                <a:solidFill>
                  <a:srgbClr val="D7E3F4"/>
                </a:solidFill>
                <a:latin typeface="Courier New" pitchFamily="34" charset="0"/>
                <a:ea typeface="Courier New" pitchFamily="34" charset="-122"/>
                <a:cs typeface="Courier New" pitchFamily="34" charset="-120"/>
              </a:rPr>
              <a:t>You are a string QA Reviewer.</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Task: {task.Description}</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Code Provided: {task.Result}</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Deos the code completely satisfy the task?</a:t>
            </a:r>
            <a:endParaRPr lang="en-US" sz="1200" dirty="0"/>
          </a:p>
          <a:p>
            <a:pPr indent="0" marL="0">
              <a:buNone/>
            </a:pPr>
            <a:r>
              <a:rPr lang="en-US" sz="1200" dirty="0">
                <a:solidFill>
                  <a:srgbClr val="9FE6B8"/>
                </a:solidFill>
                <a:latin typeface="Courier New" pitchFamily="34" charset="0"/>
                <a:ea typeface="Courier New" pitchFamily="34" charset="-122"/>
                <a:cs typeface="Courier New" pitchFamily="34" charset="-120"/>
              </a:rPr>
              <a:t>If yes, output exactly: APPROVED</a:t>
            </a:r>
            <a:endParaRPr lang="en-US" sz="1200" dirty="0"/>
          </a:p>
          <a:p>
            <a:pPr indent="0" marL="0">
              <a:buNone/>
            </a:pPr>
            <a:r>
              <a:rPr lang="en-US" sz="1200" dirty="0">
                <a:solidFill>
                  <a:srgbClr val="FF9B9B"/>
                </a:solidFill>
                <a:latin typeface="Courier New" pitchFamily="34" charset="0"/>
                <a:ea typeface="Courier New" pitchFamily="34" charset="-122"/>
                <a:cs typeface="Courier New" pitchFamily="34" charset="-120"/>
              </a:rPr>
              <a:t>If no, output a 1-sentence explanation</a:t>
            </a:r>
            <a:endParaRPr lang="en-US" sz="1200" dirty="0"/>
          </a:p>
          <a:p>
            <a:pPr indent="0" marL="0">
              <a:buNone/>
            </a:pPr>
            <a:r>
              <a:rPr lang="en-US" sz="1200" dirty="0">
                <a:solidFill>
                  <a:srgbClr val="FF9B9B"/>
                </a:solidFill>
                <a:latin typeface="Courier New" pitchFamily="34" charset="0"/>
                <a:ea typeface="Courier New" pitchFamily="34" charset="-122"/>
                <a:cs typeface="Courier New" pitchFamily="34" charset="-120"/>
              </a:rPr>
              <a:t>of what is wrong.</a:t>
            </a:r>
            <a:endParaRPr lang="en-US" sz="12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Temperature 0.0</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verdict should be as repeatable as possible.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Reject = reopen</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IsCompleted goes back to false for the Developer.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Feedback appended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reason is added to Description, not overwritten.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TERMINATION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loop that can go backward needs a stop</a:t>
            </a:r>
            <a:endParaRPr lang="en-US" sz="2800" dirty="0"/>
          </a:p>
        </p:txBody>
      </p:sp>
      <p:sp>
        <p:nvSpPr>
          <p:cNvPr id="4" name="Shape 2"/>
          <p:cNvSpPr/>
          <p:nvPr/>
        </p:nvSpPr>
        <p:spPr>
          <a:xfrm>
            <a:off x="457200" y="1371600"/>
            <a:ext cx="3977640" cy="1257300"/>
          </a:xfrm>
          <a:prstGeom prst="roundRect">
            <a:avLst>
              <a:gd name="adj" fmla="val 581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maxCycles = 5</a:t>
            </a:r>
            <a:endParaRPr lang="en-US" sz="1500" dirty="0"/>
          </a:p>
        </p:txBody>
      </p:sp>
      <p:sp>
        <p:nvSpPr>
          <p:cNvPr id="8" name="Text 5"/>
          <p:cNvSpPr txBox="1"/>
          <p:nvPr/>
        </p:nvSpPr>
        <p:spPr>
          <a:xfrm>
            <a:off x="640080" y="2057400"/>
            <a:ext cx="3611880" cy="4800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safety valve. A Reviewer that keeps rejecting can't loop forever.</a:t>
            </a:r>
            <a:endParaRPr lang="en-US" sz="1200" dirty="0"/>
          </a:p>
        </p:txBody>
      </p:sp>
      <p:sp>
        <p:nvSpPr>
          <p:cNvPr id="9" name="Shape 6"/>
          <p:cNvSpPr/>
          <p:nvPr/>
        </p:nvSpPr>
        <p:spPr>
          <a:xfrm>
            <a:off x="4709160" y="1371600"/>
            <a:ext cx="3977640" cy="1257300"/>
          </a:xfrm>
          <a:prstGeom prst="roundRect">
            <a:avLst>
              <a:gd name="adj" fmla="val 5818"/>
            </a:avLst>
          </a:prstGeom>
          <a:solidFill>
            <a:srgbClr val="512BD4"/>
          </a:solidFill>
          <a:ln w="12700">
            <a:solidFill>
              <a:srgbClr val="512BD4"/>
            </a:solidFill>
            <a:prstDash val="solid"/>
          </a:ln>
        </p:spPr>
      </p:sp>
      <p:sp>
        <p:nvSpPr>
          <p:cNvPr id="10" name="Shape 7"/>
          <p:cNvSpPr/>
          <p:nvPr/>
        </p:nvSpPr>
        <p:spPr>
          <a:xfrm>
            <a:off x="489204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Early exit</a:t>
            </a:r>
            <a:endParaRPr lang="en-US" sz="1500" dirty="0"/>
          </a:p>
        </p:txBody>
      </p:sp>
      <p:sp>
        <p:nvSpPr>
          <p:cNvPr id="13" name="Text 9"/>
          <p:cNvSpPr txBox="1"/>
          <p:nvPr/>
        </p:nvSpPr>
        <p:spPr>
          <a:xfrm>
            <a:off x="4892040" y="2057400"/>
            <a:ext cx="3611880" cy="4800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IsFullyCompleted ends the run as soon as every task survives review.</a:t>
            </a:r>
            <a:endParaRPr lang="en-US" sz="1200" dirty="0"/>
          </a:p>
        </p:txBody>
      </p:sp>
      <p:sp>
        <p:nvSpPr>
          <p:cNvPr id="14" name="Shape 10"/>
          <p:cNvSpPr/>
          <p:nvPr/>
        </p:nvSpPr>
        <p:spPr>
          <a:xfrm>
            <a:off x="457200" y="2857500"/>
            <a:ext cx="3977640" cy="1257300"/>
          </a:xfrm>
          <a:prstGeom prst="roundRect">
            <a:avLst>
              <a:gd name="adj" fmla="val 5818"/>
            </a:avLst>
          </a:prstGeom>
          <a:solidFill>
            <a:srgbClr val="EFEBFC"/>
          </a:solidFill>
          <a:ln w="12700">
            <a:solidFill>
              <a:srgbClr val="EFEBFC"/>
            </a:solidFill>
            <a:prstDash val="solid"/>
          </a:ln>
        </p:spPr>
      </p:sp>
      <p:sp>
        <p:nvSpPr>
          <p:cNvPr id="15" name="Shape 11"/>
          <p:cNvSpPr/>
          <p:nvPr/>
        </p:nvSpPr>
        <p:spPr>
          <a:xfrm>
            <a:off x="640080" y="30403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140232"/>
            <a:ext cx="184343" cy="184343"/>
          </a:xfrm>
          <a:prstGeom prst="rect">
            <a:avLst/>
          </a:prstGeom>
        </p:spPr>
      </p:pic>
      <p:sp>
        <p:nvSpPr>
          <p:cNvPr id="17" name="Text 12"/>
          <p:cNvSpPr txBox="1"/>
          <p:nvPr/>
        </p:nvSpPr>
        <p:spPr>
          <a:xfrm>
            <a:off x="1143000" y="30403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Planner reruns</a:t>
            </a:r>
            <a:endParaRPr lang="en-US" sz="1500" dirty="0"/>
          </a:p>
        </p:txBody>
      </p:sp>
      <p:sp>
        <p:nvSpPr>
          <p:cNvPr id="18" name="Text 13"/>
          <p:cNvSpPr txBox="1"/>
          <p:nvPr/>
        </p:nvSpPr>
        <p:spPr>
          <a:xfrm>
            <a:off x="640080" y="3543300"/>
            <a:ext cx="3611880" cy="4800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Refiner and Planner run every cycle, so a second cycle can add more tasks.</a:t>
            </a:r>
            <a:endParaRPr lang="en-US" sz="1200" dirty="0"/>
          </a:p>
        </p:txBody>
      </p:sp>
      <p:sp>
        <p:nvSpPr>
          <p:cNvPr id="19" name="Shape 14"/>
          <p:cNvSpPr/>
          <p:nvPr/>
        </p:nvSpPr>
        <p:spPr>
          <a:xfrm>
            <a:off x="4709160" y="2857500"/>
            <a:ext cx="3977640" cy="1257300"/>
          </a:xfrm>
          <a:prstGeom prst="roundRect">
            <a:avLst>
              <a:gd name="adj" fmla="val 5818"/>
            </a:avLst>
          </a:prstGeom>
          <a:solidFill>
            <a:srgbClr val="EFEBFC"/>
          </a:solidFill>
          <a:ln w="12700">
            <a:solidFill>
              <a:srgbClr val="EFEBFC"/>
            </a:solidFill>
            <a:prstDash val="solid"/>
          </a:ln>
        </p:spPr>
      </p:sp>
      <p:sp>
        <p:nvSpPr>
          <p:cNvPr id="20" name="Shape 15"/>
          <p:cNvSpPr/>
          <p:nvPr/>
        </p:nvSpPr>
        <p:spPr>
          <a:xfrm>
            <a:off x="4892040" y="30403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140232"/>
            <a:ext cx="184343" cy="184343"/>
          </a:xfrm>
          <a:prstGeom prst="rect">
            <a:avLst/>
          </a:prstGeom>
        </p:spPr>
      </p:pic>
      <p:sp>
        <p:nvSpPr>
          <p:cNvPr id="22" name="Text 16"/>
          <p:cNvSpPr txBox="1"/>
          <p:nvPr/>
        </p:nvSpPr>
        <p:spPr>
          <a:xfrm>
            <a:off x="5394960" y="30403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Re-review</a:t>
            </a:r>
            <a:endParaRPr lang="en-US" sz="1500" dirty="0"/>
          </a:p>
        </p:txBody>
      </p:sp>
      <p:sp>
        <p:nvSpPr>
          <p:cNvPr id="23" name="Text 17"/>
          <p:cNvSpPr txBox="1"/>
          <p:nvPr/>
        </p:nvSpPr>
        <p:spPr>
          <a:xfrm>
            <a:off x="4892040" y="3543300"/>
            <a:ext cx="3611880" cy="4800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Approved tasks are reviewed again each cycle, and a verdict could flip.</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one cycle, two approvals</a:t>
            </a:r>
            <a:endParaRPr lang="en-US" sz="2800" dirty="0"/>
          </a:p>
        </p:txBody>
      </p:sp>
      <p:sp>
        <p:nvSpPr>
          <p:cNvPr id="4" name="Shape 2"/>
          <p:cNvSpPr/>
          <p:nvPr/>
        </p:nvSpPr>
        <p:spPr>
          <a:xfrm>
            <a:off x="457200" y="1325880"/>
            <a:ext cx="5257800" cy="2926080"/>
          </a:xfrm>
          <a:prstGeom prst="roundRect">
            <a:avLst>
              <a:gd name="adj" fmla="val 2500"/>
            </a:avLst>
          </a:prstGeom>
          <a:solidFill>
            <a:srgbClr val="0F1420"/>
          </a:solidFill>
          <a:ln w="12700">
            <a:solidFill>
              <a:srgbClr val="0F1420"/>
            </a:solidFill>
            <a:prstDash val="solid"/>
          </a:ln>
        </p:spPr>
      </p:sp>
      <p:sp>
        <p:nvSpPr>
          <p:cNvPr id="5" name="Text 3"/>
          <p:cNvSpPr txBox="1"/>
          <p:nvPr/>
        </p:nvSpPr>
        <p:spPr>
          <a:xfrm>
            <a:off x="640080" y="1463040"/>
            <a:ext cx="4892040" cy="2651760"/>
          </a:xfrm>
          <a:prstGeom prst="rect">
            <a:avLst/>
          </a:prstGeom>
          <a:noFill/>
          <a:ln/>
        </p:spPr>
        <p:txBody>
          <a:bodyPr wrap="square" lIns="0" tIns="0" rIns="0" bIns="0" rtlCol="0" anchor="t"/>
          <a:lstStyle/>
          <a:p>
            <a:pPr indent="0" marL="0">
              <a:buNone/>
            </a:pPr>
            <a:r>
              <a:rPr lang="en-US" sz="1050" dirty="0">
                <a:solidFill>
                  <a:srgbClr val="D7E3F4"/>
                </a:solidFill>
                <a:latin typeface="Courier New" pitchFamily="34" charset="0"/>
                <a:ea typeface="Courier New" pitchFamily="34" charset="-122"/>
                <a:cs typeface="Courier New" pitchFamily="34" charset="-120"/>
              </a:rPr>
              <a:t>Universal Project Manager (UPM) - Capstone I Orchestration</a:t>
            </a:r>
            <a:endParaRPr lang="en-US" sz="1050" dirty="0"/>
          </a:p>
          <a:p>
            <a:pPr indent="0" marL="0">
              <a:buNone/>
            </a:pPr>
            <a:r>
              <a:rPr lang="en-US" sz="1050" b="1" dirty="0">
                <a:solidFill>
                  <a:srgbClr val="F5A623"/>
                </a:solidFill>
                <a:latin typeface="Courier New" pitchFamily="34" charset="0"/>
                <a:ea typeface="Courier New" pitchFamily="34" charset="-122"/>
                <a:cs typeface="Courier New" pitchFamily="34" charset="-120"/>
              </a:rPr>
              <a:t>Enter a project idea: a Celsius to Fahrenheit CLI</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Orchestrator started workflow...</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ORCHESTRATION CYCLE 1 ---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[TOOL EXECUTED] Task created: Parse the input...Developer</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[TOOL EXECUTED] Task created: Convert and print...Developer</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[DEVELOPER] Executing task: 5c2e9a10 Parse the input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[DEVELOPER] Executing task: e81b7f43 Convert and print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[REVIEWER] Inspecting Task: 5c2e9a10</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[REVIEWER] Task 5c2e9a10 approved.</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[REVIEWER] Inspecting Task: e81b7f43</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[REVIEWER] Task e81b7f43 approved.</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Project successfully completed!</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lines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Cycle headers, agent tags and the finish line come from the code.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Idea, task text, IDs and verdicts are examples.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 a rejection</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Reason: line, then a second cycle runs.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Plan once, review once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Make the Planner skip when tasks already exist, and stop re-reviewing tasks the Reviewer has already approved.</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Lesson29-Capstone-OrchestrationAndUI/</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UniversalProjectManager/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PlannerAgent.cs, ReviewerAgent.cs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second cycle adds no new tasks</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Approved tasks are never sent to the model again</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rejected task is still reworked in the next cycle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five-cycle cap still stops a stubborn loop</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orchestrator over IProjectAgent</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30  </a:t>
            </a:r>
            <a:pPr indent="0" marL="0">
              <a:buNone/>
            </a:pPr>
            <a:r>
              <a:rPr lang="en-US" sz="1250" dirty="0">
                <a:solidFill>
                  <a:srgbClr val="FFFFFF"/>
                </a:solidFill>
                <a:latin typeface="Calibri" pitchFamily="34" charset="0"/>
                <a:ea typeface="Calibri" pitchFamily="34" charset="-122"/>
                <a:cs typeface="Calibri" pitchFamily="34" charset="-120"/>
              </a:rPr>
              <a:t>DI builds the same orchestrator for each request</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layer of orchestration</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39  </a:t>
            </a:r>
            <a:pPr indent="0" marL="0">
              <a:buNone/>
            </a:pPr>
            <a:r>
              <a:rPr lang="en-US" sz="1250" dirty="0">
                <a:solidFill>
                  <a:srgbClr val="FFFFFF"/>
                </a:solidFill>
                <a:latin typeface="Calibri" pitchFamily="34" charset="0"/>
                <a:ea typeface="Calibri" pitchFamily="34" charset="-122"/>
                <a:cs typeface="Calibri" pitchFamily="34" charset="-120"/>
              </a:rPr>
              <a:t>Orchestrators delegate to sub-orchestrators (planned)</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Task-level rework</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Plan-level replanning when a step fails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second agent as reviewer</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One agent critiques and revises its own draft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synchronous in-process loop</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40  </a:t>
            </a:r>
            <a:pPr indent="0" marL="0">
              <a:buNone/>
            </a:pPr>
            <a:r>
              <a:rPr lang="en-US" sz="1250" dirty="0">
                <a:solidFill>
                  <a:srgbClr val="FFFFFF"/>
                </a:solidFill>
                <a:latin typeface="Calibri" pitchFamily="34" charset="0"/>
                <a:ea typeface="Calibri" pitchFamily="34" charset="-122"/>
                <a:cs typeface="Calibri" pitchFamily="34" charset="-120"/>
              </a:rPr>
              <a:t>Agents coordinate over an event bus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Capstone I: Universal Project Manager</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29 — Capstone I: Orchestration &amp; Review</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29 — Capstone I: Orchestration &amp; Review</dc:title>
  <dc:subject>PptxGenJS Presentation</dc:subject>
  <dc:creator>Media Six LLC</dc:creator>
  <cp:lastModifiedBy>Media Six LLC</cp:lastModifiedBy>
  <cp:revision>1</cp:revision>
  <dcterms:created xsi:type="dcterms:W3CDTF">2026-10-21T23:25:33Z</dcterms:created>
  <dcterms:modified xsi:type="dcterms:W3CDTF">2026-10-21T23:25:33Z</dcterms:modified>
</cp:coreProperties>
</file>