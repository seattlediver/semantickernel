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upgrades the vector-only retrieval from Lesson 8's RAG agent into hybrid search. Pure vector similarity is excellent at catching meaning, but it can miss exact identifiers such as part numbers, product codes and names, which don't always embed distinctively. So we run a keyword pass alongside the vector pass and merge the two result sets, a pattern used heavily in production RAG systems. The demo seeds a tiny in-memory knowledge base of three sentences about a fictional server rack, the Alpha-99, embeds each one with text-embedding-3-small, and answers one question, what is the maintenance schedule for the Alpha-99, from the retrieved context with a grounded, temperature-zero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8 retrieved context purely by vector similarity. That catches meaning well: a question about a battery can find a document about a power source. But identifiers like Alpha-99 carry little semantic signal, so a vector search alone can rank the wrong document first. Lesson 23 adds a second, lexical pass that looks for the query's words literally in each document, and merges both result lists. A document found by both passes is sent to the model only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.NET 10 console app, AdvancedRAG.slnx. It references Microsoft.SemanticKernel and Microsoft.SemanticKernel.Connectors.OpenAI at 1.78.0, plus Microsoft.Extensions.AI 10.7.0 for the standard embedding interface. It registers two OpenAI models on the same kernel: gpt-4.1-mini for answering, and text-embedding-3-small for embeddings, which produces 1536-dimension vectors. AddOpenAIEmbeddingGenerator is marked experimental in this version of Semantic Kernel, and the build fails with SKEXP0010 unless it is suppressed, so the project file adds SKEXP0010 to NoWarn. The key comes from OPENAI_API_KEY as usual.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pipeline. Program.cs builds the kernel and pulls out the standard IEmbeddingGenerator interface. It then embeds three facts: the Alpha-99 rack needs a 220-volt supply, standard cloud servers run at 110 volts, and Alpha-99 maintenance should happen every 90 days. Each becomes a Document holding its text and its vector. The highlighted step is retrieval: HybridRetriever runs a vector pass and a keyword pass, taking the top two from each. RagAgent joins the hits into a CONTEXT block, and asks the model to answer using only that context, at temperature zero, or to say exactly Data not found. Each piece lives in its own class, so each can be tested or swapped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SearchAsync is the heart of the lesson. The vector pass embeds the query, scores every document by cosine similarity against it, orders by score and keeps the top two. The keyword pass splits the query on spaces and keeps documents that contain any of those words, case-insensitively, again up to two. The merge takes the union of both lists, projects each document to its text and applies Distinct, so a fact found by both passes is sent to the model only once and doesn't waste tokens. Notice that HybridRetriever depends only on Microsoft.Extensions.AI's IEmbeddingGenerator of string and Embedding of float, not on a provider-specific type, so the embedding backend can be replaced without touching this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CalculateCosineSimilarity is written out by hand so you can see there's no magic in it. In a single loop over both vectors it accumulates the dot product, the sum of each matching pair multiplied together, and the squared length of each vector. The score is the dot product divided by the product of the two lengths. The result measures the angle between the vectors, and the closer it is to 1.0, the more similar the meaning. If either vector has zero length, the method returns zero instead of dividing by zero. With three documents a linear scan is instant; a real system would hand this job to a vector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pass has a strength and a weakness. The vector pass connects a question about a maintenance schedule to a sentence about maintenance every 90 days, even though the words differ. But it always returns its top two, however poor the best match is, because there's no similarity threshold. The keyword pass is the opposite: it reliably finds Alpha-99 by its exact name, but because it simply splits the query on spaces, small words like the, is and for count as keywords too. For this question the keyword pass returns the two Alpha-99 facts. Both weaknesses were left in deliberately to keep the code short, and fixing them is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It prints Vectorizing Knowledge Base while it embeds the three facts, then the hard-coded query, then the answer. The answer on the slide is illustrative; your wording may differ, but it should say that maintenance happens every 90 days, because that fact is in the retrieved context and the prompt forbids anything else. To see the grounding rule work, change the query to something the knowledge base doesn't cover. The model should reply exactly Data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In the keyword pass, remove a small set of stopwords before matching, so only meaningful terms like maintenance and Alpha-99 count. In the vector pass, keep the score alongside each document and drop anything below a threshold you choose, say 0.3, then experiment with the value. Check that the original question still gets the 90-day answer, that a question about standard cloud servers finds the 110-volt fact, and that an unrelated question now retrieves nothing useful and gets Data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saw why vector-only retrieval can miss exact identifiers, embedded text through the standard IEmbeddingGenerator interface, scored documents with hand-written cosine similarity, merged vector and keyword hits without duplicates, and grounded the answer at temperature zero. Lesson 38 reuses text-embedding-3-small and cosine similarity to recall episodic memories by relevance rather than recency. Lesson 26 builds an LLM judge that scores answers against a known ground truth. And Lesson 27's capstone takes the same idea of small, independently swappable classes and applies it to a whole team of agents behind one shared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23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Advanced RAG:</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Hybrid Search</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Vectors for meaning, keywords for exact terms, one merged context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3 Alpha-99 facts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grounded answer</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vector-only retrieval can miss exact identifiers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Embed text through IEmbeddingGenerator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Score documents with cosine similarity</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Merge vector and keyword hits without duplicates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Ground the answer at temperature 0</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23 — Advanced RAG: Hybrid Search</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vectors only to vectors plus keywords</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8: vectors only</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Great at meaning: battery ≈ power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IDs and part numbers embed blandly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Exact-term matches can be missed</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23: hybrid</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vector pass for meaning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keyword pass for exact terms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Union, then Distinct</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Close in meaning and exact match: hybrid recall gets both.</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23 — Advanced RAG: Hybrid Search</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Three NuGet packages</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1.78.0, plus Microsoft.Extensions.AI 10.7.0.</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models</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gpt-4.1-mini answers; text-embedding-3-small turns text into 1536-dimension vectors.</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SKEXP0010</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AddOpenAIEmbeddingGenerator is experimental; the .csproj suppresses the warning with NoWarn.</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23 — Advanced RAG: Hybrid Search</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4</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three sentences to a grounded answer</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Embed</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fact becomes a Document with a vector.</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Retrieve</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HybridRetriever runs two passes, top 2 each.</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Ground</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hits become a CONTEXT block in the prompt.</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Answer</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Temperature 0, or exactly 'Data not found'.</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Four classes: Document, HybridRetriever, RagAgent, and Program.cs to wire them.</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23 — Advanced RAG: Hybrid Search</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RETRIEVAL</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Two passes over the same documents, one merge</a:t>
            </a:r>
            <a:endParaRPr lang="en-US" sz="27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SearchAsync</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Takes the query and topK = 2; returns deduplicated text.</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Vector pass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Cosine-rank against the query; keep two.</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Keyword pass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Any query word found in the text is a hit.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Merge</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Union of both lists, then Distinct on the text.</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Built on IEmbeddingGenerator, so the embedding backend can change freely.</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23 — Advanced RAG: Hybrid Search</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COSINE SIMILARITY</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50" b="1" dirty="0">
                <a:solidFill>
                  <a:srgbClr val="1F2937"/>
                </a:solidFill>
                <a:latin typeface="Cambria" pitchFamily="34" charset="0"/>
                <a:ea typeface="Cambria" pitchFamily="34" charset="-122"/>
                <a:cs typeface="Cambria" pitchFamily="34" charset="-120"/>
              </a:rPr>
              <a:t>How close two vectors are, in four lines of math</a:t>
            </a:r>
            <a:endParaRPr lang="en-US" sz="2550" dirty="0"/>
          </a:p>
        </p:txBody>
      </p:sp>
      <p:sp>
        <p:nvSpPr>
          <p:cNvPr id="4" name="Shape 2"/>
          <p:cNvSpPr/>
          <p:nvPr/>
        </p:nvSpPr>
        <p:spPr>
          <a:xfrm>
            <a:off x="457200" y="1371600"/>
            <a:ext cx="1851660" cy="1600200"/>
          </a:xfrm>
          <a:prstGeom prst="roundRect">
            <a:avLst>
              <a:gd name="adj" fmla="val 457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Dot product</a:t>
            </a:r>
            <a:endParaRPr lang="en-US" sz="1300" dirty="0"/>
          </a:p>
        </p:txBody>
      </p:sp>
      <p:sp>
        <p:nvSpPr>
          <p:cNvPr id="8" name="Text 5"/>
          <p:cNvSpPr txBox="1"/>
          <p:nvPr/>
        </p:nvSpPr>
        <p:spPr>
          <a:xfrm>
            <a:off x="64008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Multiply matching values, then sum them.</a:t>
            </a:r>
            <a:endParaRPr lang="en-US" sz="1200" dirty="0"/>
          </a:p>
        </p:txBody>
      </p:sp>
      <p:sp>
        <p:nvSpPr>
          <p:cNvPr id="9" name="Shape 6"/>
          <p:cNvSpPr/>
          <p:nvPr/>
        </p:nvSpPr>
        <p:spPr>
          <a:xfrm>
            <a:off x="2583180" y="1371600"/>
            <a:ext cx="1851660" cy="1600200"/>
          </a:xfrm>
          <a:prstGeom prst="roundRect">
            <a:avLst>
              <a:gd name="adj" fmla="val 457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Two norms</a:t>
            </a:r>
            <a:endParaRPr lang="en-US" sz="1300" dirty="0"/>
          </a:p>
        </p:txBody>
      </p:sp>
      <p:sp>
        <p:nvSpPr>
          <p:cNvPr id="13" name="Text 9"/>
          <p:cNvSpPr txBox="1"/>
          <p:nvPr/>
        </p:nvSpPr>
        <p:spPr>
          <a:xfrm>
            <a:off x="276606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vector's length: root of its sum of squares.</a:t>
            </a:r>
            <a:endParaRPr lang="en-US" sz="1200" dirty="0"/>
          </a:p>
        </p:txBody>
      </p:sp>
      <p:sp>
        <p:nvSpPr>
          <p:cNvPr id="14" name="Shape 10"/>
          <p:cNvSpPr/>
          <p:nvPr/>
        </p:nvSpPr>
        <p:spPr>
          <a:xfrm>
            <a:off x="4709160" y="1371600"/>
            <a:ext cx="1851660" cy="1600200"/>
          </a:xfrm>
          <a:prstGeom prst="roundRect">
            <a:avLst>
              <a:gd name="adj" fmla="val 4571"/>
            </a:avLst>
          </a:prstGeom>
          <a:solidFill>
            <a:srgbClr val="512BD4"/>
          </a:solidFill>
          <a:ln w="12700">
            <a:solidFill>
              <a:srgbClr val="512BD4"/>
            </a:solidFill>
            <a:prstDash val="solid"/>
          </a:ln>
        </p:spPr>
      </p:sp>
      <p:sp>
        <p:nvSpPr>
          <p:cNvPr id="15" name="Shape 11"/>
          <p:cNvSpPr/>
          <p:nvPr/>
        </p:nvSpPr>
        <p:spPr>
          <a:xfrm>
            <a:off x="489204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Score</a:t>
            </a:r>
            <a:endParaRPr lang="en-US" sz="1300" dirty="0"/>
          </a:p>
        </p:txBody>
      </p:sp>
      <p:sp>
        <p:nvSpPr>
          <p:cNvPr id="18" name="Text 13"/>
          <p:cNvSpPr txBox="1"/>
          <p:nvPr/>
        </p:nvSpPr>
        <p:spPr>
          <a:xfrm>
            <a:off x="4892040" y="2057400"/>
            <a:ext cx="148590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Dot over the product of norms. Near 1.0 is similar.</a:t>
            </a:r>
            <a:endParaRPr lang="en-US" sz="1200" dirty="0"/>
          </a:p>
        </p:txBody>
      </p:sp>
      <p:sp>
        <p:nvSpPr>
          <p:cNvPr id="19" name="Shape 14"/>
          <p:cNvSpPr/>
          <p:nvPr/>
        </p:nvSpPr>
        <p:spPr>
          <a:xfrm>
            <a:off x="6835140" y="1371600"/>
            <a:ext cx="1851660" cy="1600200"/>
          </a:xfrm>
          <a:prstGeom prst="roundRect">
            <a:avLst>
              <a:gd name="adj" fmla="val 4571"/>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Zero guard</a:t>
            </a:r>
            <a:endParaRPr lang="en-US" sz="1300" dirty="0"/>
          </a:p>
        </p:txBody>
      </p:sp>
      <p:sp>
        <p:nvSpPr>
          <p:cNvPr id="23" name="Text 17"/>
          <p:cNvSpPr txBox="1"/>
          <p:nvPr/>
        </p:nvSpPr>
        <p:spPr>
          <a:xfrm>
            <a:off x="701802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zero-length vector scores 0, not a crash.</a:t>
            </a:r>
            <a:endParaRPr lang="en-US" sz="1200" dirty="0"/>
          </a:p>
        </p:txBody>
      </p:sp>
      <p:sp>
        <p:nvSpPr>
          <p:cNvPr id="24" name="Text 18"/>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Written by hand over ReadOnlySpan&lt;float&gt;: no vector database needed.</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23 — Advanced RAG: Hybrid Search</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DESIGN TRADE-OFFS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What each pass catches, and what it gets wrong</a:t>
            </a:r>
            <a:endParaRPr lang="en-US" sz="2700" dirty="0"/>
          </a:p>
        </p:txBody>
      </p:sp>
      <p:sp>
        <p:nvSpPr>
          <p:cNvPr id="4" name="Shape 2"/>
          <p:cNvSpPr/>
          <p:nvPr/>
        </p:nvSpPr>
        <p:spPr>
          <a:xfrm>
            <a:off x="457200" y="1371600"/>
            <a:ext cx="39319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The vector pass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Links 'schedule' to 'every 90 days'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Always returns topK, however weak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score threshold in this demo</a:t>
            </a:r>
            <a:endParaRPr lang="en-US" sz="1300" dirty="0"/>
          </a:p>
        </p:txBody>
      </p:sp>
      <p:sp>
        <p:nvSpPr>
          <p:cNvPr id="9" name="Shape 6"/>
          <p:cNvSpPr/>
          <p:nvPr/>
        </p:nvSpPr>
        <p:spPr>
          <a:xfrm>
            <a:off x="4754880" y="1371600"/>
            <a:ext cx="3931920" cy="1920240"/>
          </a:xfrm>
          <a:prstGeom prst="roundRect">
            <a:avLst>
              <a:gd name="adj" fmla="val 381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The keyword pass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Matches Alpha-99 literally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Treats 'the', 'is', 'for' as keywords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stopword filtering yet</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Both gaps are deliberate: they're this lesson's exercise.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23 — Advanced RAG: Hybrid Search</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one question, one grounded answer</a:t>
            </a:r>
            <a:endParaRPr lang="en-US" sz="2800" dirty="0"/>
          </a:p>
        </p:txBody>
      </p:sp>
      <p:sp>
        <p:nvSpPr>
          <p:cNvPr id="4" name="Shape 2"/>
          <p:cNvSpPr/>
          <p:nvPr/>
        </p:nvSpPr>
        <p:spPr>
          <a:xfrm>
            <a:off x="457200" y="1325880"/>
            <a:ext cx="5257800" cy="1508760"/>
          </a:xfrm>
          <a:prstGeom prst="roundRect">
            <a:avLst>
              <a:gd name="adj" fmla="val 4848"/>
            </a:avLst>
          </a:prstGeom>
          <a:solidFill>
            <a:srgbClr val="0F1420"/>
          </a:solidFill>
          <a:ln w="12700">
            <a:solidFill>
              <a:srgbClr val="0F1420"/>
            </a:solidFill>
            <a:prstDash val="solid"/>
          </a:ln>
        </p:spPr>
      </p:sp>
      <p:sp>
        <p:nvSpPr>
          <p:cNvPr id="5" name="Text 3"/>
          <p:cNvSpPr txBox="1"/>
          <p:nvPr/>
        </p:nvSpPr>
        <p:spPr>
          <a:xfrm>
            <a:off x="640080" y="1463040"/>
            <a:ext cx="4892040" cy="123444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Vectorizing Knowledge Base...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Query: What is the maintenance schedule for the Alpha-99</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AI Answer: Routine maintenance for the Alpha-99 should occur every 90 days.</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Wording varies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answer text here is illustrative.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Grounded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fact comes from the context, not the model's memory.</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Data not found</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Ask about something absent to see the fallback.</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23 — Advanced RAG: Hybrid Search</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Tighten both retrieval passes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Filter stopwords out of the keyword pass, and skip vector hits whose cosine score falls below a threshold.</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Lesson23-AdvancedRAG/</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AdvancedRAG/HybridRetriever.cs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'is' and 'for' no longer trigger keyword matches</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Vector hits under the threshold are dropped</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question about 110V servers still finds that fact</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off-topic question returns 'Data not found'</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23 — Advanced RAG: Hybrid Search</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Cosine similarity</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38  </a:t>
            </a:r>
            <a:pPr indent="0" marL="0">
              <a:buNone/>
            </a:pPr>
            <a:r>
              <a:rPr lang="en-US" sz="1250" dirty="0">
                <a:solidFill>
                  <a:srgbClr val="FFFFFF"/>
                </a:solidFill>
                <a:latin typeface="Calibri" pitchFamily="34" charset="0"/>
                <a:ea typeface="Calibri" pitchFamily="34" charset="-122"/>
                <a:cs typeface="Calibri" pitchFamily="34" charset="-120"/>
              </a:rPr>
              <a:t>Memories ranked by relevance with the same math</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text-embedding-3-small</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38  </a:t>
            </a:r>
            <a:pPr indent="0" marL="0">
              <a:buNone/>
            </a:pPr>
            <a:r>
              <a:rPr lang="en-US" sz="1250" dirty="0">
                <a:solidFill>
                  <a:srgbClr val="FFFFFF"/>
                </a:solidFill>
                <a:latin typeface="Calibri" pitchFamily="34" charset="0"/>
                <a:ea typeface="Calibri" pitchFamily="34" charset="-122"/>
                <a:cs typeface="Calibri" pitchFamily="34" charset="-120"/>
              </a:rPr>
              <a:t>Each episode is embedded and indexed</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Grounded, checkable answers</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A judge scores answers against ground truth</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Small, swappable classes</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27  </a:t>
            </a:r>
            <a:pPr indent="0" marL="0">
              <a:buNone/>
            </a:pPr>
            <a:r>
              <a:rPr lang="en-US" sz="1250" dirty="0">
                <a:solidFill>
                  <a:srgbClr val="FFFFFF"/>
                </a:solidFill>
                <a:latin typeface="Calibri" pitchFamily="34" charset="0"/>
                <a:ea typeface="Calibri" pitchFamily="34" charset="-122"/>
                <a:cs typeface="Calibri" pitchFamily="34" charset="-120"/>
              </a:rPr>
              <a:t>Capstone agents behind one shared interface</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23 — Advanced RAG: Hybrid Search</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23 — Advanced RAG: Hybrid Search</dc:title>
  <dc:subject>PptxGenJS Presentation</dc:subject>
  <dc:creator>Media Six LLC</dc:creator>
  <cp:lastModifiedBy>Media Six LLC</cp:lastModifiedBy>
  <cp:revision>1</cp:revision>
  <dcterms:created xsi:type="dcterms:W3CDTF">2026-10-21T23:12:11Z</dcterms:created>
  <dcterms:modified xsi:type="dcterms:W3CDTF">2026-10-21T23:12:11Z</dcterms:modified>
</cp:coreProperties>
</file>