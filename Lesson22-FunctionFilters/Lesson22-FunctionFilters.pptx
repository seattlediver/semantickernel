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lessons showed plugins and tool calling on their own. Lesson 22 introduces the idea that cross-cutting concerns, such as logging, auditing and security checks, shouldn't be hand-written inside every plugin. Semantic Kernel has a filter pipeline that works like ASP.NET Core middleware: you register a filter once, and it observes or intercepts operations at well-defined points in every request. We build a console app that sends one scripted request, look up the current balance for customer ID CUST-778, through a kernel with two filters wired in. PromptLoggingFilter shows the exact prompt text just before it leaves for OpenAI, and AuditFunctionFilter times and logs every function invocation. The plugin itself contains no logging code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filters, every plugin that needs auditing has to carry its own Stopwatch and its own log lines. That code is repeated, easy to forget in the next plugin, and tangled with the business logic. With filters, the cross-cutting code lives in one place. You register it once on the kernel and it runs around every qualifying operation. SecureDatabasePlugin in this lesson is a plain, single-purpose class: it looks up a balance and returns it. All the observability lives in the two filters, exactly the way middleware keeps logging out of ASP.NET Core controllers.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the .NET 10 SDK and a console application, which opens in Visual Studio 2026 as FunctionFilters.slnx. Besides Microsoft.SemanticKernel and Microsoft.SemanticKernel.Connectors.OpenAI at version 1.78.0, this project references Microsoft.Extensions.DependencyInjection 10.0.9, because the filters are registered on the kernel builder's service collection. The key comes from the OPENAI_API_KEY environment variable, and the model is gpt-4.1-mini, which decides on its own that it needs the balance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line, kernel.InvokePromptAsync, fans out into a whole pipeline. InvokePromptAsync turns the prompt into a function and invokes it, so the function filter wraps the whole call first. Inside, the prompt is rendered and the prompt filter logs the exact text headed to the model. The model decides it needs a tool and asks for GetCustomerBalance. Because the execution settings use AutoInvokeKernelFunctions, Semantic Kernel actually runs that function, and the audit filter fires again, this time around the tool, timing its 400 millisecond simulated database delay. The tool result goes back to the model, which writes the final answer, and the outer audit closes. Without AutoInvoke, the kernel would only report that the model wanted the tool, and the tool's audit would never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filters follow the same pattern. Each receives a context and a delegate called next. Code before await next runs before the real operation; code after it runs once the operation has finished. AuditFunctionFilter starts a Stopwatch and logs the requested plugin and function name before next, then logs the same identifier with the duration and the result after it. PromptLoggingFilter calls next first, because the prompt only exists after rendering, and then prints context.RenderedPrompt. The third option is the powerful one: because the filter decides whether next is ever called, it can veto an operation entirely, for example by setting context.Result itself or throwing, so a sensitive plugin never runs. That is the hook security gates are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interfaces, two interception points. IPromptRenderFilter runs after template variables have been substituted but before the prompt is sent, which makes it the natural place for logging, or for redacting personal data before it leaves your process. IFunctionInvocationFilter wraps every function the kernel invokes from start to finish. That includes tools like GetCustomerBalance, and also the prompt itself, because InvokePromptAsync compiles the prompt into a function. Both filters are registered with builder.Services.AddSingleton before builder.Build, and from then on they apply automatically to every qualifying operation for the life of the kernel. The plugin stays clean: it simulates a database delay, prints its own result line and returns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project with OPENAI_API_KEY set. This slide is trimmed of blank lines, and the durations, the generated function id and the model's wording are illustrative. Read it top to bottom. The first audit line comes from the function filter wrapping the prompt itself; a prompt function has no plugin, so the filter prints just its generated name, InvokePromptAsync followed by an id. Inside it, the prompt logger shows the exact text sent to the model. Then the inner pair: the audit filter logs that Database.GetCustomerBalance was requested, the plugin prints the balance, and the filter reports the same function's duration, a little over the 400 millisecond delay, and its result. Finally the outer pair closes, with the model's answer as its result, and the program prints the final response. Each opening and closing audit line names the same function, so the pairs are easy to match up. The prompt filter fires only once: the tool result goes back to the model inside the chat history, and the prompt is not rendered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In AuditFunctionFilter, check whether the requested function is GetCustomerBalance and read the customerId from context.Arguments. If it doesn't start with CUST-, skip next entirely and set context.Result to a FunctionResult carrying an access-denied message. Make sure you only gate the tool: remember that the same filter also wraps the prompt function, which has no plugin name. Change the request in Program.cs to ask for ADMIN-1 and confirm that the DATABASE PLUGIN line never appears and that the model relays the denial.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intercepted the rendered prompt with IPromptRenderFilter, wrapped every function call with IFunctionInvocationFilter, used the next delegate for before-and-after logic, registered both filters once through dependency injection, and kept the plugin free of logging code. Lesson 37 turns these same two interfaces into safety guardrails: a prompt filter that redacts personal data before it leaves the process, and a function filter that blocks policy-violating output. Lesson 24 gets detailed tracing from Semantic Kernel's built-in instrumentation without writing any filter code. Lesson 30 registers the whole agent team in an ASP.NET Core DI container. And the planned Capstone II, Lesson 43, builds guardrails like these into the final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22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Prompt and</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Function Filters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Middleware for AI calls: log every prompt, audit every tool call</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CUST-778 balance request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audited, logged answer</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Intercept rendered prompts with IPromptRenderFilter</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Wrap function calls with IFunctionInvocationFilter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Do work before and after await next(context)</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Register filters once through dependency injection</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 plugins free of logging code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22 — Prompt and Function Filters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From logging in every plugin to filters around them</a:t>
            </a:r>
            <a:endParaRPr lang="en-US" sz="24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Logging inside plugins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plugin repeats timing code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Easy to forget one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Business logic and logging mixed</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22: filters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Registered once, applied everywhere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plugin has zero logging code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Same shape as ASP.NET Core middleware</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filter pipeline sees every prompt and every function call.</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22 — Prompt and Function Filters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FunctionFilters.slnx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Three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1.78.0, plus Microsoft.Extensions.DependencyInjection 10.0.9.</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it decides when to call the balance tool.</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22 — Prompt and Function Filters</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CALL</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InvokePromptAsync call, five stages</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Wrap</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audit filter opens around the prompt call.</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Render</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prompt filter logs the final prompt text.</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Model</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asks for the balance tool.</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Tool call</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audit filter times the slow plugin.</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Answer</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replies; the outer audit closes.</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AutoInvokeKernelFunctions is what makes the kernel run the tool.</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22 — Prompt and Function Filters</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NEXT DELEGATE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Everything hinges on one await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next(context)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Hands control to the real operation: rendering, or the C# method.</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Before next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Start the Stopwatch; log the plugin and function requested.</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After next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Read RenderedPrompt or Result; log the duration.</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Skip next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Never call it and set Result: the call is vetoed.</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Pre-work, next, post-work: the ASP.NET Core middleware shape.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22 — Prompt and Function Filters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TWO INTERFACES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Where each filter plugs in</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IPromptRenderFilter</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Runs after variables are filled, before the prompt leaves the process. Natural home for logging or PII redaction.</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IFunctionInvocationFilter</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Wraps every function the kernel invokes, the prompt function and each tool. Timing, audit, security gates.</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Registered via DI</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builder.Services.AddSingleton, before builder.Build(). They apply for the kernel's whole lifetime.</a:t>
            </a:r>
            <a:endParaRPr lang="en-US" sz="1200" dirty="0"/>
          </a:p>
        </p:txBody>
      </p:sp>
      <p:sp>
        <p:nvSpPr>
          <p:cNvPr id="19" name="Shape 14"/>
          <p:cNvSpPr/>
          <p:nvPr/>
        </p:nvSpPr>
        <p:spPr>
          <a:xfrm>
            <a:off x="4709160" y="2994660"/>
            <a:ext cx="3977640" cy="1394460"/>
          </a:xfrm>
          <a:prstGeom prst="roundRect">
            <a:avLst>
              <a:gd name="adj" fmla="val 5246"/>
            </a:avLst>
          </a:prstGeom>
          <a:solidFill>
            <a:srgbClr val="512BD4"/>
          </a:solidFill>
          <a:ln w="12700">
            <a:solidFill>
              <a:srgbClr val="512BD4"/>
            </a:solidFill>
            <a:prstDash val="solid"/>
          </a:ln>
        </p:spPr>
      </p:sp>
      <p:sp>
        <p:nvSpPr>
          <p:cNvPr id="20" name="Shape 15"/>
          <p:cNvSpPr/>
          <p:nvPr/>
        </p:nvSpPr>
        <p:spPr>
          <a:xfrm>
            <a:off x="4892040" y="317754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A clean plugin</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SecureDatabasePlugin waits 400 ms and returns $5,240. No logging, no timing.</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22 — Prompt and Function Filters</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the whole pipeline, in order</a:t>
            </a:r>
            <a:endParaRPr lang="en-US" sz="2800" dirty="0"/>
          </a:p>
        </p:txBody>
      </p:sp>
      <p:sp>
        <p:nvSpPr>
          <p:cNvPr id="4" name="Shape 2"/>
          <p:cNvSpPr/>
          <p:nvPr/>
        </p:nvSpPr>
        <p:spPr>
          <a:xfrm>
            <a:off x="457200" y="1325880"/>
            <a:ext cx="5257800" cy="2514600"/>
          </a:xfrm>
          <a:prstGeom prst="roundRect">
            <a:avLst>
              <a:gd name="adj" fmla="val 2909"/>
            </a:avLst>
          </a:prstGeom>
          <a:solidFill>
            <a:srgbClr val="0F1420"/>
          </a:solidFill>
          <a:ln w="12700">
            <a:solidFill>
              <a:srgbClr val="0F1420"/>
            </a:solidFill>
            <a:prstDash val="solid"/>
          </a:ln>
        </p:spPr>
      </p:sp>
      <p:sp>
        <p:nvSpPr>
          <p:cNvPr id="5" name="Text 3"/>
          <p:cNvSpPr txBox="1"/>
          <p:nvPr/>
        </p:nvSpPr>
        <p:spPr>
          <a:xfrm>
            <a:off x="640080" y="1463040"/>
            <a:ext cx="4892040" cy="2240280"/>
          </a:xfrm>
          <a:prstGeom prst="rect">
            <a:avLst/>
          </a:prstGeom>
          <a:noFill/>
          <a:ln/>
        </p:spPr>
        <p:txBody>
          <a:bodyPr wrap="square" lIns="0" tIns="0" rIns="0" bIns="0" rtlCol="0" anchor="t"/>
          <a:lstStyle/>
          <a:p>
            <a:pPr indent="0" marL="0">
              <a:buNone/>
            </a:pPr>
            <a:r>
              <a:rPr lang="en-US" sz="1050" dirty="0">
                <a:solidFill>
                  <a:srgbClr val="D7E3F4"/>
                </a:solidFill>
                <a:latin typeface="Courier New" pitchFamily="34" charset="0"/>
                <a:ea typeface="Courier New" pitchFamily="34" charset="-122"/>
                <a:cs typeface="Courier New" pitchFamily="34" charset="-120"/>
              </a:rPr>
              <a:t>System online with middleware filters active.</a:t>
            </a:r>
            <a:endParaRPr lang="en-US" sz="1050" dirty="0"/>
          </a:p>
          <a:p>
            <a:pPr indent="0" marL="0">
              <a:buNone/>
            </a:pPr>
            <a:r>
              <a:rPr lang="en-US" sz="1050" b="1" dirty="0">
                <a:solidFill>
                  <a:srgbClr val="F5A623"/>
                </a:solidFill>
                <a:latin typeface="Courier New" pitchFamily="34" charset="0"/>
                <a:ea typeface="Courier New" pitchFamily="34" charset="-122"/>
                <a:cs typeface="Courier New" pitchFamily="34" charset="-120"/>
              </a:rPr>
              <a:t>User: Can you look up the current balance for customer ID CUST-778?</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[AUDIT] Function requested: InvokePromptAsync_&lt;id&gt;</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[PROMPT LOGGER] Intercepted payload headed to the model:</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Can you look up the current balance for customer ID CUST-778?</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[AUDIT] Function requested: Database.GetCustomerBalance</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[DATABASE PLUGIN]: $5,240</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[AUDIT] Finished Database.GetCustomerBalance, Duration: 405ms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[AUDIT] Function returned: $5,240</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[AUDIT] Finished InvokePromptAsync_&lt;id&gt;, Duration: 2210ms</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[AUDIT] Function returned: The balance is $5,240.</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[AI FINAL RESPONSE]: The balance is $5,240.</a:t>
            </a:r>
            <a:endParaRPr lang="en-US" sz="105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Two audit pairs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Outer: the prompt function. Inner: the tool call.</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Varies per run</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Durations, the function id and the reply are illustrative.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Same identifier</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Opening and closing lines both name the function.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22 — Prompt and Function Filters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Turn the audit filter into a security gate</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Block GetCustomerBalance for any ID that doesn't start with CUST-, without calling next, and return an access-denied result instead.</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Lesson22-FunctionFilters/</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FunctionFilters/AuditFunctionFilter.cs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CUST-778 still returns $5,240</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ID like ADMIN-1 never reaches the plugin</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model tells the user access was denied</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prompt function itself is never blocked</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22 — Prompt and Function Filters</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IPromptRenderFilter</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37  </a:t>
            </a:r>
            <a:pPr indent="0" marL="0">
              <a:buNone/>
            </a:pPr>
            <a:r>
              <a:rPr lang="en-US" sz="1250" dirty="0">
                <a:solidFill>
                  <a:srgbClr val="FFFFFF"/>
                </a:solidFill>
                <a:latin typeface="Calibri" pitchFamily="34" charset="0"/>
                <a:ea typeface="Calibri" pitchFamily="34" charset="-122"/>
                <a:cs typeface="Calibri" pitchFamily="34" charset="-120"/>
              </a:rPr>
              <a:t>PII is redacted before the prompt leaves</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IFunctionInvocationFilter</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37  </a:t>
            </a:r>
            <a:pPr indent="0" marL="0">
              <a:buNone/>
            </a:pPr>
            <a:r>
              <a:rPr lang="en-US" sz="1250" dirty="0">
                <a:solidFill>
                  <a:srgbClr val="FFFFFF"/>
                </a:solidFill>
                <a:latin typeface="Calibri" pitchFamily="34" charset="0"/>
                <a:ea typeface="Calibri" pitchFamily="34" charset="-122"/>
                <a:cs typeface="Calibri" pitchFamily="34" charset="-120"/>
              </a:rPr>
              <a:t>Policy-violating output is blocked</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Observability as middleware</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OpenTelemetry traces with no filter code</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Services registered via DI</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30  </a:t>
            </a:r>
            <a:pPr indent="0" marL="0">
              <a:buNone/>
            </a:pPr>
            <a:r>
              <a:rPr lang="en-US" sz="1250" dirty="0">
                <a:solidFill>
                  <a:srgbClr val="FFFFFF"/>
                </a:solidFill>
                <a:latin typeface="Calibri" pitchFamily="34" charset="0"/>
                <a:ea typeface="Calibri" pitchFamily="34" charset="-122"/>
                <a:cs typeface="Calibri" pitchFamily="34" charset="-120"/>
              </a:rPr>
              <a:t>DI assembles the agent team per request</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Filters as safety gates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43  </a:t>
            </a:r>
            <a:pPr indent="0" marL="0">
              <a:buNone/>
            </a:pPr>
            <a:r>
              <a:rPr lang="en-US" sz="1250" dirty="0">
                <a:solidFill>
                  <a:srgbClr val="FFFFFF"/>
                </a:solidFill>
                <a:latin typeface="Calibri" pitchFamily="34" charset="0"/>
                <a:ea typeface="Calibri" pitchFamily="34" charset="-122"/>
                <a:cs typeface="Calibri" pitchFamily="34" charset="-120"/>
              </a:rPr>
              <a:t>Guardrails inside Capstone II (planned)</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22 — Prompt and Function Filters</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22 — Prompt and Function Filters</dc:title>
  <dc:subject>PptxGenJS Presentation</dc:subject>
  <dc:creator>Media Six LLC</dc:creator>
  <cp:lastModifiedBy>Media Six LLC</cp:lastModifiedBy>
  <cp:revision>1</cp:revision>
  <dcterms:created xsi:type="dcterms:W3CDTF">2026-10-21T23:28:07Z</dcterms:created>
  <dcterms:modified xsi:type="dcterms:W3CDTF">2026-10-21T23:28:07Z</dcterms:modified>
</cp:coreProperties>
</file>