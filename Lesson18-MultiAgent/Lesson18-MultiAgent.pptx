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lesson where two distinct AI identities collaborate on the same task. We build a small copywriting desk: a Copywriter persona drafts a five-word product slogan, and an Editor persona reviews it, either approving it or suggesting one revision. The two go back and forth over a single shared conversation until the Editor says APPROVED, or a four-iteration safety cap is reached. We deliberately avoid Semantic Kernel's experimental multi-agent orchestration abstractions. Instead, both personas are driven by hand through one ChatHistory, so every hand-off, who speaks next, what each agent sees, and when the loop stops, stays visible in plain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Lesson 17, one agent with one persona answered a human, turn by turn. Now two personas, a Copywriter and an Editor, collaborate on the same task with no human in the middle. The C# loop decides who speaks, and both personas read from and write to one shared ChatHistory. Note what we are not using: there is no Agents package and no orchestration framework here, just plain IChatCompletionService calls, so every hand-off stays visible in your own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the standard one: the .NET 10 SDK, a console app, and the Microsoft.SemanticKernel and Connectors.OpenAI packages at version 1.78.0. The key comes from OPENAI_API_KEY, and the program throws at startup if it is missing. One kernel registers gpt-4.1-mini, and both personas use the same IChatCompletionService. What makes them different agents is only the system message we swap in before each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shared ChatHistory is the whole hand-off mechanism. It starts with a user message naming the product. Each Copywriter reply is added as an assistant message, so the Editor sees exactly what was written. Between turns, the code adds short user messages, nudges, such as Editor, please review the slogan above, so the next persona knows it is their turn. Each Editor review is added too, so on the next round the Copywriter sees the feedback. Nobody passes data explicitly; everything flows through the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trick that makes one model play two roles. Right before the Editor's call, the code inserts a ChatMessageContent with AuthorRole.System and the Editor's persona at index 0. So at the moment of the call, the model sees the Editor persona first, then the product, the Copywriter's slogan, and the nudge asking the Editor to review it. As soon as the reply comes back, RemoveAt(0) takes the persona out again. The Copywriter's turn works the same way with its own persona. The model briefly becomes whichever persona is at the top, and the shared transcript is never permanently polluted with system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round runs in five moves. The Copywriter persona is inserted, the chat service is called, and the persona is removed. The slogan is added to history as an assistant message and printed. A nudge asks the Editor to review it. Then, highlighted, the Editor gets the same insert, call and remove treatment, and its review is added and printed. Finally the code checks the review: if it contains APPROVED the loop is complete; otherwise it adds a nudge asking the Copywriter to refine the slogan, and the next round begins. The order is fixed: Copywriter, then Editor,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exactly three ways out of the loop, and the closing message tells you which one happened. The happy path, highlighted: the Editor's review contains APPROVED, checked case-insensitively, and the program prints Workflow Finalized. If four rounds pass without approval, MaxIterations ends the run and prints Max iterations reached, so the collaboration always terminates. And if either API call throws, the catch prints an error, removes the persona, sets a hadError flag and breaks, so the summary says Collaboration stopped early due to an error rather than misleadingly blaming the cap. One weakness is worth naming: a substring check for APPROVED is fragile. A review that says not approved would match. Lesson 19 replaces it with structured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Enter a product, and the program announces that the collaboration has started. Each reply is printed with a COPYWRITER or EDITOR tag, so you can follow the hand-offs. The slogans and reviews on this slide are illustrative; your model's wording, and the number of rounds it takes, will differ. Some runs are approved on the first review, others run all four rounds and end with Max iterations reached. On the happy path, the final line is Workflow Finalized.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The Copywriter and Editor turns repeat the same steps: insert the persona at index 0, call the chat service, remove the persona, add the reply to history, and print it. Pull that into one helper method that takes the persona and a display name. Print a round number at the start of each iteration, and when the Editor approves, print the slogan it approved on its own line. Make sure the helper still removes the persona when the call throws. You'll see this same refactoring in Lesson 19's CallAgent helper.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swapped personas in and out with a system message at index 0, used one shared ChatHistory as the hand-off, cued each turn with a nudge, detected approval with a string check, and capped the run at four iterations. This pattern is the seed of a lot that follows. Lesson 19 replaces the fixed order with a Coordinator that decides who acts next, using structured JSON. Lesson 20 puts a human in the Editor's chair. Lesson 29 turns review and rework into the capstone's ProjectOrchestrator loop. In Part 2, Lesson 31 collapses the two personas into one self-reflecting agent, Lesson 34 lets a moderator choose the next speaker, and Lesson 35 has agents negotiate rather than wait for a literal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18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3200" b="1" dirty="0">
                <a:solidFill>
                  <a:srgbClr val="FFFFFF"/>
                </a:solidFill>
                <a:latin typeface="Cambria" pitchFamily="34" charset="0"/>
                <a:ea typeface="Cambria" pitchFamily="34" charset="-122"/>
                <a:cs typeface="Cambria" pitchFamily="34" charset="-120"/>
              </a:rPr>
              <a:t>Native Multi-Agent Orchestration</a:t>
            </a:r>
            <a:endParaRPr lang="en-US" sz="32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A Copywriter and an Editor take turns over one shared ChatHistory</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 product name</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An APPROVED slogan</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Swap personas with a system message at index 0</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one shared ChatHistory as the hand-off</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Cue each turn with a user-message nudge</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Detect approval with a simple string check</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Cap the collaboration at four iterations</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18 — Native Multi-Agent Orchestration</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500" b="1" dirty="0">
                <a:solidFill>
                  <a:srgbClr val="1F2937"/>
                </a:solidFill>
                <a:latin typeface="Cambria" pitchFamily="34" charset="0"/>
                <a:ea typeface="Cambria" pitchFamily="34" charset="-122"/>
                <a:cs typeface="Cambria" pitchFamily="34" charset="-120"/>
              </a:rPr>
              <a:t>From one persona to two that share a conversation</a:t>
            </a:r>
            <a:endParaRPr lang="en-US" sz="2500" dirty="0"/>
          </a:p>
        </p:txBody>
      </p:sp>
      <p:sp>
        <p:nvSpPr>
          <p:cNvPr id="4" name="Shape 2"/>
          <p:cNvSpPr/>
          <p:nvPr/>
        </p:nvSpPr>
        <p:spPr>
          <a:xfrm>
            <a:off x="457200" y="1371600"/>
            <a:ext cx="3931920" cy="1783080"/>
          </a:xfrm>
          <a:prstGeom prst="roundRect">
            <a:avLst>
              <a:gd name="adj" fmla="val 4103"/>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17: one agent</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One persona, set in Instructions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human drives every turn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History grows one exchange at a time</a:t>
            </a:r>
            <a:endParaRPr lang="en-US" sz="1300" dirty="0"/>
          </a:p>
        </p:txBody>
      </p:sp>
      <p:sp>
        <p:nvSpPr>
          <p:cNvPr id="9" name="Shape 6"/>
          <p:cNvSpPr/>
          <p:nvPr/>
        </p:nvSpPr>
        <p:spPr>
          <a:xfrm>
            <a:off x="4754880" y="1371600"/>
            <a:ext cx="3931920" cy="1783080"/>
          </a:xfrm>
          <a:prstGeom prst="roundRect">
            <a:avLst>
              <a:gd name="adj" fmla="val 4103"/>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18: two personas</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Copywriter and Editor swap in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loop drives every turn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Both read and write one history</a:t>
            </a:r>
            <a:endParaRPr lang="en-US" sz="1300" dirty="0"/>
          </a:p>
        </p:txBody>
      </p:sp>
      <p:sp>
        <p:nvSpPr>
          <p:cNvPr id="14" name="Text 10"/>
          <p:cNvSpPr txBox="1"/>
          <p:nvPr/>
        </p:nvSpPr>
        <p:spPr>
          <a:xfrm>
            <a:off x="457200" y="34290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Plain IChatCompletionService calls: no experimental orchestration packages.</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18 — Native Multi-Agent Orchestration</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1851660" cy="1508760"/>
          </a:xfrm>
          <a:prstGeom prst="roundRect">
            <a:avLst>
              <a:gd name="adj" fmla="val 4848"/>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.NET 10</a:t>
            </a:r>
            <a:endParaRPr lang="en-US" sz="1300" dirty="0"/>
          </a:p>
        </p:txBody>
      </p:sp>
      <p:sp>
        <p:nvSpPr>
          <p:cNvPr id="8" name="Text 5"/>
          <p:cNvSpPr txBox="1"/>
          <p:nvPr/>
        </p:nvSpPr>
        <p:spPr>
          <a:xfrm>
            <a:off x="640080" y="2057400"/>
            <a:ext cx="148590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 console app targeting net10.0, as a .slnx solution.</a:t>
            </a:r>
            <a:endParaRPr lang="en-US" sz="1200" dirty="0"/>
          </a:p>
        </p:txBody>
      </p:sp>
      <p:sp>
        <p:nvSpPr>
          <p:cNvPr id="9" name="Shape 6"/>
          <p:cNvSpPr/>
          <p:nvPr/>
        </p:nvSpPr>
        <p:spPr>
          <a:xfrm>
            <a:off x="2583180" y="1371600"/>
            <a:ext cx="1851660" cy="1508760"/>
          </a:xfrm>
          <a:prstGeom prst="roundRect">
            <a:avLst>
              <a:gd name="adj" fmla="val 4848"/>
            </a:avLst>
          </a:prstGeom>
          <a:solidFill>
            <a:srgbClr val="EFEBFC"/>
          </a:solidFill>
          <a:ln w="12700">
            <a:solidFill>
              <a:srgbClr val="EFEBFC"/>
            </a:solidFill>
            <a:prstDash val="solid"/>
          </a:ln>
        </p:spPr>
      </p:sp>
      <p:sp>
        <p:nvSpPr>
          <p:cNvPr id="10" name="Shape 7"/>
          <p:cNvSpPr/>
          <p:nvPr/>
        </p:nvSpPr>
        <p:spPr>
          <a:xfrm>
            <a:off x="276606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2865912" y="1654332"/>
            <a:ext cx="184343" cy="184343"/>
          </a:xfrm>
          <a:prstGeom prst="rect">
            <a:avLst/>
          </a:prstGeom>
        </p:spPr>
      </p:pic>
      <p:sp>
        <p:nvSpPr>
          <p:cNvPr id="12" name="Text 8"/>
          <p:cNvSpPr txBox="1"/>
          <p:nvPr/>
        </p:nvSpPr>
        <p:spPr>
          <a:xfrm>
            <a:off x="326898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Packages</a:t>
            </a:r>
            <a:endParaRPr lang="en-US" sz="1300" dirty="0"/>
          </a:p>
        </p:txBody>
      </p:sp>
      <p:sp>
        <p:nvSpPr>
          <p:cNvPr id="13" name="Text 9"/>
          <p:cNvSpPr txBox="1"/>
          <p:nvPr/>
        </p:nvSpPr>
        <p:spPr>
          <a:xfrm>
            <a:off x="2766060" y="2057400"/>
            <a:ext cx="148590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SemanticKernel and Connectors.OpenAI, version 1.78.0.</a:t>
            </a:r>
            <a:endParaRPr lang="en-US" sz="1200" dirty="0"/>
          </a:p>
        </p:txBody>
      </p:sp>
      <p:sp>
        <p:nvSpPr>
          <p:cNvPr id="14" name="Shape 10"/>
          <p:cNvSpPr/>
          <p:nvPr/>
        </p:nvSpPr>
        <p:spPr>
          <a:xfrm>
            <a:off x="4709160" y="1371600"/>
            <a:ext cx="1851660" cy="1508760"/>
          </a:xfrm>
          <a:prstGeom prst="roundRect">
            <a:avLst>
              <a:gd name="adj" fmla="val 4848"/>
            </a:avLst>
          </a:prstGeom>
          <a:solidFill>
            <a:srgbClr val="EFEBFC"/>
          </a:solidFill>
          <a:ln w="12700">
            <a:solidFill>
              <a:srgbClr val="EFEBFC"/>
            </a:solidFill>
            <a:prstDash val="solid"/>
          </a:ln>
        </p:spPr>
      </p:sp>
      <p:sp>
        <p:nvSpPr>
          <p:cNvPr id="15" name="Shape 11"/>
          <p:cNvSpPr/>
          <p:nvPr/>
        </p:nvSpPr>
        <p:spPr>
          <a:xfrm>
            <a:off x="489204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4991892" y="1654332"/>
            <a:ext cx="184343" cy="184343"/>
          </a:xfrm>
          <a:prstGeom prst="rect">
            <a:avLst/>
          </a:prstGeom>
        </p:spPr>
      </p:pic>
      <p:sp>
        <p:nvSpPr>
          <p:cNvPr id="17" name="Text 12"/>
          <p:cNvSpPr txBox="1"/>
          <p:nvPr/>
        </p:nvSpPr>
        <p:spPr>
          <a:xfrm>
            <a:off x="539496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API key</a:t>
            </a:r>
            <a:endParaRPr lang="en-US" sz="1300" dirty="0"/>
          </a:p>
        </p:txBody>
      </p:sp>
      <p:sp>
        <p:nvSpPr>
          <p:cNvPr id="18" name="Text 13"/>
          <p:cNvSpPr txBox="1"/>
          <p:nvPr/>
        </p:nvSpPr>
        <p:spPr>
          <a:xfrm>
            <a:off x="4892040" y="2057400"/>
            <a:ext cx="148590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OPENAI_API_KEY, read from the environment at startup.</a:t>
            </a:r>
            <a:endParaRPr lang="en-US" sz="1200" dirty="0"/>
          </a:p>
        </p:txBody>
      </p:sp>
      <p:sp>
        <p:nvSpPr>
          <p:cNvPr id="19" name="Shape 14"/>
          <p:cNvSpPr/>
          <p:nvPr/>
        </p:nvSpPr>
        <p:spPr>
          <a:xfrm>
            <a:off x="6835140" y="1371600"/>
            <a:ext cx="1851660" cy="1508760"/>
          </a:xfrm>
          <a:prstGeom prst="roundRect">
            <a:avLst>
              <a:gd name="adj" fmla="val 4848"/>
            </a:avLst>
          </a:prstGeom>
          <a:solidFill>
            <a:srgbClr val="EFEBFC"/>
          </a:solidFill>
          <a:ln w="12700">
            <a:solidFill>
              <a:srgbClr val="EFEBFC"/>
            </a:solidFill>
            <a:prstDash val="solid"/>
          </a:ln>
        </p:spPr>
      </p:sp>
      <p:sp>
        <p:nvSpPr>
          <p:cNvPr id="20" name="Shape 15"/>
          <p:cNvSpPr/>
          <p:nvPr/>
        </p:nvSpPr>
        <p:spPr>
          <a:xfrm>
            <a:off x="7018020" y="155448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117872" y="1654332"/>
            <a:ext cx="184343" cy="184343"/>
          </a:xfrm>
          <a:prstGeom prst="rect">
            <a:avLst/>
          </a:prstGeom>
        </p:spPr>
      </p:pic>
      <p:sp>
        <p:nvSpPr>
          <p:cNvPr id="22" name="Text 16"/>
          <p:cNvSpPr txBox="1"/>
          <p:nvPr/>
        </p:nvSpPr>
        <p:spPr>
          <a:xfrm>
            <a:off x="752094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Model</a:t>
            </a:r>
            <a:endParaRPr lang="en-US" sz="1300" dirty="0"/>
          </a:p>
        </p:txBody>
      </p:sp>
      <p:sp>
        <p:nvSpPr>
          <p:cNvPr id="23" name="Text 17"/>
          <p:cNvSpPr txBox="1"/>
          <p:nvPr/>
        </p:nvSpPr>
        <p:spPr>
          <a:xfrm>
            <a:off x="7018020" y="2057400"/>
            <a:ext cx="148590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gpt-4.1-mini, used by both personas.</a:t>
            </a:r>
            <a:endParaRPr lang="en-US" sz="1200" dirty="0"/>
          </a:p>
        </p:txBody>
      </p:sp>
      <p:sp>
        <p:nvSpPr>
          <p:cNvPr id="24" name="Text 18"/>
          <p:cNvSpPr txBox="1"/>
          <p:nvPr/>
        </p:nvSpPr>
        <p:spPr>
          <a:xfrm>
            <a:off x="457200" y="31089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Both personas run on the same kernel and the same chat service.</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18 — Native Multi-Agent Orchestration</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50" b="1" dirty="0">
                <a:solidFill>
                  <a:srgbClr val="1F2937"/>
                </a:solidFill>
                <a:latin typeface="Cambria" pitchFamily="34" charset="0"/>
                <a:ea typeface="Cambria" pitchFamily="34" charset="-122"/>
                <a:cs typeface="Cambria" pitchFamily="34" charset="-120"/>
              </a:rPr>
              <a:t>One shared ChatHistory carries every hand-off</a:t>
            </a:r>
            <a:endParaRPr lang="en-US" sz="275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Shared history</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Both personas read it and write to it. No data is passed between them directly.</a:t>
            </a:r>
            <a:endParaRPr lang="en-US" sz="1300" dirty="0"/>
          </a:p>
        </p:txBody>
      </p:sp>
      <p:sp>
        <p:nvSpPr>
          <p:cNvPr id="9" name="Shape 6"/>
          <p:cNvSpPr/>
          <p:nvPr/>
        </p:nvSpPr>
        <p:spPr>
          <a:xfrm>
            <a:off x="2926080" y="1645920"/>
            <a:ext cx="502920" cy="0"/>
          </a:xfrm>
          <a:prstGeom prst="line">
            <a:avLst/>
          </a:prstGeom>
          <a:noFill/>
          <a:ln w="25400">
            <a:solidFill>
              <a:srgbClr val="F5A623"/>
            </a:solidFill>
            <a:prstDash val="solid"/>
          </a:ln>
        </p:spPr>
      </p:sp>
      <p:sp>
        <p:nvSpPr>
          <p:cNvPr id="10" name="Shape 7"/>
          <p:cNvSpPr/>
          <p:nvPr/>
        </p:nvSpPr>
        <p:spPr>
          <a:xfrm>
            <a:off x="3429000" y="1417320"/>
            <a:ext cx="5257800" cy="457200"/>
          </a:xfrm>
          <a:prstGeom prst="roundRect">
            <a:avLst>
              <a:gd name="adj" fmla="val 16000"/>
            </a:avLst>
          </a:prstGeom>
          <a:solidFill>
            <a:srgbClr val="EFEBFC"/>
          </a:solidFill>
          <a:ln w="12700">
            <a:solidFill>
              <a:srgbClr val="EFEBFC"/>
            </a:solidFill>
            <a:prstDash val="solid"/>
          </a:ln>
        </p:spPr>
      </p:sp>
      <p:sp>
        <p:nvSpPr>
          <p:cNvPr id="11" name="Shape 8"/>
          <p:cNvSpPr/>
          <p:nvPr/>
        </p:nvSpPr>
        <p:spPr>
          <a:xfrm>
            <a:off x="3593592" y="145389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553748"/>
            <a:ext cx="184343" cy="184343"/>
          </a:xfrm>
          <a:prstGeom prst="rect">
            <a:avLst/>
          </a:prstGeom>
        </p:spPr>
      </p:pic>
      <p:sp>
        <p:nvSpPr>
          <p:cNvPr id="13" name="Text 9"/>
          <p:cNvSpPr txBox="1"/>
          <p:nvPr/>
        </p:nvSpPr>
        <p:spPr>
          <a:xfrm>
            <a:off x="4142232" y="150876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Product</a:t>
            </a:r>
            <a:endParaRPr lang="en-US" sz="1500" dirty="0"/>
          </a:p>
        </p:txBody>
      </p:sp>
      <p:sp>
        <p:nvSpPr>
          <p:cNvPr id="14" name="Text 10"/>
          <p:cNvSpPr txBox="1"/>
          <p:nvPr/>
        </p:nvSpPr>
        <p:spPr>
          <a:xfrm>
            <a:off x="5577840" y="150876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User message "Product: ..." opens the chat.</a:t>
            </a:r>
            <a:endParaRPr lang="en-US" sz="1200" dirty="0"/>
          </a:p>
        </p:txBody>
      </p:sp>
      <p:sp>
        <p:nvSpPr>
          <p:cNvPr id="15" name="Shape 11"/>
          <p:cNvSpPr/>
          <p:nvPr/>
        </p:nvSpPr>
        <p:spPr>
          <a:xfrm>
            <a:off x="2926080" y="2286000"/>
            <a:ext cx="502920" cy="0"/>
          </a:xfrm>
          <a:prstGeom prst="line">
            <a:avLst/>
          </a:prstGeom>
          <a:noFill/>
          <a:ln w="25400">
            <a:solidFill>
              <a:srgbClr val="F5A623"/>
            </a:solidFill>
            <a:prstDash val="solid"/>
          </a:ln>
        </p:spPr>
      </p:sp>
      <p:sp>
        <p:nvSpPr>
          <p:cNvPr id="16" name="Shape 12"/>
          <p:cNvSpPr/>
          <p:nvPr/>
        </p:nvSpPr>
        <p:spPr>
          <a:xfrm>
            <a:off x="3429000" y="2057400"/>
            <a:ext cx="5257800" cy="457200"/>
          </a:xfrm>
          <a:prstGeom prst="roundRect">
            <a:avLst>
              <a:gd name="adj" fmla="val 16000"/>
            </a:avLst>
          </a:prstGeom>
          <a:solidFill>
            <a:srgbClr val="EFEBFC"/>
          </a:solidFill>
          <a:ln w="12700">
            <a:solidFill>
              <a:srgbClr val="EFEBFC"/>
            </a:solidFill>
            <a:prstDash val="solid"/>
          </a:ln>
        </p:spPr>
      </p:sp>
      <p:sp>
        <p:nvSpPr>
          <p:cNvPr id="17" name="Shape 13"/>
          <p:cNvSpPr/>
          <p:nvPr/>
        </p:nvSpPr>
        <p:spPr>
          <a:xfrm>
            <a:off x="3593592" y="209397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193828"/>
            <a:ext cx="184343" cy="184343"/>
          </a:xfrm>
          <a:prstGeom prst="rect">
            <a:avLst/>
          </a:prstGeom>
        </p:spPr>
      </p:pic>
      <p:sp>
        <p:nvSpPr>
          <p:cNvPr id="19" name="Text 14"/>
          <p:cNvSpPr txBox="1"/>
          <p:nvPr/>
        </p:nvSpPr>
        <p:spPr>
          <a:xfrm>
            <a:off x="4142232" y="214884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Slogan</a:t>
            </a:r>
            <a:endParaRPr lang="en-US" sz="1500" dirty="0"/>
          </a:p>
        </p:txBody>
      </p:sp>
      <p:sp>
        <p:nvSpPr>
          <p:cNvPr id="20" name="Text 15"/>
          <p:cNvSpPr txBox="1"/>
          <p:nvPr/>
        </p:nvSpPr>
        <p:spPr>
          <a:xfrm>
            <a:off x="5577840" y="214884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Copywriter's reply, as an assistant turn.</a:t>
            </a:r>
            <a:endParaRPr lang="en-US" sz="1200" dirty="0"/>
          </a:p>
        </p:txBody>
      </p:sp>
      <p:sp>
        <p:nvSpPr>
          <p:cNvPr id="21" name="Shape 16"/>
          <p:cNvSpPr/>
          <p:nvPr/>
        </p:nvSpPr>
        <p:spPr>
          <a:xfrm>
            <a:off x="2926080" y="2926080"/>
            <a:ext cx="502920" cy="0"/>
          </a:xfrm>
          <a:prstGeom prst="line">
            <a:avLst/>
          </a:prstGeom>
          <a:noFill/>
          <a:ln w="25400">
            <a:solidFill>
              <a:srgbClr val="F5A623"/>
            </a:solidFill>
            <a:prstDash val="solid"/>
          </a:ln>
        </p:spPr>
      </p:sp>
      <p:sp>
        <p:nvSpPr>
          <p:cNvPr id="22" name="Shape 17"/>
          <p:cNvSpPr/>
          <p:nvPr/>
        </p:nvSpPr>
        <p:spPr>
          <a:xfrm>
            <a:off x="3429000" y="2697480"/>
            <a:ext cx="5257800" cy="457200"/>
          </a:xfrm>
          <a:prstGeom prst="roundRect">
            <a:avLst>
              <a:gd name="adj" fmla="val 16000"/>
            </a:avLst>
          </a:prstGeom>
          <a:solidFill>
            <a:srgbClr val="EFEBFC"/>
          </a:solidFill>
          <a:ln w="12700">
            <a:solidFill>
              <a:srgbClr val="EFEBFC"/>
            </a:solidFill>
            <a:prstDash val="solid"/>
          </a:ln>
        </p:spPr>
      </p:sp>
      <p:sp>
        <p:nvSpPr>
          <p:cNvPr id="23" name="Shape 18"/>
          <p:cNvSpPr/>
          <p:nvPr/>
        </p:nvSpPr>
        <p:spPr>
          <a:xfrm>
            <a:off x="3593592" y="27340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2833908"/>
            <a:ext cx="184343" cy="184343"/>
          </a:xfrm>
          <a:prstGeom prst="rect">
            <a:avLst/>
          </a:prstGeom>
        </p:spPr>
      </p:pic>
      <p:sp>
        <p:nvSpPr>
          <p:cNvPr id="25" name="Text 19"/>
          <p:cNvSpPr txBox="1"/>
          <p:nvPr/>
        </p:nvSpPr>
        <p:spPr>
          <a:xfrm>
            <a:off x="4142232" y="278892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Nudges</a:t>
            </a:r>
            <a:endParaRPr lang="en-US" sz="1500" dirty="0"/>
          </a:p>
        </p:txBody>
      </p:sp>
      <p:sp>
        <p:nvSpPr>
          <p:cNvPr id="26" name="Text 20"/>
          <p:cNvSpPr txBox="1"/>
          <p:nvPr/>
        </p:nvSpPr>
        <p:spPr>
          <a:xfrm>
            <a:off x="5577840" y="278892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User cues that say whose turn it is.</a:t>
            </a:r>
            <a:endParaRPr lang="en-US" sz="1200" dirty="0"/>
          </a:p>
        </p:txBody>
      </p:sp>
      <p:sp>
        <p:nvSpPr>
          <p:cNvPr id="27" name="Shape 21"/>
          <p:cNvSpPr/>
          <p:nvPr/>
        </p:nvSpPr>
        <p:spPr>
          <a:xfrm>
            <a:off x="2926080" y="3566160"/>
            <a:ext cx="502920" cy="0"/>
          </a:xfrm>
          <a:prstGeom prst="line">
            <a:avLst/>
          </a:prstGeom>
          <a:noFill/>
          <a:ln w="25400">
            <a:solidFill>
              <a:srgbClr val="F5A623"/>
            </a:solidFill>
            <a:prstDash val="solid"/>
          </a:ln>
        </p:spPr>
      </p:sp>
      <p:sp>
        <p:nvSpPr>
          <p:cNvPr id="28" name="Shape 22"/>
          <p:cNvSpPr/>
          <p:nvPr/>
        </p:nvSpPr>
        <p:spPr>
          <a:xfrm>
            <a:off x="3429000" y="3337560"/>
            <a:ext cx="5257800" cy="457200"/>
          </a:xfrm>
          <a:prstGeom prst="roundRect">
            <a:avLst>
              <a:gd name="adj" fmla="val 16000"/>
            </a:avLst>
          </a:prstGeom>
          <a:solidFill>
            <a:srgbClr val="EFEBFC"/>
          </a:solidFill>
          <a:ln w="12700">
            <a:solidFill>
              <a:srgbClr val="EFEBFC"/>
            </a:solidFill>
            <a:prstDash val="solid"/>
          </a:ln>
        </p:spPr>
      </p:sp>
      <p:sp>
        <p:nvSpPr>
          <p:cNvPr id="29" name="Shape 23"/>
          <p:cNvSpPr/>
          <p:nvPr/>
        </p:nvSpPr>
        <p:spPr>
          <a:xfrm>
            <a:off x="3593592" y="3374136"/>
            <a:ext cx="384048" cy="384048"/>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3693444" y="3473988"/>
            <a:ext cx="184343" cy="184343"/>
          </a:xfrm>
          <a:prstGeom prst="rect">
            <a:avLst/>
          </a:prstGeom>
        </p:spPr>
      </p:pic>
      <p:sp>
        <p:nvSpPr>
          <p:cNvPr id="31" name="Text 24"/>
          <p:cNvSpPr txBox="1"/>
          <p:nvPr/>
        </p:nvSpPr>
        <p:spPr>
          <a:xfrm>
            <a:off x="4142232" y="342900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Review</a:t>
            </a:r>
            <a:endParaRPr lang="en-US" sz="1500" dirty="0"/>
          </a:p>
        </p:txBody>
      </p:sp>
      <p:sp>
        <p:nvSpPr>
          <p:cNvPr id="32" name="Text 25"/>
          <p:cNvSpPr txBox="1"/>
          <p:nvPr/>
        </p:nvSpPr>
        <p:spPr>
          <a:xfrm>
            <a:off x="5577840" y="342900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Editor verdict: APPROVED or one suggestion.</a:t>
            </a:r>
            <a:endParaRPr lang="en-US" sz="1200" dirty="0"/>
          </a:p>
        </p:txBody>
      </p:sp>
      <p:sp>
        <p:nvSpPr>
          <p:cNvPr id="33" name="Text 26"/>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18 — Native Multi-Agent Orchestration</a:t>
            </a:r>
            <a:endParaRPr lang="en-US" sz="900" dirty="0"/>
          </a:p>
        </p:txBody>
      </p:sp>
      <p:sp>
        <p:nvSpPr>
          <p:cNvPr id="34" name="Text 27"/>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PERSONA SWAP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50" b="1" dirty="0">
                <a:solidFill>
                  <a:srgbClr val="1F2937"/>
                </a:solidFill>
                <a:latin typeface="Cambria" pitchFamily="34" charset="0"/>
                <a:ea typeface="Cambria" pitchFamily="34" charset="-122"/>
                <a:cs typeface="Cambria" pitchFamily="34" charset="-120"/>
              </a:rPr>
              <a:t>What the Editor sees at the moment it is called</a:t>
            </a:r>
            <a:endParaRPr lang="en-US" sz="2650" dirty="0"/>
          </a:p>
        </p:txBody>
      </p:sp>
      <p:sp>
        <p:nvSpPr>
          <p:cNvPr id="4" name="Shape 2"/>
          <p:cNvSpPr/>
          <p:nvPr/>
        </p:nvSpPr>
        <p:spPr>
          <a:xfrm>
            <a:off x="457200" y="1325880"/>
            <a:ext cx="5257800" cy="1600200"/>
          </a:xfrm>
          <a:prstGeom prst="roundRect">
            <a:avLst>
              <a:gd name="adj" fmla="val 4571"/>
            </a:avLst>
          </a:prstGeom>
          <a:solidFill>
            <a:srgbClr val="0F1420"/>
          </a:solidFill>
          <a:ln w="12700">
            <a:solidFill>
              <a:srgbClr val="0F1420"/>
            </a:solidFill>
            <a:prstDash val="solid"/>
          </a:ln>
        </p:spPr>
      </p:sp>
      <p:sp>
        <p:nvSpPr>
          <p:cNvPr id="5" name="Text 3"/>
          <p:cNvSpPr txBox="1"/>
          <p:nvPr/>
        </p:nvSpPr>
        <p:spPr>
          <a:xfrm>
            <a:off x="640080" y="1463040"/>
            <a:ext cx="4892040" cy="1325880"/>
          </a:xfrm>
          <a:prstGeom prst="rect">
            <a:avLst/>
          </a:prstGeom>
          <a:noFill/>
          <a:ln/>
        </p:spPr>
        <p:txBody>
          <a:bodyPr wrap="square" lIns="0" tIns="0" rIns="0" bIns="0" rtlCol="0" anchor="t"/>
          <a:lstStyle/>
          <a:p>
            <a:pPr indent="0" marL="0">
              <a:buNone/>
            </a:pPr>
            <a:r>
              <a:rPr lang="en-US" sz="1100" b="1" dirty="0">
                <a:solidFill>
                  <a:srgbClr val="F5A623"/>
                </a:solidFill>
                <a:latin typeface="Courier New" pitchFamily="34" charset="0"/>
                <a:ea typeface="Courier New" pitchFamily="34" charset="-122"/>
                <a:cs typeface="Courier New" pitchFamily="34" charset="-120"/>
              </a:rPr>
              <a:t>[0] System: You are a brand editor. Review the</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    slogan. If it's perfect, say 'APPROVED'...</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[1] User: Product: &lt;your product&gt;</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[2] Assistant: &lt;the Copywriter's slogan&gt;</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[3] User: Editor, please review the slogan above.</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After the reply: RemoveAt(0) takes the persona out.</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Insert at 0</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persona goes in front of the history just before the call.</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Remove after</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RemoveAt(0) cleans it up, so no persona lingers.</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Hand-off nudge</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last user message names who acts next.</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18 — Native Multi-Agent Orchestration</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ONE ITERATION</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One round of the copywriting desk</a:t>
            </a:r>
            <a:endParaRPr lang="en-US" sz="2800" dirty="0"/>
          </a:p>
        </p:txBody>
      </p:sp>
      <p:sp>
        <p:nvSpPr>
          <p:cNvPr id="4" name="Shape 2"/>
          <p:cNvSpPr/>
          <p:nvPr/>
        </p:nvSpPr>
        <p:spPr>
          <a:xfrm>
            <a:off x="457200" y="1417320"/>
            <a:ext cx="1367942" cy="2185416"/>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Copywriter</a:t>
            </a:r>
            <a:endParaRPr lang="en-US" sz="1300" dirty="0"/>
          </a:p>
        </p:txBody>
      </p:sp>
      <p:sp>
        <p:nvSpPr>
          <p:cNvPr id="8" name="Text 5"/>
          <p:cNvSpPr txBox="1"/>
          <p:nvPr/>
        </p:nvSpPr>
        <p:spPr>
          <a:xfrm>
            <a:off x="640080"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Insert persona, call, remove it.</a:t>
            </a:r>
            <a:endParaRPr lang="en-US" sz="1200" dirty="0"/>
          </a:p>
        </p:txBody>
      </p:sp>
      <p:sp>
        <p:nvSpPr>
          <p:cNvPr id="9" name="Shape 6"/>
          <p:cNvSpPr/>
          <p:nvPr/>
        </p:nvSpPr>
        <p:spPr>
          <a:xfrm>
            <a:off x="1889150"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2185416"/>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Add slogan</a:t>
            </a:r>
            <a:endParaRPr lang="en-US" sz="1300" dirty="0"/>
          </a:p>
        </p:txBody>
      </p:sp>
      <p:sp>
        <p:nvSpPr>
          <p:cNvPr id="14" name="Text 10"/>
          <p:cNvSpPr txBox="1"/>
          <p:nvPr/>
        </p:nvSpPr>
        <p:spPr>
          <a:xfrm>
            <a:off x="2355494"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Assistant message, printed too.</a:t>
            </a:r>
            <a:endParaRPr lang="en-US" sz="1200" dirty="0"/>
          </a:p>
        </p:txBody>
      </p:sp>
      <p:sp>
        <p:nvSpPr>
          <p:cNvPr id="15" name="Shape 11"/>
          <p:cNvSpPr/>
          <p:nvPr/>
        </p:nvSpPr>
        <p:spPr>
          <a:xfrm>
            <a:off x="3604565"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2185416"/>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Nudge</a:t>
            </a:r>
            <a:endParaRPr lang="en-US" sz="1300" dirty="0"/>
          </a:p>
        </p:txBody>
      </p:sp>
      <p:sp>
        <p:nvSpPr>
          <p:cNvPr id="20" name="Text 15"/>
          <p:cNvSpPr txBox="1"/>
          <p:nvPr/>
        </p:nvSpPr>
        <p:spPr>
          <a:xfrm>
            <a:off x="4070909"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"Editor, please review the slogan."</a:t>
            </a:r>
            <a:endParaRPr lang="en-US" sz="1200" dirty="0"/>
          </a:p>
        </p:txBody>
      </p:sp>
      <p:sp>
        <p:nvSpPr>
          <p:cNvPr id="21" name="Shape 16"/>
          <p:cNvSpPr/>
          <p:nvPr/>
        </p:nvSpPr>
        <p:spPr>
          <a:xfrm>
            <a:off x="5319979"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2185416"/>
          </a:xfrm>
          <a:prstGeom prst="roundRect">
            <a:avLst>
              <a:gd name="adj" fmla="val 5348"/>
            </a:avLst>
          </a:prstGeom>
          <a:solidFill>
            <a:srgbClr val="512BD4"/>
          </a:solidFill>
          <a:ln w="12700">
            <a:solidFill>
              <a:srgbClr val="512BD4"/>
            </a:solidFill>
            <a:prstDash val="solid"/>
          </a:ln>
        </p:spPr>
      </p:sp>
      <p:sp>
        <p:nvSpPr>
          <p:cNvPr id="23" name="Shape 18"/>
          <p:cNvSpPr/>
          <p:nvPr/>
        </p:nvSpPr>
        <p:spPr>
          <a:xfrm>
            <a:off x="5786323"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Editor</a:t>
            </a:r>
            <a:endParaRPr lang="en-US" sz="1300" dirty="0"/>
          </a:p>
        </p:txBody>
      </p:sp>
      <p:sp>
        <p:nvSpPr>
          <p:cNvPr id="26" name="Text 20"/>
          <p:cNvSpPr txBox="1"/>
          <p:nvPr/>
        </p:nvSpPr>
        <p:spPr>
          <a:xfrm>
            <a:off x="5786323" y="2606040"/>
            <a:ext cx="1047902"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Insert persona, call, remove it.</a:t>
            </a:r>
            <a:endParaRPr lang="en-US" sz="1200" dirty="0"/>
          </a:p>
        </p:txBody>
      </p:sp>
      <p:sp>
        <p:nvSpPr>
          <p:cNvPr id="27" name="Shape 21"/>
          <p:cNvSpPr/>
          <p:nvPr/>
        </p:nvSpPr>
        <p:spPr>
          <a:xfrm>
            <a:off x="7035394" y="2400300"/>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2185416"/>
          </a:xfrm>
          <a:prstGeom prst="roundRect">
            <a:avLst>
              <a:gd name="adj" fmla="val 5348"/>
            </a:avLst>
          </a:prstGeom>
          <a:solidFill>
            <a:srgbClr val="EFEBFC"/>
          </a:solidFill>
          <a:ln w="12700">
            <a:solidFill>
              <a:srgbClr val="EFEBFC"/>
            </a:solidFill>
            <a:prstDash val="solid"/>
          </a:ln>
        </p:spPr>
      </p:sp>
      <p:sp>
        <p:nvSpPr>
          <p:cNvPr id="29" name="Shape 23"/>
          <p:cNvSpPr/>
          <p:nvPr/>
        </p:nvSpPr>
        <p:spPr>
          <a:xfrm>
            <a:off x="7501738" y="1618488"/>
            <a:ext cx="457200" cy="457200"/>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Check</a:t>
            </a:r>
            <a:endParaRPr lang="en-US" sz="1300" dirty="0"/>
          </a:p>
        </p:txBody>
      </p:sp>
      <p:sp>
        <p:nvSpPr>
          <p:cNvPr id="32" name="Text 25"/>
          <p:cNvSpPr txBox="1"/>
          <p:nvPr/>
        </p:nvSpPr>
        <p:spPr>
          <a:xfrm>
            <a:off x="7501738"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APPROVED ends it; if not, nudge the Copywriter.</a:t>
            </a:r>
            <a:endParaRPr lang="en-US" sz="1200" dirty="0"/>
          </a:p>
        </p:txBody>
      </p:sp>
      <p:sp>
        <p:nvSpPr>
          <p:cNvPr id="33" name="Text 26"/>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turn order never changes: Copywriter, then Editor, every round.</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18 — Native Multi-Agent Orchestration</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TERMINATION</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Three ways the collaboration ends</a:t>
            </a:r>
            <a:endParaRPr lang="en-US" sz="2800" dirty="0"/>
          </a:p>
        </p:txBody>
      </p:sp>
      <p:sp>
        <p:nvSpPr>
          <p:cNvPr id="4" name="Shape 2"/>
          <p:cNvSpPr/>
          <p:nvPr/>
        </p:nvSpPr>
        <p:spPr>
          <a:xfrm>
            <a:off x="457200" y="1371600"/>
            <a:ext cx="2560320" cy="1417320"/>
          </a:xfrm>
          <a:prstGeom prst="roundRect">
            <a:avLst>
              <a:gd name="adj" fmla="val 5161"/>
            </a:avLst>
          </a:prstGeom>
          <a:solidFill>
            <a:srgbClr val="512BD4"/>
          </a:solidFill>
          <a:ln w="12700">
            <a:solidFill>
              <a:srgbClr val="512BD4"/>
            </a:solidFill>
            <a:prstDash val="solid"/>
          </a:ln>
        </p:spPr>
      </p:sp>
      <p:sp>
        <p:nvSpPr>
          <p:cNvPr id="5" name="Shape 3"/>
          <p:cNvSpPr/>
          <p:nvPr/>
        </p:nvSpPr>
        <p:spPr>
          <a:xfrm>
            <a:off x="640080" y="1554480"/>
            <a:ext cx="384048" cy="384048"/>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Calibri" pitchFamily="34" charset="0"/>
                <a:ea typeface="Calibri" pitchFamily="34" charset="-122"/>
                <a:cs typeface="Calibri" pitchFamily="34" charset="-120"/>
              </a:rPr>
              <a:t>Approved</a:t>
            </a:r>
            <a:endParaRPr lang="en-US" sz="1400" dirty="0"/>
          </a:p>
        </p:txBody>
      </p:sp>
      <p:sp>
        <p:nvSpPr>
          <p:cNvPr id="8" name="Text 5"/>
          <p:cNvSpPr txBox="1"/>
          <p:nvPr/>
        </p:nvSpPr>
        <p:spPr>
          <a:xfrm>
            <a:off x="640080" y="2057400"/>
            <a:ext cx="2194560" cy="6400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review contains APPROVED. Prints "Workflow Finalized."</a:t>
            </a:r>
            <a:endParaRPr lang="en-US" sz="1200" dirty="0"/>
          </a:p>
        </p:txBody>
      </p:sp>
      <p:sp>
        <p:nvSpPr>
          <p:cNvPr id="9" name="Shape 6"/>
          <p:cNvSpPr/>
          <p:nvPr/>
        </p:nvSpPr>
        <p:spPr>
          <a:xfrm>
            <a:off x="3291840" y="1371600"/>
            <a:ext cx="2560320" cy="1417320"/>
          </a:xfrm>
          <a:prstGeom prst="roundRect">
            <a:avLst>
              <a:gd name="adj" fmla="val 5161"/>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400" b="1" dirty="0">
                <a:solidFill>
                  <a:srgbClr val="1F2937"/>
                </a:solidFill>
                <a:latin typeface="Calibri" pitchFamily="34" charset="0"/>
                <a:ea typeface="Calibri" pitchFamily="34" charset="-122"/>
                <a:cs typeface="Calibri" pitchFamily="34" charset="-120"/>
              </a:rPr>
              <a:t>Cap reached</a:t>
            </a:r>
            <a:endParaRPr lang="en-US" sz="1400" dirty="0"/>
          </a:p>
        </p:txBody>
      </p:sp>
      <p:sp>
        <p:nvSpPr>
          <p:cNvPr id="13" name="Text 9"/>
          <p:cNvSpPr txBox="1"/>
          <p:nvPr/>
        </p:nvSpPr>
        <p:spPr>
          <a:xfrm>
            <a:off x="3474720" y="2057400"/>
            <a:ext cx="219456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Four rounds without approval. Prints "Max iterations reached."</a:t>
            </a:r>
            <a:endParaRPr lang="en-US" sz="1200" dirty="0"/>
          </a:p>
        </p:txBody>
      </p:sp>
      <p:sp>
        <p:nvSpPr>
          <p:cNvPr id="14" name="Shape 10"/>
          <p:cNvSpPr/>
          <p:nvPr/>
        </p:nvSpPr>
        <p:spPr>
          <a:xfrm>
            <a:off x="6126480" y="1371600"/>
            <a:ext cx="2560320" cy="1417320"/>
          </a:xfrm>
          <a:prstGeom prst="roundRect">
            <a:avLst>
              <a:gd name="adj" fmla="val 5161"/>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400" b="1" dirty="0">
                <a:solidFill>
                  <a:srgbClr val="1F2937"/>
                </a:solidFill>
                <a:latin typeface="Calibri" pitchFamily="34" charset="0"/>
                <a:ea typeface="Calibri" pitchFamily="34" charset="-122"/>
                <a:cs typeface="Calibri" pitchFamily="34" charset="-120"/>
              </a:rPr>
              <a:t>Error</a:t>
            </a:r>
            <a:endParaRPr lang="en-US" sz="1400" dirty="0"/>
          </a:p>
        </p:txBody>
      </p:sp>
      <p:sp>
        <p:nvSpPr>
          <p:cNvPr id="18" name="Text 13"/>
          <p:cNvSpPr txBox="1"/>
          <p:nvPr/>
        </p:nvSpPr>
        <p:spPr>
          <a:xfrm>
            <a:off x="6309360" y="2057400"/>
            <a:ext cx="219456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failed call sets hadError and prints "stopped early".</a:t>
            </a:r>
            <a:endParaRPr lang="en-US" sz="1200" dirty="0"/>
          </a:p>
        </p:txBody>
      </p:sp>
      <p:sp>
        <p:nvSpPr>
          <p:cNvPr id="19" name="Text 14"/>
          <p:cNvSpPr txBox="1"/>
          <p:nvPr/>
        </p:nvSpPr>
        <p:spPr>
          <a:xfrm>
            <a:off x="457200" y="30175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Contains("APPROVED") is fragile; Lesson 19 switches to structured JSON.</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18 — Native Multi-Agent Orchestration</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draft, review, refine, approve</a:t>
            </a:r>
            <a:endParaRPr lang="en-US" sz="2800" dirty="0"/>
          </a:p>
        </p:txBody>
      </p:sp>
      <p:sp>
        <p:nvSpPr>
          <p:cNvPr id="4" name="Shape 2"/>
          <p:cNvSpPr/>
          <p:nvPr/>
        </p:nvSpPr>
        <p:spPr>
          <a:xfrm>
            <a:off x="457200" y="1325880"/>
            <a:ext cx="5257800" cy="2331720"/>
          </a:xfrm>
          <a:prstGeom prst="roundRect">
            <a:avLst>
              <a:gd name="adj" fmla="val 3137"/>
            </a:avLst>
          </a:prstGeom>
          <a:solidFill>
            <a:srgbClr val="0F1420"/>
          </a:solidFill>
          <a:ln w="12700">
            <a:solidFill>
              <a:srgbClr val="0F1420"/>
            </a:solidFill>
            <a:prstDash val="solid"/>
          </a:ln>
        </p:spPr>
      </p:sp>
      <p:sp>
        <p:nvSpPr>
          <p:cNvPr id="5" name="Text 3"/>
          <p:cNvSpPr txBox="1"/>
          <p:nvPr/>
        </p:nvSpPr>
        <p:spPr>
          <a:xfrm>
            <a:off x="640080" y="1463040"/>
            <a:ext cx="4892040" cy="205740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Enter a product to market:</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Solar-powered backpack</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Multi-Agent collaboration started...</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[COPYWRITER]: Power Your Adventures With Sunshine</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[EDITOR]: Try a sharper verb: "Charge Every Trail</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With Sunlight."</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[COPYWRITER]: Charge Every Trail With Sunlight</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[EDITOR]: APPROVED</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Workflow Finalized.</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Visible hand-offs</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Each line is tagged with the persona that wrote it.</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Ends on approval</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Or after four rounds, whichever comes first.</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Illustrative</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slogans and reviews are examples. Yours will differ.</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18 — Native Multi-Agent Orchestration</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Factor out the persona swap</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Move the duplicated insert, call and remove steps into one helper, print a round number, and show the final approved slogan.</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Lesson18-MultiAgent/</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MultiAgent/Program.cs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Both turns call the same helper method</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Each round prints its number before the Copywriter speaks</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An approved run prints the final slogan on its own line</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error path still removes the persona</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18 — Native Multi-Agent Orchestration</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355092"/>
          </a:xfrm>
          <a:prstGeom prst="roundRect">
            <a:avLst>
              <a:gd name="adj" fmla="val 20601"/>
            </a:avLst>
          </a:prstGeom>
          <a:solidFill>
            <a:srgbClr val="1F2943"/>
          </a:solidFill>
          <a:ln w="12700">
            <a:solidFill>
              <a:srgbClr val="1F2943"/>
            </a:solidFill>
            <a:prstDash val="solid"/>
          </a:ln>
        </p:spPr>
      </p:sp>
      <p:sp>
        <p:nvSpPr>
          <p:cNvPr id="5" name="Text 3"/>
          <p:cNvSpPr txBox="1"/>
          <p:nvPr/>
        </p:nvSpPr>
        <p:spPr>
          <a:xfrm>
            <a:off x="621792" y="123444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fixed turn order</a:t>
            </a:r>
            <a:endParaRPr lang="en-US" sz="1300" dirty="0"/>
          </a:p>
        </p:txBody>
      </p:sp>
      <p:sp>
        <p:nvSpPr>
          <p:cNvPr id="6" name="Shape 4"/>
          <p:cNvSpPr/>
          <p:nvPr/>
        </p:nvSpPr>
        <p:spPr>
          <a:xfrm>
            <a:off x="3493008" y="1320546"/>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19  </a:t>
            </a:r>
            <a:pPr indent="0" marL="0">
              <a:buNone/>
            </a:pPr>
            <a:r>
              <a:rPr lang="en-US" sz="1250" dirty="0">
                <a:solidFill>
                  <a:srgbClr val="FFFFFF"/>
                </a:solidFill>
                <a:latin typeface="Calibri" pitchFamily="34" charset="0"/>
                <a:ea typeface="Calibri" pitchFamily="34" charset="-122"/>
                <a:cs typeface="Calibri" pitchFamily="34" charset="-120"/>
              </a:rPr>
              <a:t>A Coordinator decides who acts next</a:t>
            </a:r>
            <a:endParaRPr lang="en-US" sz="1250" dirty="0"/>
          </a:p>
        </p:txBody>
      </p:sp>
      <p:sp>
        <p:nvSpPr>
          <p:cNvPr id="8" name="Shape 6"/>
          <p:cNvSpPr/>
          <p:nvPr/>
        </p:nvSpPr>
        <p:spPr>
          <a:xfrm>
            <a:off x="457200" y="1699260"/>
            <a:ext cx="2926080" cy="355092"/>
          </a:xfrm>
          <a:prstGeom prst="roundRect">
            <a:avLst>
              <a:gd name="adj" fmla="val 20601"/>
            </a:avLst>
          </a:prstGeom>
          <a:solidFill>
            <a:srgbClr val="1F2943"/>
          </a:solidFill>
          <a:ln w="12700">
            <a:solidFill>
              <a:srgbClr val="1F2943"/>
            </a:solidFill>
            <a:prstDash val="solid"/>
          </a:ln>
        </p:spPr>
      </p:sp>
      <p:sp>
        <p:nvSpPr>
          <p:cNvPr id="9" name="Text 7"/>
          <p:cNvSpPr txBox="1"/>
          <p:nvPr/>
        </p:nvSpPr>
        <p:spPr>
          <a:xfrm>
            <a:off x="621792" y="169926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Editor approval</a:t>
            </a:r>
            <a:endParaRPr lang="en-US" sz="1300" dirty="0"/>
          </a:p>
        </p:txBody>
      </p:sp>
      <p:sp>
        <p:nvSpPr>
          <p:cNvPr id="10" name="Shape 8"/>
          <p:cNvSpPr/>
          <p:nvPr/>
        </p:nvSpPr>
        <p:spPr>
          <a:xfrm>
            <a:off x="3493008" y="1785366"/>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69926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20  </a:t>
            </a:r>
            <a:pPr indent="0" marL="0">
              <a:buNone/>
            </a:pPr>
            <a:r>
              <a:rPr lang="en-US" sz="1250" dirty="0">
                <a:solidFill>
                  <a:srgbClr val="FFFFFF"/>
                </a:solidFill>
                <a:latin typeface="Calibri" pitchFamily="34" charset="0"/>
                <a:ea typeface="Calibri" pitchFamily="34" charset="-122"/>
                <a:cs typeface="Calibri" pitchFamily="34" charset="-120"/>
              </a:rPr>
              <a:t>A human must type APPROVED instead</a:t>
            </a:r>
            <a:endParaRPr lang="en-US" sz="1250" dirty="0"/>
          </a:p>
        </p:txBody>
      </p:sp>
      <p:sp>
        <p:nvSpPr>
          <p:cNvPr id="12" name="Shape 10"/>
          <p:cNvSpPr/>
          <p:nvPr/>
        </p:nvSpPr>
        <p:spPr>
          <a:xfrm>
            <a:off x="457200" y="2164080"/>
            <a:ext cx="2926080" cy="355092"/>
          </a:xfrm>
          <a:prstGeom prst="roundRect">
            <a:avLst>
              <a:gd name="adj" fmla="val 20601"/>
            </a:avLst>
          </a:prstGeom>
          <a:solidFill>
            <a:srgbClr val="1F2943"/>
          </a:solidFill>
          <a:ln w="12700">
            <a:solidFill>
              <a:srgbClr val="1F2943"/>
            </a:solidFill>
            <a:prstDash val="solid"/>
          </a:ln>
        </p:spPr>
      </p:sp>
      <p:sp>
        <p:nvSpPr>
          <p:cNvPr id="13" name="Text 11"/>
          <p:cNvSpPr txBox="1"/>
          <p:nvPr/>
        </p:nvSpPr>
        <p:spPr>
          <a:xfrm>
            <a:off x="621792" y="216408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review-and-rework loop</a:t>
            </a:r>
            <a:endParaRPr lang="en-US" sz="1300" dirty="0"/>
          </a:p>
        </p:txBody>
      </p:sp>
      <p:sp>
        <p:nvSpPr>
          <p:cNvPr id="14" name="Shape 12"/>
          <p:cNvSpPr/>
          <p:nvPr/>
        </p:nvSpPr>
        <p:spPr>
          <a:xfrm>
            <a:off x="3493008" y="225018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16408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29  </a:t>
            </a:r>
            <a:pPr indent="0" marL="0">
              <a:buNone/>
            </a:pPr>
            <a:r>
              <a:rPr lang="en-US" sz="1250" dirty="0">
                <a:solidFill>
                  <a:srgbClr val="FFFFFF"/>
                </a:solidFill>
                <a:latin typeface="Calibri" pitchFamily="34" charset="0"/>
                <a:ea typeface="Calibri" pitchFamily="34" charset="-122"/>
                <a:cs typeface="Calibri" pitchFamily="34" charset="-120"/>
              </a:rPr>
              <a:t>A Reviewer drives rework in ProjectOrchestrator</a:t>
            </a:r>
            <a:endParaRPr lang="en-US" sz="1250" dirty="0"/>
          </a:p>
        </p:txBody>
      </p:sp>
      <p:sp>
        <p:nvSpPr>
          <p:cNvPr id="16" name="Shape 14"/>
          <p:cNvSpPr/>
          <p:nvPr/>
        </p:nvSpPr>
        <p:spPr>
          <a:xfrm>
            <a:off x="457200" y="2628900"/>
            <a:ext cx="2926080" cy="355092"/>
          </a:xfrm>
          <a:prstGeom prst="roundRect">
            <a:avLst>
              <a:gd name="adj" fmla="val 20601"/>
            </a:avLst>
          </a:prstGeom>
          <a:solidFill>
            <a:srgbClr val="1F2943"/>
          </a:solidFill>
          <a:ln w="12700">
            <a:solidFill>
              <a:srgbClr val="1F2943"/>
            </a:solidFill>
            <a:prstDash val="solid"/>
          </a:ln>
        </p:spPr>
      </p:sp>
      <p:sp>
        <p:nvSpPr>
          <p:cNvPr id="17" name="Text 15"/>
          <p:cNvSpPr txBox="1"/>
          <p:nvPr/>
        </p:nvSpPr>
        <p:spPr>
          <a:xfrm>
            <a:off x="621792" y="262890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Two personas critiquing</a:t>
            </a:r>
            <a:endParaRPr lang="en-US" sz="1300" dirty="0"/>
          </a:p>
        </p:txBody>
      </p:sp>
      <p:sp>
        <p:nvSpPr>
          <p:cNvPr id="18" name="Shape 16"/>
          <p:cNvSpPr/>
          <p:nvPr/>
        </p:nvSpPr>
        <p:spPr>
          <a:xfrm>
            <a:off x="3493008" y="2715006"/>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62890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31  </a:t>
            </a:r>
            <a:pPr indent="0" marL="0">
              <a:buNone/>
            </a:pPr>
            <a:r>
              <a:rPr lang="en-US" sz="1250" dirty="0">
                <a:solidFill>
                  <a:srgbClr val="FFFFFF"/>
                </a:solidFill>
                <a:latin typeface="Calibri" pitchFamily="34" charset="0"/>
                <a:ea typeface="Calibri" pitchFamily="34" charset="-122"/>
                <a:cs typeface="Calibri" pitchFamily="34" charset="-120"/>
              </a:rPr>
              <a:t>One agent drafts, critiques and revises itself</a:t>
            </a:r>
            <a:endParaRPr lang="en-US" sz="1250" dirty="0"/>
          </a:p>
        </p:txBody>
      </p:sp>
      <p:sp>
        <p:nvSpPr>
          <p:cNvPr id="20" name="Shape 18"/>
          <p:cNvSpPr/>
          <p:nvPr/>
        </p:nvSpPr>
        <p:spPr>
          <a:xfrm>
            <a:off x="457200" y="3093720"/>
            <a:ext cx="2926080" cy="355092"/>
          </a:xfrm>
          <a:prstGeom prst="roundRect">
            <a:avLst>
              <a:gd name="adj" fmla="val 20601"/>
            </a:avLst>
          </a:prstGeom>
          <a:solidFill>
            <a:srgbClr val="1F2943"/>
          </a:solidFill>
          <a:ln w="12700">
            <a:solidFill>
              <a:srgbClr val="1F2943"/>
            </a:solidFill>
            <a:prstDash val="solid"/>
          </a:ln>
        </p:spPr>
      </p:sp>
      <p:sp>
        <p:nvSpPr>
          <p:cNvPr id="21" name="Text 19"/>
          <p:cNvSpPr txBox="1"/>
          <p:nvPr/>
        </p:nvSpPr>
        <p:spPr>
          <a:xfrm>
            <a:off x="621792" y="309372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Hand-coded speaker order</a:t>
            </a:r>
            <a:endParaRPr lang="en-US" sz="1300" dirty="0"/>
          </a:p>
        </p:txBody>
      </p:sp>
      <p:sp>
        <p:nvSpPr>
          <p:cNvPr id="22" name="Shape 20"/>
          <p:cNvSpPr/>
          <p:nvPr/>
        </p:nvSpPr>
        <p:spPr>
          <a:xfrm>
            <a:off x="3493008" y="3179826"/>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09372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34  </a:t>
            </a:r>
            <a:pPr indent="0" marL="0">
              <a:buNone/>
            </a:pPr>
            <a:r>
              <a:rPr lang="en-US" sz="1250" dirty="0">
                <a:solidFill>
                  <a:srgbClr val="FFFFFF"/>
                </a:solidFill>
                <a:latin typeface="Calibri" pitchFamily="34" charset="0"/>
                <a:ea typeface="Calibri" pitchFamily="34" charset="-122"/>
                <a:cs typeface="Calibri" pitchFamily="34" charset="-120"/>
              </a:rPr>
              <a:t>A moderator picks the next debate speaker</a:t>
            </a:r>
            <a:endParaRPr lang="en-US" sz="1250" dirty="0"/>
          </a:p>
        </p:txBody>
      </p:sp>
      <p:sp>
        <p:nvSpPr>
          <p:cNvPr id="24" name="Shape 22"/>
          <p:cNvSpPr/>
          <p:nvPr/>
        </p:nvSpPr>
        <p:spPr>
          <a:xfrm>
            <a:off x="457200" y="3558540"/>
            <a:ext cx="2926080" cy="355092"/>
          </a:xfrm>
          <a:prstGeom prst="roundRect">
            <a:avLst>
              <a:gd name="adj" fmla="val 20601"/>
            </a:avLst>
          </a:prstGeom>
          <a:solidFill>
            <a:srgbClr val="1F2943"/>
          </a:solidFill>
          <a:ln w="12700">
            <a:solidFill>
              <a:srgbClr val="1F2943"/>
            </a:solidFill>
            <a:prstDash val="solid"/>
          </a:ln>
        </p:spPr>
      </p:sp>
      <p:sp>
        <p:nvSpPr>
          <p:cNvPr id="25" name="Text 23"/>
          <p:cNvSpPr txBox="1"/>
          <p:nvPr/>
        </p:nvSpPr>
        <p:spPr>
          <a:xfrm>
            <a:off x="621792" y="355854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literal "APPROVED" check</a:t>
            </a:r>
            <a:endParaRPr lang="en-US" sz="1300" dirty="0"/>
          </a:p>
        </p:txBody>
      </p:sp>
      <p:sp>
        <p:nvSpPr>
          <p:cNvPr id="26" name="Shape 24"/>
          <p:cNvSpPr/>
          <p:nvPr/>
        </p:nvSpPr>
        <p:spPr>
          <a:xfrm>
            <a:off x="3493008" y="3644646"/>
            <a:ext cx="329184" cy="182880"/>
          </a:xfrm>
          <a:prstGeom prst="rightArrow">
            <a:avLst/>
          </a:prstGeom>
          <a:solidFill>
            <a:srgbClr val="F5A623"/>
          </a:solidFill>
          <a:ln w="12700">
            <a:solidFill>
              <a:srgbClr val="F5A623"/>
            </a:solidFill>
            <a:prstDash val="solid"/>
          </a:ln>
        </p:spPr>
      </p:sp>
      <p:sp>
        <p:nvSpPr>
          <p:cNvPr id="27" name="Text 25"/>
          <p:cNvSpPr txBox="1"/>
          <p:nvPr/>
        </p:nvSpPr>
        <p:spPr>
          <a:xfrm>
            <a:off x="3977640" y="355854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35  </a:t>
            </a:r>
            <a:pPr indent="0" marL="0">
              <a:buNone/>
            </a:pPr>
            <a:r>
              <a:rPr lang="en-US" sz="1250" dirty="0">
                <a:solidFill>
                  <a:srgbClr val="FFFFFF"/>
                </a:solidFill>
                <a:latin typeface="Calibri" pitchFamily="34" charset="0"/>
                <a:ea typeface="Calibri" pitchFamily="34" charset="-122"/>
                <a:cs typeface="Calibri" pitchFamily="34" charset="-120"/>
              </a:rPr>
              <a:t>Agents negotiate instead of waiting for a word</a:t>
            </a:r>
            <a:endParaRPr lang="en-US" sz="1250" dirty="0"/>
          </a:p>
        </p:txBody>
      </p:sp>
      <p:sp>
        <p:nvSpPr>
          <p:cNvPr id="28" name="Text 26"/>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1: Foundations &amp; Core Orchestration</a:t>
            </a:r>
            <a:endParaRPr lang="en-US" sz="1300" dirty="0"/>
          </a:p>
        </p:txBody>
      </p:sp>
      <p:sp>
        <p:nvSpPr>
          <p:cNvPr id="29"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18 — Native Multi-Agent Orchestration</a:t>
            </a:r>
            <a:endParaRPr lang="en-US" sz="900" dirty="0"/>
          </a:p>
        </p:txBody>
      </p:sp>
      <p:sp>
        <p:nvSpPr>
          <p:cNvPr id="30"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18 — Native Multi-Agent Orchestration</dc:title>
  <dc:subject>PptxGenJS Presentation</dc:subject>
  <dc:creator>Media Six LLC</dc:creator>
  <cp:lastModifiedBy>Media Six LLC</cp:lastModifiedBy>
  <cp:revision>1</cp:revision>
  <dcterms:created xsi:type="dcterms:W3CDTF">2026-10-21T23:12:56Z</dcterms:created>
  <dcterms:modified xsi:type="dcterms:W3CDTF">2026-10-21T23:12:56Z</dcterms:modified>
</cp:coreProperties>
</file>