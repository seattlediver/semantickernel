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wires in two guardrails as real Semantic Kernel filters. The first strips personal data, email addresses and phone numbers, out of a prompt before it ever reaches the model. The second inspects the model's finished response and swaps in a safe refusal if it breaks a business content policy. Both use the exact filter interfaces Lesson 22 introduced. The difference is what they do inside them: Lesson 22's filters watched, these ones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22's PromptLoggingFilter and AuditFunctionFilter only observe. They print what is happening but never change it. That left a gap, and this lesson closes it. A filter that only prints context.RenderedPrompt is an audit trail. A filter that reassigns context.RenderedPrompt before returning changes what the model actually sees. In the same way, a function filter that reassigns context.Result changes what the caller gets back. Same interfaces, fundamentally different role: enforcement instead of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the .NET 10 SDK and a console project that references Microsoft.SemanticKernel and Microsoft.SemanticKernel.Connectors.OpenAI, both at version 1.78.0. The key comes from the OPENAI_API_KEY environment variable, and the program throws at startup if it is missing. The model is gpt-4.1-mini, registered with AddOpenAIChatCompletion. The guardrails are registered on the kernel builder's service collection before Build: AddSingleton of IPromptRenderFilter as PiiRedactionFilter, and AddSingleton of IFunctionInvocationFilter as ContentPolicyFilter. From then on, every prompt the kernel runs passes through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path one call takes. Program.cs calls kernel.InvokePromptAsync with the user's message. Semantic Kernel renders the prompt, and PiiRedactionFilter, an IPromptRenderFilter, rewrites the rendered text to mask email addresses and phone numbers. Only that redacted text goes to the model. When the model's answer comes back, ContentPolicyFilter, an IFunctionInvocationFilter, scans it for banned competitor names. If it finds none, the answer passes through unchanged; if it finds one, the caller gets a fixed, safe refusal instead. Redacting on the way in protects the user, because their data never leaves the process. Rejecting on the way out protects the business, because a rule like never name a competitor is a plain business constraint the model was never trained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PiiRedactionFilter implements OnPromptRenderAsync. It first awaits next, so Semantic Kernel renders the prompt as usual. Then it reads context.RenderedPrompt, runs two compiled regular expressions over it, one for email addresses and one for ten-digit phone numbers with optional dash or dot separators, and assigns the result back to context.RenderedPrompt. That reassignment is the whole difference from Lesson 22. The program doesn't print these two versions; I'm showing what the regexes do to Demo 1's message, so you can see exactly what the model receives. If anything changed, the filter prints a GUARDRAIL line saying PII was redacted. If nothing matched, it stays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IFunctionInvocationFilter sounds like it's only for plugin and tool calls, because that's all Lesson 22 showed it doing. But InvokePromptAsync compiles the prompt into a KernelFunction internally and invokes it the same way, so this filter wraps the whole prompt call. That is what makes inspecting the final response possible here. ContentPolicyFilter awaits next, reads the result as text, and checks it against two banned terms, CloudPeak and Nimbus, ignoring case. If one appears, it prints a GUARDRAIL line and sets context.Result to a new FunctionResult built from the existing one, carrying a fixed refusal. Using the overload that takes the original FunctionResult keeps its metadata, such as which function produced it, and only swaps the value the rest of the pipeline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design decisions are worth naming. Input and output guardrails protect different parties: redaction protects the user, and the content policy protects the business. Both guardrails use plain regex and string matching instead of a second model call asking whether something is OK. A second call would be slower, would cost tokens, and could itself be wrong or inconsistent between runs. For rules you can check in code, code is strictly better. Finally, neither filter assumes it will find something. PiiRedactionFilter always runs its patterns but only logs when the text changed, and ContentPolicyFilter always checks but only replaces when a banned term is really there. That is how they behave correctly on real, unscripted input. Demo 2's prompt deliberately asks the model to name CloudPeak, so the rejection path fires on every run instead of by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run from the lesson text, with a few blank lines removed to fit the slide. It was captured against Gemini before the lesson moved to OpenAI. The guardrail lines and the refusal text are hard-coded, so they will reproduce exactly under gpt-4.1-mini, but the Demo 1 apology is model-generated and its wording will differ. In Demo 1, the assistant's reply never mentions the email or phone number, not because the model chose to leave them out, but because they were never in the prompt it saw. In Demo 2, the reply is the exact hard-coded refusal, which confirms that the original, policy-violating response was thrown away rather than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In PiiRedactionFilter, add a third compiled regex for US social security numbers in the three-two-four digit format, and replace matches with REDACTED_SSN. In ContentPolicyFilter, add a third banned term to the array. Then add a Demo 3 to Program.cs whose message contains a social security number and asks the model to mention the new banned term. You should see both GUARDRAIL lines and the fixed refusal, and the first two demos should behave exactly as before. Check, too, that the phone pattern doesn't accidentally match the new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turned Lesson 22's observing filters into enforcing ones. An IPromptRenderFilter redacts email and phone numbers before the model sees them, and an IFunctionInvocationFilter replaces a policy-violating answer with a safe refusal, both using deterministic checks instead of a second model. Lesson 38 continues production hardening with vector-indexed episodic memory, again doing the ranking in plain C#. When a decision can't be made in code, the planned Lesson 41 queues it for human approval on an event bus. And the planned Lesson 43 capstone brings safety guardrails together with hierarchical delegation, event-driven coordination and durable checkpointing in one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37  ·  PART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Safety Guardrail Middleware</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Filters that change what goes in and what comes out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prompts with PII</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redacted in, policy-safe out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 a logging filter into an enforcing one</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Redact email and phone numbers before the model sees them</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Replace a policy-violating answer with a safe refusal</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See why a semantic prompt is a function invocation</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Prefer deterministic checks over a second model call</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37 — Guardrail Middleware</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Same filter interfaces, a different job</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22: observe</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PromptLoggingFilter prints the prompt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AuditFunctionFilter logs each call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Nothing the model sees changes</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37: intervene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PiiRedactionFilter rewrites the prompt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ContentPolicyFilter swaps the result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guardrail decides what passes</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Printing RenderedPrompt is an audit trail; reassigning it is a guardrail.</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37 — Guardrail Middleware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console app targeting net10.0, opened as GuardrailMiddleware.slnx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model is gpt-4.1-mini, via AddOpenAIChatCompletion.</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filters via DI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builder.Services.AddSingleton registers IPromptRenderFilter and IFunctionInvocationFilter.</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37 — Guardrail Middleware</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PIPELINE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guardrails around one prompt call</a:t>
            </a:r>
            <a:endParaRPr lang="en-US" sz="280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Invoke</a:t>
            </a:r>
            <a:endParaRPr lang="en-US" sz="13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kernel gets the user's raw text.</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512BD4"/>
          </a:solidFill>
          <a:ln w="12700">
            <a:solidFill>
              <a:srgbClr val="512BD4"/>
            </a:solidFill>
            <a:prstDash val="solid"/>
          </a:ln>
        </p:spPr>
      </p:sp>
      <p:sp>
        <p:nvSpPr>
          <p:cNvPr id="11" name="Shape 8"/>
          <p:cNvSpPr/>
          <p:nvPr/>
        </p:nvSpPr>
        <p:spPr>
          <a:xfrm>
            <a:off x="2355494"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Redact</a:t>
            </a:r>
            <a:endParaRPr lang="en-US" sz="13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Prompt filter masks email and phone.</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Model</a:t>
            </a:r>
            <a:endParaRPr lang="en-US" sz="13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 only sees the redacted text.</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Check</a:t>
            </a:r>
            <a:endParaRPr lang="en-US" sz="13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Function filter scans for banned terms.</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Reply</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answer, or the fixed safe refusal.</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Input guardrails protect the user; output guardrails protect the business.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37 — Guardrail Middleware</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INPUT GUARDRAIL</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PiiRedactionFilter rewrites the rendered prompt</a:t>
            </a:r>
            <a:endParaRPr lang="en-US" sz="2650" dirty="0"/>
          </a:p>
        </p:txBody>
      </p:sp>
      <p:sp>
        <p:nvSpPr>
          <p:cNvPr id="4" name="Shape 2"/>
          <p:cNvSpPr/>
          <p:nvPr/>
        </p:nvSpPr>
        <p:spPr>
          <a:xfrm>
            <a:off x="457200" y="1325880"/>
            <a:ext cx="5257800" cy="2103120"/>
          </a:xfrm>
          <a:prstGeom prst="roundRect">
            <a:avLst>
              <a:gd name="adj" fmla="val 3478"/>
            </a:avLst>
          </a:prstGeom>
          <a:solidFill>
            <a:srgbClr val="0F1420"/>
          </a:solidFill>
          <a:ln w="12700">
            <a:solidFill>
              <a:srgbClr val="0F1420"/>
            </a:solidFill>
            <a:prstDash val="solid"/>
          </a:ln>
        </p:spPr>
      </p:sp>
      <p:sp>
        <p:nvSpPr>
          <p:cNvPr id="5" name="Text 3"/>
          <p:cNvSpPr txBox="1"/>
          <p:nvPr/>
        </p:nvSpPr>
        <p:spPr>
          <a:xfrm>
            <a:off x="640080" y="1463040"/>
            <a:ext cx="4892040" cy="182880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Rendered prompt, before the filter:</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Hi, my email is jane.doe@example.com and my phone is</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555-123-4567. In one sentence, apologize for my order</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being late.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RenderedPrompt, after the filter:</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Hi, my email is [REDACTED_EMAIL] and my phone is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[REDACTED_PHONE]. In one sentence, apologize for my order</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being late.</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EmailPattern</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compiled regex; matches become [REDACTED_EMAIL].</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PhonePattern</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Ten digits with optional - or . separators.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Reassign it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await next, then set context.RenderedPrompt.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37 — Guardrail Middleware</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OUTPUT GUARDRAIL</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ContentPolicyFilter swaps a violating answer</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Output filter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ContentPolicyFilter, an IFunctionInvocationFilter wrapped around the whole prompt call.</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Let it run</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await next(context) produces the model's answer first.</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Check terms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CloudPeak or Nimbus, case-insensitive, anywhere in the text.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Swap result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new FunctionResult(context.Result!, refusal) replaces the value.</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violating answer is discarded, not edited.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37 — Guardrail Middleware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DESIGN CHOICES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Why these guardrails are plain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Protect the user</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PII never leaves the process, whatever the model would have done with it.</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Protect the business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Never name a competitor is a business rule, not a safety rule.</a:t>
            </a:r>
            <a:endParaRPr lang="en-US" sz="1200" dirty="0"/>
          </a:p>
        </p:txBody>
      </p:sp>
      <p:sp>
        <p:nvSpPr>
          <p:cNvPr id="14" name="Shape 10"/>
          <p:cNvSpPr/>
          <p:nvPr/>
        </p:nvSpPr>
        <p:spPr>
          <a:xfrm>
            <a:off x="457200" y="2994660"/>
            <a:ext cx="3977640" cy="1394460"/>
          </a:xfrm>
          <a:prstGeom prst="roundRect">
            <a:avLst>
              <a:gd name="adj" fmla="val 5246"/>
            </a:avLst>
          </a:prstGeom>
          <a:solidFill>
            <a:srgbClr val="512BD4"/>
          </a:solidFill>
          <a:ln w="12700">
            <a:solidFill>
              <a:srgbClr val="512BD4"/>
            </a:solidFill>
            <a:prstDash val="solid"/>
          </a:ln>
        </p:spPr>
      </p:sp>
      <p:sp>
        <p:nvSpPr>
          <p:cNvPr id="15" name="Shape 11"/>
          <p:cNvSpPr/>
          <p:nvPr/>
        </p:nvSpPr>
        <p:spPr>
          <a:xfrm>
            <a:off x="640080" y="317754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Code, not a judge</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Regex and string checks are fast, free and give the same answer every run.</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Act only on a match</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Both filters always check, but log or replace only when they find something.</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37 — Guardrail Middleware</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  ·  GEMINI-ERA CAPTURE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one redaction, one rejection</a:t>
            </a:r>
            <a:endParaRPr lang="en-US" sz="2800" dirty="0"/>
          </a:p>
        </p:txBody>
      </p:sp>
      <p:sp>
        <p:nvSpPr>
          <p:cNvPr id="4" name="Shape 2"/>
          <p:cNvSpPr/>
          <p:nvPr/>
        </p:nvSpPr>
        <p:spPr>
          <a:xfrm>
            <a:off x="457200" y="1325880"/>
            <a:ext cx="8229600" cy="2423160"/>
          </a:xfrm>
          <a:prstGeom prst="roundRect">
            <a:avLst>
              <a:gd name="adj" fmla="val 3019"/>
            </a:avLst>
          </a:prstGeom>
          <a:solidFill>
            <a:srgbClr val="0F1420"/>
          </a:solidFill>
          <a:ln w="12700">
            <a:solidFill>
              <a:srgbClr val="0F1420"/>
            </a:solidFill>
            <a:prstDash val="solid"/>
          </a:ln>
        </p:spPr>
      </p:sp>
      <p:sp>
        <p:nvSpPr>
          <p:cNvPr id="5" name="Text 3"/>
          <p:cNvSpPr txBox="1"/>
          <p:nvPr/>
        </p:nvSpPr>
        <p:spPr>
          <a:xfrm>
            <a:off x="640080" y="1463040"/>
            <a:ext cx="7863840" cy="214884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Demo 1: Input PII Redaction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User: Hi, my email is jane.doe@example.com and my phone is 555-123-4567. In one sentence,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apologize for my order being late.</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[GUARDRAIL] PII redacted from the outgoing prompt before it reached the model.</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Assistant: We sincerely apologize for the delay in processing your recent order and for any</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inconvenience this may have caused.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Demo 2: Output Content-Policy Rejection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User: Write a two-sentence comparison of our product against CloudPeak, and be sure to</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mention CloudPeak by name.</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[GUARDRAIL] Output blocked - mentioned banned term "CloudPeak". Replacing with a safe response.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Assistant: I can't discuss competitor products by name. I'm happy to describe our own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product's capabilities instead.</a:t>
            </a:r>
            <a:endParaRPr lang="en-US" sz="1000" dirty="0"/>
          </a:p>
        </p:txBody>
      </p:sp>
      <p:sp>
        <p:nvSpPr>
          <p:cNvPr id="6" name="Text 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37 — Guardrail Middleware</a:t>
            </a:r>
            <a:endParaRPr lang="en-US" sz="900" dirty="0"/>
          </a:p>
        </p:txBody>
      </p:sp>
      <p:sp>
        <p:nvSpPr>
          <p:cNvPr id="7" name="Text 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Extend both guardrails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 [REDACTED_SSN] pattern and a third banned term, then add a Demo 3 that trips both guardrails.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Lesson37-GuardrailMiddleware/</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GuardrailMiddleware/PiiRedactionFilter.cs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123-45-6789 reaches the model as [REDACTED_SSN]</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new banned term triggers the safe refusal</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Demo 3 prints both GUARDRAIL lines</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Demos 1 and 2 behave exactly as before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37 — Guardrail Middleware</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Enforcing, not logging, filters</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38  </a:t>
            </a:r>
            <a:pPr indent="0" marL="0">
              <a:buNone/>
            </a:pPr>
            <a:r>
              <a:rPr lang="en-US" sz="1250" dirty="0">
                <a:solidFill>
                  <a:srgbClr val="FFFFFF"/>
                </a:solidFill>
                <a:latin typeface="Calibri" pitchFamily="34" charset="0"/>
                <a:ea typeface="Calibri" pitchFamily="34" charset="-122"/>
                <a:cs typeface="Calibri" pitchFamily="34" charset="-120"/>
              </a:rPr>
              <a:t>Phase C continues: vector-indexed memory</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Checks done in plain code</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38  </a:t>
            </a:r>
            <a:pPr indent="0" marL="0">
              <a:buNone/>
            </a:pPr>
            <a:r>
              <a:rPr lang="en-US" sz="1250" dirty="0">
                <a:solidFill>
                  <a:srgbClr val="FFFFFF"/>
                </a:solidFill>
                <a:latin typeface="Calibri" pitchFamily="34" charset="0"/>
                <a:ea typeface="Calibri" pitchFamily="34" charset="-122"/>
                <a:cs typeface="Calibri" pitchFamily="34" charset="-120"/>
              </a:rPr>
              <a:t>Cosine similarity ranks memories in C#</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Some answers need a human</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41  </a:t>
            </a:r>
            <a:pPr indent="0" marL="0">
              <a:buNone/>
            </a:pPr>
            <a:r>
              <a:rPr lang="en-US" sz="1250" dirty="0">
                <a:solidFill>
                  <a:srgbClr val="FFFFFF"/>
                </a:solidFill>
                <a:latin typeface="Calibri" pitchFamily="34" charset="0"/>
                <a:ea typeface="Calibri" pitchFamily="34" charset="-122"/>
                <a:cs typeface="Calibri" pitchFamily="34" charset="-120"/>
              </a:rPr>
              <a:t>Approvals queued on an event bus (planned)</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Input and output guardrails</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43  </a:t>
            </a:r>
            <a:pPr indent="0" marL="0">
              <a:buNone/>
            </a:pPr>
            <a:r>
              <a:rPr lang="en-US" sz="1250" dirty="0">
                <a:solidFill>
                  <a:srgbClr val="FFFFFF"/>
                </a:solidFill>
                <a:latin typeface="Calibri" pitchFamily="34" charset="0"/>
                <a:ea typeface="Calibri" pitchFamily="34" charset="-122"/>
                <a:cs typeface="Calibri" pitchFamily="34" charset="-120"/>
              </a:rPr>
              <a:t>Capstone II wraps the whole system (planned)</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2: Production Hardening</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37 — Guardrail Middleware</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37 — Safety Guardrail Middleware</dc:title>
  <dc:subject>PptxGenJS Presentation</dc:subject>
  <dc:creator>Media Six LLC</dc:creator>
  <cp:lastModifiedBy>Media Six LLC</cp:lastModifiedBy>
  <cp:revision>1</cp:revision>
  <dcterms:created xsi:type="dcterms:W3CDTF">2026-10-21T23:10:18Z</dcterms:created>
  <dcterms:modified xsi:type="dcterms:W3CDTF">2026-10-21T23:10:18Z</dcterms:modified>
</cp:coreProperties>
</file>