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register two independent, unrelated plugins on the same kernel, a TimePlugin and a WeatherPlugin, and then ask one question that genuinely needs both: what time is it, and should I bring an umbrella in Salt Lake City today? Earlier lessons gave the model one tool at a time, so calling it wasn't much of a test, because there was nothing else to call. Here the model has to read a compound request, notice that it contains two separate sub-questions, and decide on its own which plugin answers each part before it writes the final answer. This is the step from 'the framework can call a function' to 'the model reasons about which of several capabilities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gave the model a single MathPlugin, so when the model called a tool there was really only one choice to make. This lesson registers two unrelated plugins, Time and Weather, and asks a question that needs both of them. The model now has to split the request into its two parts, map each part to the right plugin, decide the order, and only then compose an answer. That is tool selection, and it is a materially harder task than simply executing the one tool on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unchanged from earlier lessons. You need the .NET 10 SDK and a console app. The project references Microsoft.SemanticKernel and Microsoft.SemanticKernel.Connectors.OpenAI, both at version 1.78.0. The key comes from the OPENAI_API_KEY environment variable, and the program throws at startup if it is missing. The model is gpt-4.1-mini. There are no extra packages to add: plugins and tool calling are part of the core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registers both plugins with builder.Plugins.AddFromType: TimePlugin under the name Time, and WeatherPlugin under the name Weather. Each plugin is its own namespace, so the tools become Time.GetLocalTime and Weather.GetWeather. A kernel can host any number of independent plugins side by side like this. What the model actually sees is a catalog built from the attributes: KernelFunction gives each method its tool name, and the Description text on the method and on the city parameter is what the model reads when it decides whether, and when, to call a function. Good descriptions are how you steer tool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sets ToolCallBehavior to AutoInvokeKernelFunctions on the OpenAIPromptExecutionSettings, and that single setting is what makes the exchange agentic. When we call InvokePromptAsync, Semantic Kernel sends the request together with the catalog of tools. The model replies with function-call requests, here for GetLocalTime and for GetWeather with Salt Lake City as the argument. Semantic Kernel detects those requests, runs the matching C# methods, and feeds the results back to the model. The model then writes one combined answer, and that is all InvokePromptAsync returns. Every round trip in between is hidden from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closely at one plugin method. The KernelFunction attribute exposes it and gives it the tool name, such as GetLocalTime. The Description attribute, on the method and on each parameter, supplies the text the model reads. GetWeather takes a typed string parameter called city; the model fills in that argument, and Semantic Kernel marshals it into a real C# method call. Finally, each tool prints an EXECUTING TOOL line to the console as a side effect. That is purely for teaching: it turns the otherwise invisible auto-invocation loop into something you can watch during a live demo. Note that the weather is simulated: London returns 15 degrees and rainy, and every other city returns 22 degrees and sunny.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Auto-invocation is convenient. You write no loop code, the model can call several tools in one request, and a single try/catch around InvokePromptAsync guards the whole run; if anything fails, the program prints Agent run failed with the message instead of crashing. That guard matters, because the call drives several hidden round trips. But you also give things up. You can't see or log the round trips, there's no cap on how many tool rounds the model takes, and you get no chance to inspect or veto a call before it runs. Lesson 16 opens the box and builds this exact loop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the user request and a header, then you should see two EXECUTING TOOL lines, one for GetLocalTime and one for GetWeather with Salt Lake City. Those lines are printed by the plugins themselves, which proves the model chose both tools; the order can vary between runs. The final response is illustrative: the time will be your machine's local time, and the wording will differ, but because the mock weather returns 22 degrees and sunny for any city other than London, the answer should say you don't need an umbrella.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Write a UnitsPlugin with one KernelFunction that converts Celsius to Fahrenheit, give it a clear Description, and register it with AddFromType under its own name. Then replace the single hard-coded request with a Console.ReadLine loop. Ask for the weather in Salt Lake City in Fahrenheit and check that both GetWeather and your new tool fire. Then ask only for the time and confirm that the model calls just GetLocalTime. Watching which trace lines appear is the easiest way to see tool selection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registered two independent plugins on one kernel, saw that descriptions are what the model chooses tools from, passed a model-supplied argument into a C# method, and let AutoInvokeKernelFunctions run the whole tool loop. Lesson 16 builds that same loop by hand so you can see every step. Lesson 21 takes tool selection further, routing each request to a specialist kernel that only has its own tool. Lesson 22 uses function filters to audit every invocation, Lesson 24 replaces our console prints with real OpenTelemetry traces, and Lesson 28 gives the capstone's agents state-aware plugins that create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15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Multi-Tool Agent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Two unrelated plugins, one compound question, and the model picks the tools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One compound question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Answer from two tools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Register several plugins on one kernel</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descriptions the model chooses tools from</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Pass a model-chosen argument into C#</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 AutoInvokeKernelFunctions run the tool loop</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Watch hidden tool calls with console tracing</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From running a tool to choosing between tools</a:t>
            </a:r>
            <a:endParaRPr lang="en-US" sz="275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4: one plugin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MathPlugin is the only toolbox</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Calling a tool is the whole test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Little for the model to decide</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15: two plugins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Time and Weather sit side by side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request needs both of them</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plans which to call, and when</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Tool selection is a harder task than tool execution.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1851660" cy="1508760"/>
          </a:xfrm>
          <a:prstGeom prst="roundRect">
            <a:avLst>
              <a:gd name="adj" fmla="val 484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.NET 10</a:t>
            </a:r>
            <a:endParaRPr lang="en-US" sz="1300" dirty="0"/>
          </a:p>
        </p:txBody>
      </p:sp>
      <p:sp>
        <p:nvSpPr>
          <p:cNvPr id="8" name="Text 5"/>
          <p:cNvSpPr txBox="1"/>
          <p:nvPr/>
        </p:nvSpPr>
        <p:spPr>
          <a:xfrm>
            <a:off x="64008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as a .slnx solution.</a:t>
            </a:r>
            <a:endParaRPr lang="en-US" sz="1200" dirty="0"/>
          </a:p>
        </p:txBody>
      </p:sp>
      <p:sp>
        <p:nvSpPr>
          <p:cNvPr id="9" name="Shape 6"/>
          <p:cNvSpPr/>
          <p:nvPr/>
        </p:nvSpPr>
        <p:spPr>
          <a:xfrm>
            <a:off x="2583180" y="1371600"/>
            <a:ext cx="1851660" cy="1508760"/>
          </a:xfrm>
          <a:prstGeom prst="roundRect">
            <a:avLst>
              <a:gd name="adj" fmla="val 4848"/>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Packages</a:t>
            </a:r>
            <a:endParaRPr lang="en-US" sz="1300" dirty="0"/>
          </a:p>
        </p:txBody>
      </p:sp>
      <p:sp>
        <p:nvSpPr>
          <p:cNvPr id="13" name="Text 9"/>
          <p:cNvSpPr txBox="1"/>
          <p:nvPr/>
        </p:nvSpPr>
        <p:spPr>
          <a:xfrm>
            <a:off x="276606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SemanticKernel and Connectors.OpenAI, version 1.78.0.</a:t>
            </a:r>
            <a:endParaRPr lang="en-US" sz="1200" dirty="0"/>
          </a:p>
        </p:txBody>
      </p:sp>
      <p:sp>
        <p:nvSpPr>
          <p:cNvPr id="14" name="Shape 10"/>
          <p:cNvSpPr/>
          <p:nvPr/>
        </p:nvSpPr>
        <p:spPr>
          <a:xfrm>
            <a:off x="4709160" y="1371600"/>
            <a:ext cx="1851660" cy="1508760"/>
          </a:xfrm>
          <a:prstGeom prst="roundRect">
            <a:avLst>
              <a:gd name="adj" fmla="val 4848"/>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API key</a:t>
            </a:r>
            <a:endParaRPr lang="en-US" sz="1300" dirty="0"/>
          </a:p>
        </p:txBody>
      </p:sp>
      <p:sp>
        <p:nvSpPr>
          <p:cNvPr id="18" name="Text 13"/>
          <p:cNvSpPr txBox="1"/>
          <p:nvPr/>
        </p:nvSpPr>
        <p:spPr>
          <a:xfrm>
            <a:off x="489204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OPENAI_API_KEY, read from the environment at startup.</a:t>
            </a:r>
            <a:endParaRPr lang="en-US" sz="1200" dirty="0"/>
          </a:p>
        </p:txBody>
      </p:sp>
      <p:sp>
        <p:nvSpPr>
          <p:cNvPr id="19" name="Shape 14"/>
          <p:cNvSpPr/>
          <p:nvPr/>
        </p:nvSpPr>
        <p:spPr>
          <a:xfrm>
            <a:off x="6835140" y="1371600"/>
            <a:ext cx="1851660" cy="1508760"/>
          </a:xfrm>
          <a:prstGeom prst="roundRect">
            <a:avLst>
              <a:gd name="adj" fmla="val 4848"/>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Model</a:t>
            </a:r>
            <a:endParaRPr lang="en-US" sz="1300" dirty="0"/>
          </a:p>
        </p:txBody>
      </p:sp>
      <p:sp>
        <p:nvSpPr>
          <p:cNvPr id="23" name="Text 17"/>
          <p:cNvSpPr txBox="1"/>
          <p:nvPr/>
        </p:nvSpPr>
        <p:spPr>
          <a:xfrm>
            <a:off x="701802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via AddOpenAI</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ChatCompletion.</a:t>
            </a:r>
            <a:endParaRPr lang="en-US" sz="1200" dirty="0"/>
          </a:p>
        </p:txBody>
      </p:sp>
      <p:sp>
        <p:nvSpPr>
          <p:cNvPr id="24" name="Text 18"/>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new packages: plugins and tool calling are part of the core library.</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kernel hosts a catalog of named tools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Kernel plugins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AddFromType registers each class under its own name.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Time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Time.GetLocalTime takes no input and returns the local time.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Weather</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Weather.GetWeather(city): "Gets the current weather for a specific city."</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Descriptions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[Description] text is what the model reads to choose a tool.</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Plugin name plus function name gives every tool a unique address.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AUTO-INVOCATION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What AutoInvokeKernelFunctions does in one call</a:t>
            </a:r>
            <a:endParaRPr lang="en-US" sz="265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Send</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request plus the tool catalog.</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Model picks</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Asks for GetLocalTime and GetWeather.</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SK runs</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Calls the matching C# methods.</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Results back</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Tool outputs return to the model.</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combined reply comes back.</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InvokePromptAsync returns only the final answer; the round trips stay hidden.</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ANATOMY OF A TOOL</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Four things that turn a C# method into a tool</a:t>
            </a:r>
            <a:endParaRPr lang="en-US" sz="2750" dirty="0"/>
          </a:p>
        </p:txBody>
      </p:sp>
      <p:sp>
        <p:nvSpPr>
          <p:cNvPr id="4" name="Shape 2"/>
          <p:cNvSpPr/>
          <p:nvPr/>
        </p:nvSpPr>
        <p:spPr>
          <a:xfrm>
            <a:off x="457200" y="1371600"/>
            <a:ext cx="3977640" cy="1143000"/>
          </a:xfrm>
          <a:prstGeom prst="roundRect">
            <a:avLst>
              <a:gd name="adj" fmla="val 64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[KernelFunction]</a:t>
            </a:r>
            <a:endParaRPr lang="en-US" sz="1500" dirty="0"/>
          </a:p>
        </p:txBody>
      </p:sp>
      <p:sp>
        <p:nvSpPr>
          <p:cNvPr id="8" name="Text 5"/>
          <p:cNvSpPr txBox="1"/>
          <p:nvPr/>
        </p:nvSpPr>
        <p:spPr>
          <a:xfrm>
            <a:off x="640080" y="20574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Exposes the method and names the tool, for example "GetLocalTime".</a:t>
            </a:r>
            <a:endParaRPr lang="en-US" sz="1200" dirty="0"/>
          </a:p>
        </p:txBody>
      </p:sp>
      <p:sp>
        <p:nvSpPr>
          <p:cNvPr id="9" name="Shape 6"/>
          <p:cNvSpPr/>
          <p:nvPr/>
        </p:nvSpPr>
        <p:spPr>
          <a:xfrm>
            <a:off x="4709160" y="1371600"/>
            <a:ext cx="3977640" cy="1143000"/>
          </a:xfrm>
          <a:prstGeom prst="roundRect">
            <a:avLst>
              <a:gd name="adj" fmla="val 6400"/>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[Description]</a:t>
            </a:r>
            <a:endParaRPr lang="en-US" sz="1500" dirty="0"/>
          </a:p>
        </p:txBody>
      </p:sp>
      <p:sp>
        <p:nvSpPr>
          <p:cNvPr id="13" name="Text 9"/>
          <p:cNvSpPr txBox="1"/>
          <p:nvPr/>
        </p:nvSpPr>
        <p:spPr>
          <a:xfrm>
            <a:off x="4892040" y="20574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 the method and on each parameter. This is the text the model reasons over.</a:t>
            </a:r>
            <a:endParaRPr lang="en-US" sz="1200" dirty="0"/>
          </a:p>
        </p:txBody>
      </p:sp>
      <p:sp>
        <p:nvSpPr>
          <p:cNvPr id="14" name="Shape 10"/>
          <p:cNvSpPr/>
          <p:nvPr/>
        </p:nvSpPr>
        <p:spPr>
          <a:xfrm>
            <a:off x="457200" y="2743200"/>
            <a:ext cx="3977640" cy="1143000"/>
          </a:xfrm>
          <a:prstGeom prst="roundRect">
            <a:avLst>
              <a:gd name="adj" fmla="val 6400"/>
            </a:avLst>
          </a:prstGeom>
          <a:solidFill>
            <a:srgbClr val="EFEBFC"/>
          </a:solidFill>
          <a:ln w="12700">
            <a:solidFill>
              <a:srgbClr val="EFEBFC"/>
            </a:solidFill>
            <a:prstDash val="solid"/>
          </a:ln>
        </p:spPr>
      </p:sp>
      <p:sp>
        <p:nvSpPr>
          <p:cNvPr id="15" name="Shape 11"/>
          <p:cNvSpPr/>
          <p:nvPr/>
        </p:nvSpPr>
        <p:spPr>
          <a:xfrm>
            <a:off x="640080" y="29260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025932"/>
            <a:ext cx="184343" cy="184343"/>
          </a:xfrm>
          <a:prstGeom prst="rect">
            <a:avLst/>
          </a:prstGeom>
        </p:spPr>
      </p:pic>
      <p:sp>
        <p:nvSpPr>
          <p:cNvPr id="17" name="Text 12"/>
          <p:cNvSpPr txBox="1"/>
          <p:nvPr/>
        </p:nvSpPr>
        <p:spPr>
          <a:xfrm>
            <a:off x="114300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Typed parameter</a:t>
            </a:r>
            <a:endParaRPr lang="en-US" sz="1500" dirty="0"/>
          </a:p>
        </p:txBody>
      </p:sp>
      <p:sp>
        <p:nvSpPr>
          <p:cNvPr id="18" name="Text 13"/>
          <p:cNvSpPr txBox="1"/>
          <p:nvPr/>
        </p:nvSpPr>
        <p:spPr>
          <a:xfrm>
            <a:off x="640080" y="34290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GetWeather(string city): the model supplies the city and SK passes it to C#.</a:t>
            </a:r>
            <a:endParaRPr lang="en-US" sz="1200" dirty="0"/>
          </a:p>
        </p:txBody>
      </p:sp>
      <p:sp>
        <p:nvSpPr>
          <p:cNvPr id="19" name="Shape 14"/>
          <p:cNvSpPr/>
          <p:nvPr/>
        </p:nvSpPr>
        <p:spPr>
          <a:xfrm>
            <a:off x="4709160" y="2743200"/>
            <a:ext cx="3977640" cy="1143000"/>
          </a:xfrm>
          <a:prstGeom prst="roundRect">
            <a:avLst>
              <a:gd name="adj" fmla="val 6400"/>
            </a:avLst>
          </a:prstGeom>
          <a:solidFill>
            <a:srgbClr val="EFEBFC"/>
          </a:solidFill>
          <a:ln w="12700">
            <a:solidFill>
              <a:srgbClr val="EFEBFC"/>
            </a:solidFill>
            <a:prstDash val="solid"/>
          </a:ln>
        </p:spPr>
      </p:sp>
      <p:sp>
        <p:nvSpPr>
          <p:cNvPr id="20" name="Shape 15"/>
          <p:cNvSpPr/>
          <p:nvPr/>
        </p:nvSpPr>
        <p:spPr>
          <a:xfrm>
            <a:off x="4892040" y="29260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25932"/>
            <a:ext cx="184343" cy="184343"/>
          </a:xfrm>
          <a:prstGeom prst="rect">
            <a:avLst/>
          </a:prstGeom>
        </p:spPr>
      </p:pic>
      <p:sp>
        <p:nvSpPr>
          <p:cNvPr id="22" name="Text 16"/>
          <p:cNvSpPr txBox="1"/>
          <p:nvPr/>
        </p:nvSpPr>
        <p:spPr>
          <a:xfrm>
            <a:off x="539496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Console trace</a:t>
            </a:r>
            <a:endParaRPr lang="en-US" sz="1500" dirty="0"/>
          </a:p>
        </p:txBody>
      </p:sp>
      <p:sp>
        <p:nvSpPr>
          <p:cNvPr id="23" name="Text 17"/>
          <p:cNvSpPr txBox="1"/>
          <p:nvPr/>
        </p:nvSpPr>
        <p:spPr>
          <a:xfrm>
            <a:off x="4892040" y="34290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tool prints an [EXECUTING TOOL] line, so the hidden calls become visible.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TRADE-OFFS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Auto-invoke: what you gain, what you give up</a:t>
            </a:r>
            <a:endParaRPr lang="en-US" sz="2800" dirty="0"/>
          </a:p>
        </p:txBody>
      </p:sp>
      <p:sp>
        <p:nvSpPr>
          <p:cNvPr id="4" name="Shape 2"/>
          <p:cNvSpPr/>
          <p:nvPr/>
        </p:nvSpPr>
        <p:spPr>
          <a:xfrm>
            <a:off x="457200" y="1371600"/>
            <a:ext cx="3931920" cy="1783080"/>
          </a:xfrm>
          <a:prstGeom prst="roundRect">
            <a:avLst>
              <a:gd name="adj" fmla="val 4103"/>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You gain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tool-loop code to write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Several tools in a single request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try/catch guards the whole run</a:t>
            </a:r>
            <a:endParaRPr lang="en-US" sz="1300" dirty="0"/>
          </a:p>
        </p:txBody>
      </p:sp>
      <p:sp>
        <p:nvSpPr>
          <p:cNvPr id="9" name="Shape 6"/>
          <p:cNvSpPr/>
          <p:nvPr/>
        </p:nvSpPr>
        <p:spPr>
          <a:xfrm>
            <a:off x="4754880" y="1371600"/>
            <a:ext cx="3931920" cy="1783080"/>
          </a:xfrm>
          <a:prstGeom prst="roundRect">
            <a:avLst>
              <a:gd name="adj" fmla="val 4103"/>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You give up</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Round trips you can't see or log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cap on the number of tool rounds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chance to veto a call before it runs</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Lesson 16 opens the box and runs this same loop by hand.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two tools, one answer</a:t>
            </a:r>
            <a:endParaRPr lang="en-US" sz="2800" dirty="0"/>
          </a:p>
        </p:txBody>
      </p:sp>
      <p:sp>
        <p:nvSpPr>
          <p:cNvPr id="4" name="Shape 2"/>
          <p:cNvSpPr/>
          <p:nvPr/>
        </p:nvSpPr>
        <p:spPr>
          <a:xfrm>
            <a:off x="457200" y="1325880"/>
            <a:ext cx="5257800" cy="1874520"/>
          </a:xfrm>
          <a:prstGeom prst="roundRect">
            <a:avLst>
              <a:gd name="adj" fmla="val 3902"/>
            </a:avLst>
          </a:prstGeom>
          <a:solidFill>
            <a:srgbClr val="0F1420"/>
          </a:solidFill>
          <a:ln w="12700">
            <a:solidFill>
              <a:srgbClr val="0F1420"/>
            </a:solidFill>
            <a:prstDash val="solid"/>
          </a:ln>
        </p:spPr>
      </p:sp>
      <p:sp>
        <p:nvSpPr>
          <p:cNvPr id="5" name="Text 3"/>
          <p:cNvSpPr txBox="1"/>
          <p:nvPr/>
        </p:nvSpPr>
        <p:spPr>
          <a:xfrm>
            <a:off x="640080" y="1463040"/>
            <a:ext cx="4892040" cy="160020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User Request: What time is it, and should I bring</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an umbrella in Salt Lake City today?</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AGENT REASONING AND TOOL USER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[EXECUTING TOOL] GetLocalTime.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[EXECUTING TOOL] GetWeather: City Salt Lake City.</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Final response: It's currently Wednesday,</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October 21, 2026 3:42:10 PM. Salt Lake City is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22°C and sunny, so you won't need an umbrella.</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Both tools fire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trace line per tool; the order can vary.</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Mock weather</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Only London is rainy; other cities get 22°C and Sunny.</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final response is an example.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third plugin and make it interactive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UnitsPlugin that converts Celsius to Fahrenheit, and wrap the request in a loop so you can ask several questions.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Lesson15-MultiToolAgent/</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MultiToolAgent/Program.cs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UnitsPlugin is registered under its own name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Asking for the weather in °F triggers the new tool</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time-only question calls only GetLocalTime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Typing exit ends the loop cleanly</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AutoInvokeKernelFunctions</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The same tool loop, built and run by hand</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 descriptions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A router sends each request to a one-tool kernel</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Hidden tool round trips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Filters audit every function invocation</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Console tracing</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OpenTelemetry traces every model and plugin call</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Several plugins, one kernel</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28  </a:t>
            </a:r>
            <a:pPr indent="0" marL="0">
              <a:buNone/>
            </a:pPr>
            <a:r>
              <a:rPr lang="en-US" sz="1250" dirty="0">
                <a:solidFill>
                  <a:srgbClr val="FFFFFF"/>
                </a:solidFill>
                <a:latin typeface="Calibri" pitchFamily="34" charset="0"/>
                <a:ea typeface="Calibri" pitchFamily="34" charset="-122"/>
                <a:cs typeface="Calibri" pitchFamily="34" charset="-120"/>
              </a:rPr>
              <a:t>State-aware plugins let agents create tasks</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15 — Multi-Tool Agent</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15 — Multi-Tool Agent</dc:title>
  <dc:subject>PptxGenJS Presentation</dc:subject>
  <dc:creator>Media Six LLC</dc:creator>
  <cp:lastModifiedBy>Media Six LLC</cp:lastModifiedBy>
  <cp:revision>1</cp:revision>
  <dcterms:created xsi:type="dcterms:W3CDTF">2026-10-21T23:07:29Z</dcterms:created>
  <dcterms:modified xsi:type="dcterms:W3CDTF">2026-10-21T23:07:29Z</dcterms:modified>
</cp:coreProperties>
</file>