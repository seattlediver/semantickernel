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first lesson we build a continuous, terminal-based chatbot. The program starts a loop that reads a line of text from the console, sends it to OpenAI's chat model through Semantic Kernel, prints the reply, and waits for the next line, until the user types exit. It is deliberately the smallest possible end-to-end slice of Semantic Kernel: build a kernel, attach a model, send a message, get a reply, and remember the conversation. Every later lesson in the series builds on this same skeleton, so getting the pattern right here pays off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short. You need the .NET 10 SDK and a plain console application. Add two NuGet packages: Microsoft.SemanticKernel.Core, which is the core SDK, and Microsoft.SemanticKernel.Connectors.OpenAI, which is the OpenAI connector. Both are version 1.78.0 in this series. The API key is read from the OPENAI_API_KEY environment variable rather than being hard-coded. If the variable is missing, the program throws an InvalidOperationException immediately instead of failing later with a confusing API error. The model is gpt-4.1-mini, the chat model we use in every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Kernel uses the standard .NET builder pattern. Step 1: Kernel.CreateBuilder() gives us the factory used to configure the kernel. Step 2 is the key one: AddOpenAIChatCompletion attaches the model ID, gpt-4.1-mini, and the API key we pulled from the environment. The kernel itself has no brain; it is a framework, and this call gives it a model to do the thinking. Step 3: once everything is attached, Build() yields the kernel object we use for the rest of the program. Step 4: because the kernel acts as a dependency-injection container, we pull the IChatCompletionService out of it with GetRequiredService. Notice that only step 2 mentions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kernel is the central registry of services, plugins and configuration that the rest of an application's AI code draws on. In this lesson we register exactly one thing, the OpenAI chat connector. The code that actually talks to the model never depends on OpenAI directly. It depends on IChatCompletionService, the abstraction Semantic Kernel uses for chat-based models. That decoupling matters: if we ever change providers, only the one registration line changes. Plugins are empty for now. Starting in Lesson 4, we register our own C# functions on this same kernel so the model can call them as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models are stateless. Each API call is independent and has no memory of earlier calls. ChatHistory solves that by carrying the whole conversation, starting with a system prompt that sets the assistant's persona: You are a helpful, friendly, and concise AI Assistant. Every user message is appended with AddUserMessage before the call. Just as important, the assistant's reply must be appended with AddAssistantMessage. If you forget that step, the model sounds like it has amnesia: it forgets its own answers, because the history sent on the next call doesn't contain them. The two transcripts on this slide are illustrative, to show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conversation loop is a while(true) loop that turns a single request and response into a continuous, stateful chat. Each turn reads a line from the console after the User prompt and checks it. Then AddUserMessage appends it to the history, and GetChatMessageContentAsync sends the full history to the model. The program prints the reply, then appends it with AddAssistantMessage, which is the step highlighted here. That last step is what lets the next turn build on everything said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small checks keep the chat from breaking. First, if ReadLine returns null, standard input has closed, for example when input is piped in. There will never be another line, so we break instead of looping forever. Second, blank or whitespace-only input is silently skipped. Third, typing exit, in any letter case, prints a goodbye and ends the loop. Fourth, the call to the model is wrapped in a try/catch. A network blip, an invalid or expired API key, or a rate-limit response would otherwise throw and crash the whole session, losing the conversation. With the try/catch, the program prints a short message and the loop continues.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The program prints its ready message and waits. Tell it your name and favorite color, then ask it to remind you of both. Because both sides of the conversation are in ChatHistory, the second answer recalls what you said in the first turn. The model's exact wording will vary from run to run, but the recall should not. Type exit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Replace the system prompt passed to the ChatHistory constructor with a persona of your choice, such as a pirate or a terse senior engineer, and check that the replies change. Then add a /reset command. Clear the history and add the system message back, so the model forgets the conversation but keeps its persona. Make sure the reset command doesn't get sent to the model as a user message, and that exit and blank input still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built a kernel, registered an OpenAI model on it, talked to the model through the provider-neutral IChatCompletionService, and gave it memory with ChatHistory inside a robust conversation loop. Each of these pieces comes back. Lesson 2 uses the same kernel for a one-shot prompt template. Lesson 4 lets the model call our own C# functions as tools. Lesson 9 turns the system prompt into a full interviewer persona. Lesson 17 replaces the hand-wired loop with Semantic Kernel's ChatCompletionAgent. Lesson 25 moves memory from RAM to disk so it survives restarts.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Conversationalist</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continuous terminal chatbot on Semantic Kernel and OpenAI</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dotnet new console</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Conversationalist.slnx</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Build a Kernel with Kernel.CreateBuilder()</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Attach gpt-4.1-mini with AddOpenAIChatCompletion</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Talk to the model through IChatCompletionService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Give the model memory with ChatHistory</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 one call into a continuous chat loop</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 — The Conversationalist</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standard C# console app (dotnet new console) targeting net10.0, opened as a .slnx solution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Microsoft.SemanticKernel.Core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If it is missing, the app throws InvalidOperationException at startup.</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chat model used throughout the series, registered on the builder with AddOpenAIChatCompletion.</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 — The Conversationalist</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4</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From an empty builder to a working chat service</a:t>
            </a:r>
            <a:endParaRPr lang="en-US" sz="2650" dirty="0"/>
          </a:p>
        </p:txBody>
      </p:sp>
      <p:sp>
        <p:nvSpPr>
          <p:cNvPr id="4" name="Shape 2"/>
          <p:cNvSpPr/>
          <p:nvPr/>
        </p:nvSpPr>
        <p:spPr>
          <a:xfrm>
            <a:off x="457200" y="1417320"/>
            <a:ext cx="1796796" cy="21854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Create builder</a:t>
            </a:r>
            <a:endParaRPr lang="en-US" sz="1500" dirty="0"/>
          </a:p>
        </p:txBody>
      </p:sp>
      <p:sp>
        <p:nvSpPr>
          <p:cNvPr id="8" name="Text 5"/>
          <p:cNvSpPr txBox="1"/>
          <p:nvPr/>
        </p:nvSpPr>
        <p:spPr>
          <a:xfrm>
            <a:off x="640080"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CreateBuilder() returns the factory that configures the kernel.</a:t>
            </a:r>
            <a:endParaRPr lang="en-US" sz="1200" dirty="0"/>
          </a:p>
        </p:txBody>
      </p:sp>
      <p:sp>
        <p:nvSpPr>
          <p:cNvPr id="9" name="Shape 6"/>
          <p:cNvSpPr/>
          <p:nvPr/>
        </p:nvSpPr>
        <p:spPr>
          <a:xfrm>
            <a:off x="2318004"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185416"/>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Add the model</a:t>
            </a:r>
            <a:endParaRPr lang="en-US" sz="1500" dirty="0"/>
          </a:p>
        </p:txBody>
      </p:sp>
      <p:sp>
        <p:nvSpPr>
          <p:cNvPr id="14" name="Text 10"/>
          <p:cNvSpPr txBox="1"/>
          <p:nvPr/>
        </p:nvSpPr>
        <p:spPr>
          <a:xfrm>
            <a:off x="2784348" y="26060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AddOpenAIChat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Completion registers gpt-4.1-mini with your key.</a:t>
            </a:r>
            <a:endParaRPr lang="en-US" sz="1200" dirty="0"/>
          </a:p>
        </p:txBody>
      </p:sp>
      <p:sp>
        <p:nvSpPr>
          <p:cNvPr id="15" name="Shape 11"/>
          <p:cNvSpPr/>
          <p:nvPr/>
        </p:nvSpPr>
        <p:spPr>
          <a:xfrm>
            <a:off x="4462272"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1854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Build kernel</a:t>
            </a:r>
            <a:endParaRPr lang="en-US" sz="1500" dirty="0"/>
          </a:p>
        </p:txBody>
      </p:sp>
      <p:sp>
        <p:nvSpPr>
          <p:cNvPr id="20" name="Text 15"/>
          <p:cNvSpPr txBox="1"/>
          <p:nvPr/>
        </p:nvSpPr>
        <p:spPr>
          <a:xfrm>
            <a:off x="4928616"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Build() turns the configuration into a Kernel.</a:t>
            </a:r>
            <a:endParaRPr lang="en-US" sz="1200" dirty="0"/>
          </a:p>
        </p:txBody>
      </p:sp>
      <p:sp>
        <p:nvSpPr>
          <p:cNvPr id="21" name="Shape 16"/>
          <p:cNvSpPr/>
          <p:nvPr/>
        </p:nvSpPr>
        <p:spPr>
          <a:xfrm>
            <a:off x="6606540"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185416"/>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Fetch service</a:t>
            </a:r>
            <a:endParaRPr lang="en-US" sz="1500" dirty="0"/>
          </a:p>
        </p:txBody>
      </p:sp>
      <p:sp>
        <p:nvSpPr>
          <p:cNvPr id="26" name="Text 20"/>
          <p:cNvSpPr txBox="1"/>
          <p:nvPr/>
        </p:nvSpPr>
        <p:spPr>
          <a:xfrm>
            <a:off x="7072884"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Pulls IChatCompletion</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Service out of the kernel.</a:t>
            </a:r>
            <a:endParaRPr lang="en-US" sz="1200" dirty="0"/>
          </a:p>
        </p:txBody>
      </p:sp>
      <p:sp>
        <p:nvSpPr>
          <p:cNvPr id="27" name="Text 21"/>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Only step 2 knows about OpenAI. Everything after it is provider-neutral.</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 — The Conversationalist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50" b="1" dirty="0">
                <a:solidFill>
                  <a:srgbClr val="1F2937"/>
                </a:solidFill>
                <a:latin typeface="Cambria" pitchFamily="34" charset="0"/>
                <a:ea typeface="Cambria" pitchFamily="34" charset="-122"/>
                <a:cs typeface="Cambria" pitchFamily="34" charset="-120"/>
              </a:rPr>
              <a:t>The Kernel is the registry everything plugs into</a:t>
            </a:r>
            <a:endParaRPr lang="en-US" sz="255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Kernel</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central registry of AI services and plugins. Empty until you register a model.</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Connector</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AddOpenAIChatCompletion registers the model and your API key.</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Chat service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IChatCompletionService: the provider-neutral interface your code talks to.</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Plugins</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Empty today. From Lesson 4, your own C# tools register here too.</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Swap providers by changing one registration line; the rest of the code stays put.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 — The Conversationalist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MEMORY</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ChatHistory gives a stateless model memory</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Reply not recorded</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Only the user's turns reach the model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It forgets its own earlier answers</a:t>
            </a:r>
            <a:endParaRPr lang="en-US" sz="1300" dirty="0"/>
          </a:p>
        </p:txBody>
      </p:sp>
      <p:sp>
        <p:nvSpPr>
          <p:cNvPr id="9" name="Shape 6"/>
          <p:cNvSpPr/>
          <p:nvPr/>
        </p:nvSpPr>
        <p:spPr>
          <a:xfrm>
            <a:off x="685800" y="2907792"/>
            <a:ext cx="3474720" cy="868680"/>
          </a:xfrm>
          <a:prstGeom prst="roundRect">
            <a:avLst>
              <a:gd name="adj" fmla="val 8421"/>
            </a:avLst>
          </a:prstGeom>
          <a:solidFill>
            <a:srgbClr val="0F1420"/>
          </a:solidFill>
          <a:ln w="12700">
            <a:solidFill>
              <a:srgbClr val="0F1420"/>
            </a:solidFill>
            <a:prstDash val="solid"/>
          </a:ln>
        </p:spPr>
      </p:sp>
      <p:sp>
        <p:nvSpPr>
          <p:cNvPr id="10" name="Text 7"/>
          <p:cNvSpPr txBox="1"/>
          <p:nvPr/>
        </p:nvSpPr>
        <p:spPr>
          <a:xfrm>
            <a:off x="868680" y="3044952"/>
            <a:ext cx="3108960" cy="59436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User: Who wrote the book you picked?</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AI response: I haven't picked one.</a:t>
            </a:r>
            <a:endParaRPr lang="en-US" sz="1100" dirty="0"/>
          </a:p>
        </p:txBody>
      </p:sp>
      <p:sp>
        <p:nvSpPr>
          <p:cNvPr id="11" name="Shape 8"/>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Both sides recorded</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AddUserMessage before each call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AddAssistantMessage after each reply</a:t>
            </a:r>
            <a:endParaRPr lang="en-US" sz="1300" dirty="0"/>
          </a:p>
        </p:txBody>
      </p:sp>
      <p:sp>
        <p:nvSpPr>
          <p:cNvPr id="16" name="Shape 12"/>
          <p:cNvSpPr/>
          <p:nvPr/>
        </p:nvSpPr>
        <p:spPr>
          <a:xfrm>
            <a:off x="4983480" y="2907792"/>
            <a:ext cx="3474720" cy="868680"/>
          </a:xfrm>
          <a:prstGeom prst="roundRect">
            <a:avLst>
              <a:gd name="adj" fmla="val 8421"/>
            </a:avLst>
          </a:prstGeom>
          <a:solidFill>
            <a:srgbClr val="0F1420"/>
          </a:solidFill>
          <a:ln w="12700">
            <a:solidFill>
              <a:srgbClr val="0F1420"/>
            </a:solidFill>
            <a:prstDash val="solid"/>
          </a:ln>
        </p:spPr>
      </p:sp>
      <p:sp>
        <p:nvSpPr>
          <p:cNvPr id="17" name="Text 13"/>
          <p:cNvSpPr txBox="1"/>
          <p:nvPr/>
        </p:nvSpPr>
        <p:spPr>
          <a:xfrm>
            <a:off x="5166360" y="3044952"/>
            <a:ext cx="3108960" cy="59436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User: Who wrote the book you picked?</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AI response: Frank Herbert wrote Dune.</a:t>
            </a:r>
            <a:endParaRPr lang="en-US" sz="1100" dirty="0"/>
          </a:p>
        </p:txBody>
      </p:sp>
      <p:sp>
        <p:nvSpPr>
          <p:cNvPr id="18" name="Text 14"/>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Illustrative transcripts: the model only knows what is in ChatHistory.</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 — The Conversationalist</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6 AND 7</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turn of the conversation loop</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Read input</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line from the console.</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Check input</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Skip blanks; stop on exit or end of input.</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Record user</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Append the user's turn to the history.</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Ask model</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Send the full history and print the reply.</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Record reply</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Append the reply so the next turn has context.</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GetChatMessageContentAsync receives the whole ChatHistory on every call.</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 — The Conversationalist</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ROBUSTNESS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Four checks that keep the session alive</a:t>
            </a:r>
            <a:endParaRPr lang="en-US" sz="2800" dirty="0"/>
          </a:p>
        </p:txBody>
      </p:sp>
      <p:sp>
        <p:nvSpPr>
          <p:cNvPr id="4" name="Shape 2"/>
          <p:cNvSpPr/>
          <p:nvPr/>
        </p:nvSpPr>
        <p:spPr>
          <a:xfrm>
            <a:off x="457200" y="1371600"/>
            <a:ext cx="1851660" cy="1920240"/>
          </a:xfrm>
          <a:prstGeom prst="roundRect">
            <a:avLst>
              <a:gd name="adj" fmla="val 395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End of input</a:t>
            </a:r>
            <a:endParaRPr lang="en-US" sz="1300" dirty="0"/>
          </a:p>
        </p:txBody>
      </p:sp>
      <p:sp>
        <p:nvSpPr>
          <p:cNvPr id="8" name="Text 5"/>
          <p:cNvSpPr txBox="1"/>
          <p:nvPr/>
        </p:nvSpPr>
        <p:spPr>
          <a:xfrm>
            <a:off x="640080" y="2057400"/>
            <a:ext cx="148590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null read means stdin closed, for example piped input. Break, or the loop spins forever.</a:t>
            </a:r>
            <a:endParaRPr lang="en-US" sz="1200" dirty="0"/>
          </a:p>
        </p:txBody>
      </p:sp>
      <p:sp>
        <p:nvSpPr>
          <p:cNvPr id="9" name="Shape 6"/>
          <p:cNvSpPr/>
          <p:nvPr/>
        </p:nvSpPr>
        <p:spPr>
          <a:xfrm>
            <a:off x="2583180" y="1371600"/>
            <a:ext cx="1851660" cy="1920240"/>
          </a:xfrm>
          <a:prstGeom prst="roundRect">
            <a:avLst>
              <a:gd name="adj" fmla="val 3951"/>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Blank line</a:t>
            </a:r>
            <a:endParaRPr lang="en-US" sz="1300" dirty="0"/>
          </a:p>
        </p:txBody>
      </p:sp>
      <p:sp>
        <p:nvSpPr>
          <p:cNvPr id="13" name="Text 9"/>
          <p:cNvSpPr txBox="1"/>
          <p:nvPr/>
        </p:nvSpPr>
        <p:spPr>
          <a:xfrm>
            <a:off x="2766060" y="2057400"/>
            <a:ext cx="148590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Whitespace-only input is skipped with continue. Nothing is sent to the model.</a:t>
            </a:r>
            <a:endParaRPr lang="en-US" sz="1200" dirty="0"/>
          </a:p>
        </p:txBody>
      </p:sp>
      <p:sp>
        <p:nvSpPr>
          <p:cNvPr id="14" name="Shape 10"/>
          <p:cNvSpPr/>
          <p:nvPr/>
        </p:nvSpPr>
        <p:spPr>
          <a:xfrm>
            <a:off x="4709160" y="1371600"/>
            <a:ext cx="1851660" cy="1920240"/>
          </a:xfrm>
          <a:prstGeom prst="roundRect">
            <a:avLst>
              <a:gd name="adj" fmla="val 3951"/>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Typed exit</a:t>
            </a:r>
            <a:endParaRPr lang="en-US" sz="1300" dirty="0"/>
          </a:p>
        </p:txBody>
      </p:sp>
      <p:sp>
        <p:nvSpPr>
          <p:cNvPr id="18" name="Text 13"/>
          <p:cNvSpPr txBox="1"/>
          <p:nvPr/>
        </p:nvSpPr>
        <p:spPr>
          <a:xfrm>
            <a:off x="4892040" y="2057400"/>
            <a:ext cx="148590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case-insensitive match prints a goodbye and ends the loop.</a:t>
            </a:r>
            <a:endParaRPr lang="en-US" sz="1200" dirty="0"/>
          </a:p>
        </p:txBody>
      </p:sp>
      <p:sp>
        <p:nvSpPr>
          <p:cNvPr id="19" name="Shape 14"/>
          <p:cNvSpPr/>
          <p:nvPr/>
        </p:nvSpPr>
        <p:spPr>
          <a:xfrm>
            <a:off x="6835140" y="1371600"/>
            <a:ext cx="1851660" cy="1920240"/>
          </a:xfrm>
          <a:prstGeom prst="roundRect">
            <a:avLst>
              <a:gd name="adj" fmla="val 3951"/>
            </a:avLst>
          </a:prstGeom>
          <a:solidFill>
            <a:srgbClr val="512BD4"/>
          </a:solidFill>
          <a:ln w="12700">
            <a:solidFill>
              <a:srgbClr val="512BD4"/>
            </a:solidFill>
            <a:prstDash val="solid"/>
          </a:ln>
        </p:spPr>
      </p:sp>
      <p:sp>
        <p:nvSpPr>
          <p:cNvPr id="20" name="Shape 15"/>
          <p:cNvSpPr/>
          <p:nvPr/>
        </p:nvSpPr>
        <p:spPr>
          <a:xfrm>
            <a:off x="7018020" y="155448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API failure</a:t>
            </a:r>
            <a:endParaRPr lang="en-US" sz="1300" dirty="0"/>
          </a:p>
        </p:txBody>
      </p:sp>
      <p:sp>
        <p:nvSpPr>
          <p:cNvPr id="23" name="Text 17"/>
          <p:cNvSpPr txBox="1"/>
          <p:nvPr/>
        </p:nvSpPr>
        <p:spPr>
          <a:xfrm>
            <a:off x="7018020" y="2057400"/>
            <a:ext cx="1485900" cy="11430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try/catch around the call. A network blip, bad key or rate limit costs one turn, not the session.</a:t>
            </a:r>
            <a:endParaRPr lang="en-US" sz="1200" dirty="0"/>
          </a:p>
        </p:txBody>
      </p:sp>
      <p:sp>
        <p:nvSpPr>
          <p:cNvPr id="24" name="Text 18"/>
          <p:cNvSpPr txBox="1"/>
          <p:nvPr/>
        </p:nvSpPr>
        <p:spPr>
          <a:xfrm>
            <a:off x="457200" y="35204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failed turn prints a message; the conversation survives.</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 — The Conversationalist</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the model remembers across turns</a:t>
            </a:r>
            <a:endParaRPr lang="en-US" sz="2800" dirty="0"/>
          </a:p>
        </p:txBody>
      </p:sp>
      <p:sp>
        <p:nvSpPr>
          <p:cNvPr id="4" name="Shape 2"/>
          <p:cNvSpPr/>
          <p:nvPr/>
        </p:nvSpPr>
        <p:spPr>
          <a:xfrm>
            <a:off x="457200" y="1325880"/>
            <a:ext cx="5257800" cy="3200400"/>
          </a:xfrm>
          <a:prstGeom prst="roundRect">
            <a:avLst>
              <a:gd name="adj" fmla="val 2286"/>
            </a:avLst>
          </a:prstGeom>
          <a:solidFill>
            <a:srgbClr val="0F1420"/>
          </a:solidFill>
          <a:ln w="12700">
            <a:solidFill>
              <a:srgbClr val="0F1420"/>
            </a:solidFill>
            <a:prstDash val="solid"/>
          </a:ln>
        </p:spPr>
      </p:sp>
      <p:sp>
        <p:nvSpPr>
          <p:cNvPr id="5" name="Text 3"/>
          <p:cNvSpPr txBox="1"/>
          <p:nvPr/>
        </p:nvSpPr>
        <p:spPr>
          <a:xfrm>
            <a:off x="640080" y="1463040"/>
            <a:ext cx="4892040" cy="292608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Chatbot initialized.  Type 'exit' to quit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Hi, my name is Alice and my favorite color is blue.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AI response: Nice to meet you, Alice! It's great to know your favorite color is blue. How can I help you today?</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Can you remind me what my name and favorite color are?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AI response: Your name is Alice, and your favorite color is blue!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exit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Exiting the chat. Goodbye!</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Context carried</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Turn 2 recalls the name and color from turn 1.</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Replies vary</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wording changes from run to run; the recall should not.</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Clean exit</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Typing exit ends the loop with a goodbye.</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 — The Conversationalist</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Give the chatbot a persona and a reset</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Change the system prompt to a persona of your choice. Then add a /reset command that clears the history back to just that prompt.</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Lesson01-Conversationalist/</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Conversationalist/Program.cs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Replies clearly take on the new persona</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After /reset, the model no longer recalls facts from before it</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/reset keeps the system prompt, so the persona survives</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exit and blank input still behave as before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 — The Conversationalist</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Kernel + model connector</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  </a:t>
            </a:r>
            <a:pPr indent="0" marL="0">
              <a:buNone/>
            </a:pPr>
            <a:r>
              <a:rPr lang="en-US" sz="1250" dirty="0">
                <a:solidFill>
                  <a:srgbClr val="FFFFFF"/>
                </a:solidFill>
                <a:latin typeface="Calibri" pitchFamily="34" charset="0"/>
                <a:ea typeface="Calibri" pitchFamily="34" charset="-122"/>
                <a:cs typeface="Calibri" pitchFamily="34" charset="-120"/>
              </a:rPr>
              <a:t>The same kernel runs a one-shot prompt template</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IChatCompletionService</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  </a:t>
            </a:r>
            <a:pPr indent="0" marL="0">
              <a:buNone/>
            </a:pPr>
            <a:r>
              <a:rPr lang="en-US" sz="1250" dirty="0">
                <a:solidFill>
                  <a:srgbClr val="FFFFFF"/>
                </a:solidFill>
                <a:latin typeface="Calibri" pitchFamily="34" charset="0"/>
                <a:ea typeface="Calibri" pitchFamily="34" charset="-122"/>
                <a:cs typeface="Calibri" pitchFamily="34" charset="-120"/>
              </a:rPr>
              <a:t>The model calls your own C# functions as tools</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System prompt as persona</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9  </a:t>
            </a:r>
            <a:pPr indent="0" marL="0">
              <a:buNone/>
            </a:pPr>
            <a:r>
              <a:rPr lang="en-US" sz="1250" dirty="0">
                <a:solidFill>
                  <a:srgbClr val="FFFFFF"/>
                </a:solidFill>
                <a:latin typeface="Calibri" pitchFamily="34" charset="0"/>
                <a:ea typeface="Calibri" pitchFamily="34" charset="-122"/>
                <a:cs typeface="Calibri" pitchFamily="34" charset="-120"/>
              </a:rPr>
              <a:t>A full interviewer persona with follow-ups</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Hand-wired chat loop</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17  </a:t>
            </a:r>
            <a:pPr indent="0" marL="0">
              <a:buNone/>
            </a:pPr>
            <a:r>
              <a:rPr lang="en-US" sz="1250" dirty="0">
                <a:solidFill>
                  <a:srgbClr val="FFFFFF"/>
                </a:solidFill>
                <a:latin typeface="Calibri" pitchFamily="34" charset="0"/>
                <a:ea typeface="Calibri" pitchFamily="34" charset="-122"/>
                <a:cs typeface="Calibri" pitchFamily="34" charset="-120"/>
              </a:rPr>
              <a:t>ChatCompletionAgent bundles persona and model</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ChatHistory in memory</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25  </a:t>
            </a:r>
            <a:pPr indent="0" marL="0">
              <a:buNone/>
            </a:pPr>
            <a:r>
              <a:rPr lang="en-US" sz="1250" dirty="0">
                <a:solidFill>
                  <a:srgbClr val="FFFFFF"/>
                </a:solidFill>
                <a:latin typeface="Calibri" pitchFamily="34" charset="0"/>
                <a:ea typeface="Calibri" pitchFamily="34" charset="-122"/>
                <a:cs typeface="Calibri" pitchFamily="34" charset="-120"/>
              </a:rPr>
              <a:t>Facts persist to disk across restarts</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 — The Conversationalist</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 The Conversationalist</dc:title>
  <dc:subject>PptxGenJS Presentation</dc:subject>
  <dc:creator>Media Six LLC</dc:creator>
  <cp:lastModifiedBy>Media Six LLC</cp:lastModifiedBy>
  <cp:revision>1</cp:revision>
  <dcterms:created xsi:type="dcterms:W3CDTF">2026-10-21T22:50:33Z</dcterms:created>
  <dcterms:modified xsi:type="dcterms:W3CDTF">2026-10-21T22:50:33Z</dcterms:modified>
</cp:coreProperties>
</file>