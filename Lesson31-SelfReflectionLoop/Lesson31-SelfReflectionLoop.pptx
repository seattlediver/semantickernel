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of the series closes the gaps that an audit of Part 1 found against the common agentic orchestration patterns, and this lesson opens Phase A, Self-Directed Reasoning. We build a single agent that writes a first draft, critiques that draft against the original task, and revises it, repeating until its own critique is satisfied or a revision cap is hit. No second persona is involved anywhere: every call comes from the same agent wearing a different hat each time, Draft, Critique or Revise. Quality control comes from inside one agent's own process, not from a second agent or a human.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gap this lesson closes. Lesson 11's Critic scored a fixed, hard-coded code snippet once. There was no loop, and nothing connected the critique back to whoever wrote the code. In this lesson the critique targets the agent's own draft, and it feeds straight into another attempt. It is also different from Lesson 18, where a Copywriter and an Editor took turns over a shared ChatHistory and the loop waited for the Editor to say APPROVED. Here there is exactly one actor, it judges itself, and the loop ends the moment that judgment is satisfied. Nothing new is added except the discipline of splitting produce and judge into two separate calls against the same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is the same small footprint used across the series. You need the .NET 10 SDK and a console application. The project references just two packages, Microsoft.SemanticKernel and Microsoft.SemanticKernel.Connectors.OpenAI, both pinned at 1.78.0 so the whole repo builds against one SDK surface. The key comes from the OPENAI_API_KEY environment variable, and the program throws an InvalidOperationException at startup if it is not set. The model is gpt-4.1-mini, registered with AddOpenAIChatCompletion, and the agent talks to it through IChatCompletionService.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Program.cs runs the whole pattern. It drafts once with DraftAsync. Then, for up to three passes, it calls CritiqueAsync on the current draft. If the critique comes back satisfied, the loop prints Satisfied, Stopping, and breaks. Otherwise it prints the feedback. If this was the last pass, it prints that the revision cap was reached and ships the latest draft as-is. If not, it calls ReviseAsync with the task, the draft and the feedback, and loops back to critique the new draft. Whichever way the loop ends, it prints the latest draft under FINAL OUTPUT. The highlighted step, the critique, is the only call that returns structured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ReflectiveAgent holds one IChatCompletionService and exposes three methods, one per hat. The important design choice is that DraftAsync, CritiqueAsync and ReviseAsync each start a brand-new ChatHistory instead of appending to one running conversation. If the critique step could see its earlier turns as a conversation it had written, the model tends to be agreeable toward its earlier self, the same bias that makes chat-style self-review unreliable. Passing the task and the draft in explicitly as plain text forces every critique to judge the artifact on its own merits. Each prompt tells the model it is the same writer, so it really is one persona, just never remembering its own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SelfCritique has a single serialized property, Feedback. The first version of this lesson asked for two fields, isSatisfactory as a bool and feedback as a string. Forcing a bad first draft exposed a real bug with the provider the series originally used: the model reliably returned isSatisfactory false with no feedback at all. It was valid JSON, but it was missing the one thing the loop needed to act on. The fix was to drop the bool and derive it: IsSatisfactory is simply whether Feedback is empty. One field cannot be partially missing. There is one more twist on OpenAI. Passing ResponseFormat equals typeof SelfCritique turns on strict structured outputs, which marks every serializable property as required, including a computed, get-only one. Without the JsonIgnore attribute, the model would be forced to emit an IsSatisfactory value again, quietly bringing back the two-field schema. Lesson 38 uses the same single-field fix.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smaller choices make this loop behave. First, temperature: drafting and revising run at 0.7, while the critique runs at 0.0, the same split as Lesson 26's target and judge. Generation benefits from variety, and judgment benefits from consistency, so a cold critique makes the satisfied signal repeatable instead of a coin flip. Second, the task is deliberately over-specified, exactly three sentences, a named temperature-lock feature, and a closing call to action, so the first draft has a real chance to miss something and the critique has something to catch on camera. Third, the cap: MaxPasses is three, which guarantees termination. Running out of passes is an intentional good-enough boundary, not an error. Fourth, if the critique's JSON fails to parse, CritiqueAsync returns feedback saying so, which means the loop revises rather than crashing or falsely approving.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OPENAI_API_KEY and run the project. This transcript is abridged from the lesson's sample run, and your wording will differ. The program prints the task, then Draft 1. In this run the first draft was only two sentences, never named the temperature-lock feature, and had no call to action. The pass 1 self-critique names all three problems specifically. Draft 2 fixes them: three sentences, the temperature-lock seal named, and a closing call to action. The pass 2 critique comes back with empty feedback, so the program prints Satisfied, Stopping, and the final output is Draft 2. The shape to look for is fixed even when the words change: an imperfect first draft, a specific and actionable critique, a revision that addresses it, and a run that ends on its own verdict rather than on the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Try this on your own. Replace the hard-coded task and the MaxPasses constant with values read from args, falling back to the current task and a cap of three when no arguments are given. Then track how the loop ended and print one final line: Satisfied on pass N if the critique approved, or Stopped at the cap if it ran out of passes. As a check, run it with a cap of one: the agent should draft, critique once, and ship without ever calling ReviseAsync. Try a deliberately strict task too, and watch whether the agent can satisfy itself within the cap.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recap: we split one agent into Draft, Critique and Revise calls, had it judge its own output with no second persona, returned that judgment as a single structured field, ran generation hot and judgment cold, and bounded the loop so it always ships. These ideas come back quickly. Lesson 32 uses the same hot-and-cold split, drafting at 0.9 and synthesizing at 0.2. Lesson 34 builds every debate turn from a fresh, fully specified prompt instead of a long-lived thread. Lesson 36 caps its plan, execute and replan cycle for the same reason this loop is capped. And Lesson 38 applies the same one-field fix, where an empty string means nothing to remember.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1.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1.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slideLayout" Target="../slideLayouts/slideLayout1.xml"/><Relationship Id="rId7"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502920"/>
            <a:ext cx="4206240" cy="4572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LESSON 31  ·  PART 2</a:t>
            </a:r>
            <a:endParaRPr lang="en-US" sz="1100" dirty="0"/>
          </a:p>
        </p:txBody>
      </p:sp>
      <p:sp>
        <p:nvSpPr>
          <p:cNvPr id="3" name="Text 1"/>
          <p:cNvSpPr txBox="1"/>
          <p:nvPr/>
        </p:nvSpPr>
        <p:spPr>
          <a:xfrm>
            <a:off x="457200" y="1005840"/>
            <a:ext cx="4206240" cy="1371600"/>
          </a:xfrm>
          <a:prstGeom prst="rect">
            <a:avLst/>
          </a:prstGeom>
          <a:noFill/>
          <a:ln/>
        </p:spPr>
        <p:txBody>
          <a:bodyPr wrap="square" lIns="0" tIns="0" rIns="0" bIns="0" rtlCol="0" anchor="b"/>
          <a:lstStyle/>
          <a:p>
            <a:pPr indent="0" marL="0">
              <a:buNone/>
            </a:pPr>
            <a:r>
              <a:rPr lang="en-US" sz="4000" b="1" dirty="0">
                <a:solidFill>
                  <a:srgbClr val="FFFFFF"/>
                </a:solidFill>
                <a:latin typeface="Cambria" pitchFamily="34" charset="0"/>
                <a:ea typeface="Cambria" pitchFamily="34" charset="-122"/>
                <a:cs typeface="Cambria" pitchFamily="34" charset="-120"/>
              </a:rPr>
              <a:t>Self-Reflection Loop</a:t>
            </a:r>
            <a:endParaRPr lang="en-US" sz="4000" dirty="0"/>
          </a:p>
        </p:txBody>
      </p:sp>
      <p:sp>
        <p:nvSpPr>
          <p:cNvPr id="4" name="Text 2"/>
          <p:cNvSpPr txBox="1"/>
          <p:nvPr/>
        </p:nvSpPr>
        <p:spPr>
          <a:xfrm>
            <a:off x="457200" y="2468880"/>
            <a:ext cx="4206240" cy="640080"/>
          </a:xfrm>
          <a:prstGeom prst="rect">
            <a:avLst/>
          </a:prstGeom>
          <a:noFill/>
          <a:ln/>
        </p:spPr>
        <p:txBody>
          <a:bodyPr wrap="square" lIns="0" tIns="0" rIns="0" bIns="0" rtlCol="0" anchor="t"/>
          <a:lstStyle/>
          <a:p>
            <a:pPr indent="0" marL="0">
              <a:buNone/>
            </a:pPr>
            <a:r>
              <a:rPr lang="en-US" sz="1600" dirty="0">
                <a:solidFill>
                  <a:srgbClr val="B8B2E6"/>
                </a:solidFill>
                <a:latin typeface="Calibri" pitchFamily="34" charset="0"/>
                <a:ea typeface="Calibri" pitchFamily="34" charset="-122"/>
                <a:cs typeface="Calibri" pitchFamily="34" charset="-120"/>
              </a:rPr>
              <a:t>One agent drafts, critiques its own work, and revises until it is satisfied</a:t>
            </a:r>
            <a:endParaRPr lang="en-US" sz="1600" dirty="0"/>
          </a:p>
        </p:txBody>
      </p:sp>
      <p:sp>
        <p:nvSpPr>
          <p:cNvPr id="5" name="Text 3"/>
          <p:cNvSpPr txBox="1"/>
          <p:nvPr/>
        </p:nvSpPr>
        <p:spPr>
          <a:xfrm>
            <a:off x="457200" y="33467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STARTS FROM</a:t>
            </a:r>
            <a:endParaRPr lang="en-US" sz="900" dirty="0"/>
          </a:p>
        </p:txBody>
      </p:sp>
      <p:sp>
        <p:nvSpPr>
          <p:cNvPr id="6" name="Text 4"/>
          <p:cNvSpPr txBox="1"/>
          <p:nvPr/>
        </p:nvSpPr>
        <p:spPr>
          <a:xfrm>
            <a:off x="1554480" y="32918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an over-specified task</a:t>
            </a:r>
            <a:endParaRPr lang="en-US" sz="1100" dirty="0"/>
          </a:p>
        </p:txBody>
      </p:sp>
      <p:sp>
        <p:nvSpPr>
          <p:cNvPr id="7" name="Text 5"/>
          <p:cNvSpPr txBox="1"/>
          <p:nvPr/>
        </p:nvSpPr>
        <p:spPr>
          <a:xfrm>
            <a:off x="457200" y="3803904"/>
            <a:ext cx="1097280" cy="274320"/>
          </a:xfrm>
          <a:prstGeom prst="rect">
            <a:avLst/>
          </a:prstGeom>
          <a:noFill/>
          <a:ln/>
        </p:spPr>
        <p:txBody>
          <a:bodyPr wrap="square" lIns="0" tIns="0" rIns="0" bIns="0" rtlCol="0" anchor="t"/>
          <a:lstStyle/>
          <a:p>
            <a:pPr indent="0" marL="0">
              <a:buNone/>
            </a:pPr>
            <a:r>
              <a:rPr lang="en-US" sz="900" b="1" spc="100" kern="0" dirty="0">
                <a:solidFill>
                  <a:srgbClr val="B8B2E6"/>
                </a:solidFill>
                <a:latin typeface="Calibri" pitchFamily="34" charset="0"/>
                <a:ea typeface="Calibri" pitchFamily="34" charset="-122"/>
                <a:cs typeface="Calibri" pitchFamily="34" charset="-120"/>
              </a:rPr>
              <a:t>FINISHES AS</a:t>
            </a:r>
            <a:endParaRPr lang="en-US" sz="900" dirty="0"/>
          </a:p>
        </p:txBody>
      </p:sp>
      <p:sp>
        <p:nvSpPr>
          <p:cNvPr id="8" name="Text 6"/>
          <p:cNvSpPr txBox="1"/>
          <p:nvPr/>
        </p:nvSpPr>
        <p:spPr>
          <a:xfrm>
            <a:off x="1554480" y="3749040"/>
            <a:ext cx="3291840" cy="365760"/>
          </a:xfrm>
          <a:prstGeom prst="rect">
            <a:avLst/>
          </a:prstGeom>
          <a:noFill/>
          <a:ln/>
        </p:spPr>
        <p:txBody>
          <a:bodyPr wrap="square" lIns="0" tIns="0" rIns="0" bIns="0" rtlCol="0" anchor="ctr"/>
          <a:lstStyle/>
          <a:p>
            <a:pPr indent="0" marL="0">
              <a:buNone/>
            </a:pPr>
            <a:r>
              <a:rPr lang="en-US" sz="1100" dirty="0">
                <a:solidFill>
                  <a:srgbClr val="FFFFFF"/>
                </a:solidFill>
                <a:latin typeface="Courier New" pitchFamily="34" charset="0"/>
                <a:ea typeface="Courier New" pitchFamily="34" charset="-122"/>
                <a:cs typeface="Courier New" pitchFamily="34" charset="-120"/>
              </a:rPr>
              <a:t>a self-approved draft</a:t>
            </a:r>
            <a:endParaRPr lang="en-US" sz="1100" dirty="0"/>
          </a:p>
        </p:txBody>
      </p:sp>
      <p:sp>
        <p:nvSpPr>
          <p:cNvPr id="9" name="Shape 7"/>
          <p:cNvSpPr/>
          <p:nvPr/>
        </p:nvSpPr>
        <p:spPr>
          <a:xfrm>
            <a:off x="4983480" y="502920"/>
            <a:ext cx="3703320" cy="4069080"/>
          </a:xfrm>
          <a:prstGeom prst="roundRect">
            <a:avLst>
              <a:gd name="adj" fmla="val 1975"/>
            </a:avLst>
          </a:prstGeom>
          <a:solidFill>
            <a:srgbClr val="1F2943"/>
          </a:solidFill>
          <a:ln w="12700">
            <a:solidFill>
              <a:srgbClr val="1F2943"/>
            </a:solidFill>
            <a:prstDash val="solid"/>
          </a:ln>
        </p:spPr>
      </p:sp>
      <p:sp>
        <p:nvSpPr>
          <p:cNvPr id="10" name="Text 8"/>
          <p:cNvSpPr txBox="1"/>
          <p:nvPr/>
        </p:nvSpPr>
        <p:spPr>
          <a:xfrm>
            <a:off x="5257800" y="731520"/>
            <a:ext cx="3200400" cy="365760"/>
          </a:xfrm>
          <a:prstGeom prst="rect">
            <a:avLst/>
          </a:prstGeom>
          <a:noFill/>
          <a:ln/>
        </p:spPr>
        <p:txBody>
          <a:bodyPr wrap="square" lIns="0" tIns="0" rIns="0" bIns="0" rtlCol="0" anchor="t"/>
          <a:lstStyle/>
          <a:p>
            <a:pPr indent="0" marL="0">
              <a:buNone/>
            </a:pPr>
            <a:r>
              <a:rPr lang="en-US" sz="1600" b="1" dirty="0">
                <a:solidFill>
                  <a:srgbClr val="FFFFFF"/>
                </a:solidFill>
                <a:latin typeface="Cambria" pitchFamily="34" charset="0"/>
                <a:ea typeface="Cambria" pitchFamily="34" charset="-122"/>
                <a:cs typeface="Cambria" pitchFamily="34" charset="-120"/>
              </a:rPr>
              <a:t>In this lesson you'll learn</a:t>
            </a:r>
            <a:endParaRPr lang="en-US" sz="1600" dirty="0"/>
          </a:p>
        </p:txBody>
      </p:sp>
      <p:sp>
        <p:nvSpPr>
          <p:cNvPr id="11" name="Shape 9"/>
          <p:cNvSpPr/>
          <p:nvPr/>
        </p:nvSpPr>
        <p:spPr>
          <a:xfrm>
            <a:off x="5257800" y="1252728"/>
            <a:ext cx="310896" cy="310896"/>
          </a:xfrm>
          <a:prstGeom prst="ellipse">
            <a:avLst/>
          </a:prstGeom>
          <a:solidFill>
            <a:srgbClr val="512BD4"/>
          </a:solidFill>
          <a:ln w="12700">
            <a:solidFill>
              <a:srgbClr val="512BD4"/>
            </a:solidFill>
            <a:prstDash val="solid"/>
          </a:ln>
        </p:spPr>
      </p:sp>
      <p:pic>
        <p:nvPicPr>
          <p:cNvPr id="12" name="Image 0" descr="preencoded.png">    </p:cNvPr>
          <p:cNvPicPr>
            <a:picLocks noChangeAspect="1"/>
          </p:cNvPicPr>
          <p:nvPr/>
        </p:nvPicPr>
        <p:blipFill>
          <a:blip r:embed="rId1"/>
          <a:stretch>
            <a:fillRect/>
          </a:stretch>
        </p:blipFill>
        <p:spPr>
          <a:xfrm>
            <a:off x="5338633" y="1333561"/>
            <a:ext cx="149230" cy="149230"/>
          </a:xfrm>
          <a:prstGeom prst="rect">
            <a:avLst/>
          </a:prstGeom>
        </p:spPr>
      </p:pic>
      <p:sp>
        <p:nvSpPr>
          <p:cNvPr id="13" name="Text 10"/>
          <p:cNvSpPr txBox="1"/>
          <p:nvPr/>
        </p:nvSpPr>
        <p:spPr>
          <a:xfrm>
            <a:off x="5715000" y="123444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Split one agent into Draft, Critique and Revise calls</a:t>
            </a:r>
            <a:endParaRPr lang="en-US" sz="1300" dirty="0"/>
          </a:p>
        </p:txBody>
      </p:sp>
      <p:sp>
        <p:nvSpPr>
          <p:cNvPr id="14" name="Shape 11"/>
          <p:cNvSpPr/>
          <p:nvPr/>
        </p:nvSpPr>
        <p:spPr>
          <a:xfrm>
            <a:off x="5257800" y="1892808"/>
            <a:ext cx="310896" cy="310896"/>
          </a:xfrm>
          <a:prstGeom prst="ellipse">
            <a:avLst/>
          </a:prstGeom>
          <a:solidFill>
            <a:srgbClr val="512BD4"/>
          </a:solidFill>
          <a:ln w="12700">
            <a:solidFill>
              <a:srgbClr val="512BD4"/>
            </a:solidFill>
            <a:prstDash val="solid"/>
          </a:ln>
        </p:spPr>
      </p:sp>
      <p:pic>
        <p:nvPicPr>
          <p:cNvPr id="15" name="Image 1" descr="preencoded.png">    </p:cNvPr>
          <p:cNvPicPr>
            <a:picLocks noChangeAspect="1"/>
          </p:cNvPicPr>
          <p:nvPr/>
        </p:nvPicPr>
        <p:blipFill>
          <a:blip r:embed="rId2"/>
          <a:stretch>
            <a:fillRect/>
          </a:stretch>
        </p:blipFill>
        <p:spPr>
          <a:xfrm>
            <a:off x="5338633" y="1973641"/>
            <a:ext cx="149230" cy="149230"/>
          </a:xfrm>
          <a:prstGeom prst="rect">
            <a:avLst/>
          </a:prstGeom>
        </p:spPr>
      </p:pic>
      <p:sp>
        <p:nvSpPr>
          <p:cNvPr id="16" name="Text 12"/>
          <p:cNvSpPr txBox="1"/>
          <p:nvPr/>
        </p:nvSpPr>
        <p:spPr>
          <a:xfrm>
            <a:off x="5715000" y="187452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Judge your own output without a second persona</a:t>
            </a:r>
            <a:endParaRPr lang="en-US" sz="1300" dirty="0"/>
          </a:p>
        </p:txBody>
      </p:sp>
      <p:sp>
        <p:nvSpPr>
          <p:cNvPr id="17" name="Shape 13"/>
          <p:cNvSpPr/>
          <p:nvPr/>
        </p:nvSpPr>
        <p:spPr>
          <a:xfrm>
            <a:off x="5257800" y="2532888"/>
            <a:ext cx="310896" cy="310896"/>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5338633" y="2613721"/>
            <a:ext cx="149230" cy="149230"/>
          </a:xfrm>
          <a:prstGeom prst="rect">
            <a:avLst/>
          </a:prstGeom>
        </p:spPr>
      </p:pic>
      <p:sp>
        <p:nvSpPr>
          <p:cNvPr id="19" name="Text 14"/>
          <p:cNvSpPr txBox="1"/>
          <p:nvPr/>
        </p:nvSpPr>
        <p:spPr>
          <a:xfrm>
            <a:off x="5715000" y="251460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Return the verdict as one structured JSON field</a:t>
            </a:r>
            <a:endParaRPr lang="en-US" sz="1300" dirty="0"/>
          </a:p>
        </p:txBody>
      </p:sp>
      <p:sp>
        <p:nvSpPr>
          <p:cNvPr id="20" name="Shape 15"/>
          <p:cNvSpPr/>
          <p:nvPr/>
        </p:nvSpPr>
        <p:spPr>
          <a:xfrm>
            <a:off x="5257800" y="3172968"/>
            <a:ext cx="310896" cy="310896"/>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5338633" y="3253801"/>
            <a:ext cx="149230" cy="149230"/>
          </a:xfrm>
          <a:prstGeom prst="rect">
            <a:avLst/>
          </a:prstGeom>
        </p:spPr>
      </p:pic>
      <p:sp>
        <p:nvSpPr>
          <p:cNvPr id="22" name="Text 16"/>
          <p:cNvSpPr txBox="1"/>
          <p:nvPr/>
        </p:nvSpPr>
        <p:spPr>
          <a:xfrm>
            <a:off x="5715000" y="315468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Run generation hot and judgment cold</a:t>
            </a:r>
            <a:endParaRPr lang="en-US" sz="1300" dirty="0"/>
          </a:p>
        </p:txBody>
      </p:sp>
      <p:sp>
        <p:nvSpPr>
          <p:cNvPr id="23" name="Shape 17"/>
          <p:cNvSpPr/>
          <p:nvPr/>
        </p:nvSpPr>
        <p:spPr>
          <a:xfrm>
            <a:off x="5257800" y="3813048"/>
            <a:ext cx="310896" cy="310896"/>
          </a:xfrm>
          <a:prstGeom prst="ellipse">
            <a:avLst/>
          </a:prstGeom>
          <a:solidFill>
            <a:srgbClr val="512BD4"/>
          </a:solidFill>
          <a:ln w="12700">
            <a:solidFill>
              <a:srgbClr val="512BD4"/>
            </a:solidFill>
            <a:prstDash val="solid"/>
          </a:ln>
        </p:spPr>
      </p:sp>
      <p:pic>
        <p:nvPicPr>
          <p:cNvPr id="24" name="Image 4" descr="preencoded.png">    </p:cNvPr>
          <p:cNvPicPr>
            <a:picLocks noChangeAspect="1"/>
          </p:cNvPicPr>
          <p:nvPr/>
        </p:nvPicPr>
        <p:blipFill>
          <a:blip r:embed="rId5"/>
          <a:stretch>
            <a:fillRect/>
          </a:stretch>
        </p:blipFill>
        <p:spPr>
          <a:xfrm>
            <a:off x="5338633" y="3893881"/>
            <a:ext cx="149230" cy="149230"/>
          </a:xfrm>
          <a:prstGeom prst="rect">
            <a:avLst/>
          </a:prstGeom>
        </p:spPr>
      </p:pic>
      <p:sp>
        <p:nvSpPr>
          <p:cNvPr id="25" name="Text 18"/>
          <p:cNvSpPr txBox="1"/>
          <p:nvPr/>
        </p:nvSpPr>
        <p:spPr>
          <a:xfrm>
            <a:off x="5715000" y="3794760"/>
            <a:ext cx="2743200" cy="59436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Bound the loop so it always ships something</a:t>
            </a:r>
            <a:endParaRPr lang="en-US" sz="1300" dirty="0"/>
          </a:p>
        </p:txBody>
      </p:sp>
      <p:sp>
        <p:nvSpPr>
          <p:cNvPr id="26"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31 — Self-Reflection Loop</a:t>
            </a:r>
            <a:endParaRPr lang="en-US" sz="900" dirty="0"/>
          </a:p>
        </p:txBody>
      </p:sp>
      <p:sp>
        <p:nvSpPr>
          <p:cNvPr id="27"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WHAT CHANGES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350" b="1" dirty="0">
                <a:solidFill>
                  <a:srgbClr val="1F2937"/>
                </a:solidFill>
                <a:latin typeface="Cambria" pitchFamily="34" charset="0"/>
                <a:ea typeface="Cambria" pitchFamily="34" charset="-122"/>
                <a:cs typeface="Cambria" pitchFamily="34" charset="-120"/>
              </a:rPr>
              <a:t>From an outside critic to an agent that judges itself</a:t>
            </a:r>
            <a:endParaRPr lang="en-US" sz="2350" dirty="0"/>
          </a:p>
        </p:txBody>
      </p:sp>
      <p:sp>
        <p:nvSpPr>
          <p:cNvPr id="4" name="Shape 2"/>
          <p:cNvSpPr/>
          <p:nvPr/>
        </p:nvSpPr>
        <p:spPr>
          <a:xfrm>
            <a:off x="457200" y="1371600"/>
            <a:ext cx="3931920" cy="1828800"/>
          </a:xfrm>
          <a:prstGeom prst="roundRect">
            <a:avLst>
              <a:gd name="adj" fmla="val 4000"/>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11: the Critic</a:t>
            </a:r>
            <a:endParaRPr lang="en-US" sz="1700" dirty="0"/>
          </a:p>
        </p:txBody>
      </p:sp>
      <p:sp>
        <p:nvSpPr>
          <p:cNvPr id="8" name="Text 5"/>
          <p:cNvSpPr txBox="1"/>
          <p:nvPr/>
        </p:nvSpPr>
        <p:spPr>
          <a:xfrm>
            <a:off x="68580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Scores a fixed, external code snippet</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One pass: no loop, no rewrite</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Never talks back to the author</a:t>
            </a:r>
            <a:endParaRPr lang="en-US" sz="1300" dirty="0"/>
          </a:p>
        </p:txBody>
      </p:sp>
      <p:sp>
        <p:nvSpPr>
          <p:cNvPr id="9" name="Shape 6"/>
          <p:cNvSpPr/>
          <p:nvPr/>
        </p:nvSpPr>
        <p:spPr>
          <a:xfrm>
            <a:off x="4754880" y="1371600"/>
            <a:ext cx="3931920" cy="1828800"/>
          </a:xfrm>
          <a:prstGeom prst="roundRect">
            <a:avLst>
              <a:gd name="adj" fmla="val 4000"/>
            </a:avLst>
          </a:prstGeom>
          <a:solidFill>
            <a:srgbClr val="EFEBFC"/>
          </a:solidFill>
          <a:ln w="12700">
            <a:solidFill>
              <a:srgbClr val="EFEBFC"/>
            </a:solidFill>
            <a:prstDash val="solid"/>
          </a:ln>
        </p:spPr>
      </p:sp>
      <p:sp>
        <p:nvSpPr>
          <p:cNvPr id="10" name="Shape 7"/>
          <p:cNvSpPr/>
          <p:nvPr/>
        </p:nvSpPr>
        <p:spPr>
          <a:xfrm>
            <a:off x="4983480" y="1600200"/>
            <a:ext cx="438912" cy="438912"/>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2" name="Text 8"/>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Lesson 31: self-reflection</a:t>
            </a:r>
            <a:endParaRPr lang="en-US" sz="1700" dirty="0"/>
          </a:p>
        </p:txBody>
      </p:sp>
      <p:sp>
        <p:nvSpPr>
          <p:cNvPr id="13" name="Text 9"/>
          <p:cNvSpPr txBox="1"/>
          <p:nvPr/>
        </p:nvSpPr>
        <p:spPr>
          <a:xfrm>
            <a:off x="4983480" y="2194560"/>
            <a:ext cx="3474720" cy="91440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Critiques its own draft against the task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Feeds the critique into a revision</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Stops itself when satisfied, or at a cap</a:t>
            </a:r>
            <a:endParaRPr lang="en-US" sz="1300" dirty="0"/>
          </a:p>
        </p:txBody>
      </p:sp>
      <p:sp>
        <p:nvSpPr>
          <p:cNvPr id="14" name="Text 10"/>
          <p:cNvSpPr txBox="1"/>
          <p:nvPr/>
        </p:nvSpPr>
        <p:spPr>
          <a:xfrm>
            <a:off x="457200" y="347472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Unlike Lesson 18's Copywriter and Editor, there is only one persona on stage.</a:t>
            </a:r>
            <a:endParaRPr lang="en-US" sz="1400" dirty="0"/>
          </a:p>
        </p:txBody>
      </p:sp>
      <p:sp>
        <p:nvSpPr>
          <p:cNvPr id="15" name="Text 11"/>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31 — Self-Reflection Loop</a:t>
            </a:r>
            <a:endParaRPr lang="en-US" sz="900" dirty="0"/>
          </a:p>
        </p:txBody>
      </p:sp>
      <p:sp>
        <p:nvSpPr>
          <p:cNvPr id="16" name="Text 12"/>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SETUP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What you need before writing any code</a:t>
            </a:r>
            <a:endParaRPr lang="en-US" sz="2800" dirty="0"/>
          </a:p>
        </p:txBody>
      </p:sp>
      <p:sp>
        <p:nvSpPr>
          <p:cNvPr id="4" name="Shape 2"/>
          <p:cNvSpPr/>
          <p:nvPr/>
        </p:nvSpPr>
        <p:spPr>
          <a:xfrm>
            <a:off x="457200" y="1371600"/>
            <a:ext cx="3977640" cy="1394460"/>
          </a:xfrm>
          <a:prstGeom prst="roundRect">
            <a:avLst>
              <a:gd name="adj" fmla="val 5246"/>
            </a:avLst>
          </a:prstGeom>
          <a:solidFill>
            <a:srgbClr val="EFEBFC"/>
          </a:solidFill>
          <a:ln w="12700">
            <a:solidFill>
              <a:srgbClr val="EFEBFC"/>
            </a:solidFill>
            <a:prstDash val="solid"/>
          </a:ln>
        </p:spPr>
      </p:sp>
      <p:sp>
        <p:nvSpPr>
          <p:cNvPr id="5" name="Shape 3"/>
          <p:cNvSpPr/>
          <p:nvPr/>
        </p:nvSpPr>
        <p:spPr>
          <a:xfrm>
            <a:off x="640080" y="1554480"/>
            <a:ext cx="384048" cy="384048"/>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.NET 10 SDK</a:t>
            </a:r>
            <a:endParaRPr lang="en-US" sz="1500" dirty="0"/>
          </a:p>
        </p:txBody>
      </p:sp>
      <p:sp>
        <p:nvSpPr>
          <p:cNvPr id="8" name="Text 5"/>
          <p:cNvSpPr txBox="1"/>
          <p:nvPr/>
        </p:nvSpPr>
        <p:spPr>
          <a:xfrm>
            <a:off x="64008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console app targeting net10.0, opened from SelfReflectionLoop.slnx in Visual Studio 2026.</a:t>
            </a:r>
            <a:endParaRPr lang="en-US" sz="1200" dirty="0"/>
          </a:p>
        </p:txBody>
      </p:sp>
      <p:sp>
        <p:nvSpPr>
          <p:cNvPr id="9" name="Shape 6"/>
          <p:cNvSpPr/>
          <p:nvPr/>
        </p:nvSpPr>
        <p:spPr>
          <a:xfrm>
            <a:off x="4709160" y="1371600"/>
            <a:ext cx="3977640" cy="1394460"/>
          </a:xfrm>
          <a:prstGeom prst="roundRect">
            <a:avLst>
              <a:gd name="adj" fmla="val 5246"/>
            </a:avLst>
          </a:prstGeom>
          <a:solidFill>
            <a:srgbClr val="EFEBFC"/>
          </a:solidFill>
          <a:ln w="12700">
            <a:solidFill>
              <a:srgbClr val="EFEBFC"/>
            </a:solidFill>
            <a:prstDash val="solid"/>
          </a:ln>
        </p:spPr>
      </p:sp>
      <p:sp>
        <p:nvSpPr>
          <p:cNvPr id="10" name="Shape 7"/>
          <p:cNvSpPr/>
          <p:nvPr/>
        </p:nvSpPr>
        <p:spPr>
          <a:xfrm>
            <a:off x="489204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4991892" y="1654332"/>
            <a:ext cx="184343" cy="184343"/>
          </a:xfrm>
          <a:prstGeom prst="rect">
            <a:avLst/>
          </a:prstGeom>
        </p:spPr>
      </p:pic>
      <p:sp>
        <p:nvSpPr>
          <p:cNvPr id="12" name="Text 8"/>
          <p:cNvSpPr txBox="1"/>
          <p:nvPr/>
        </p:nvSpPr>
        <p:spPr>
          <a:xfrm>
            <a:off x="5394960" y="155448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alibri" pitchFamily="34" charset="0"/>
                <a:ea typeface="Calibri" pitchFamily="34" charset="-122"/>
                <a:cs typeface="Calibri" pitchFamily="34" charset="-120"/>
              </a:rPr>
              <a:t>Two NuGet packages</a:t>
            </a:r>
            <a:endParaRPr lang="en-US" sz="1500" dirty="0"/>
          </a:p>
        </p:txBody>
      </p:sp>
      <p:sp>
        <p:nvSpPr>
          <p:cNvPr id="13" name="Text 9"/>
          <p:cNvSpPr txBox="1"/>
          <p:nvPr/>
        </p:nvSpPr>
        <p:spPr>
          <a:xfrm>
            <a:off x="4892040" y="205740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Microsoft.SemanticKernel and Microsoft.SemanticKernel.Connectors.OpenAI, both 1.78.0.</a:t>
            </a:r>
            <a:endParaRPr lang="en-US" sz="1200" dirty="0"/>
          </a:p>
        </p:txBody>
      </p:sp>
      <p:sp>
        <p:nvSpPr>
          <p:cNvPr id="14" name="Shape 10"/>
          <p:cNvSpPr/>
          <p:nvPr/>
        </p:nvSpPr>
        <p:spPr>
          <a:xfrm>
            <a:off x="457200" y="2994660"/>
            <a:ext cx="3977640" cy="1394460"/>
          </a:xfrm>
          <a:prstGeom prst="roundRect">
            <a:avLst>
              <a:gd name="adj" fmla="val 5246"/>
            </a:avLst>
          </a:prstGeom>
          <a:solidFill>
            <a:srgbClr val="EFEBFC"/>
          </a:solidFill>
          <a:ln w="12700">
            <a:solidFill>
              <a:srgbClr val="EFEBFC"/>
            </a:solidFill>
            <a:prstDash val="solid"/>
          </a:ln>
        </p:spPr>
      </p:sp>
      <p:sp>
        <p:nvSpPr>
          <p:cNvPr id="15" name="Shape 11"/>
          <p:cNvSpPr/>
          <p:nvPr/>
        </p:nvSpPr>
        <p:spPr>
          <a:xfrm>
            <a:off x="640080" y="317754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739932" y="3277392"/>
            <a:ext cx="184343" cy="184343"/>
          </a:xfrm>
          <a:prstGeom prst="rect">
            <a:avLst/>
          </a:prstGeom>
        </p:spPr>
      </p:pic>
      <p:sp>
        <p:nvSpPr>
          <p:cNvPr id="17" name="Text 12"/>
          <p:cNvSpPr txBox="1"/>
          <p:nvPr/>
        </p:nvSpPr>
        <p:spPr>
          <a:xfrm>
            <a:off x="114300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OPENAI_API_KEY</a:t>
            </a:r>
            <a:endParaRPr lang="en-US" sz="1500" dirty="0"/>
          </a:p>
        </p:txBody>
      </p:sp>
      <p:sp>
        <p:nvSpPr>
          <p:cNvPr id="18" name="Text 13"/>
          <p:cNvSpPr txBox="1"/>
          <p:nvPr/>
        </p:nvSpPr>
        <p:spPr>
          <a:xfrm>
            <a:off x="64008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Read from the environment. The program throws at startup if it is missing.</a:t>
            </a:r>
            <a:endParaRPr lang="en-US" sz="1200" dirty="0"/>
          </a:p>
        </p:txBody>
      </p:sp>
      <p:sp>
        <p:nvSpPr>
          <p:cNvPr id="19" name="Shape 14"/>
          <p:cNvSpPr/>
          <p:nvPr/>
        </p:nvSpPr>
        <p:spPr>
          <a:xfrm>
            <a:off x="4709160" y="2994660"/>
            <a:ext cx="3977640" cy="1394460"/>
          </a:xfrm>
          <a:prstGeom prst="roundRect">
            <a:avLst>
              <a:gd name="adj" fmla="val 5246"/>
            </a:avLst>
          </a:prstGeom>
          <a:solidFill>
            <a:srgbClr val="EFEBFC"/>
          </a:solidFill>
          <a:ln w="12700">
            <a:solidFill>
              <a:srgbClr val="EFEBFC"/>
            </a:solidFill>
            <a:prstDash val="solid"/>
          </a:ln>
        </p:spPr>
      </p:sp>
      <p:sp>
        <p:nvSpPr>
          <p:cNvPr id="20" name="Shape 15"/>
          <p:cNvSpPr/>
          <p:nvPr/>
        </p:nvSpPr>
        <p:spPr>
          <a:xfrm>
            <a:off x="4892040" y="317754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4991892" y="3277392"/>
            <a:ext cx="184343" cy="184343"/>
          </a:xfrm>
          <a:prstGeom prst="rect">
            <a:avLst/>
          </a:prstGeom>
        </p:spPr>
      </p:pic>
      <p:sp>
        <p:nvSpPr>
          <p:cNvPr id="22" name="Text 16"/>
          <p:cNvSpPr txBox="1"/>
          <p:nvPr/>
        </p:nvSpPr>
        <p:spPr>
          <a:xfrm>
            <a:off x="5394960" y="3177540"/>
            <a:ext cx="3154680" cy="384048"/>
          </a:xfrm>
          <a:prstGeom prst="rect">
            <a:avLst/>
          </a:prstGeom>
          <a:noFill/>
          <a:ln/>
        </p:spPr>
        <p:txBody>
          <a:bodyPr wrap="square" lIns="0" tIns="0" rIns="0" bIns="0" rtlCol="0" anchor="ctr">
            <a:normAutofit/>
          </a:bodyPr>
          <a:lstStyle/>
          <a:p>
            <a:pPr indent="0" marL="0">
              <a:buNone/>
            </a:pPr>
            <a:r>
              <a:rPr lang="en-US" sz="1500" b="1" dirty="0">
                <a:solidFill>
                  <a:srgbClr val="1F2937"/>
                </a:solidFill>
                <a:latin typeface="Courier New" pitchFamily="34" charset="0"/>
                <a:ea typeface="Courier New" pitchFamily="34" charset="-122"/>
                <a:cs typeface="Courier New" pitchFamily="34" charset="-120"/>
              </a:rPr>
              <a:t>gpt-4.1-mini</a:t>
            </a:r>
            <a:endParaRPr lang="en-US" sz="1500" dirty="0"/>
          </a:p>
        </p:txBody>
      </p:sp>
      <p:sp>
        <p:nvSpPr>
          <p:cNvPr id="23" name="Text 17"/>
          <p:cNvSpPr txBox="1"/>
          <p:nvPr/>
        </p:nvSpPr>
        <p:spPr>
          <a:xfrm>
            <a:off x="4892040" y="3680460"/>
            <a:ext cx="3611880" cy="6172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Registered with AddOpenAIChatCompletion; every call goes through IChatCompletionService.</a:t>
            </a:r>
            <a:endParaRPr lang="en-US" sz="1200" dirty="0"/>
          </a:p>
        </p:txBody>
      </p:sp>
      <p:sp>
        <p:nvSpPr>
          <p:cNvPr id="24" name="Text 18"/>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31 — Self-Reflection Loop</a:t>
            </a:r>
            <a:endParaRPr lang="en-US" sz="900" dirty="0"/>
          </a:p>
        </p:txBody>
      </p:sp>
      <p:sp>
        <p:nvSpPr>
          <p:cNvPr id="25" name="Text 19"/>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THE LOOP</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350" b="1" dirty="0">
                <a:solidFill>
                  <a:srgbClr val="1F2937"/>
                </a:solidFill>
                <a:latin typeface="Cambria" pitchFamily="34" charset="0"/>
                <a:ea typeface="Cambria" pitchFamily="34" charset="-122"/>
                <a:cs typeface="Cambria" pitchFamily="34" charset="-120"/>
              </a:rPr>
              <a:t>Draft once, then critique and revise until satisfied</a:t>
            </a:r>
            <a:endParaRPr lang="en-US" sz="2350" dirty="0"/>
          </a:p>
        </p:txBody>
      </p:sp>
      <p:sp>
        <p:nvSpPr>
          <p:cNvPr id="4" name="Shape 2"/>
          <p:cNvSpPr/>
          <p:nvPr/>
        </p:nvSpPr>
        <p:spPr>
          <a:xfrm>
            <a:off x="457200" y="1417320"/>
            <a:ext cx="1367942" cy="1993392"/>
          </a:xfrm>
          <a:prstGeom prst="roundRect">
            <a:avLst>
              <a:gd name="adj" fmla="val 5348"/>
            </a:avLst>
          </a:prstGeom>
          <a:solidFill>
            <a:srgbClr val="EFEBFC"/>
          </a:solidFill>
          <a:ln w="12700">
            <a:solidFill>
              <a:srgbClr val="EFEBFC"/>
            </a:solidFill>
            <a:prstDash val="solid"/>
          </a:ln>
        </p:spPr>
      </p:sp>
      <p:sp>
        <p:nvSpPr>
          <p:cNvPr id="5" name="Shape 3"/>
          <p:cNvSpPr/>
          <p:nvPr/>
        </p:nvSpPr>
        <p:spPr>
          <a:xfrm>
            <a:off x="640080" y="1618488"/>
            <a:ext cx="457200" cy="457200"/>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58952" y="1737360"/>
            <a:ext cx="219456" cy="219456"/>
          </a:xfrm>
          <a:prstGeom prst="rect">
            <a:avLst/>
          </a:prstGeom>
        </p:spPr>
      </p:pic>
      <p:sp>
        <p:nvSpPr>
          <p:cNvPr id="7" name="Text 4"/>
          <p:cNvSpPr txBox="1"/>
          <p:nvPr/>
        </p:nvSpPr>
        <p:spPr>
          <a:xfrm>
            <a:off x="640080"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Draft</a:t>
            </a:r>
            <a:endParaRPr lang="en-US" sz="1300" dirty="0"/>
          </a:p>
        </p:txBody>
      </p:sp>
      <p:sp>
        <p:nvSpPr>
          <p:cNvPr id="8" name="Text 5"/>
          <p:cNvSpPr txBox="1"/>
          <p:nvPr/>
        </p:nvSpPr>
        <p:spPr>
          <a:xfrm>
            <a:off x="640080"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DraftAsync writes a first attempt.</a:t>
            </a:r>
            <a:endParaRPr lang="en-US" sz="1200" dirty="0"/>
          </a:p>
        </p:txBody>
      </p:sp>
      <p:sp>
        <p:nvSpPr>
          <p:cNvPr id="9" name="Shape 6"/>
          <p:cNvSpPr/>
          <p:nvPr/>
        </p:nvSpPr>
        <p:spPr>
          <a:xfrm>
            <a:off x="1889150" y="2304288"/>
            <a:ext cx="219456" cy="219456"/>
          </a:xfrm>
          <a:prstGeom prst="rightArrow">
            <a:avLst/>
          </a:prstGeom>
          <a:solidFill>
            <a:srgbClr val="F5A623"/>
          </a:solidFill>
          <a:ln w="12700">
            <a:solidFill>
              <a:srgbClr val="F5A623"/>
            </a:solidFill>
            <a:prstDash val="solid"/>
          </a:ln>
        </p:spPr>
      </p:sp>
      <p:sp>
        <p:nvSpPr>
          <p:cNvPr id="10" name="Shape 7"/>
          <p:cNvSpPr/>
          <p:nvPr/>
        </p:nvSpPr>
        <p:spPr>
          <a:xfrm>
            <a:off x="2172614" y="1417320"/>
            <a:ext cx="1367942" cy="1993392"/>
          </a:xfrm>
          <a:prstGeom prst="roundRect">
            <a:avLst>
              <a:gd name="adj" fmla="val 5348"/>
            </a:avLst>
          </a:prstGeom>
          <a:solidFill>
            <a:srgbClr val="512BD4"/>
          </a:solidFill>
          <a:ln w="12700">
            <a:solidFill>
              <a:srgbClr val="512BD4"/>
            </a:solidFill>
            <a:prstDash val="solid"/>
          </a:ln>
        </p:spPr>
      </p:sp>
      <p:sp>
        <p:nvSpPr>
          <p:cNvPr id="11" name="Shape 8"/>
          <p:cNvSpPr/>
          <p:nvPr/>
        </p:nvSpPr>
        <p:spPr>
          <a:xfrm>
            <a:off x="2355494" y="1618488"/>
            <a:ext cx="457200" cy="457200"/>
          </a:xfrm>
          <a:prstGeom prst="ellipse">
            <a:avLst/>
          </a:prstGeom>
          <a:solidFill>
            <a:srgbClr val="FFFFFF"/>
          </a:solidFill>
          <a:ln w="12700">
            <a:solidFill>
              <a:srgbClr val="FFFFFF"/>
            </a:solidFill>
            <a:prstDash val="solid"/>
          </a:ln>
        </p:spPr>
      </p:sp>
      <p:pic>
        <p:nvPicPr>
          <p:cNvPr id="12" name="Image 1" descr="preencoded.png">    </p:cNvPr>
          <p:cNvPicPr>
            <a:picLocks noChangeAspect="1"/>
          </p:cNvPicPr>
          <p:nvPr/>
        </p:nvPicPr>
        <p:blipFill>
          <a:blip r:embed="rId2"/>
          <a:stretch>
            <a:fillRect/>
          </a:stretch>
        </p:blipFill>
        <p:spPr>
          <a:xfrm>
            <a:off x="2474366" y="1737360"/>
            <a:ext cx="219456" cy="219456"/>
          </a:xfrm>
          <a:prstGeom prst="rect">
            <a:avLst/>
          </a:prstGeom>
        </p:spPr>
      </p:pic>
      <p:sp>
        <p:nvSpPr>
          <p:cNvPr id="13" name="Text 9"/>
          <p:cNvSpPr txBox="1"/>
          <p:nvPr/>
        </p:nvSpPr>
        <p:spPr>
          <a:xfrm>
            <a:off x="2355494" y="2194560"/>
            <a:ext cx="1047902" cy="41148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Critique</a:t>
            </a:r>
            <a:endParaRPr lang="en-US" sz="1300" dirty="0"/>
          </a:p>
        </p:txBody>
      </p:sp>
      <p:sp>
        <p:nvSpPr>
          <p:cNvPr id="14" name="Text 10"/>
          <p:cNvSpPr txBox="1"/>
          <p:nvPr/>
        </p:nvSpPr>
        <p:spPr>
          <a:xfrm>
            <a:off x="2355494" y="2606040"/>
            <a:ext cx="1047902" cy="713232"/>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CritiqueAsync returns a JSON verdict.</a:t>
            </a:r>
            <a:endParaRPr lang="en-US" sz="1200" dirty="0"/>
          </a:p>
        </p:txBody>
      </p:sp>
      <p:sp>
        <p:nvSpPr>
          <p:cNvPr id="15" name="Shape 11"/>
          <p:cNvSpPr/>
          <p:nvPr/>
        </p:nvSpPr>
        <p:spPr>
          <a:xfrm>
            <a:off x="3604565" y="2304288"/>
            <a:ext cx="219456" cy="219456"/>
          </a:xfrm>
          <a:prstGeom prst="rightArrow">
            <a:avLst/>
          </a:prstGeom>
          <a:solidFill>
            <a:srgbClr val="F5A623"/>
          </a:solidFill>
          <a:ln w="12700">
            <a:solidFill>
              <a:srgbClr val="F5A623"/>
            </a:solidFill>
            <a:prstDash val="solid"/>
          </a:ln>
        </p:spPr>
      </p:sp>
      <p:sp>
        <p:nvSpPr>
          <p:cNvPr id="16" name="Shape 12"/>
          <p:cNvSpPr/>
          <p:nvPr/>
        </p:nvSpPr>
        <p:spPr>
          <a:xfrm>
            <a:off x="3888029" y="1417320"/>
            <a:ext cx="1367942" cy="1993392"/>
          </a:xfrm>
          <a:prstGeom prst="roundRect">
            <a:avLst>
              <a:gd name="adj" fmla="val 5348"/>
            </a:avLst>
          </a:prstGeom>
          <a:solidFill>
            <a:srgbClr val="EFEBFC"/>
          </a:solidFill>
          <a:ln w="12700">
            <a:solidFill>
              <a:srgbClr val="EFEBFC"/>
            </a:solidFill>
            <a:prstDash val="solid"/>
          </a:ln>
        </p:spPr>
      </p:sp>
      <p:sp>
        <p:nvSpPr>
          <p:cNvPr id="17" name="Shape 13"/>
          <p:cNvSpPr/>
          <p:nvPr/>
        </p:nvSpPr>
        <p:spPr>
          <a:xfrm>
            <a:off x="4070909" y="1618488"/>
            <a:ext cx="457200" cy="457200"/>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4189781" y="1737360"/>
            <a:ext cx="219456" cy="219456"/>
          </a:xfrm>
          <a:prstGeom prst="rect">
            <a:avLst/>
          </a:prstGeom>
        </p:spPr>
      </p:pic>
      <p:sp>
        <p:nvSpPr>
          <p:cNvPr id="19" name="Text 14"/>
          <p:cNvSpPr txBox="1"/>
          <p:nvPr/>
        </p:nvSpPr>
        <p:spPr>
          <a:xfrm>
            <a:off x="4070909"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Satisfied?</a:t>
            </a:r>
            <a:endParaRPr lang="en-US" sz="1300" dirty="0"/>
          </a:p>
        </p:txBody>
      </p:sp>
      <p:sp>
        <p:nvSpPr>
          <p:cNvPr id="20" name="Text 15"/>
          <p:cNvSpPr txBox="1"/>
          <p:nvPr/>
        </p:nvSpPr>
        <p:spPr>
          <a:xfrm>
            <a:off x="4070909"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Empty feedback ends the loop.</a:t>
            </a:r>
            <a:endParaRPr lang="en-US" sz="1200" dirty="0"/>
          </a:p>
        </p:txBody>
      </p:sp>
      <p:sp>
        <p:nvSpPr>
          <p:cNvPr id="21" name="Shape 16"/>
          <p:cNvSpPr/>
          <p:nvPr/>
        </p:nvSpPr>
        <p:spPr>
          <a:xfrm>
            <a:off x="5319979" y="2304288"/>
            <a:ext cx="219456" cy="219456"/>
          </a:xfrm>
          <a:prstGeom prst="rightArrow">
            <a:avLst/>
          </a:prstGeom>
          <a:solidFill>
            <a:srgbClr val="F5A623"/>
          </a:solidFill>
          <a:ln w="12700">
            <a:solidFill>
              <a:srgbClr val="F5A623"/>
            </a:solidFill>
            <a:prstDash val="solid"/>
          </a:ln>
        </p:spPr>
      </p:sp>
      <p:sp>
        <p:nvSpPr>
          <p:cNvPr id="22" name="Shape 17"/>
          <p:cNvSpPr/>
          <p:nvPr/>
        </p:nvSpPr>
        <p:spPr>
          <a:xfrm>
            <a:off x="5603443" y="1417320"/>
            <a:ext cx="1367942" cy="1993392"/>
          </a:xfrm>
          <a:prstGeom prst="roundRect">
            <a:avLst>
              <a:gd name="adj" fmla="val 5348"/>
            </a:avLst>
          </a:prstGeom>
          <a:solidFill>
            <a:srgbClr val="EFEBFC"/>
          </a:solidFill>
          <a:ln w="12700">
            <a:solidFill>
              <a:srgbClr val="EFEBFC"/>
            </a:solidFill>
            <a:prstDash val="solid"/>
          </a:ln>
        </p:spPr>
      </p:sp>
      <p:sp>
        <p:nvSpPr>
          <p:cNvPr id="23" name="Shape 18"/>
          <p:cNvSpPr/>
          <p:nvPr/>
        </p:nvSpPr>
        <p:spPr>
          <a:xfrm>
            <a:off x="5786323" y="1618488"/>
            <a:ext cx="457200" cy="457200"/>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5905195" y="1737360"/>
            <a:ext cx="219456" cy="219456"/>
          </a:xfrm>
          <a:prstGeom prst="rect">
            <a:avLst/>
          </a:prstGeom>
        </p:spPr>
      </p:pic>
      <p:sp>
        <p:nvSpPr>
          <p:cNvPr id="25" name="Text 19"/>
          <p:cNvSpPr txBox="1"/>
          <p:nvPr/>
        </p:nvSpPr>
        <p:spPr>
          <a:xfrm>
            <a:off x="5786323"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Revise</a:t>
            </a:r>
            <a:endParaRPr lang="en-US" sz="1300" dirty="0"/>
          </a:p>
        </p:txBody>
      </p:sp>
      <p:sp>
        <p:nvSpPr>
          <p:cNvPr id="26" name="Text 20"/>
          <p:cNvSpPr txBox="1"/>
          <p:nvPr/>
        </p:nvSpPr>
        <p:spPr>
          <a:xfrm>
            <a:off x="5786323"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ReviseAsync fixes the feedback.</a:t>
            </a:r>
            <a:endParaRPr lang="en-US" sz="1200" dirty="0"/>
          </a:p>
        </p:txBody>
      </p:sp>
      <p:sp>
        <p:nvSpPr>
          <p:cNvPr id="27" name="Shape 21"/>
          <p:cNvSpPr/>
          <p:nvPr/>
        </p:nvSpPr>
        <p:spPr>
          <a:xfrm>
            <a:off x="7035394" y="2304288"/>
            <a:ext cx="219456" cy="219456"/>
          </a:xfrm>
          <a:prstGeom prst="rightArrow">
            <a:avLst/>
          </a:prstGeom>
          <a:solidFill>
            <a:srgbClr val="F5A623"/>
          </a:solidFill>
          <a:ln w="12700">
            <a:solidFill>
              <a:srgbClr val="F5A623"/>
            </a:solidFill>
            <a:prstDash val="solid"/>
          </a:ln>
        </p:spPr>
      </p:sp>
      <p:sp>
        <p:nvSpPr>
          <p:cNvPr id="28" name="Shape 22"/>
          <p:cNvSpPr/>
          <p:nvPr/>
        </p:nvSpPr>
        <p:spPr>
          <a:xfrm>
            <a:off x="7318858" y="1417320"/>
            <a:ext cx="1367942" cy="1993392"/>
          </a:xfrm>
          <a:prstGeom prst="roundRect">
            <a:avLst>
              <a:gd name="adj" fmla="val 5348"/>
            </a:avLst>
          </a:prstGeom>
          <a:solidFill>
            <a:srgbClr val="EFEBFC"/>
          </a:solidFill>
          <a:ln w="12700">
            <a:solidFill>
              <a:srgbClr val="EFEBFC"/>
            </a:solidFill>
            <a:prstDash val="solid"/>
          </a:ln>
        </p:spPr>
      </p:sp>
      <p:sp>
        <p:nvSpPr>
          <p:cNvPr id="29" name="Shape 23"/>
          <p:cNvSpPr/>
          <p:nvPr/>
        </p:nvSpPr>
        <p:spPr>
          <a:xfrm>
            <a:off x="7501738" y="1618488"/>
            <a:ext cx="457200" cy="457200"/>
          </a:xfrm>
          <a:prstGeom prst="ellipse">
            <a:avLst/>
          </a:prstGeom>
          <a:solidFill>
            <a:srgbClr val="512BD4"/>
          </a:solidFill>
          <a:ln w="12700">
            <a:solidFill>
              <a:srgbClr val="512BD4"/>
            </a:solidFill>
            <a:prstDash val="solid"/>
          </a:ln>
        </p:spPr>
      </p:sp>
      <p:pic>
        <p:nvPicPr>
          <p:cNvPr id="30" name="Image 4" descr="preencoded.png">    </p:cNvPr>
          <p:cNvPicPr>
            <a:picLocks noChangeAspect="1"/>
          </p:cNvPicPr>
          <p:nvPr/>
        </p:nvPicPr>
        <p:blipFill>
          <a:blip r:embed="rId5"/>
          <a:stretch>
            <a:fillRect/>
          </a:stretch>
        </p:blipFill>
        <p:spPr>
          <a:xfrm>
            <a:off x="7620610" y="1737360"/>
            <a:ext cx="219456" cy="219456"/>
          </a:xfrm>
          <a:prstGeom prst="rect">
            <a:avLst/>
          </a:prstGeom>
        </p:spPr>
      </p:pic>
      <p:sp>
        <p:nvSpPr>
          <p:cNvPr id="31" name="Text 24"/>
          <p:cNvSpPr txBox="1"/>
          <p:nvPr/>
        </p:nvSpPr>
        <p:spPr>
          <a:xfrm>
            <a:off x="7501738" y="2194560"/>
            <a:ext cx="1047902" cy="41148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Ship</a:t>
            </a:r>
            <a:endParaRPr lang="en-US" sz="1300" dirty="0"/>
          </a:p>
        </p:txBody>
      </p:sp>
      <p:sp>
        <p:nvSpPr>
          <p:cNvPr id="32" name="Text 25"/>
          <p:cNvSpPr txBox="1"/>
          <p:nvPr/>
        </p:nvSpPr>
        <p:spPr>
          <a:xfrm>
            <a:off x="7501738" y="2606040"/>
            <a:ext cx="1047902" cy="713232"/>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Print the latest draft as FINAL OUTPUT.</a:t>
            </a:r>
            <a:endParaRPr lang="en-US" sz="1200" dirty="0"/>
          </a:p>
        </p:txBody>
      </p:sp>
      <p:sp>
        <p:nvSpPr>
          <p:cNvPr id="33" name="Text 26"/>
          <p:cNvSpPr txBox="1"/>
          <p:nvPr/>
        </p:nvSpPr>
        <p:spPr>
          <a:xfrm>
            <a:off x="457200" y="3730752"/>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MaxPasses = 3 caps the loop at three drafts and three critiques.</a:t>
            </a:r>
            <a:endParaRPr lang="en-US" sz="1400" dirty="0"/>
          </a:p>
        </p:txBody>
      </p:sp>
      <p:sp>
        <p:nvSpPr>
          <p:cNvPr id="34" name="Text 27"/>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31 — Self-Reflection Loop</a:t>
            </a:r>
            <a:endParaRPr lang="en-US" sz="900" dirty="0"/>
          </a:p>
        </p:txBody>
      </p:sp>
      <p:sp>
        <p:nvSpPr>
          <p:cNvPr id="35" name="Text 28"/>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CORE CONCEPT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One agent, three hats, no shared history</a:t>
            </a:r>
            <a:endParaRPr lang="en-US" sz="2800" dirty="0"/>
          </a:p>
        </p:txBody>
      </p:sp>
      <p:sp>
        <p:nvSpPr>
          <p:cNvPr id="4" name="Shape 2"/>
          <p:cNvSpPr/>
          <p:nvPr/>
        </p:nvSpPr>
        <p:spPr>
          <a:xfrm>
            <a:off x="457200" y="1417320"/>
            <a:ext cx="2468880" cy="2377440"/>
          </a:xfrm>
          <a:prstGeom prst="roundRect">
            <a:avLst>
              <a:gd name="adj" fmla="val 3077"/>
            </a:avLst>
          </a:prstGeom>
          <a:solidFill>
            <a:srgbClr val="512BD4"/>
          </a:solidFill>
          <a:ln w="12700">
            <a:solidFill>
              <a:srgbClr val="512BD4"/>
            </a:solidFill>
            <a:prstDash val="solid"/>
          </a:ln>
        </p:spPr>
      </p:sp>
      <p:sp>
        <p:nvSpPr>
          <p:cNvPr id="5" name="Shape 3"/>
          <p:cNvSpPr/>
          <p:nvPr/>
        </p:nvSpPr>
        <p:spPr>
          <a:xfrm>
            <a:off x="685800" y="1645920"/>
            <a:ext cx="502920" cy="50292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16559" y="1776679"/>
            <a:ext cx="241402" cy="241402"/>
          </a:xfrm>
          <a:prstGeom prst="rect">
            <a:avLst/>
          </a:prstGeom>
        </p:spPr>
      </p:pic>
      <p:sp>
        <p:nvSpPr>
          <p:cNvPr id="7" name="Text 4"/>
          <p:cNvSpPr txBox="1"/>
          <p:nvPr/>
        </p:nvSpPr>
        <p:spPr>
          <a:xfrm>
            <a:off x="685800" y="2286000"/>
            <a:ext cx="2057400" cy="457200"/>
          </a:xfrm>
          <a:prstGeom prst="rect">
            <a:avLst/>
          </a:prstGeom>
          <a:noFill/>
          <a:ln/>
        </p:spPr>
        <p:txBody>
          <a:bodyPr wrap="square" lIns="0" tIns="0" rIns="0" bIns="0" rtlCol="0" anchor="t"/>
          <a:lstStyle/>
          <a:p>
            <a:pPr indent="0" marL="0">
              <a:buNone/>
            </a:pPr>
            <a:r>
              <a:rPr lang="en-US" sz="1800" b="1" dirty="0">
                <a:solidFill>
                  <a:srgbClr val="FFFFFF"/>
                </a:solidFill>
                <a:latin typeface="Calibri" pitchFamily="34" charset="0"/>
                <a:ea typeface="Calibri" pitchFamily="34" charset="-122"/>
                <a:cs typeface="Calibri" pitchFamily="34" charset="-120"/>
              </a:rPr>
              <a:t>ReflectiveAgent</a:t>
            </a:r>
            <a:endParaRPr lang="en-US" sz="1800" dirty="0"/>
          </a:p>
        </p:txBody>
      </p:sp>
      <p:sp>
        <p:nvSpPr>
          <p:cNvPr id="8" name="Text 5"/>
          <p:cNvSpPr txBox="1"/>
          <p:nvPr/>
        </p:nvSpPr>
        <p:spPr>
          <a:xfrm>
            <a:off x="685800" y="2743200"/>
            <a:ext cx="2057400" cy="9601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One persona. Each method builds a fresh ChatHistory for a single call.</a:t>
            </a:r>
            <a:endParaRPr lang="en-US" sz="1300" dirty="0"/>
          </a:p>
        </p:txBody>
      </p:sp>
      <p:sp>
        <p:nvSpPr>
          <p:cNvPr id="9" name="Shape 6"/>
          <p:cNvSpPr/>
          <p:nvPr/>
        </p:nvSpPr>
        <p:spPr>
          <a:xfrm>
            <a:off x="2926080" y="1752600"/>
            <a:ext cx="502920" cy="0"/>
          </a:xfrm>
          <a:prstGeom prst="line">
            <a:avLst/>
          </a:prstGeom>
          <a:noFill/>
          <a:ln w="25400">
            <a:solidFill>
              <a:srgbClr val="F5A623"/>
            </a:solidFill>
            <a:prstDash val="solid"/>
          </a:ln>
        </p:spPr>
      </p:sp>
      <p:sp>
        <p:nvSpPr>
          <p:cNvPr id="10" name="Shape 7"/>
          <p:cNvSpPr/>
          <p:nvPr/>
        </p:nvSpPr>
        <p:spPr>
          <a:xfrm>
            <a:off x="3429000" y="1417320"/>
            <a:ext cx="5257800" cy="670560"/>
          </a:xfrm>
          <a:prstGeom prst="roundRect">
            <a:avLst>
              <a:gd name="adj" fmla="val 10909"/>
            </a:avLst>
          </a:prstGeom>
          <a:solidFill>
            <a:srgbClr val="EFEBFC"/>
          </a:solidFill>
          <a:ln w="12700">
            <a:solidFill>
              <a:srgbClr val="EFEBFC"/>
            </a:solidFill>
            <a:prstDash val="solid"/>
          </a:ln>
        </p:spPr>
      </p:sp>
      <p:sp>
        <p:nvSpPr>
          <p:cNvPr id="11" name="Shape 8"/>
          <p:cNvSpPr/>
          <p:nvPr/>
        </p:nvSpPr>
        <p:spPr>
          <a:xfrm>
            <a:off x="3593592" y="1560576"/>
            <a:ext cx="384048" cy="384048"/>
          </a:xfrm>
          <a:prstGeom prst="ellipse">
            <a:avLst/>
          </a:prstGeom>
          <a:solidFill>
            <a:srgbClr val="512BD4"/>
          </a:solidFill>
          <a:ln w="12700">
            <a:solidFill>
              <a:srgbClr val="512BD4"/>
            </a:solidFill>
            <a:prstDash val="solid"/>
          </a:ln>
        </p:spPr>
      </p:sp>
      <p:pic>
        <p:nvPicPr>
          <p:cNvPr id="12" name="Image 1" descr="preencoded.png">    </p:cNvPr>
          <p:cNvPicPr>
            <a:picLocks noChangeAspect="1"/>
          </p:cNvPicPr>
          <p:nvPr/>
        </p:nvPicPr>
        <p:blipFill>
          <a:blip r:embed="rId2"/>
          <a:stretch>
            <a:fillRect/>
          </a:stretch>
        </p:blipFill>
        <p:spPr>
          <a:xfrm>
            <a:off x="3693444" y="1660428"/>
            <a:ext cx="184343" cy="184343"/>
          </a:xfrm>
          <a:prstGeom prst="rect">
            <a:avLst/>
          </a:prstGeom>
        </p:spPr>
      </p:pic>
      <p:sp>
        <p:nvSpPr>
          <p:cNvPr id="13" name="Text 9"/>
          <p:cNvSpPr txBox="1"/>
          <p:nvPr/>
        </p:nvSpPr>
        <p:spPr>
          <a:xfrm>
            <a:off x="4142232" y="150876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DraftAsync</a:t>
            </a:r>
            <a:endParaRPr lang="en-US" sz="1500" dirty="0"/>
          </a:p>
        </p:txBody>
      </p:sp>
      <p:sp>
        <p:nvSpPr>
          <p:cNvPr id="14" name="Text 10"/>
          <p:cNvSpPr txBox="1"/>
          <p:nvPr/>
        </p:nvSpPr>
        <p:spPr>
          <a:xfrm>
            <a:off x="5577840" y="150876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A skilled-writer persona at temperature 0.7.</a:t>
            </a:r>
            <a:endParaRPr lang="en-US" sz="1200" dirty="0"/>
          </a:p>
        </p:txBody>
      </p:sp>
      <p:sp>
        <p:nvSpPr>
          <p:cNvPr id="15" name="Shape 11"/>
          <p:cNvSpPr/>
          <p:nvPr/>
        </p:nvSpPr>
        <p:spPr>
          <a:xfrm>
            <a:off x="2926080" y="2606040"/>
            <a:ext cx="502920" cy="0"/>
          </a:xfrm>
          <a:prstGeom prst="line">
            <a:avLst/>
          </a:prstGeom>
          <a:noFill/>
          <a:ln w="25400">
            <a:solidFill>
              <a:srgbClr val="F5A623"/>
            </a:solidFill>
            <a:prstDash val="solid"/>
          </a:ln>
        </p:spPr>
      </p:sp>
      <p:sp>
        <p:nvSpPr>
          <p:cNvPr id="16" name="Shape 12"/>
          <p:cNvSpPr/>
          <p:nvPr/>
        </p:nvSpPr>
        <p:spPr>
          <a:xfrm>
            <a:off x="3429000" y="2270760"/>
            <a:ext cx="5257800" cy="670560"/>
          </a:xfrm>
          <a:prstGeom prst="roundRect">
            <a:avLst>
              <a:gd name="adj" fmla="val 10909"/>
            </a:avLst>
          </a:prstGeom>
          <a:solidFill>
            <a:srgbClr val="EFEBFC"/>
          </a:solidFill>
          <a:ln w="12700">
            <a:solidFill>
              <a:srgbClr val="EFEBFC"/>
            </a:solidFill>
            <a:prstDash val="solid"/>
          </a:ln>
        </p:spPr>
      </p:sp>
      <p:sp>
        <p:nvSpPr>
          <p:cNvPr id="17" name="Shape 13"/>
          <p:cNvSpPr/>
          <p:nvPr/>
        </p:nvSpPr>
        <p:spPr>
          <a:xfrm>
            <a:off x="3593592" y="2414016"/>
            <a:ext cx="384048" cy="384048"/>
          </a:xfrm>
          <a:prstGeom prst="ellipse">
            <a:avLst/>
          </a:prstGeom>
          <a:solidFill>
            <a:srgbClr val="512BD4"/>
          </a:solidFill>
          <a:ln w="12700">
            <a:solidFill>
              <a:srgbClr val="512BD4"/>
            </a:solidFill>
            <a:prstDash val="solid"/>
          </a:ln>
        </p:spPr>
      </p:sp>
      <p:pic>
        <p:nvPicPr>
          <p:cNvPr id="18" name="Image 2" descr="preencoded.png">    </p:cNvPr>
          <p:cNvPicPr>
            <a:picLocks noChangeAspect="1"/>
          </p:cNvPicPr>
          <p:nvPr/>
        </p:nvPicPr>
        <p:blipFill>
          <a:blip r:embed="rId3"/>
          <a:stretch>
            <a:fillRect/>
          </a:stretch>
        </p:blipFill>
        <p:spPr>
          <a:xfrm>
            <a:off x="3693444" y="2513868"/>
            <a:ext cx="184343" cy="184343"/>
          </a:xfrm>
          <a:prstGeom prst="rect">
            <a:avLst/>
          </a:prstGeom>
        </p:spPr>
      </p:pic>
      <p:sp>
        <p:nvSpPr>
          <p:cNvPr id="19" name="Text 14"/>
          <p:cNvSpPr txBox="1"/>
          <p:nvPr/>
        </p:nvSpPr>
        <p:spPr>
          <a:xfrm>
            <a:off x="4142232" y="236220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CritiqueAsync</a:t>
            </a:r>
            <a:endParaRPr lang="en-US" sz="1500" dirty="0"/>
          </a:p>
        </p:txBody>
      </p:sp>
      <p:sp>
        <p:nvSpPr>
          <p:cNvPr id="20" name="Text 15"/>
          <p:cNvSpPr txBox="1"/>
          <p:nvPr/>
        </p:nvSpPr>
        <p:spPr>
          <a:xfrm>
            <a:off x="5577840" y="236220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Task and draft passed in as plain text. Temperature 0.0.</a:t>
            </a:r>
            <a:endParaRPr lang="en-US" sz="1200" dirty="0"/>
          </a:p>
        </p:txBody>
      </p:sp>
      <p:sp>
        <p:nvSpPr>
          <p:cNvPr id="21" name="Shape 16"/>
          <p:cNvSpPr/>
          <p:nvPr/>
        </p:nvSpPr>
        <p:spPr>
          <a:xfrm>
            <a:off x="2926080" y="3459480"/>
            <a:ext cx="502920" cy="0"/>
          </a:xfrm>
          <a:prstGeom prst="line">
            <a:avLst/>
          </a:prstGeom>
          <a:noFill/>
          <a:ln w="25400">
            <a:solidFill>
              <a:srgbClr val="F5A623"/>
            </a:solidFill>
            <a:prstDash val="solid"/>
          </a:ln>
        </p:spPr>
      </p:sp>
      <p:sp>
        <p:nvSpPr>
          <p:cNvPr id="22" name="Shape 17"/>
          <p:cNvSpPr/>
          <p:nvPr/>
        </p:nvSpPr>
        <p:spPr>
          <a:xfrm>
            <a:off x="3429000" y="3124200"/>
            <a:ext cx="5257800" cy="670560"/>
          </a:xfrm>
          <a:prstGeom prst="roundRect">
            <a:avLst>
              <a:gd name="adj" fmla="val 10909"/>
            </a:avLst>
          </a:prstGeom>
          <a:solidFill>
            <a:srgbClr val="EFEBFC"/>
          </a:solidFill>
          <a:ln w="12700">
            <a:solidFill>
              <a:srgbClr val="EFEBFC"/>
            </a:solidFill>
            <a:prstDash val="solid"/>
          </a:ln>
        </p:spPr>
      </p:sp>
      <p:sp>
        <p:nvSpPr>
          <p:cNvPr id="23" name="Shape 18"/>
          <p:cNvSpPr/>
          <p:nvPr/>
        </p:nvSpPr>
        <p:spPr>
          <a:xfrm>
            <a:off x="3593592" y="3267456"/>
            <a:ext cx="384048" cy="384048"/>
          </a:xfrm>
          <a:prstGeom prst="ellipse">
            <a:avLst/>
          </a:prstGeom>
          <a:solidFill>
            <a:srgbClr val="512BD4"/>
          </a:solidFill>
          <a:ln w="12700">
            <a:solidFill>
              <a:srgbClr val="512BD4"/>
            </a:solidFill>
            <a:prstDash val="solid"/>
          </a:ln>
        </p:spPr>
      </p:sp>
      <p:pic>
        <p:nvPicPr>
          <p:cNvPr id="24" name="Image 3" descr="preencoded.png">    </p:cNvPr>
          <p:cNvPicPr>
            <a:picLocks noChangeAspect="1"/>
          </p:cNvPicPr>
          <p:nvPr/>
        </p:nvPicPr>
        <p:blipFill>
          <a:blip r:embed="rId4"/>
          <a:stretch>
            <a:fillRect/>
          </a:stretch>
        </p:blipFill>
        <p:spPr>
          <a:xfrm>
            <a:off x="3693444" y="3367308"/>
            <a:ext cx="184343" cy="184343"/>
          </a:xfrm>
          <a:prstGeom prst="rect">
            <a:avLst/>
          </a:prstGeom>
        </p:spPr>
      </p:pic>
      <p:sp>
        <p:nvSpPr>
          <p:cNvPr id="25" name="Text 19"/>
          <p:cNvSpPr txBox="1"/>
          <p:nvPr/>
        </p:nvSpPr>
        <p:spPr>
          <a:xfrm>
            <a:off x="4142232" y="3215640"/>
            <a:ext cx="1463040" cy="487680"/>
          </a:xfrm>
          <a:prstGeom prst="rect">
            <a:avLst/>
          </a:prstGeom>
          <a:noFill/>
          <a:ln/>
        </p:spPr>
        <p:txBody>
          <a:bodyPr wrap="square" lIns="0" tIns="0" rIns="0" bIns="0" rtlCol="0" anchor="ctr"/>
          <a:lstStyle/>
          <a:p>
            <a:pPr indent="0" marL="0">
              <a:buNone/>
            </a:pPr>
            <a:r>
              <a:rPr lang="en-US" sz="1500" b="1" dirty="0">
                <a:solidFill>
                  <a:srgbClr val="1F2937"/>
                </a:solidFill>
                <a:latin typeface="Calibri" pitchFamily="34" charset="0"/>
                <a:ea typeface="Calibri" pitchFamily="34" charset="-122"/>
                <a:cs typeface="Calibri" pitchFamily="34" charset="-120"/>
              </a:rPr>
              <a:t>ReviseAsync</a:t>
            </a:r>
            <a:endParaRPr lang="en-US" sz="1500" dirty="0"/>
          </a:p>
        </p:txBody>
      </p:sp>
      <p:sp>
        <p:nvSpPr>
          <p:cNvPr id="26" name="Text 20"/>
          <p:cNvSpPr txBox="1"/>
          <p:nvPr/>
        </p:nvSpPr>
        <p:spPr>
          <a:xfrm>
            <a:off x="5577840" y="3215640"/>
            <a:ext cx="2971800" cy="487680"/>
          </a:xfrm>
          <a:prstGeom prst="rect">
            <a:avLst/>
          </a:prstGeom>
          <a:noFill/>
          <a:ln/>
        </p:spPr>
        <p:txBody>
          <a:bodyPr wrap="square" lIns="0" tIns="0" rIns="0" bIns="0" rtlCol="0" anchor="ctr"/>
          <a:lstStyle/>
          <a:p>
            <a:pPr indent="0" marL="0">
              <a:buNone/>
            </a:pPr>
            <a:r>
              <a:rPr lang="en-US" sz="1200" dirty="0">
                <a:solidFill>
                  <a:srgbClr val="6B7280"/>
                </a:solidFill>
                <a:latin typeface="Calibri" pitchFamily="34" charset="0"/>
                <a:ea typeface="Calibri" pitchFamily="34" charset="-122"/>
                <a:cs typeface="Calibri" pitchFamily="34" charset="-120"/>
              </a:rPr>
              <a:t>Task, previous draft and its own feedback. Temperature 0.7.</a:t>
            </a:r>
            <a:endParaRPr lang="en-US" sz="1200" dirty="0"/>
          </a:p>
        </p:txBody>
      </p:sp>
      <p:sp>
        <p:nvSpPr>
          <p:cNvPr id="27" name="Text 21"/>
          <p:cNvSpPr txBox="1"/>
          <p:nvPr/>
        </p:nvSpPr>
        <p:spPr>
          <a:xfrm>
            <a:off x="457200" y="41148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The critique re-derives its judgment from the artifact, not from its own chat turns.</a:t>
            </a:r>
            <a:endParaRPr lang="en-US" sz="1400" dirty="0"/>
          </a:p>
        </p:txBody>
      </p:sp>
      <p:sp>
        <p:nvSpPr>
          <p:cNvPr id="28" name="Text 22"/>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31 — Self-Reflection Loop</a:t>
            </a:r>
            <a:endParaRPr lang="en-US" sz="900" dirty="0"/>
          </a:p>
        </p:txBody>
      </p:sp>
      <p:sp>
        <p:nvSpPr>
          <p:cNvPr id="29" name="Text 23"/>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STRUCTURED VERDICT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Why the critique returns one field, not two</a:t>
            </a:r>
            <a:endParaRPr lang="en-US" sz="2800" dirty="0"/>
          </a:p>
        </p:txBody>
      </p:sp>
      <p:sp>
        <p:nvSpPr>
          <p:cNvPr id="4" name="Shape 2"/>
          <p:cNvSpPr/>
          <p:nvPr/>
        </p:nvSpPr>
        <p:spPr>
          <a:xfrm>
            <a:off x="457200" y="1371600"/>
            <a:ext cx="3931920" cy="2240280"/>
          </a:xfrm>
          <a:prstGeom prst="roundRect">
            <a:avLst>
              <a:gd name="adj" fmla="val 3265"/>
            </a:avLst>
          </a:prstGeom>
          <a:solidFill>
            <a:srgbClr val="F6F4FE"/>
          </a:solidFill>
          <a:ln w="12700">
            <a:solidFill>
              <a:srgbClr val="F6F4FE"/>
            </a:solidFill>
            <a:prstDash val="solid"/>
          </a:ln>
        </p:spPr>
      </p:sp>
      <p:sp>
        <p:nvSpPr>
          <p:cNvPr id="5" name="Shape 3"/>
          <p:cNvSpPr/>
          <p:nvPr/>
        </p:nvSpPr>
        <p:spPr>
          <a:xfrm>
            <a:off x="685800" y="1600200"/>
            <a:ext cx="438912" cy="438912"/>
          </a:xfrm>
          <a:prstGeom prst="ellipse">
            <a:avLst/>
          </a:prstGeom>
          <a:solidFill>
            <a:srgbClr val="512BD4"/>
          </a:solidFill>
          <a:ln w="12700">
            <a:solidFill>
              <a:srgbClr val="512BD4"/>
            </a:solidFill>
            <a:prstDash val="solid"/>
          </a:ln>
        </p:spPr>
      </p:sp>
      <p:pic>
        <p:nvPicPr>
          <p:cNvPr id="6" name="Image 0" descr="preencoded.png">    </p:cNvPr>
          <p:cNvPicPr>
            <a:picLocks noChangeAspect="1"/>
          </p:cNvPicPr>
          <p:nvPr/>
        </p:nvPicPr>
        <p:blipFill>
          <a:blip r:embed="rId1"/>
          <a:stretch>
            <a:fillRect/>
          </a:stretch>
        </p:blipFill>
        <p:spPr>
          <a:xfrm>
            <a:off x="799917" y="1714317"/>
            <a:ext cx="210678" cy="210678"/>
          </a:xfrm>
          <a:prstGeom prst="rect">
            <a:avLst/>
          </a:prstGeom>
        </p:spPr>
      </p:pic>
      <p:sp>
        <p:nvSpPr>
          <p:cNvPr id="7" name="Text 4"/>
          <p:cNvSpPr txBox="1"/>
          <p:nvPr/>
        </p:nvSpPr>
        <p:spPr>
          <a:xfrm>
            <a:off x="126187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First try: a bool plus text</a:t>
            </a:r>
            <a:endParaRPr lang="en-US" sz="1700" dirty="0"/>
          </a:p>
        </p:txBody>
      </p:sp>
      <p:sp>
        <p:nvSpPr>
          <p:cNvPr id="8" name="Text 5"/>
          <p:cNvSpPr txBox="1"/>
          <p:nvPr/>
        </p:nvSpPr>
        <p:spPr>
          <a:xfrm>
            <a:off x="68580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Model sent the bool and dropped feedback</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The loop knew it failed, not what to fix</a:t>
            </a:r>
            <a:endParaRPr lang="en-US" sz="1300" dirty="0"/>
          </a:p>
        </p:txBody>
      </p:sp>
      <p:sp>
        <p:nvSpPr>
          <p:cNvPr id="9" name="Shape 6"/>
          <p:cNvSpPr/>
          <p:nvPr/>
        </p:nvSpPr>
        <p:spPr>
          <a:xfrm>
            <a:off x="685800" y="2907792"/>
            <a:ext cx="3474720" cy="502920"/>
          </a:xfrm>
          <a:prstGeom prst="roundRect">
            <a:avLst>
              <a:gd name="adj" fmla="val 14545"/>
            </a:avLst>
          </a:prstGeom>
          <a:solidFill>
            <a:srgbClr val="0F1420"/>
          </a:solidFill>
          <a:ln w="12700">
            <a:solidFill>
              <a:srgbClr val="0F1420"/>
            </a:solidFill>
            <a:prstDash val="solid"/>
          </a:ln>
        </p:spPr>
      </p:sp>
      <p:sp>
        <p:nvSpPr>
          <p:cNvPr id="10" name="Text 7"/>
          <p:cNvSpPr txBox="1"/>
          <p:nvPr/>
        </p:nvSpPr>
        <p:spPr>
          <a:xfrm>
            <a:off x="868680" y="3044952"/>
            <a:ext cx="3108960" cy="228600"/>
          </a:xfrm>
          <a:prstGeom prst="rect">
            <a:avLst/>
          </a:prstGeom>
          <a:noFill/>
          <a:ln/>
        </p:spPr>
        <p:txBody>
          <a:bodyPr wrap="square" lIns="0" tIns="0" rIns="0" bIns="0" rtlCol="0" anchor="t"/>
          <a:lstStyle/>
          <a:p>
            <a:pPr indent="0" marL="0">
              <a:buNone/>
            </a:pPr>
            <a:r>
              <a:rPr lang="en-US" sz="1100" dirty="0">
                <a:solidFill>
                  <a:srgbClr val="FF9B9B"/>
                </a:solidFill>
                <a:latin typeface="Courier New" pitchFamily="34" charset="0"/>
                <a:ea typeface="Courier New" pitchFamily="34" charset="-122"/>
                <a:cs typeface="Courier New" pitchFamily="34" charset="-120"/>
              </a:rPr>
              <a:t>{ "isSatisfactory": false }</a:t>
            </a:r>
            <a:endParaRPr lang="en-US" sz="1100" dirty="0"/>
          </a:p>
        </p:txBody>
      </p:sp>
      <p:sp>
        <p:nvSpPr>
          <p:cNvPr id="11" name="Shape 8"/>
          <p:cNvSpPr/>
          <p:nvPr/>
        </p:nvSpPr>
        <p:spPr>
          <a:xfrm>
            <a:off x="4754880" y="1371600"/>
            <a:ext cx="3931920" cy="2240280"/>
          </a:xfrm>
          <a:prstGeom prst="roundRect">
            <a:avLst>
              <a:gd name="adj" fmla="val 3265"/>
            </a:avLst>
          </a:prstGeom>
          <a:solidFill>
            <a:srgbClr val="EFEBFC"/>
          </a:solidFill>
          <a:ln w="12700">
            <a:solidFill>
              <a:srgbClr val="EFEBFC"/>
            </a:solidFill>
            <a:prstDash val="solid"/>
          </a:ln>
        </p:spPr>
      </p:sp>
      <p:sp>
        <p:nvSpPr>
          <p:cNvPr id="12" name="Shape 9"/>
          <p:cNvSpPr/>
          <p:nvPr/>
        </p:nvSpPr>
        <p:spPr>
          <a:xfrm>
            <a:off x="4983480" y="1600200"/>
            <a:ext cx="438912" cy="438912"/>
          </a:xfrm>
          <a:prstGeom prst="ellipse">
            <a:avLst/>
          </a:prstGeom>
          <a:solidFill>
            <a:srgbClr val="512BD4"/>
          </a:solidFill>
          <a:ln w="12700">
            <a:solidFill>
              <a:srgbClr val="512BD4"/>
            </a:solidFill>
            <a:prstDash val="solid"/>
          </a:ln>
        </p:spPr>
      </p:sp>
      <p:pic>
        <p:nvPicPr>
          <p:cNvPr id="13" name="Image 1" descr="preencoded.png">    </p:cNvPr>
          <p:cNvPicPr>
            <a:picLocks noChangeAspect="1"/>
          </p:cNvPicPr>
          <p:nvPr/>
        </p:nvPicPr>
        <p:blipFill>
          <a:blip r:embed="rId2"/>
          <a:stretch>
            <a:fillRect/>
          </a:stretch>
        </p:blipFill>
        <p:spPr>
          <a:xfrm>
            <a:off x="5097597" y="1714317"/>
            <a:ext cx="210678" cy="210678"/>
          </a:xfrm>
          <a:prstGeom prst="rect">
            <a:avLst/>
          </a:prstGeom>
        </p:spPr>
      </p:pic>
      <p:sp>
        <p:nvSpPr>
          <p:cNvPr id="14" name="Text 10"/>
          <p:cNvSpPr txBox="1"/>
          <p:nvPr/>
        </p:nvSpPr>
        <p:spPr>
          <a:xfrm>
            <a:off x="5559552" y="1600200"/>
            <a:ext cx="2926080" cy="438912"/>
          </a:xfrm>
          <a:prstGeom prst="rect">
            <a:avLst/>
          </a:prstGeom>
          <a:noFill/>
          <a:ln/>
        </p:spPr>
        <p:txBody>
          <a:bodyPr wrap="square" lIns="0" tIns="0" rIns="0" bIns="0" rtlCol="0" anchor="ctr"/>
          <a:lstStyle/>
          <a:p>
            <a:pPr indent="0" marL="0">
              <a:buNone/>
            </a:pPr>
            <a:r>
              <a:rPr lang="en-US" sz="1700" b="1" dirty="0">
                <a:solidFill>
                  <a:srgbClr val="1F2937"/>
                </a:solidFill>
                <a:latin typeface="Calibri" pitchFamily="34" charset="0"/>
                <a:ea typeface="Calibri" pitchFamily="34" charset="-122"/>
                <a:cs typeface="Calibri" pitchFamily="34" charset="-120"/>
              </a:rPr>
              <a:t>Shipped: feedback only</a:t>
            </a:r>
            <a:endParaRPr lang="en-US" sz="1700" dirty="0"/>
          </a:p>
        </p:txBody>
      </p:sp>
      <p:sp>
        <p:nvSpPr>
          <p:cNvPr id="15" name="Text 11"/>
          <p:cNvSpPr txBox="1"/>
          <p:nvPr/>
        </p:nvSpPr>
        <p:spPr>
          <a:xfrm>
            <a:off x="4983480" y="2194560"/>
            <a:ext cx="3474720" cy="640080"/>
          </a:xfrm>
          <a:prstGeom prst="rect">
            <a:avLst/>
          </a:prstGeom>
          <a:noFill/>
          <a:ln/>
        </p:spPr>
        <p:txBody>
          <a:bodyPr wrap="square" lIns="0" tIns="0" rIns="0" bIns="0" rtlCol="0" anchor="t"/>
          <a:lstStyle/>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Empty feedback means satisfied</a:t>
            </a:r>
            <a:endParaRPr lang="en-US" sz="1300" dirty="0"/>
          </a:p>
          <a:p>
            <a:pPr marL="177800" indent="-177800">
              <a:spcAft>
                <a:spcPts val="400"/>
              </a:spcAft>
              <a:buSzPct val="100000"/>
              <a:buChar char="•"/>
            </a:pPr>
            <a:r>
              <a:rPr lang="en-US" sz="1300" dirty="0">
                <a:solidFill>
                  <a:srgbClr val="1F2937"/>
                </a:solidFill>
                <a:latin typeface="Calibri" pitchFamily="34" charset="0"/>
                <a:ea typeface="Calibri" pitchFamily="34" charset="-122"/>
                <a:cs typeface="Calibri" pitchFamily="34" charset="-120"/>
              </a:rPr>
              <a:t>IsSatisfactory is computed in C#</a:t>
            </a:r>
            <a:endParaRPr lang="en-US" sz="1300" dirty="0"/>
          </a:p>
        </p:txBody>
      </p:sp>
      <p:sp>
        <p:nvSpPr>
          <p:cNvPr id="16" name="Shape 12"/>
          <p:cNvSpPr/>
          <p:nvPr/>
        </p:nvSpPr>
        <p:spPr>
          <a:xfrm>
            <a:off x="4983480" y="2907792"/>
            <a:ext cx="3474720" cy="502920"/>
          </a:xfrm>
          <a:prstGeom prst="roundRect">
            <a:avLst>
              <a:gd name="adj" fmla="val 14545"/>
            </a:avLst>
          </a:prstGeom>
          <a:solidFill>
            <a:srgbClr val="0F1420"/>
          </a:solidFill>
          <a:ln w="12700">
            <a:solidFill>
              <a:srgbClr val="0F1420"/>
            </a:solidFill>
            <a:prstDash val="solid"/>
          </a:ln>
        </p:spPr>
      </p:sp>
      <p:sp>
        <p:nvSpPr>
          <p:cNvPr id="17" name="Text 13"/>
          <p:cNvSpPr txBox="1"/>
          <p:nvPr/>
        </p:nvSpPr>
        <p:spPr>
          <a:xfrm>
            <a:off x="5166360" y="3044952"/>
            <a:ext cx="3108960" cy="228600"/>
          </a:xfrm>
          <a:prstGeom prst="rect">
            <a:avLst/>
          </a:prstGeom>
          <a:noFill/>
          <a:ln/>
        </p:spPr>
        <p:txBody>
          <a:bodyPr wrap="square" lIns="0" tIns="0" rIns="0" bIns="0" rtlCol="0" anchor="t"/>
          <a:lstStyle/>
          <a:p>
            <a:pPr indent="0" marL="0">
              <a:buNone/>
            </a:pPr>
            <a:r>
              <a:rPr lang="en-US" sz="1100" dirty="0">
                <a:solidFill>
                  <a:srgbClr val="9FE6B8"/>
                </a:solidFill>
                <a:latin typeface="Courier New" pitchFamily="34" charset="0"/>
                <a:ea typeface="Courier New" pitchFamily="34" charset="-122"/>
                <a:cs typeface="Courier New" pitchFamily="34" charset="-120"/>
              </a:rPr>
              <a:t>{ "feedback": "Only two..." }</a:t>
            </a:r>
            <a:endParaRPr lang="en-US" sz="1100" dirty="0"/>
          </a:p>
        </p:txBody>
      </p:sp>
      <p:sp>
        <p:nvSpPr>
          <p:cNvPr id="18" name="Text 14"/>
          <p:cNvSpPr txBox="1"/>
          <p:nvPr/>
        </p:nvSpPr>
        <p:spPr>
          <a:xfrm>
            <a:off x="457200" y="388620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[JsonIgnore] keeps IsSatisfactory out of the strict OpenAI schema.</a:t>
            </a:r>
            <a:endParaRPr lang="en-US" sz="1400" dirty="0"/>
          </a:p>
        </p:txBody>
      </p:sp>
      <p:sp>
        <p:nvSpPr>
          <p:cNvPr id="19"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31 — Self-Reflection Loop</a:t>
            </a:r>
            <a:endParaRPr lang="en-US" sz="900" dirty="0"/>
          </a:p>
        </p:txBody>
      </p:sp>
      <p:sp>
        <p:nvSpPr>
          <p:cNvPr id="20"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DESIGN DECISIONS</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Four choices that keep the loop honest</a:t>
            </a:r>
            <a:endParaRPr lang="en-US" sz="2800" dirty="0"/>
          </a:p>
        </p:txBody>
      </p:sp>
      <p:sp>
        <p:nvSpPr>
          <p:cNvPr id="4" name="Shape 2"/>
          <p:cNvSpPr/>
          <p:nvPr/>
        </p:nvSpPr>
        <p:spPr>
          <a:xfrm>
            <a:off x="457200" y="1371600"/>
            <a:ext cx="1851660" cy="2011680"/>
          </a:xfrm>
          <a:prstGeom prst="roundRect">
            <a:avLst>
              <a:gd name="adj" fmla="val 3951"/>
            </a:avLst>
          </a:prstGeom>
          <a:solidFill>
            <a:srgbClr val="512BD4"/>
          </a:solidFill>
          <a:ln w="12700">
            <a:solidFill>
              <a:srgbClr val="512BD4"/>
            </a:solidFill>
            <a:prstDash val="solid"/>
          </a:ln>
        </p:spPr>
      </p:sp>
      <p:sp>
        <p:nvSpPr>
          <p:cNvPr id="5" name="Shape 3"/>
          <p:cNvSpPr/>
          <p:nvPr/>
        </p:nvSpPr>
        <p:spPr>
          <a:xfrm>
            <a:off x="640080" y="1554480"/>
            <a:ext cx="384048" cy="384048"/>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739932" y="1654332"/>
            <a:ext cx="184343" cy="184343"/>
          </a:xfrm>
          <a:prstGeom prst="rect">
            <a:avLst/>
          </a:prstGeom>
        </p:spPr>
      </p:pic>
      <p:sp>
        <p:nvSpPr>
          <p:cNvPr id="7" name="Text 4"/>
          <p:cNvSpPr txBox="1"/>
          <p:nvPr/>
        </p:nvSpPr>
        <p:spPr>
          <a:xfrm>
            <a:off x="114300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Calibri" pitchFamily="34" charset="0"/>
                <a:ea typeface="Calibri" pitchFamily="34" charset="-122"/>
                <a:cs typeface="Calibri" pitchFamily="34" charset="-120"/>
              </a:rPr>
              <a:t>Hot vs cold</a:t>
            </a:r>
            <a:endParaRPr lang="en-US" sz="1300" dirty="0"/>
          </a:p>
        </p:txBody>
      </p:sp>
      <p:sp>
        <p:nvSpPr>
          <p:cNvPr id="8" name="Text 5"/>
          <p:cNvSpPr txBox="1"/>
          <p:nvPr/>
        </p:nvSpPr>
        <p:spPr>
          <a:xfrm>
            <a:off x="640080" y="2057400"/>
            <a:ext cx="1485900" cy="123444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Draft and revise at 0.7 for variety; critique at 0.0 for a repeatable verdict.</a:t>
            </a:r>
            <a:endParaRPr lang="en-US" sz="1200" dirty="0"/>
          </a:p>
        </p:txBody>
      </p:sp>
      <p:sp>
        <p:nvSpPr>
          <p:cNvPr id="9" name="Shape 6"/>
          <p:cNvSpPr/>
          <p:nvPr/>
        </p:nvSpPr>
        <p:spPr>
          <a:xfrm>
            <a:off x="2583180" y="1371600"/>
            <a:ext cx="1851660" cy="2011680"/>
          </a:xfrm>
          <a:prstGeom prst="roundRect">
            <a:avLst>
              <a:gd name="adj" fmla="val 3951"/>
            </a:avLst>
          </a:prstGeom>
          <a:solidFill>
            <a:srgbClr val="EFEBFC"/>
          </a:solidFill>
          <a:ln w="12700">
            <a:solidFill>
              <a:srgbClr val="EFEBFC"/>
            </a:solidFill>
            <a:prstDash val="solid"/>
          </a:ln>
        </p:spPr>
      </p:sp>
      <p:sp>
        <p:nvSpPr>
          <p:cNvPr id="10" name="Shape 7"/>
          <p:cNvSpPr/>
          <p:nvPr/>
        </p:nvSpPr>
        <p:spPr>
          <a:xfrm>
            <a:off x="2766060" y="155448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2865912" y="1654332"/>
            <a:ext cx="184343" cy="184343"/>
          </a:xfrm>
          <a:prstGeom prst="rect">
            <a:avLst/>
          </a:prstGeom>
        </p:spPr>
      </p:pic>
      <p:sp>
        <p:nvSpPr>
          <p:cNvPr id="12" name="Text 8"/>
          <p:cNvSpPr txBox="1"/>
          <p:nvPr/>
        </p:nvSpPr>
        <p:spPr>
          <a:xfrm>
            <a:off x="326898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Hard task</a:t>
            </a:r>
            <a:endParaRPr lang="en-US" sz="1300" dirty="0"/>
          </a:p>
        </p:txBody>
      </p:sp>
      <p:sp>
        <p:nvSpPr>
          <p:cNvPr id="13" name="Text 9"/>
          <p:cNvSpPr txBox="1"/>
          <p:nvPr/>
        </p:nvSpPr>
        <p:spPr>
          <a:xfrm>
            <a:off x="2766060" y="2057400"/>
            <a:ext cx="148590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Exactly three sentences, a named feature and a call to action give the critic real work.</a:t>
            </a:r>
            <a:endParaRPr lang="en-US" sz="1200" dirty="0"/>
          </a:p>
        </p:txBody>
      </p:sp>
      <p:sp>
        <p:nvSpPr>
          <p:cNvPr id="14" name="Shape 10"/>
          <p:cNvSpPr/>
          <p:nvPr/>
        </p:nvSpPr>
        <p:spPr>
          <a:xfrm>
            <a:off x="4709160" y="1371600"/>
            <a:ext cx="1851660" cy="2011680"/>
          </a:xfrm>
          <a:prstGeom prst="roundRect">
            <a:avLst>
              <a:gd name="adj" fmla="val 3951"/>
            </a:avLst>
          </a:prstGeom>
          <a:solidFill>
            <a:srgbClr val="EFEBFC"/>
          </a:solidFill>
          <a:ln w="12700">
            <a:solidFill>
              <a:srgbClr val="EFEBFC"/>
            </a:solidFill>
            <a:prstDash val="solid"/>
          </a:ln>
        </p:spPr>
      </p:sp>
      <p:sp>
        <p:nvSpPr>
          <p:cNvPr id="15" name="Shape 11"/>
          <p:cNvSpPr/>
          <p:nvPr/>
        </p:nvSpPr>
        <p:spPr>
          <a:xfrm>
            <a:off x="4892040" y="1554480"/>
            <a:ext cx="384048" cy="384048"/>
          </a:xfrm>
          <a:prstGeom prst="ellipse">
            <a:avLst/>
          </a:prstGeom>
          <a:solidFill>
            <a:srgbClr val="512BD4"/>
          </a:solidFill>
          <a:ln w="12700">
            <a:solidFill>
              <a:srgbClr val="512BD4"/>
            </a:solidFill>
            <a:prstDash val="solid"/>
          </a:ln>
        </p:spPr>
      </p:sp>
      <p:pic>
        <p:nvPicPr>
          <p:cNvPr id="16" name="Image 2" descr="preencoded.png">    </p:cNvPr>
          <p:cNvPicPr>
            <a:picLocks noChangeAspect="1"/>
          </p:cNvPicPr>
          <p:nvPr/>
        </p:nvPicPr>
        <p:blipFill>
          <a:blip r:embed="rId3"/>
          <a:stretch>
            <a:fillRect/>
          </a:stretch>
        </p:blipFill>
        <p:spPr>
          <a:xfrm>
            <a:off x="4991892" y="1654332"/>
            <a:ext cx="184343" cy="184343"/>
          </a:xfrm>
          <a:prstGeom prst="rect">
            <a:avLst/>
          </a:prstGeom>
        </p:spPr>
      </p:pic>
      <p:sp>
        <p:nvSpPr>
          <p:cNvPr id="17" name="Text 12"/>
          <p:cNvSpPr txBox="1"/>
          <p:nvPr/>
        </p:nvSpPr>
        <p:spPr>
          <a:xfrm>
            <a:off x="539496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Hard cap</a:t>
            </a:r>
            <a:endParaRPr lang="en-US" sz="1300" dirty="0"/>
          </a:p>
        </p:txBody>
      </p:sp>
      <p:sp>
        <p:nvSpPr>
          <p:cNvPr id="18" name="Text 13"/>
          <p:cNvSpPr txBox="1"/>
          <p:nvPr/>
        </p:nvSpPr>
        <p:spPr>
          <a:xfrm>
            <a:off x="4892040" y="2057400"/>
            <a:ext cx="148590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MaxPasses = 3. Running out of passes ships the latest draft; it is not a failure.</a:t>
            </a:r>
            <a:endParaRPr lang="en-US" sz="1200" dirty="0"/>
          </a:p>
        </p:txBody>
      </p:sp>
      <p:sp>
        <p:nvSpPr>
          <p:cNvPr id="19" name="Shape 14"/>
          <p:cNvSpPr/>
          <p:nvPr/>
        </p:nvSpPr>
        <p:spPr>
          <a:xfrm>
            <a:off x="6835140" y="1371600"/>
            <a:ext cx="1851660" cy="2011680"/>
          </a:xfrm>
          <a:prstGeom prst="roundRect">
            <a:avLst>
              <a:gd name="adj" fmla="val 3951"/>
            </a:avLst>
          </a:prstGeom>
          <a:solidFill>
            <a:srgbClr val="EFEBFC"/>
          </a:solidFill>
          <a:ln w="12700">
            <a:solidFill>
              <a:srgbClr val="EFEBFC"/>
            </a:solidFill>
            <a:prstDash val="solid"/>
          </a:ln>
        </p:spPr>
      </p:sp>
      <p:sp>
        <p:nvSpPr>
          <p:cNvPr id="20" name="Shape 15"/>
          <p:cNvSpPr/>
          <p:nvPr/>
        </p:nvSpPr>
        <p:spPr>
          <a:xfrm>
            <a:off x="7018020" y="1554480"/>
            <a:ext cx="384048" cy="384048"/>
          </a:xfrm>
          <a:prstGeom prst="ellipse">
            <a:avLst/>
          </a:prstGeom>
          <a:solidFill>
            <a:srgbClr val="512BD4"/>
          </a:solidFill>
          <a:ln w="12700">
            <a:solidFill>
              <a:srgbClr val="512BD4"/>
            </a:solidFill>
            <a:prstDash val="solid"/>
          </a:ln>
        </p:spPr>
      </p:sp>
      <p:pic>
        <p:nvPicPr>
          <p:cNvPr id="21" name="Image 3" descr="preencoded.png">    </p:cNvPr>
          <p:cNvPicPr>
            <a:picLocks noChangeAspect="1"/>
          </p:cNvPicPr>
          <p:nvPr/>
        </p:nvPicPr>
        <p:blipFill>
          <a:blip r:embed="rId4"/>
          <a:stretch>
            <a:fillRect/>
          </a:stretch>
        </p:blipFill>
        <p:spPr>
          <a:xfrm>
            <a:off x="7117872" y="1654332"/>
            <a:ext cx="184343" cy="184343"/>
          </a:xfrm>
          <a:prstGeom prst="rect">
            <a:avLst/>
          </a:prstGeom>
        </p:spPr>
      </p:pic>
      <p:sp>
        <p:nvSpPr>
          <p:cNvPr id="22" name="Text 16"/>
          <p:cNvSpPr txBox="1"/>
          <p:nvPr/>
        </p:nvSpPr>
        <p:spPr>
          <a:xfrm>
            <a:off x="7520940" y="1554480"/>
            <a:ext cx="1028700" cy="384048"/>
          </a:xfrm>
          <a:prstGeom prst="rect">
            <a:avLst/>
          </a:prstGeom>
          <a:noFill/>
          <a:ln/>
        </p:spPr>
        <p:txBody>
          <a:bodyPr wrap="square" lIns="0" tIns="0" rIns="0" bIns="0" rtlCol="0" anchor="ctr">
            <a:normAutofit/>
          </a:bodyPr>
          <a:lstStyle/>
          <a:p>
            <a:pPr indent="0" marL="0">
              <a:buNone/>
            </a:pPr>
            <a:r>
              <a:rPr lang="en-US" sz="1300" b="1" dirty="0">
                <a:solidFill>
                  <a:srgbClr val="1F2937"/>
                </a:solidFill>
                <a:latin typeface="Calibri" pitchFamily="34" charset="0"/>
                <a:ea typeface="Calibri" pitchFamily="34" charset="-122"/>
                <a:cs typeface="Calibri" pitchFamily="34" charset="-120"/>
              </a:rPr>
              <a:t>Safe parse</a:t>
            </a:r>
            <a:endParaRPr lang="en-US" sz="1300" dirty="0"/>
          </a:p>
        </p:txBody>
      </p:sp>
      <p:sp>
        <p:nvSpPr>
          <p:cNvPr id="23" name="Text 17"/>
          <p:cNvSpPr txBox="1"/>
          <p:nvPr/>
        </p:nvSpPr>
        <p:spPr>
          <a:xfrm>
            <a:off x="7018020" y="2057400"/>
            <a:ext cx="1485900" cy="123444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Unparseable JSON becomes feedback, so a bad verdict triggers a revision, not a crash.</a:t>
            </a:r>
            <a:endParaRPr lang="en-US" sz="1200" dirty="0"/>
          </a:p>
        </p:txBody>
      </p:sp>
      <p:sp>
        <p:nvSpPr>
          <p:cNvPr id="24" name="Text 18"/>
          <p:cNvSpPr txBox="1"/>
          <p:nvPr/>
        </p:nvSpPr>
        <p:spPr>
          <a:xfrm>
            <a:off x="457200" y="3611880"/>
            <a:ext cx="8229600" cy="365760"/>
          </a:xfrm>
          <a:prstGeom prst="rect">
            <a:avLst/>
          </a:prstGeom>
          <a:noFill/>
          <a:ln/>
        </p:spPr>
        <p:txBody>
          <a:bodyPr wrap="square" lIns="0" tIns="0" rIns="0" bIns="0" rtlCol="0" anchor="t"/>
          <a:lstStyle/>
          <a:p>
            <a:pPr indent="0" marL="0">
              <a:buNone/>
            </a:pPr>
            <a:r>
              <a:rPr lang="en-US" sz="1400" i="1" dirty="0">
                <a:solidFill>
                  <a:srgbClr val="512BD4"/>
                </a:solidFill>
                <a:latin typeface="Calibri" pitchFamily="34" charset="0"/>
                <a:ea typeface="Calibri" pitchFamily="34" charset="-122"/>
                <a:cs typeface="Calibri" pitchFamily="34" charset="-120"/>
              </a:rPr>
              <a:t>Unlike Lesson 18, no other persona has to say APPROVED.</a:t>
            </a:r>
            <a:endParaRPr lang="en-US" sz="1400" dirty="0"/>
          </a:p>
        </p:txBody>
      </p:sp>
      <p:sp>
        <p:nvSpPr>
          <p:cNvPr id="25"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31 — Self-Reflection Loop</a:t>
            </a:r>
            <a:endParaRPr lang="en-US" sz="900" dirty="0"/>
          </a:p>
        </p:txBody>
      </p:sp>
      <p:sp>
        <p:nvSpPr>
          <p:cNvPr id="26"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EXPECTED RESULT</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650" b="1" dirty="0">
                <a:solidFill>
                  <a:srgbClr val="1F2937"/>
                </a:solidFill>
                <a:latin typeface="Cambria" pitchFamily="34" charset="0"/>
                <a:ea typeface="Cambria" pitchFamily="34" charset="-122"/>
                <a:cs typeface="Cambria" pitchFamily="34" charset="-120"/>
              </a:rPr>
              <a:t>Run it: one miss, one fix, then it stops itself</a:t>
            </a:r>
            <a:endParaRPr lang="en-US" sz="2650" dirty="0"/>
          </a:p>
        </p:txBody>
      </p:sp>
      <p:sp>
        <p:nvSpPr>
          <p:cNvPr id="4" name="Shape 2"/>
          <p:cNvSpPr/>
          <p:nvPr/>
        </p:nvSpPr>
        <p:spPr>
          <a:xfrm>
            <a:off x="457200" y="1325880"/>
            <a:ext cx="5257800" cy="3017520"/>
          </a:xfrm>
          <a:prstGeom prst="roundRect">
            <a:avLst>
              <a:gd name="adj" fmla="val 2424"/>
            </a:avLst>
          </a:prstGeom>
          <a:solidFill>
            <a:srgbClr val="0F1420"/>
          </a:solidFill>
          <a:ln w="12700">
            <a:solidFill>
              <a:srgbClr val="0F1420"/>
            </a:solidFill>
            <a:prstDash val="solid"/>
          </a:ln>
        </p:spPr>
      </p:sp>
      <p:sp>
        <p:nvSpPr>
          <p:cNvPr id="5" name="Text 3"/>
          <p:cNvSpPr txBox="1"/>
          <p:nvPr/>
        </p:nvSpPr>
        <p:spPr>
          <a:xfrm>
            <a:off x="640080" y="1463040"/>
            <a:ext cx="4892040" cy="2743200"/>
          </a:xfrm>
          <a:prstGeom prst="rect">
            <a:avLst/>
          </a:prstGeom>
          <a:noFill/>
          <a:ln/>
        </p:spPr>
        <p:txBody>
          <a:bodyPr wrap="square" lIns="0" tIns="0" rIns="0" bIns="0" rtlCol="0" anchor="t"/>
          <a:lstStyle/>
          <a:p>
            <a:pPr indent="0" marL="0">
              <a:buNone/>
            </a:pPr>
            <a:r>
              <a:rPr lang="en-US" sz="1050" dirty="0">
                <a:solidFill>
                  <a:srgbClr val="D7E3F4"/>
                </a:solidFill>
                <a:latin typeface="Courier New" pitchFamily="34" charset="0"/>
                <a:ea typeface="Courier New" pitchFamily="34" charset="-122"/>
                <a:cs typeface="Courier New" pitchFamily="34" charset="-120"/>
              </a:rPr>
              <a:t>TASK: Write EXACTLY three sentences of product...</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Draft 1 ---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Stay warm or cold for half your day with the Aegis...</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Self-critique (pass 1)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The draft is only two sentences, not three. It never</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names the temperature-lock feature explicitly. It has</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no call to action. Revise to meet all three.</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Draft 2 ---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The Aegis travel mug keeps your drink locked at your</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chosen temperature for a full 12 hours... Grab yours</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today and never settle for lukewarm again.</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Self-critique (pass 2) ---</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Satisfied. Stopping.</a:t>
            </a:r>
            <a:endParaRPr lang="en-US" sz="1050" dirty="0"/>
          </a:p>
          <a:p>
            <a:pPr indent="0" marL="0">
              <a:buNone/>
            </a:pPr>
            <a:r>
              <a:rPr lang="en-US" sz="1050" dirty="0">
                <a:solidFill>
                  <a:srgbClr val="D7E3F4"/>
                </a:solidFill>
                <a:latin typeface="Courier New" pitchFamily="34" charset="0"/>
                <a:ea typeface="Courier New" pitchFamily="34" charset="-122"/>
                <a:cs typeface="Courier New" pitchFamily="34" charset="-120"/>
              </a:rPr>
              <a:t>--- FINAL OUTPUT ---</a:t>
            </a:r>
            <a:endParaRPr lang="en-US" sz="1050" dirty="0"/>
          </a:p>
          <a:p>
            <a:pPr indent="0" marL="0">
              <a:buNone/>
            </a:pPr>
            <a:r>
              <a:rPr lang="en-US" sz="1050" dirty="0">
                <a:solidFill>
                  <a:srgbClr val="9FE6B8"/>
                </a:solidFill>
                <a:latin typeface="Courier New" pitchFamily="34" charset="0"/>
                <a:ea typeface="Courier New" pitchFamily="34" charset="-122"/>
                <a:cs typeface="Courier New" pitchFamily="34" charset="-120"/>
              </a:rPr>
              <a:t>The Aegis travel mug keeps your drink locked at...</a:t>
            </a:r>
            <a:endParaRPr lang="en-US" sz="1050" dirty="0"/>
          </a:p>
        </p:txBody>
      </p:sp>
      <p:sp>
        <p:nvSpPr>
          <p:cNvPr id="6" name="Shape 4"/>
          <p:cNvSpPr/>
          <p:nvPr/>
        </p:nvSpPr>
        <p:spPr>
          <a:xfrm>
            <a:off x="6035040" y="1325880"/>
            <a:ext cx="384048" cy="384048"/>
          </a:xfrm>
          <a:prstGeom prst="ellipse">
            <a:avLst/>
          </a:prstGeom>
          <a:solidFill>
            <a:srgbClr val="512BD4"/>
          </a:solidFill>
          <a:ln w="12700">
            <a:solidFill>
              <a:srgbClr val="512BD4"/>
            </a:solidFill>
            <a:prstDash val="solid"/>
          </a:ln>
        </p:spPr>
      </p:sp>
      <p:pic>
        <p:nvPicPr>
          <p:cNvPr id="7" name="Image 0" descr="preencoded.png">    </p:cNvPr>
          <p:cNvPicPr>
            <a:picLocks noChangeAspect="1"/>
          </p:cNvPicPr>
          <p:nvPr/>
        </p:nvPicPr>
        <p:blipFill>
          <a:blip r:embed="rId1"/>
          <a:stretch>
            <a:fillRect/>
          </a:stretch>
        </p:blipFill>
        <p:spPr>
          <a:xfrm>
            <a:off x="6134892" y="1425732"/>
            <a:ext cx="184343" cy="184343"/>
          </a:xfrm>
          <a:prstGeom prst="rect">
            <a:avLst/>
          </a:prstGeom>
        </p:spPr>
      </p:pic>
      <p:sp>
        <p:nvSpPr>
          <p:cNvPr id="8" name="Text 5"/>
          <p:cNvSpPr txBox="1"/>
          <p:nvPr/>
        </p:nvSpPr>
        <p:spPr>
          <a:xfrm>
            <a:off x="6537960" y="132588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Specific critique</a:t>
            </a:r>
            <a:endParaRPr lang="en-US" sz="1400" dirty="0"/>
          </a:p>
        </p:txBody>
      </p:sp>
      <p:sp>
        <p:nvSpPr>
          <p:cNvPr id="9" name="Text 6"/>
          <p:cNvSpPr txBox="1"/>
          <p:nvPr/>
        </p:nvSpPr>
        <p:spPr>
          <a:xfrm>
            <a:off x="6537960" y="170992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Each missed constraint is named, so the revision can fix it.</a:t>
            </a:r>
            <a:endParaRPr lang="en-US" sz="1200" dirty="0"/>
          </a:p>
        </p:txBody>
      </p:sp>
      <p:sp>
        <p:nvSpPr>
          <p:cNvPr id="10" name="Shape 7"/>
          <p:cNvSpPr/>
          <p:nvPr/>
        </p:nvSpPr>
        <p:spPr>
          <a:xfrm>
            <a:off x="6035040" y="2423160"/>
            <a:ext cx="384048" cy="384048"/>
          </a:xfrm>
          <a:prstGeom prst="ellipse">
            <a:avLst/>
          </a:prstGeom>
          <a:solidFill>
            <a:srgbClr val="512BD4"/>
          </a:solidFill>
          <a:ln w="12700">
            <a:solidFill>
              <a:srgbClr val="512BD4"/>
            </a:solidFill>
            <a:prstDash val="solid"/>
          </a:ln>
        </p:spPr>
      </p:sp>
      <p:pic>
        <p:nvPicPr>
          <p:cNvPr id="11" name="Image 1" descr="preencoded.png">    </p:cNvPr>
          <p:cNvPicPr>
            <a:picLocks noChangeAspect="1"/>
          </p:cNvPicPr>
          <p:nvPr/>
        </p:nvPicPr>
        <p:blipFill>
          <a:blip r:embed="rId2"/>
          <a:stretch>
            <a:fillRect/>
          </a:stretch>
        </p:blipFill>
        <p:spPr>
          <a:xfrm>
            <a:off x="6134892" y="2523012"/>
            <a:ext cx="184343" cy="184343"/>
          </a:xfrm>
          <a:prstGeom prst="rect">
            <a:avLst/>
          </a:prstGeom>
        </p:spPr>
      </p:pic>
      <p:sp>
        <p:nvSpPr>
          <p:cNvPr id="12" name="Text 8"/>
          <p:cNvSpPr txBox="1"/>
          <p:nvPr/>
        </p:nvSpPr>
        <p:spPr>
          <a:xfrm>
            <a:off x="6537960" y="242316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Self-terminating</a:t>
            </a:r>
            <a:endParaRPr lang="en-US" sz="1400" dirty="0"/>
          </a:p>
        </p:txBody>
      </p:sp>
      <p:sp>
        <p:nvSpPr>
          <p:cNvPr id="13" name="Text 9"/>
          <p:cNvSpPr txBox="1"/>
          <p:nvPr/>
        </p:nvSpPr>
        <p:spPr>
          <a:xfrm>
            <a:off x="6537960" y="280720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It stops on its own verdict, before the MaxPasses cap.</a:t>
            </a:r>
            <a:endParaRPr lang="en-US" sz="1200" dirty="0"/>
          </a:p>
        </p:txBody>
      </p:sp>
      <p:sp>
        <p:nvSpPr>
          <p:cNvPr id="14" name="Shape 10"/>
          <p:cNvSpPr/>
          <p:nvPr/>
        </p:nvSpPr>
        <p:spPr>
          <a:xfrm>
            <a:off x="6035040" y="3520440"/>
            <a:ext cx="384048" cy="384048"/>
          </a:xfrm>
          <a:prstGeom prst="ellipse">
            <a:avLst/>
          </a:prstGeom>
          <a:solidFill>
            <a:srgbClr val="512BD4"/>
          </a:solidFill>
          <a:ln w="12700">
            <a:solidFill>
              <a:srgbClr val="512BD4"/>
            </a:solidFill>
            <a:prstDash val="solid"/>
          </a:ln>
        </p:spPr>
      </p:sp>
      <p:pic>
        <p:nvPicPr>
          <p:cNvPr id="15" name="Image 2" descr="preencoded.png">    </p:cNvPr>
          <p:cNvPicPr>
            <a:picLocks noChangeAspect="1"/>
          </p:cNvPicPr>
          <p:nvPr/>
        </p:nvPicPr>
        <p:blipFill>
          <a:blip r:embed="rId3"/>
          <a:stretch>
            <a:fillRect/>
          </a:stretch>
        </p:blipFill>
        <p:spPr>
          <a:xfrm>
            <a:off x="6134892" y="3620292"/>
            <a:ext cx="184343" cy="184343"/>
          </a:xfrm>
          <a:prstGeom prst="rect">
            <a:avLst/>
          </a:prstGeom>
        </p:spPr>
      </p:pic>
      <p:sp>
        <p:nvSpPr>
          <p:cNvPr id="16" name="Text 11"/>
          <p:cNvSpPr txBox="1"/>
          <p:nvPr/>
        </p:nvSpPr>
        <p:spPr>
          <a:xfrm>
            <a:off x="6537960" y="3520440"/>
            <a:ext cx="2148840" cy="384048"/>
          </a:xfrm>
          <a:prstGeom prst="rect">
            <a:avLst/>
          </a:prstGeom>
          <a:noFill/>
          <a:ln/>
        </p:spPr>
        <p:txBody>
          <a:bodyPr wrap="square" lIns="0" tIns="0" rIns="0" bIns="0" rtlCol="0" anchor="ctr"/>
          <a:lstStyle/>
          <a:p>
            <a:pPr indent="0" marL="0">
              <a:buNone/>
            </a:pPr>
            <a:r>
              <a:rPr lang="en-US" sz="1400" b="1" dirty="0">
                <a:solidFill>
                  <a:srgbClr val="1F2937"/>
                </a:solidFill>
                <a:latin typeface="Calibri" pitchFamily="34" charset="0"/>
                <a:ea typeface="Calibri" pitchFamily="34" charset="-122"/>
                <a:cs typeface="Calibri" pitchFamily="34" charset="-120"/>
              </a:rPr>
              <a:t>Wording varies</a:t>
            </a:r>
            <a:endParaRPr lang="en-US" sz="1400" dirty="0"/>
          </a:p>
        </p:txBody>
      </p:sp>
      <p:sp>
        <p:nvSpPr>
          <p:cNvPr id="17" name="Text 12"/>
          <p:cNvSpPr txBox="1"/>
          <p:nvPr/>
        </p:nvSpPr>
        <p:spPr>
          <a:xfrm>
            <a:off x="6537960" y="3904488"/>
            <a:ext cx="2148840" cy="6400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Abridged from the lesson's sample run. Yours will differ.</a:t>
            </a:r>
            <a:endParaRPr lang="en-US" sz="1200" dirty="0"/>
          </a:p>
        </p:txBody>
      </p:sp>
      <p:sp>
        <p:nvSpPr>
          <p:cNvPr id="18" name="Text 13"/>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31 — Self-Reflection Loop</a:t>
            </a:r>
            <a:endParaRPr lang="en-US" sz="900" dirty="0"/>
          </a:p>
        </p:txBody>
      </p:sp>
      <p:sp>
        <p:nvSpPr>
          <p:cNvPr id="19" name="Text 14"/>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228600"/>
          </a:xfrm>
          <a:prstGeom prst="rect">
            <a:avLst/>
          </a:prstGeom>
          <a:noFill/>
          <a:ln/>
        </p:spPr>
        <p:txBody>
          <a:bodyPr wrap="square" lIns="0" tIns="0" rIns="0" bIns="0" rtlCol="0" anchor="t"/>
          <a:lstStyle/>
          <a:p>
            <a:pPr indent="0" marL="0">
              <a:buNone/>
            </a:pPr>
            <a:r>
              <a:rPr lang="en-US" sz="1100" b="1" spc="200" kern="0" dirty="0">
                <a:solidFill>
                  <a:srgbClr val="512BD4"/>
                </a:solidFill>
                <a:latin typeface="Calibri" pitchFamily="34" charset="0"/>
                <a:ea typeface="Calibri" pitchFamily="34" charset="-122"/>
                <a:cs typeface="Calibri" pitchFamily="34" charset="-120"/>
              </a:rPr>
              <a:t>EXERCISE</a:t>
            </a:r>
            <a:endParaRPr lang="en-US" sz="1100" dirty="0"/>
          </a:p>
        </p:txBody>
      </p:sp>
      <p:sp>
        <p:nvSpPr>
          <p:cNvPr id="3" name="Text 1"/>
          <p:cNvSpPr txBox="1"/>
          <p:nvPr/>
        </p:nvSpPr>
        <p:spPr>
          <a:xfrm>
            <a:off x="457200" y="566928"/>
            <a:ext cx="8229600" cy="548640"/>
          </a:xfrm>
          <a:prstGeom prst="rect">
            <a:avLst/>
          </a:prstGeom>
          <a:noFill/>
          <a:ln/>
        </p:spPr>
        <p:txBody>
          <a:bodyPr wrap="square" lIns="0" tIns="0" rIns="0" bIns="0" rtlCol="0" anchor="ctr"/>
          <a:lstStyle/>
          <a:p>
            <a:pPr indent="0" marL="0">
              <a:buNone/>
            </a:pPr>
            <a:r>
              <a:rPr lang="en-US" sz="2800" b="1" dirty="0">
                <a:solidFill>
                  <a:srgbClr val="1F2937"/>
                </a:solidFill>
                <a:latin typeface="Cambria" pitchFamily="34" charset="0"/>
                <a:ea typeface="Cambria" pitchFamily="34" charset="-122"/>
                <a:cs typeface="Cambria" pitchFamily="34" charset="-120"/>
              </a:rPr>
              <a:t>Make the loop report how it ended</a:t>
            </a:r>
            <a:endParaRPr lang="en-US" sz="2800" dirty="0"/>
          </a:p>
        </p:txBody>
      </p:sp>
      <p:sp>
        <p:nvSpPr>
          <p:cNvPr id="4" name="Shape 2"/>
          <p:cNvSpPr/>
          <p:nvPr/>
        </p:nvSpPr>
        <p:spPr>
          <a:xfrm>
            <a:off x="457200" y="1371600"/>
            <a:ext cx="3108960" cy="3017520"/>
          </a:xfrm>
          <a:prstGeom prst="roundRect">
            <a:avLst>
              <a:gd name="adj" fmla="val 2424"/>
            </a:avLst>
          </a:prstGeom>
          <a:solidFill>
            <a:srgbClr val="512BD4"/>
          </a:solidFill>
          <a:ln w="12700">
            <a:solidFill>
              <a:srgbClr val="512BD4"/>
            </a:solidFill>
            <a:prstDash val="solid"/>
          </a:ln>
        </p:spPr>
      </p:sp>
      <p:sp>
        <p:nvSpPr>
          <p:cNvPr id="5" name="Shape 3"/>
          <p:cNvSpPr/>
          <p:nvPr/>
        </p:nvSpPr>
        <p:spPr>
          <a:xfrm>
            <a:off x="685800" y="1600200"/>
            <a:ext cx="457200" cy="457200"/>
          </a:xfrm>
          <a:prstGeom prst="ellipse">
            <a:avLst/>
          </a:prstGeom>
          <a:solidFill>
            <a:srgbClr val="FFFFFF"/>
          </a:solidFill>
          <a:ln w="12700">
            <a:solidFill>
              <a:srgbClr val="FFFFFF"/>
            </a:solidFill>
            <a:prstDash val="solid"/>
          </a:ln>
        </p:spPr>
      </p:sp>
      <p:pic>
        <p:nvPicPr>
          <p:cNvPr id="6" name="Image 0" descr="preencoded.png">    </p:cNvPr>
          <p:cNvPicPr>
            <a:picLocks noChangeAspect="1"/>
          </p:cNvPicPr>
          <p:nvPr/>
        </p:nvPicPr>
        <p:blipFill>
          <a:blip r:embed="rId1"/>
          <a:stretch>
            <a:fillRect/>
          </a:stretch>
        </p:blipFill>
        <p:spPr>
          <a:xfrm>
            <a:off x="804672" y="1719072"/>
            <a:ext cx="219456" cy="219456"/>
          </a:xfrm>
          <a:prstGeom prst="rect">
            <a:avLst/>
          </a:prstGeom>
        </p:spPr>
      </p:pic>
      <p:sp>
        <p:nvSpPr>
          <p:cNvPr id="7" name="Text 4"/>
          <p:cNvSpPr txBox="1"/>
          <p:nvPr/>
        </p:nvSpPr>
        <p:spPr>
          <a:xfrm>
            <a:off x="685800" y="2194560"/>
            <a:ext cx="2651760" cy="1371600"/>
          </a:xfrm>
          <a:prstGeom prst="rect">
            <a:avLst/>
          </a:prstGeom>
          <a:noFill/>
          <a:ln/>
        </p:spPr>
        <p:txBody>
          <a:bodyPr wrap="square" lIns="0" tIns="0" rIns="0" bIns="0" rtlCol="0" anchor="t"/>
          <a:lstStyle/>
          <a:p>
            <a:pPr indent="0" marL="0">
              <a:buNone/>
            </a:pPr>
            <a:r>
              <a:rPr lang="en-US" sz="1400" dirty="0">
                <a:solidFill>
                  <a:srgbClr val="FFFFFF"/>
                </a:solidFill>
                <a:latin typeface="Calibri" pitchFamily="34" charset="0"/>
                <a:ea typeface="Calibri" pitchFamily="34" charset="-122"/>
                <a:cs typeface="Calibri" pitchFamily="34" charset="-120"/>
              </a:rPr>
              <a:t>Read the task and the pass cap from the command line, and finish with one line that says whether the agent was satisfied or hit the cap.</a:t>
            </a:r>
            <a:endParaRPr lang="en-US" sz="1400" dirty="0"/>
          </a:p>
        </p:txBody>
      </p:sp>
      <p:sp>
        <p:nvSpPr>
          <p:cNvPr id="8" name="Text 5"/>
          <p:cNvSpPr txBox="1"/>
          <p:nvPr/>
        </p:nvSpPr>
        <p:spPr>
          <a:xfrm>
            <a:off x="685800" y="3611880"/>
            <a:ext cx="2743200" cy="640080"/>
          </a:xfrm>
          <a:prstGeom prst="rect">
            <a:avLst/>
          </a:prstGeom>
          <a:noFill/>
          <a:ln/>
        </p:spPr>
        <p:txBody>
          <a:bodyPr wrap="square" lIns="0" tIns="0" rIns="0" bIns="0" rtlCol="0" anchor="b"/>
          <a:lstStyle/>
          <a:p>
            <a:pPr indent="0" marL="0">
              <a:buNone/>
            </a:pPr>
            <a:r>
              <a:rPr lang="en-US" sz="850" dirty="0">
                <a:solidFill>
                  <a:srgbClr val="B8B2E6"/>
                </a:solidFill>
                <a:latin typeface="Courier New" pitchFamily="34" charset="0"/>
                <a:ea typeface="Courier New" pitchFamily="34" charset="-122"/>
                <a:cs typeface="Courier New" pitchFamily="34" charset="-120"/>
              </a:rPr>
              <a:t>Lesson31-SelfReflectionLoop/</a:t>
            </a:r>
            <a:endParaRPr lang="en-US" sz="850" dirty="0"/>
          </a:p>
          <a:p>
            <a:pPr indent="0" marL="0">
              <a:buNone/>
            </a:pPr>
            <a:r>
              <a:rPr lang="en-US" sz="850" dirty="0">
                <a:solidFill>
                  <a:srgbClr val="B8B2E6"/>
                </a:solidFill>
                <a:latin typeface="Courier New" pitchFamily="34" charset="0"/>
                <a:ea typeface="Courier New" pitchFamily="34" charset="-122"/>
                <a:cs typeface="Courier New" pitchFamily="34" charset="-120"/>
              </a:rPr>
              <a:t>SelfReflectionLoop/Program.cs</a:t>
            </a:r>
            <a:endParaRPr lang="en-US" sz="850" dirty="0"/>
          </a:p>
        </p:txBody>
      </p:sp>
      <p:sp>
        <p:nvSpPr>
          <p:cNvPr id="9" name="Text 6"/>
          <p:cNvSpPr txBox="1"/>
          <p:nvPr/>
        </p:nvSpPr>
        <p:spPr>
          <a:xfrm>
            <a:off x="3931920" y="1371600"/>
            <a:ext cx="4754880" cy="320040"/>
          </a:xfrm>
          <a:prstGeom prst="rect">
            <a:avLst/>
          </a:prstGeom>
          <a:noFill/>
          <a:ln/>
        </p:spPr>
        <p:txBody>
          <a:bodyPr wrap="square" lIns="0" tIns="0" rIns="0" bIns="0" rtlCol="0" anchor="t"/>
          <a:lstStyle/>
          <a:p>
            <a:pPr indent="0" marL="0">
              <a:buNone/>
            </a:pPr>
            <a:r>
              <a:rPr lang="en-US" sz="1600" b="1" dirty="0">
                <a:solidFill>
                  <a:srgbClr val="1F2937"/>
                </a:solidFill>
                <a:latin typeface="Cambria" pitchFamily="34" charset="0"/>
                <a:ea typeface="Cambria" pitchFamily="34" charset="-122"/>
                <a:cs typeface="Cambria" pitchFamily="34" charset="-120"/>
              </a:rPr>
              <a:t>Done when</a:t>
            </a:r>
            <a:endParaRPr lang="en-US" sz="1600" dirty="0"/>
          </a:p>
        </p:txBody>
      </p:sp>
      <p:sp>
        <p:nvSpPr>
          <p:cNvPr id="10" name="Shape 7"/>
          <p:cNvSpPr/>
          <p:nvPr/>
        </p:nvSpPr>
        <p:spPr>
          <a:xfrm>
            <a:off x="3931920" y="1801368"/>
            <a:ext cx="292608" cy="292608"/>
          </a:xfrm>
          <a:prstGeom prst="ellipse">
            <a:avLst/>
          </a:prstGeom>
          <a:solidFill>
            <a:srgbClr val="F5A623"/>
          </a:solidFill>
          <a:ln w="12700">
            <a:solidFill>
              <a:srgbClr val="F5A623"/>
            </a:solidFill>
            <a:prstDash val="solid"/>
          </a:ln>
        </p:spPr>
      </p:sp>
      <p:pic>
        <p:nvPicPr>
          <p:cNvPr id="11" name="Image 1" descr="preencoded.png">    </p:cNvPr>
          <p:cNvPicPr>
            <a:picLocks noChangeAspect="1"/>
          </p:cNvPicPr>
          <p:nvPr/>
        </p:nvPicPr>
        <p:blipFill>
          <a:blip r:embed="rId2"/>
          <a:stretch>
            <a:fillRect/>
          </a:stretch>
        </p:blipFill>
        <p:spPr>
          <a:xfrm>
            <a:off x="4007998" y="1877446"/>
            <a:ext cx="140452" cy="140452"/>
          </a:xfrm>
          <a:prstGeom prst="rect">
            <a:avLst/>
          </a:prstGeom>
        </p:spPr>
      </p:pic>
      <p:sp>
        <p:nvSpPr>
          <p:cNvPr id="12" name="Text 8"/>
          <p:cNvSpPr txBox="1"/>
          <p:nvPr/>
        </p:nvSpPr>
        <p:spPr>
          <a:xfrm>
            <a:off x="4361688" y="178308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dotnet run -- "&lt;task&gt;" 5 uses your task and a cap of 5</a:t>
            </a:r>
            <a:endParaRPr lang="en-US" sz="1300" dirty="0"/>
          </a:p>
        </p:txBody>
      </p:sp>
      <p:sp>
        <p:nvSpPr>
          <p:cNvPr id="13" name="Shape 9"/>
          <p:cNvSpPr/>
          <p:nvPr/>
        </p:nvSpPr>
        <p:spPr>
          <a:xfrm>
            <a:off x="3931920" y="2441448"/>
            <a:ext cx="292608" cy="292608"/>
          </a:xfrm>
          <a:prstGeom prst="ellipse">
            <a:avLst/>
          </a:prstGeom>
          <a:solidFill>
            <a:srgbClr val="F5A623"/>
          </a:solidFill>
          <a:ln w="12700">
            <a:solidFill>
              <a:srgbClr val="F5A623"/>
            </a:solidFill>
            <a:prstDash val="solid"/>
          </a:ln>
        </p:spPr>
      </p:sp>
      <p:pic>
        <p:nvPicPr>
          <p:cNvPr id="14" name="Image 2" descr="preencoded.png">    </p:cNvPr>
          <p:cNvPicPr>
            <a:picLocks noChangeAspect="1"/>
          </p:cNvPicPr>
          <p:nvPr/>
        </p:nvPicPr>
        <p:blipFill>
          <a:blip r:embed="rId3"/>
          <a:stretch>
            <a:fillRect/>
          </a:stretch>
        </p:blipFill>
        <p:spPr>
          <a:xfrm>
            <a:off x="4007998" y="2517526"/>
            <a:ext cx="140452" cy="140452"/>
          </a:xfrm>
          <a:prstGeom prst="rect">
            <a:avLst/>
          </a:prstGeom>
        </p:spPr>
      </p:pic>
      <p:sp>
        <p:nvSpPr>
          <p:cNvPr id="15" name="Text 10"/>
          <p:cNvSpPr txBox="1"/>
          <p:nvPr/>
        </p:nvSpPr>
        <p:spPr>
          <a:xfrm>
            <a:off x="4361688" y="242316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default task and MaxPasses = 3 still apply with no arguments</a:t>
            </a:r>
            <a:endParaRPr lang="en-US" sz="1300" dirty="0"/>
          </a:p>
        </p:txBody>
      </p:sp>
      <p:sp>
        <p:nvSpPr>
          <p:cNvPr id="16" name="Shape 11"/>
          <p:cNvSpPr/>
          <p:nvPr/>
        </p:nvSpPr>
        <p:spPr>
          <a:xfrm>
            <a:off x="3931920" y="3081528"/>
            <a:ext cx="292608" cy="292608"/>
          </a:xfrm>
          <a:prstGeom prst="ellipse">
            <a:avLst/>
          </a:prstGeom>
          <a:solidFill>
            <a:srgbClr val="F5A623"/>
          </a:solidFill>
          <a:ln w="12700">
            <a:solidFill>
              <a:srgbClr val="F5A623"/>
            </a:solidFill>
            <a:prstDash val="solid"/>
          </a:ln>
        </p:spPr>
      </p:sp>
      <p:pic>
        <p:nvPicPr>
          <p:cNvPr id="17" name="Image 3" descr="preencoded.png">    </p:cNvPr>
          <p:cNvPicPr>
            <a:picLocks noChangeAspect="1"/>
          </p:cNvPicPr>
          <p:nvPr/>
        </p:nvPicPr>
        <p:blipFill>
          <a:blip r:embed="rId4"/>
          <a:stretch>
            <a:fillRect/>
          </a:stretch>
        </p:blipFill>
        <p:spPr>
          <a:xfrm>
            <a:off x="4007998" y="3157606"/>
            <a:ext cx="140452" cy="140452"/>
          </a:xfrm>
          <a:prstGeom prst="rect">
            <a:avLst/>
          </a:prstGeom>
        </p:spPr>
      </p:pic>
      <p:sp>
        <p:nvSpPr>
          <p:cNvPr id="18" name="Text 12"/>
          <p:cNvSpPr txBox="1"/>
          <p:nvPr/>
        </p:nvSpPr>
        <p:spPr>
          <a:xfrm>
            <a:off x="4361688" y="306324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The last line reads 'Satisfied on pass N' or 'Stopped at the cap'</a:t>
            </a:r>
            <a:endParaRPr lang="en-US" sz="1300" dirty="0"/>
          </a:p>
        </p:txBody>
      </p:sp>
      <p:sp>
        <p:nvSpPr>
          <p:cNvPr id="19" name="Shape 13"/>
          <p:cNvSpPr/>
          <p:nvPr/>
        </p:nvSpPr>
        <p:spPr>
          <a:xfrm>
            <a:off x="3931920" y="3721608"/>
            <a:ext cx="292608" cy="292608"/>
          </a:xfrm>
          <a:prstGeom prst="ellipse">
            <a:avLst/>
          </a:prstGeom>
          <a:solidFill>
            <a:srgbClr val="F5A623"/>
          </a:solidFill>
          <a:ln w="12700">
            <a:solidFill>
              <a:srgbClr val="F5A623"/>
            </a:solidFill>
            <a:prstDash val="solid"/>
          </a:ln>
        </p:spPr>
      </p:sp>
      <p:pic>
        <p:nvPicPr>
          <p:cNvPr id="20" name="Image 4" descr="preencoded.png">    </p:cNvPr>
          <p:cNvPicPr>
            <a:picLocks noChangeAspect="1"/>
          </p:cNvPicPr>
          <p:nvPr/>
        </p:nvPicPr>
        <p:blipFill>
          <a:blip r:embed="rId5"/>
          <a:stretch>
            <a:fillRect/>
          </a:stretch>
        </p:blipFill>
        <p:spPr>
          <a:xfrm>
            <a:off x="4007998" y="3797686"/>
            <a:ext cx="140452" cy="140452"/>
          </a:xfrm>
          <a:prstGeom prst="rect">
            <a:avLst/>
          </a:prstGeom>
        </p:spPr>
      </p:pic>
      <p:sp>
        <p:nvSpPr>
          <p:cNvPr id="21" name="Text 14"/>
          <p:cNvSpPr txBox="1"/>
          <p:nvPr/>
        </p:nvSpPr>
        <p:spPr>
          <a:xfrm>
            <a:off x="4361688" y="3703320"/>
            <a:ext cx="4325112" cy="5943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cap of 1 critiques once and never calls ReviseAsync</a:t>
            </a:r>
            <a:endParaRPr lang="en-US" sz="1300" dirty="0"/>
          </a:p>
        </p:txBody>
      </p:sp>
      <p:sp>
        <p:nvSpPr>
          <p:cNvPr id="22" name="Text 15"/>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Applied Agentic Orchestration with Semantic Kernel  ·  Lesson 31 — Self-Reflection Loop</a:t>
            </a:r>
            <a:endParaRPr lang="en-US" sz="900" dirty="0"/>
          </a:p>
        </p:txBody>
      </p:sp>
      <p:sp>
        <p:nvSpPr>
          <p:cNvPr id="23" name="Text 16"/>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B2D"/>
        </a:solidFill>
      </p:bgPr>
    </p:bg>
    <p:spTree>
      <p:nvGrpSpPr>
        <p:cNvPr id="1" name=""/>
        <p:cNvGrpSpPr/>
        <p:nvPr/>
      </p:nvGrpSpPr>
      <p:grpSpPr>
        <a:xfrm>
          <a:off x="0" y="0"/>
          <a:ext cx="0" cy="0"/>
          <a:chOff x="0" y="0"/>
          <a:chExt cx="0" cy="0"/>
        </a:xfrm>
      </p:grpSpPr>
      <p:sp>
        <p:nvSpPr>
          <p:cNvPr id="2" name="Text 0"/>
          <p:cNvSpPr txBox="1"/>
          <p:nvPr/>
        </p:nvSpPr>
        <p:spPr>
          <a:xfrm>
            <a:off x="457200" y="347472"/>
            <a:ext cx="4572000" cy="228600"/>
          </a:xfrm>
          <a:prstGeom prst="rect">
            <a:avLst/>
          </a:prstGeom>
          <a:noFill/>
          <a:ln/>
        </p:spPr>
        <p:txBody>
          <a:bodyPr wrap="square" lIns="0" tIns="0" rIns="0" bIns="0" rtlCol="0" anchor="t"/>
          <a:lstStyle/>
          <a:p>
            <a:pPr indent="0" marL="0">
              <a:buNone/>
            </a:pPr>
            <a:r>
              <a:rPr lang="en-US" sz="1100" b="1" spc="200" kern="0" dirty="0">
                <a:solidFill>
                  <a:srgbClr val="F5A623"/>
                </a:solidFill>
                <a:latin typeface="Calibri" pitchFamily="34" charset="0"/>
                <a:ea typeface="Calibri" pitchFamily="34" charset="-122"/>
                <a:cs typeface="Calibri" pitchFamily="34" charset="-120"/>
              </a:rPr>
              <a:t>SUMMARY</a:t>
            </a:r>
            <a:endParaRPr lang="en-US" sz="1100" dirty="0"/>
          </a:p>
        </p:txBody>
      </p:sp>
      <p:sp>
        <p:nvSpPr>
          <p:cNvPr id="3" name="Text 1"/>
          <p:cNvSpPr txBox="1"/>
          <p:nvPr/>
        </p:nvSpPr>
        <p:spPr>
          <a:xfrm>
            <a:off x="457200" y="566928"/>
            <a:ext cx="8229600" cy="502920"/>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we learned, and where it goes</a:t>
            </a:r>
            <a:endParaRPr lang="en-US" sz="2600" dirty="0"/>
          </a:p>
        </p:txBody>
      </p:sp>
      <p:sp>
        <p:nvSpPr>
          <p:cNvPr id="4" name="Shape 2"/>
          <p:cNvSpPr/>
          <p:nvPr/>
        </p:nvSpPr>
        <p:spPr>
          <a:xfrm>
            <a:off x="457200" y="1234440"/>
            <a:ext cx="2926080" cy="493776"/>
          </a:xfrm>
          <a:prstGeom prst="roundRect">
            <a:avLst>
              <a:gd name="adj" fmla="val 14815"/>
            </a:avLst>
          </a:prstGeom>
          <a:solidFill>
            <a:srgbClr val="1F2943"/>
          </a:solidFill>
          <a:ln w="12700">
            <a:solidFill>
              <a:srgbClr val="1F2943"/>
            </a:solidFill>
            <a:prstDash val="solid"/>
          </a:ln>
        </p:spPr>
      </p:sp>
      <p:sp>
        <p:nvSpPr>
          <p:cNvPr id="5" name="Text 3"/>
          <p:cNvSpPr txBox="1"/>
          <p:nvPr/>
        </p:nvSpPr>
        <p:spPr>
          <a:xfrm>
            <a:off x="621792" y="1234440"/>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Hot generation, cold judgment</a:t>
            </a:r>
            <a:endParaRPr lang="en-US" sz="1300" dirty="0"/>
          </a:p>
        </p:txBody>
      </p:sp>
      <p:sp>
        <p:nvSpPr>
          <p:cNvPr id="6" name="Shape 4"/>
          <p:cNvSpPr/>
          <p:nvPr/>
        </p:nvSpPr>
        <p:spPr>
          <a:xfrm>
            <a:off x="3493008" y="1389888"/>
            <a:ext cx="329184" cy="182880"/>
          </a:xfrm>
          <a:prstGeom prst="rightArrow">
            <a:avLst/>
          </a:prstGeom>
          <a:solidFill>
            <a:srgbClr val="F5A623"/>
          </a:solidFill>
          <a:ln w="12700">
            <a:solidFill>
              <a:srgbClr val="F5A623"/>
            </a:solidFill>
            <a:prstDash val="solid"/>
          </a:ln>
        </p:spPr>
      </p:sp>
      <p:sp>
        <p:nvSpPr>
          <p:cNvPr id="7" name="Text 5"/>
          <p:cNvSpPr txBox="1"/>
          <p:nvPr/>
        </p:nvSpPr>
        <p:spPr>
          <a:xfrm>
            <a:off x="3977640" y="1234440"/>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32  </a:t>
            </a:r>
            <a:pPr indent="0" marL="0">
              <a:buNone/>
            </a:pPr>
            <a:r>
              <a:rPr lang="en-US" sz="1250" dirty="0">
                <a:solidFill>
                  <a:srgbClr val="FFFFFF"/>
                </a:solidFill>
                <a:latin typeface="Calibri" pitchFamily="34" charset="0"/>
                <a:ea typeface="Calibri" pitchFamily="34" charset="-122"/>
                <a:cs typeface="Calibri" pitchFamily="34" charset="-120"/>
              </a:rPr>
              <a:t>Drafts at 0.9, an LLM reducer at 0.2</a:t>
            </a:r>
            <a:endParaRPr lang="en-US" sz="1250" dirty="0"/>
          </a:p>
        </p:txBody>
      </p:sp>
      <p:sp>
        <p:nvSpPr>
          <p:cNvPr id="8" name="Shape 6"/>
          <p:cNvSpPr/>
          <p:nvPr/>
        </p:nvSpPr>
        <p:spPr>
          <a:xfrm>
            <a:off x="457200" y="1837944"/>
            <a:ext cx="2926080" cy="493776"/>
          </a:xfrm>
          <a:prstGeom prst="roundRect">
            <a:avLst>
              <a:gd name="adj" fmla="val 14815"/>
            </a:avLst>
          </a:prstGeom>
          <a:solidFill>
            <a:srgbClr val="1F2943"/>
          </a:solidFill>
          <a:ln w="12700">
            <a:solidFill>
              <a:srgbClr val="1F2943"/>
            </a:solidFill>
            <a:prstDash val="solid"/>
          </a:ln>
        </p:spPr>
      </p:sp>
      <p:sp>
        <p:nvSpPr>
          <p:cNvPr id="9" name="Text 7"/>
          <p:cNvSpPr txBox="1"/>
          <p:nvPr/>
        </p:nvSpPr>
        <p:spPr>
          <a:xfrm>
            <a:off x="621792" y="1837944"/>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Fresh ChatHistory per call</a:t>
            </a:r>
            <a:endParaRPr lang="en-US" sz="1300" dirty="0"/>
          </a:p>
        </p:txBody>
      </p:sp>
      <p:sp>
        <p:nvSpPr>
          <p:cNvPr id="10" name="Shape 8"/>
          <p:cNvSpPr/>
          <p:nvPr/>
        </p:nvSpPr>
        <p:spPr>
          <a:xfrm>
            <a:off x="3493008" y="1993392"/>
            <a:ext cx="329184" cy="182880"/>
          </a:xfrm>
          <a:prstGeom prst="rightArrow">
            <a:avLst/>
          </a:prstGeom>
          <a:solidFill>
            <a:srgbClr val="F5A623"/>
          </a:solidFill>
          <a:ln w="12700">
            <a:solidFill>
              <a:srgbClr val="F5A623"/>
            </a:solidFill>
            <a:prstDash val="solid"/>
          </a:ln>
        </p:spPr>
      </p:sp>
      <p:sp>
        <p:nvSpPr>
          <p:cNvPr id="11" name="Text 9"/>
          <p:cNvSpPr txBox="1"/>
          <p:nvPr/>
        </p:nvSpPr>
        <p:spPr>
          <a:xfrm>
            <a:off x="3977640" y="1837944"/>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34  </a:t>
            </a:r>
            <a:pPr indent="0" marL="0">
              <a:buNone/>
            </a:pPr>
            <a:r>
              <a:rPr lang="en-US" sz="1250" dirty="0">
                <a:solidFill>
                  <a:srgbClr val="FFFFFF"/>
                </a:solidFill>
                <a:latin typeface="Calibri" pitchFamily="34" charset="0"/>
                <a:ea typeface="Calibri" pitchFamily="34" charset="-122"/>
                <a:cs typeface="Calibri" pitchFamily="34" charset="-120"/>
              </a:rPr>
              <a:t>Each debate turn is built from a fresh prompt</a:t>
            </a:r>
            <a:endParaRPr lang="en-US" sz="1250" dirty="0"/>
          </a:p>
        </p:txBody>
      </p:sp>
      <p:sp>
        <p:nvSpPr>
          <p:cNvPr id="12" name="Shape 10"/>
          <p:cNvSpPr/>
          <p:nvPr/>
        </p:nvSpPr>
        <p:spPr>
          <a:xfrm>
            <a:off x="457200" y="2441448"/>
            <a:ext cx="2926080" cy="493776"/>
          </a:xfrm>
          <a:prstGeom prst="roundRect">
            <a:avLst>
              <a:gd name="adj" fmla="val 14815"/>
            </a:avLst>
          </a:prstGeom>
          <a:solidFill>
            <a:srgbClr val="1F2943"/>
          </a:solidFill>
          <a:ln w="12700">
            <a:solidFill>
              <a:srgbClr val="1F2943"/>
            </a:solidFill>
            <a:prstDash val="solid"/>
          </a:ln>
        </p:spPr>
      </p:sp>
      <p:sp>
        <p:nvSpPr>
          <p:cNvPr id="13" name="Text 11"/>
          <p:cNvSpPr txBox="1"/>
          <p:nvPr/>
        </p:nvSpPr>
        <p:spPr>
          <a:xfrm>
            <a:off x="621792" y="2441448"/>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 capped improvement loop</a:t>
            </a:r>
            <a:endParaRPr lang="en-US" sz="1300" dirty="0"/>
          </a:p>
        </p:txBody>
      </p:sp>
      <p:sp>
        <p:nvSpPr>
          <p:cNvPr id="14" name="Shape 12"/>
          <p:cNvSpPr/>
          <p:nvPr/>
        </p:nvSpPr>
        <p:spPr>
          <a:xfrm>
            <a:off x="3493008" y="2596896"/>
            <a:ext cx="329184" cy="182880"/>
          </a:xfrm>
          <a:prstGeom prst="rightArrow">
            <a:avLst/>
          </a:prstGeom>
          <a:solidFill>
            <a:srgbClr val="F5A623"/>
          </a:solidFill>
          <a:ln w="12700">
            <a:solidFill>
              <a:srgbClr val="F5A623"/>
            </a:solidFill>
            <a:prstDash val="solid"/>
          </a:ln>
        </p:spPr>
      </p:sp>
      <p:sp>
        <p:nvSpPr>
          <p:cNvPr id="15" name="Text 13"/>
          <p:cNvSpPr txBox="1"/>
          <p:nvPr/>
        </p:nvSpPr>
        <p:spPr>
          <a:xfrm>
            <a:off x="3977640" y="2441448"/>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36  </a:t>
            </a:r>
            <a:pPr indent="0" marL="0">
              <a:buNone/>
            </a:pPr>
            <a:r>
              <a:rPr lang="en-US" sz="1250" dirty="0">
                <a:solidFill>
                  <a:srgbClr val="FFFFFF"/>
                </a:solidFill>
                <a:latin typeface="Calibri" pitchFamily="34" charset="0"/>
                <a:ea typeface="Calibri" pitchFamily="34" charset="-122"/>
                <a:cs typeface="Calibri" pitchFamily="34" charset="-120"/>
              </a:rPr>
              <a:t>A Planner replans after failures, capped the same way</a:t>
            </a:r>
            <a:endParaRPr lang="en-US" sz="1250" dirty="0"/>
          </a:p>
        </p:txBody>
      </p:sp>
      <p:sp>
        <p:nvSpPr>
          <p:cNvPr id="16" name="Shape 14"/>
          <p:cNvSpPr/>
          <p:nvPr/>
        </p:nvSpPr>
        <p:spPr>
          <a:xfrm>
            <a:off x="457200" y="3044952"/>
            <a:ext cx="2926080" cy="493776"/>
          </a:xfrm>
          <a:prstGeom prst="roundRect">
            <a:avLst>
              <a:gd name="adj" fmla="val 14815"/>
            </a:avLst>
          </a:prstGeom>
          <a:solidFill>
            <a:srgbClr val="1F2943"/>
          </a:solidFill>
          <a:ln w="12700">
            <a:solidFill>
              <a:srgbClr val="1F2943"/>
            </a:solidFill>
            <a:prstDash val="solid"/>
          </a:ln>
        </p:spPr>
      </p:sp>
      <p:sp>
        <p:nvSpPr>
          <p:cNvPr id="17" name="Text 15"/>
          <p:cNvSpPr txBox="1"/>
          <p:nvPr/>
        </p:nvSpPr>
        <p:spPr>
          <a:xfrm>
            <a:off x="621792" y="3044952"/>
            <a:ext cx="2651760" cy="493776"/>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One field, empty means none</a:t>
            </a:r>
            <a:endParaRPr lang="en-US" sz="1300" dirty="0"/>
          </a:p>
        </p:txBody>
      </p:sp>
      <p:sp>
        <p:nvSpPr>
          <p:cNvPr id="18" name="Shape 16"/>
          <p:cNvSpPr/>
          <p:nvPr/>
        </p:nvSpPr>
        <p:spPr>
          <a:xfrm>
            <a:off x="3493008" y="3200400"/>
            <a:ext cx="329184" cy="182880"/>
          </a:xfrm>
          <a:prstGeom prst="rightArrow">
            <a:avLst/>
          </a:prstGeom>
          <a:solidFill>
            <a:srgbClr val="F5A623"/>
          </a:solidFill>
          <a:ln w="12700">
            <a:solidFill>
              <a:srgbClr val="F5A623"/>
            </a:solidFill>
            <a:prstDash val="solid"/>
          </a:ln>
        </p:spPr>
      </p:sp>
      <p:sp>
        <p:nvSpPr>
          <p:cNvPr id="19" name="Text 17"/>
          <p:cNvSpPr txBox="1"/>
          <p:nvPr/>
        </p:nvSpPr>
        <p:spPr>
          <a:xfrm>
            <a:off x="3977640" y="3044952"/>
            <a:ext cx="4709160" cy="493776"/>
          </a:xfrm>
          <a:prstGeom prst="rect">
            <a:avLst/>
          </a:prstGeom>
          <a:noFill/>
          <a:ln/>
        </p:spPr>
        <p:txBody>
          <a:bodyPr wrap="square" lIns="0" tIns="0" rIns="0" bIns="0"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Lesson 38  </a:t>
            </a:r>
            <a:pPr indent="0" marL="0">
              <a:buNone/>
            </a:pPr>
            <a:r>
              <a:rPr lang="en-US" sz="1250" dirty="0">
                <a:solidFill>
                  <a:srgbClr val="FFFFFF"/>
                </a:solidFill>
                <a:latin typeface="Calibri" pitchFamily="34" charset="0"/>
                <a:ea typeface="Calibri" pitchFamily="34" charset="-122"/>
                <a:cs typeface="Calibri" pitchFamily="34" charset="-120"/>
              </a:rPr>
              <a:t>The same fix for an episodic-memory fact schema</a:t>
            </a:r>
            <a:endParaRPr lang="en-US" sz="1250" dirty="0"/>
          </a:p>
        </p:txBody>
      </p:sp>
      <p:sp>
        <p:nvSpPr>
          <p:cNvPr id="20" name="Text 18"/>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300" dirty="0">
                <a:solidFill>
                  <a:srgbClr val="B8B2E6"/>
                </a:solidFill>
                <a:latin typeface="Calibri" pitchFamily="34" charset="0"/>
                <a:ea typeface="Calibri" pitchFamily="34" charset="-122"/>
                <a:cs typeface="Calibri" pitchFamily="34" charset="-120"/>
              </a:rPr>
              <a:t>Ships in  </a:t>
            </a:r>
            <a:pPr indent="0" marL="0">
              <a:buNone/>
            </a:pPr>
            <a:r>
              <a:rPr lang="en-US" sz="1300" b="1" dirty="0">
                <a:solidFill>
                  <a:srgbClr val="FFFFFF"/>
                </a:solidFill>
                <a:latin typeface="Calibri" pitchFamily="34" charset="0"/>
                <a:ea typeface="Calibri" pitchFamily="34" charset="-122"/>
                <a:cs typeface="Calibri" pitchFamily="34" charset="-120"/>
              </a:rPr>
              <a:t>Part 2: Self-Directed Reasoning</a:t>
            </a:r>
            <a:endParaRPr lang="en-US" sz="1300" dirty="0"/>
          </a:p>
        </p:txBody>
      </p:sp>
      <p:sp>
        <p:nvSpPr>
          <p:cNvPr id="21" name="Text 19"/>
          <p:cNvSpPr txBox="1"/>
          <p:nvPr/>
        </p:nvSpPr>
        <p:spPr>
          <a:xfrm>
            <a:off x="457200" y="4796028"/>
            <a:ext cx="6400800" cy="201168"/>
          </a:xfrm>
          <a:prstGeom prst="rect">
            <a:avLst/>
          </a:prstGeom>
          <a:noFill/>
          <a:ln/>
        </p:spPr>
        <p:txBody>
          <a:bodyPr wrap="square" lIns="0" tIns="0" rIns="0" bIns="0" rtlCol="0" anchor="t"/>
          <a:lstStyle/>
          <a:p>
            <a:pPr indent="0" marL="0">
              <a:buNone/>
            </a:pPr>
            <a:r>
              <a:rPr lang="en-US" sz="900" dirty="0">
                <a:solidFill>
                  <a:srgbClr val="B8B2E6"/>
                </a:solidFill>
                <a:latin typeface="Calibri" pitchFamily="34" charset="0"/>
                <a:ea typeface="Calibri" pitchFamily="34" charset="-122"/>
                <a:cs typeface="Calibri" pitchFamily="34" charset="-120"/>
              </a:rPr>
              <a:t>Applied Agentic Orchestration with Semantic Kernel  ·  Lesson 31 — Self-Reflection Loop</a:t>
            </a:r>
            <a:endParaRPr lang="en-US" sz="900" dirty="0"/>
          </a:p>
        </p:txBody>
      </p:sp>
      <p:sp>
        <p:nvSpPr>
          <p:cNvPr id="22" name="Text 20"/>
          <p:cNvSpPr txBox="1"/>
          <p:nvPr/>
        </p:nvSpPr>
        <p:spPr>
          <a:xfrm>
            <a:off x="8138160" y="4796028"/>
            <a:ext cx="548640" cy="201168"/>
          </a:xfrm>
          <a:prstGeom prst="rect">
            <a:avLst/>
          </a:prstGeom>
          <a:noFill/>
          <a:ln/>
        </p:spPr>
        <p:txBody>
          <a:bodyPr wrap="square" lIns="0" tIns="0" rIns="0" bIns="0" rtlCol="0" anchor="t"/>
          <a:lstStyle/>
          <a:p>
            <a:pPr algn="r" indent="0" marL="0">
              <a:buNone/>
            </a:pPr>
            <a:r>
              <a:rPr lang="en-US" sz="900" dirty="0">
                <a:solidFill>
                  <a:srgbClr val="B8B2E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31 — Self-Reflection Loop</dc:title>
  <dc:subject>PptxGenJS Presentation</dc:subject>
  <dc:creator>Media Six LLC</dc:creator>
  <cp:lastModifiedBy>Media Six LLC</cp:lastModifiedBy>
  <cp:revision>1</cp:revision>
  <dcterms:created xsi:type="dcterms:W3CDTF">2026-10-21T23:05:30Z</dcterms:created>
  <dcterms:modified xsi:type="dcterms:W3CDTF">2026-10-21T23:05:30Z</dcterms:modified>
</cp:coreProperties>
</file>