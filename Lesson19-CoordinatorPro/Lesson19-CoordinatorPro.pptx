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18 wired two agents together with a fixed turn order. This lesson replaces that hard-coded order with the Coordinator pattern. A dedicated meta-agent, the Coordinator, reads the conversation on every iteration and decides which specialist should act next, a Coder or a Security Auditor, or whether the work is complete. The Coordinator must answer in strict JSON, so its routing decision deserializes straight into a typed RoutingDecision object instead of being guessed from free text. Alongside the orchestration logic, the lesson adds RetryHandler, a small DelegatingHandler that retries transient HTTP failures with exponential backoff.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Lesson 18 the code always ran the Copywriter, then the Editor, and spotted approval with a substring check. Here, the orchestration reacts to the state of the conversation. Has code been written? Has it been reviewed? Was it approved, or sent back for changes? A Coordinator answers those questions on every loop iteration and names the next speaker, and its decision comes back as structured JSON rather than free text. The duplicated persona-swap code from Lesson 18 also collapses into one reusable CallAgent helper.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Setup adds one twist. The packages are the usual Microsoft.SemanticKernel and Connectors.OpenAI at version 1.78.0 on .NET 10, the key comes from OPENAI_API_KEY, and every agent uses gpt-4.1-mini. The comment in the code notes that you could swap in a higher-tier OpenAI model for the Coordinator's routing reasoning, but the lesson ships with gpt-4.1-mini throughout. The twist, highlighted, is the HttpClient: we create one wrapped in a RetryHandler with up to five retries, and pass it to AddOpenAIChatCompletion through its httpClient parameter. The project has three source files: Program.cs for the orchestration, RoutingDecision.cs for the Coordinator's typed JSON decision, and RetryHandler.cs for resilience.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Coordinator is a meta-agent: it does no coding or reviewing itself. Its instructions give four rules. If there is no code yet, the next agent is the Coder. If there is code but no security review, it is the Auditor. If the Auditor said LGTM, the next step is COMPLETE. And if the Auditor requested changes, it goes back to the Coder. The two specialists have their own personas: the Coder writes clean C# and outputs only the code, and the Security Auditor finds one flaw, or says exactly LGTM if the code is perfect.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end of the Coordinator's instructions: output the decision as valid JSON matching a schema with two fields, reasoning and nextAgent. The Coordinator's execution settings set ResponseFormat to json_object, which forces the reply to be valid JSON, and Temperature to 0.0, because routing is a classification task and should be deterministic. The schema puts reasoning before nextAgent on purpose: asking a model to explain itself before it commits tends to improve the decision. The reply is deserialized into a typed RoutingDecision class, whose JsonPropertyName attributes map the two fields. If the content is still malformed, a catch for JsonException prints an error and ends the run cleanly instead of crashing.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iteration starts with the Ghost Nudge: a throwaway user message telling the Coordinator to evaluate the state and output its JSON routing decision. It was originally needed for Gemini's strict user and assistant alternation; OpenAI has no such rule, but it still earns its place as an explicit evaluate-now cue. Next, the Coordinator's instructions are inserted at index 0. Then, highlighted, one call is made with the JSON settings. Immediately afterwards both the persona and the ghost nudge are removed, so neither ever pollutes the history the specialists see. Finally the decision is printed as THOUGHT and ROUTE lines, and CallAgent runs the chosen specialist, or the loop stops on COMPLETE. A cap of eight iterations guarantees the run ends.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RetryHandler is a plain DelegatingHandler wrapping a SocketsHttpHandler. On each attempt it sends the request; if the response succeeds, or fails with a non-transient status such as 404, it is returned immediately. Only 500, 503 and 429 trigger a retry, with exponential backoff of one second, then two, then four, and a console line saying it is retrying. Highlighted is a subtle fix: .NET marks an HttpRequestMessage as sent once it is submitted, so resending the same instance would throw instead of retrying. CloneAsync therefore builds a fresh request every attempt, copying the method, URI, version, headers and buffered content. Because it only wraps the HttpClient, this works without touching any Semantic Kernel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OPENAI_API_KEY, run the project, and enter a feature to build. Each iteration prints the Coordinator's THOUGHT and ROUTE, then the chosen specialist's output in square-bracket tags. A typical run goes to the Coder first, then the Auditor, back to the Coder if a flaw is found, and to COMPLETE once the Auditor answers LGTM, ending with Project lifecycle finished. Everything the model writes on this slide is illustrative, including the reasoning, the code and the flaw, and the elided line stands for further rounds. Your run will differ, and if it never converges, the cap ends it with Max iterations reached.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Try this on your own. Add a third persona, a Tester that writes unit tests for the approved code. Extend the Coordinator's rules so that after the Auditor says LGTM, the next agent is the Tester, and only then COMPLETE; add TESTER to the schema's allowed values. Route it through the existing CallAgent helper, so no new plumbing is needed. Finally, add a branch that prints a warning when nextAgent is something the code doesn't recognize, because today such a value silently burns an iteration.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recap: we replaced a fixed turn order with a Coordinator that routes on conversation state, forced its decision into strict JSON with ResponseFormat, asked for reasoning before the decision, factored persona swaps into CallAgent, and made the HTTP layer survive transient errors with RetryHandler. Lesson 21 applies JSON routing to send each request to an isolated specialist kernel. Lesson 26 uses the same json_object format for an LLM judge's scores. Lesson 29 grows the coordinator loop into the capstone's ProjectOrchestrator. Lesson 34 has a moderator choose the next speaker in a debate, the same idea as this Coordinator. And the planned Lesson 39 extends this single layer into a tree of sub-orchestrators.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1.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1.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B2D"/>
        </a:solidFill>
      </p:bgPr>
    </p:bg>
    <p:spTree>
      <p:nvGrpSpPr>
        <p:cNvPr id="1" name=""/>
        <p:cNvGrpSpPr/>
        <p:nvPr/>
      </p:nvGrpSpPr>
      <p:grpSpPr>
        <a:xfrm>
          <a:off x="0" y="0"/>
          <a:ext cx="0" cy="0"/>
          <a:chOff x="0" y="0"/>
          <a:chExt cx="0" cy="0"/>
        </a:xfrm>
      </p:grpSpPr>
      <p:sp>
        <p:nvSpPr>
          <p:cNvPr id="2" name="Text 0"/>
          <p:cNvSpPr txBox="1"/>
          <p:nvPr/>
        </p:nvSpPr>
        <p:spPr>
          <a:xfrm>
            <a:off x="457200" y="502920"/>
            <a:ext cx="4206240" cy="457200"/>
          </a:xfrm>
          <a:prstGeom prst="rect">
            <a:avLst/>
          </a:prstGeom>
          <a:noFill/>
          <a:ln/>
        </p:spPr>
        <p:txBody>
          <a:bodyPr wrap="square" lIns="0" tIns="0" rIns="0" bIns="0" rtlCol="0" anchor="t"/>
          <a:lstStyle/>
          <a:p>
            <a:pPr indent="0" marL="0">
              <a:buNone/>
            </a:pPr>
            <a:r>
              <a:rPr lang="en-US" sz="1100" b="1" spc="200" kern="0" dirty="0">
                <a:solidFill>
                  <a:srgbClr val="F5A623"/>
                </a:solidFill>
                <a:latin typeface="Calibri" pitchFamily="34" charset="0"/>
                <a:ea typeface="Calibri" pitchFamily="34" charset="-122"/>
                <a:cs typeface="Calibri" pitchFamily="34" charset="-120"/>
              </a:rPr>
              <a:t>LESSON 19  ·  PART 1</a:t>
            </a:r>
            <a:endParaRPr lang="en-US" sz="1100" dirty="0"/>
          </a:p>
        </p:txBody>
      </p:sp>
      <p:sp>
        <p:nvSpPr>
          <p:cNvPr id="3" name="Text 1"/>
          <p:cNvSpPr txBox="1"/>
          <p:nvPr/>
        </p:nvSpPr>
        <p:spPr>
          <a:xfrm>
            <a:off x="457200" y="1005840"/>
            <a:ext cx="4206240" cy="1371600"/>
          </a:xfrm>
          <a:prstGeom prst="rect">
            <a:avLst/>
          </a:prstGeom>
          <a:noFill/>
          <a:ln/>
        </p:spPr>
        <p:txBody>
          <a:bodyPr wrap="square" lIns="0" tIns="0" rIns="0" bIns="0" rtlCol="0" anchor="b"/>
          <a:lstStyle/>
          <a:p>
            <a:pPr indent="0" marL="0">
              <a:buNone/>
            </a:pPr>
            <a:r>
              <a:rPr lang="en-US" sz="4000" b="1" dirty="0">
                <a:solidFill>
                  <a:srgbClr val="FFFFFF"/>
                </a:solidFill>
                <a:latin typeface="Cambria" pitchFamily="34" charset="0"/>
                <a:ea typeface="Cambria" pitchFamily="34" charset="-122"/>
                <a:cs typeface="Cambria" pitchFamily="34" charset="-120"/>
              </a:rPr>
              <a:t>CoordinatorPro</a:t>
            </a:r>
            <a:endParaRPr lang="en-US" sz="4000" dirty="0"/>
          </a:p>
        </p:txBody>
      </p:sp>
      <p:sp>
        <p:nvSpPr>
          <p:cNvPr id="4" name="Text 2"/>
          <p:cNvSpPr txBox="1"/>
          <p:nvPr/>
        </p:nvSpPr>
        <p:spPr>
          <a:xfrm>
            <a:off x="457200" y="2468880"/>
            <a:ext cx="4206240" cy="640080"/>
          </a:xfrm>
          <a:prstGeom prst="rect">
            <a:avLst/>
          </a:prstGeom>
          <a:noFill/>
          <a:ln/>
        </p:spPr>
        <p:txBody>
          <a:bodyPr wrap="square" lIns="0" tIns="0" rIns="0" bIns="0" rtlCol="0" anchor="t"/>
          <a:lstStyle/>
          <a:p>
            <a:pPr indent="0" marL="0">
              <a:buNone/>
            </a:pPr>
            <a:r>
              <a:rPr lang="en-US" sz="1600" dirty="0">
                <a:solidFill>
                  <a:srgbClr val="B8B2E6"/>
                </a:solidFill>
                <a:latin typeface="Calibri" pitchFamily="34" charset="0"/>
                <a:ea typeface="Calibri" pitchFamily="34" charset="-122"/>
                <a:cs typeface="Calibri" pitchFamily="34" charset="-120"/>
              </a:rPr>
              <a:t>A JSON-speaking Coordinator decides which specialist acts next</a:t>
            </a:r>
            <a:endParaRPr lang="en-US" sz="1600" dirty="0"/>
          </a:p>
        </p:txBody>
      </p:sp>
      <p:sp>
        <p:nvSpPr>
          <p:cNvPr id="5" name="Text 3"/>
          <p:cNvSpPr txBox="1"/>
          <p:nvPr/>
        </p:nvSpPr>
        <p:spPr>
          <a:xfrm>
            <a:off x="457200" y="3346704"/>
            <a:ext cx="1097280" cy="274320"/>
          </a:xfrm>
          <a:prstGeom prst="rect">
            <a:avLst/>
          </a:prstGeom>
          <a:noFill/>
          <a:ln/>
        </p:spPr>
        <p:txBody>
          <a:bodyPr wrap="square" lIns="0" tIns="0" rIns="0" bIns="0" rtlCol="0" anchor="t"/>
          <a:lstStyle/>
          <a:p>
            <a:pPr indent="0" marL="0">
              <a:buNone/>
            </a:pPr>
            <a:r>
              <a:rPr lang="en-US" sz="900" b="1" spc="100" kern="0" dirty="0">
                <a:solidFill>
                  <a:srgbClr val="B8B2E6"/>
                </a:solidFill>
                <a:latin typeface="Calibri" pitchFamily="34" charset="0"/>
                <a:ea typeface="Calibri" pitchFamily="34" charset="-122"/>
                <a:cs typeface="Calibri" pitchFamily="34" charset="-120"/>
              </a:rPr>
              <a:t>STARTS FROM</a:t>
            </a:r>
            <a:endParaRPr lang="en-US" sz="900" dirty="0"/>
          </a:p>
        </p:txBody>
      </p:sp>
      <p:sp>
        <p:nvSpPr>
          <p:cNvPr id="6" name="Text 4"/>
          <p:cNvSpPr txBox="1"/>
          <p:nvPr/>
        </p:nvSpPr>
        <p:spPr>
          <a:xfrm>
            <a:off x="1554480" y="3291840"/>
            <a:ext cx="3291840" cy="365760"/>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A C# feature request</a:t>
            </a:r>
            <a:endParaRPr lang="en-US" sz="1100" dirty="0"/>
          </a:p>
        </p:txBody>
      </p:sp>
      <p:sp>
        <p:nvSpPr>
          <p:cNvPr id="7" name="Text 5"/>
          <p:cNvSpPr txBox="1"/>
          <p:nvPr/>
        </p:nvSpPr>
        <p:spPr>
          <a:xfrm>
            <a:off x="457200" y="3803904"/>
            <a:ext cx="1097280" cy="274320"/>
          </a:xfrm>
          <a:prstGeom prst="rect">
            <a:avLst/>
          </a:prstGeom>
          <a:noFill/>
          <a:ln/>
        </p:spPr>
        <p:txBody>
          <a:bodyPr wrap="square" lIns="0" tIns="0" rIns="0" bIns="0" rtlCol="0" anchor="t"/>
          <a:lstStyle/>
          <a:p>
            <a:pPr indent="0" marL="0">
              <a:buNone/>
            </a:pPr>
            <a:r>
              <a:rPr lang="en-US" sz="900" b="1" spc="100" kern="0" dirty="0">
                <a:solidFill>
                  <a:srgbClr val="B8B2E6"/>
                </a:solidFill>
                <a:latin typeface="Calibri" pitchFamily="34" charset="0"/>
                <a:ea typeface="Calibri" pitchFamily="34" charset="-122"/>
                <a:cs typeface="Calibri" pitchFamily="34" charset="-120"/>
              </a:rPr>
              <a:t>FINISHES AS</a:t>
            </a:r>
            <a:endParaRPr lang="en-US" sz="900" dirty="0"/>
          </a:p>
        </p:txBody>
      </p:sp>
      <p:sp>
        <p:nvSpPr>
          <p:cNvPr id="8" name="Text 6"/>
          <p:cNvSpPr txBox="1"/>
          <p:nvPr/>
        </p:nvSpPr>
        <p:spPr>
          <a:xfrm>
            <a:off x="1554480" y="3749040"/>
            <a:ext cx="3291840" cy="365760"/>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Code the Auditor calls LGTM</a:t>
            </a:r>
            <a:endParaRPr lang="en-US" sz="1100" dirty="0"/>
          </a:p>
        </p:txBody>
      </p:sp>
      <p:sp>
        <p:nvSpPr>
          <p:cNvPr id="9" name="Shape 7"/>
          <p:cNvSpPr/>
          <p:nvPr/>
        </p:nvSpPr>
        <p:spPr>
          <a:xfrm>
            <a:off x="4983480" y="502920"/>
            <a:ext cx="3703320" cy="4069080"/>
          </a:xfrm>
          <a:prstGeom prst="roundRect">
            <a:avLst>
              <a:gd name="adj" fmla="val 1975"/>
            </a:avLst>
          </a:prstGeom>
          <a:solidFill>
            <a:srgbClr val="1F2943"/>
          </a:solidFill>
          <a:ln w="12700">
            <a:solidFill>
              <a:srgbClr val="1F2943"/>
            </a:solidFill>
            <a:prstDash val="solid"/>
          </a:ln>
        </p:spPr>
      </p:sp>
      <p:sp>
        <p:nvSpPr>
          <p:cNvPr id="10" name="Text 8"/>
          <p:cNvSpPr txBox="1"/>
          <p:nvPr/>
        </p:nvSpPr>
        <p:spPr>
          <a:xfrm>
            <a:off x="5257800" y="731520"/>
            <a:ext cx="3200400" cy="365760"/>
          </a:xfrm>
          <a:prstGeom prst="rect">
            <a:avLst/>
          </a:prstGeom>
          <a:noFill/>
          <a:ln/>
        </p:spPr>
        <p:txBody>
          <a:bodyPr wrap="square" lIns="0" tIns="0" rIns="0" bIns="0" rtlCol="0" anchor="t"/>
          <a:lstStyle/>
          <a:p>
            <a:pPr indent="0" marL="0">
              <a:buNone/>
            </a:pPr>
            <a:r>
              <a:rPr lang="en-US" sz="1600" b="1" dirty="0">
                <a:solidFill>
                  <a:srgbClr val="FFFFFF"/>
                </a:solidFill>
                <a:latin typeface="Cambria" pitchFamily="34" charset="0"/>
                <a:ea typeface="Cambria" pitchFamily="34" charset="-122"/>
                <a:cs typeface="Cambria" pitchFamily="34" charset="-120"/>
              </a:rPr>
              <a:t>In this lesson you'll learn</a:t>
            </a:r>
            <a:endParaRPr lang="en-US" sz="1600" dirty="0"/>
          </a:p>
        </p:txBody>
      </p:sp>
      <p:sp>
        <p:nvSpPr>
          <p:cNvPr id="11" name="Shape 9"/>
          <p:cNvSpPr/>
          <p:nvPr/>
        </p:nvSpPr>
        <p:spPr>
          <a:xfrm>
            <a:off x="5257800" y="1252728"/>
            <a:ext cx="310896" cy="310896"/>
          </a:xfrm>
          <a:prstGeom prst="ellipse">
            <a:avLst/>
          </a:prstGeom>
          <a:solidFill>
            <a:srgbClr val="512BD4"/>
          </a:solidFill>
          <a:ln w="12700">
            <a:solidFill>
              <a:srgbClr val="512BD4"/>
            </a:solidFill>
            <a:prstDash val="solid"/>
          </a:ln>
        </p:spPr>
      </p:sp>
      <p:pic>
        <p:nvPicPr>
          <p:cNvPr id="12" name="Image 0" descr="preencoded.png">    </p:cNvPr>
          <p:cNvPicPr>
            <a:picLocks noChangeAspect="1"/>
          </p:cNvPicPr>
          <p:nvPr/>
        </p:nvPicPr>
        <p:blipFill>
          <a:blip r:embed="rId1"/>
          <a:stretch>
            <a:fillRect/>
          </a:stretch>
        </p:blipFill>
        <p:spPr>
          <a:xfrm>
            <a:off x="5338633" y="1333561"/>
            <a:ext cx="149230" cy="149230"/>
          </a:xfrm>
          <a:prstGeom prst="rect">
            <a:avLst/>
          </a:prstGeom>
        </p:spPr>
      </p:pic>
      <p:sp>
        <p:nvSpPr>
          <p:cNvPr id="13" name="Text 10"/>
          <p:cNvSpPr txBox="1"/>
          <p:nvPr/>
        </p:nvSpPr>
        <p:spPr>
          <a:xfrm>
            <a:off x="5715000" y="123444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Replace a fixed turn order with a router agent</a:t>
            </a:r>
            <a:endParaRPr lang="en-US" sz="1300" dirty="0"/>
          </a:p>
        </p:txBody>
      </p:sp>
      <p:sp>
        <p:nvSpPr>
          <p:cNvPr id="14" name="Shape 11"/>
          <p:cNvSpPr/>
          <p:nvPr/>
        </p:nvSpPr>
        <p:spPr>
          <a:xfrm>
            <a:off x="5257800" y="1892808"/>
            <a:ext cx="310896" cy="310896"/>
          </a:xfrm>
          <a:prstGeom prst="ellipse">
            <a:avLst/>
          </a:prstGeom>
          <a:solidFill>
            <a:srgbClr val="512BD4"/>
          </a:solidFill>
          <a:ln w="12700">
            <a:solidFill>
              <a:srgbClr val="512BD4"/>
            </a:solidFill>
            <a:prstDash val="solid"/>
          </a:ln>
        </p:spPr>
      </p:sp>
      <p:pic>
        <p:nvPicPr>
          <p:cNvPr id="15" name="Image 1" descr="preencoded.png">    </p:cNvPr>
          <p:cNvPicPr>
            <a:picLocks noChangeAspect="1"/>
          </p:cNvPicPr>
          <p:nvPr/>
        </p:nvPicPr>
        <p:blipFill>
          <a:blip r:embed="rId2"/>
          <a:stretch>
            <a:fillRect/>
          </a:stretch>
        </p:blipFill>
        <p:spPr>
          <a:xfrm>
            <a:off x="5338633" y="1973641"/>
            <a:ext cx="149230" cy="149230"/>
          </a:xfrm>
          <a:prstGeom prst="rect">
            <a:avLst/>
          </a:prstGeom>
        </p:spPr>
      </p:pic>
      <p:sp>
        <p:nvSpPr>
          <p:cNvPr id="16" name="Text 12"/>
          <p:cNvSpPr txBox="1"/>
          <p:nvPr/>
        </p:nvSpPr>
        <p:spPr>
          <a:xfrm>
            <a:off x="5715000" y="187452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Force strict JSON with ResponseFormat</a:t>
            </a:r>
            <a:endParaRPr lang="en-US" sz="1300" dirty="0"/>
          </a:p>
        </p:txBody>
      </p:sp>
      <p:sp>
        <p:nvSpPr>
          <p:cNvPr id="17" name="Shape 13"/>
          <p:cNvSpPr/>
          <p:nvPr/>
        </p:nvSpPr>
        <p:spPr>
          <a:xfrm>
            <a:off x="5257800" y="2532888"/>
            <a:ext cx="310896" cy="310896"/>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5338633" y="2613721"/>
            <a:ext cx="149230" cy="149230"/>
          </a:xfrm>
          <a:prstGeom prst="rect">
            <a:avLst/>
          </a:prstGeom>
        </p:spPr>
      </p:pic>
      <p:sp>
        <p:nvSpPr>
          <p:cNvPr id="19" name="Text 14"/>
          <p:cNvSpPr txBox="1"/>
          <p:nvPr/>
        </p:nvSpPr>
        <p:spPr>
          <a:xfrm>
            <a:off x="5715000" y="251460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Ask for reasoning before the decision</a:t>
            </a:r>
            <a:endParaRPr lang="en-US" sz="1300" dirty="0"/>
          </a:p>
        </p:txBody>
      </p:sp>
      <p:sp>
        <p:nvSpPr>
          <p:cNvPr id="20" name="Shape 15"/>
          <p:cNvSpPr/>
          <p:nvPr/>
        </p:nvSpPr>
        <p:spPr>
          <a:xfrm>
            <a:off x="5257800" y="3172968"/>
            <a:ext cx="310896" cy="310896"/>
          </a:xfrm>
          <a:prstGeom prst="ellipse">
            <a:avLst/>
          </a:prstGeom>
          <a:solidFill>
            <a:srgbClr val="512BD4"/>
          </a:solidFill>
          <a:ln w="12700">
            <a:solidFill>
              <a:srgbClr val="512BD4"/>
            </a:solidFill>
            <a:prstDash val="solid"/>
          </a:ln>
        </p:spPr>
      </p:sp>
      <p:pic>
        <p:nvPicPr>
          <p:cNvPr id="21" name="Image 3" descr="preencoded.png">    </p:cNvPr>
          <p:cNvPicPr>
            <a:picLocks noChangeAspect="1"/>
          </p:cNvPicPr>
          <p:nvPr/>
        </p:nvPicPr>
        <p:blipFill>
          <a:blip r:embed="rId4"/>
          <a:stretch>
            <a:fillRect/>
          </a:stretch>
        </p:blipFill>
        <p:spPr>
          <a:xfrm>
            <a:off x="5338633" y="3253801"/>
            <a:ext cx="149230" cy="149230"/>
          </a:xfrm>
          <a:prstGeom prst="rect">
            <a:avLst/>
          </a:prstGeom>
        </p:spPr>
      </p:pic>
      <p:sp>
        <p:nvSpPr>
          <p:cNvPr id="22" name="Text 16"/>
          <p:cNvSpPr txBox="1"/>
          <p:nvPr/>
        </p:nvSpPr>
        <p:spPr>
          <a:xfrm>
            <a:off x="5715000" y="315468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Factor persona swaps into a CallAgent helper</a:t>
            </a:r>
            <a:endParaRPr lang="en-US" sz="1300" dirty="0"/>
          </a:p>
        </p:txBody>
      </p:sp>
      <p:sp>
        <p:nvSpPr>
          <p:cNvPr id="23" name="Shape 17"/>
          <p:cNvSpPr/>
          <p:nvPr/>
        </p:nvSpPr>
        <p:spPr>
          <a:xfrm>
            <a:off x="5257800" y="3813048"/>
            <a:ext cx="310896" cy="310896"/>
          </a:xfrm>
          <a:prstGeom prst="ellipse">
            <a:avLst/>
          </a:prstGeom>
          <a:solidFill>
            <a:srgbClr val="512BD4"/>
          </a:solidFill>
          <a:ln w="12700">
            <a:solidFill>
              <a:srgbClr val="512BD4"/>
            </a:solidFill>
            <a:prstDash val="solid"/>
          </a:ln>
        </p:spPr>
      </p:sp>
      <p:pic>
        <p:nvPicPr>
          <p:cNvPr id="24" name="Image 4" descr="preencoded.png">    </p:cNvPr>
          <p:cNvPicPr>
            <a:picLocks noChangeAspect="1"/>
          </p:cNvPicPr>
          <p:nvPr/>
        </p:nvPicPr>
        <p:blipFill>
          <a:blip r:embed="rId5"/>
          <a:stretch>
            <a:fillRect/>
          </a:stretch>
        </p:blipFill>
        <p:spPr>
          <a:xfrm>
            <a:off x="5338633" y="3893881"/>
            <a:ext cx="149230" cy="149230"/>
          </a:xfrm>
          <a:prstGeom prst="rect">
            <a:avLst/>
          </a:prstGeom>
        </p:spPr>
      </p:pic>
      <p:sp>
        <p:nvSpPr>
          <p:cNvPr id="25" name="Text 18"/>
          <p:cNvSpPr txBox="1"/>
          <p:nvPr/>
        </p:nvSpPr>
        <p:spPr>
          <a:xfrm>
            <a:off x="5715000" y="379476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Retry transient HTTP errors with a DelegatingHandler</a:t>
            </a:r>
            <a:endParaRPr lang="en-US" sz="1300" dirty="0"/>
          </a:p>
        </p:txBody>
      </p:sp>
      <p:sp>
        <p:nvSpPr>
          <p:cNvPr id="26" name="Text 19"/>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B8B2E6"/>
                </a:solidFill>
                <a:latin typeface="Calibri" pitchFamily="34" charset="0"/>
                <a:ea typeface="Calibri" pitchFamily="34" charset="-122"/>
                <a:cs typeface="Calibri" pitchFamily="34" charset="-120"/>
              </a:rPr>
              <a:t>Applied Agentic Orchestration with Semantic Kernel  ·  Lesson 19 — CoordinatorPro</a:t>
            </a:r>
            <a:endParaRPr lang="en-US" sz="900" dirty="0"/>
          </a:p>
        </p:txBody>
      </p:sp>
      <p:sp>
        <p:nvSpPr>
          <p:cNvPr id="27" name="Text 20"/>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B8B2E6"/>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WHAT CHANGES</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550" b="1" dirty="0">
                <a:solidFill>
                  <a:srgbClr val="1F2937"/>
                </a:solidFill>
                <a:latin typeface="Cambria" pitchFamily="34" charset="0"/>
                <a:ea typeface="Cambria" pitchFamily="34" charset="-122"/>
                <a:cs typeface="Cambria" pitchFamily="34" charset="-120"/>
              </a:rPr>
              <a:t>From a fixed turn order to a model-driven router</a:t>
            </a:r>
            <a:endParaRPr lang="en-US" sz="2550" dirty="0"/>
          </a:p>
        </p:txBody>
      </p:sp>
      <p:sp>
        <p:nvSpPr>
          <p:cNvPr id="4" name="Shape 2"/>
          <p:cNvSpPr/>
          <p:nvPr/>
        </p:nvSpPr>
        <p:spPr>
          <a:xfrm>
            <a:off x="457200" y="1371600"/>
            <a:ext cx="3931920" cy="1783080"/>
          </a:xfrm>
          <a:prstGeom prst="roundRect">
            <a:avLst>
              <a:gd name="adj" fmla="val 4103"/>
            </a:avLst>
          </a:prstGeom>
          <a:solidFill>
            <a:srgbClr val="F6F4FE"/>
          </a:solidFill>
          <a:ln w="12700">
            <a:solidFill>
              <a:srgbClr val="F6F4FE"/>
            </a:solidFill>
            <a:prstDash val="solid"/>
          </a:ln>
        </p:spPr>
      </p:sp>
      <p:sp>
        <p:nvSpPr>
          <p:cNvPr id="5" name="Shape 3"/>
          <p:cNvSpPr/>
          <p:nvPr/>
        </p:nvSpPr>
        <p:spPr>
          <a:xfrm>
            <a:off x="685800" y="1600200"/>
            <a:ext cx="438912" cy="438912"/>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99917" y="1714317"/>
            <a:ext cx="210678" cy="210678"/>
          </a:xfrm>
          <a:prstGeom prst="rect">
            <a:avLst/>
          </a:prstGeom>
        </p:spPr>
      </p:pic>
      <p:sp>
        <p:nvSpPr>
          <p:cNvPr id="7" name="Text 4"/>
          <p:cNvSpPr txBox="1"/>
          <p:nvPr/>
        </p:nvSpPr>
        <p:spPr>
          <a:xfrm>
            <a:off x="126187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Lesson 18: fixed order</a:t>
            </a:r>
            <a:endParaRPr lang="en-US" sz="1700" dirty="0"/>
          </a:p>
        </p:txBody>
      </p:sp>
      <p:sp>
        <p:nvSpPr>
          <p:cNvPr id="8" name="Text 5"/>
          <p:cNvSpPr txBox="1"/>
          <p:nvPr/>
        </p:nvSpPr>
        <p:spPr>
          <a:xfrm>
            <a:off x="68580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Copywriter, then Editor, every round</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Approval found by a substring check</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Persona swap code written twice</a:t>
            </a:r>
            <a:endParaRPr lang="en-US" sz="1300" dirty="0"/>
          </a:p>
        </p:txBody>
      </p:sp>
      <p:sp>
        <p:nvSpPr>
          <p:cNvPr id="9" name="Shape 6"/>
          <p:cNvSpPr/>
          <p:nvPr/>
        </p:nvSpPr>
        <p:spPr>
          <a:xfrm>
            <a:off x="4754880" y="1371600"/>
            <a:ext cx="3931920" cy="1783080"/>
          </a:xfrm>
          <a:prstGeom prst="roundRect">
            <a:avLst>
              <a:gd name="adj" fmla="val 4103"/>
            </a:avLst>
          </a:prstGeom>
          <a:solidFill>
            <a:srgbClr val="EFEBFC"/>
          </a:solidFill>
          <a:ln w="12700">
            <a:solidFill>
              <a:srgbClr val="EFEBFC"/>
            </a:solidFill>
            <a:prstDash val="solid"/>
          </a:ln>
        </p:spPr>
      </p:sp>
      <p:sp>
        <p:nvSpPr>
          <p:cNvPr id="10" name="Shape 7"/>
          <p:cNvSpPr/>
          <p:nvPr/>
        </p:nvSpPr>
        <p:spPr>
          <a:xfrm>
            <a:off x="4983480" y="1600200"/>
            <a:ext cx="438912" cy="438912"/>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5097597" y="1714317"/>
            <a:ext cx="210678" cy="210678"/>
          </a:xfrm>
          <a:prstGeom prst="rect">
            <a:avLst/>
          </a:prstGeom>
        </p:spPr>
      </p:pic>
      <p:sp>
        <p:nvSpPr>
          <p:cNvPr id="12" name="Text 8"/>
          <p:cNvSpPr txBox="1"/>
          <p:nvPr/>
        </p:nvSpPr>
        <p:spPr>
          <a:xfrm>
            <a:off x="555955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Lesson 19: Coordinator</a:t>
            </a:r>
            <a:endParaRPr lang="en-US" sz="1700" dirty="0"/>
          </a:p>
        </p:txBody>
      </p:sp>
      <p:sp>
        <p:nvSpPr>
          <p:cNvPr id="13" name="Text 9"/>
          <p:cNvSpPr txBox="1"/>
          <p:nvPr/>
        </p:nvSpPr>
        <p:spPr>
          <a:xfrm>
            <a:off x="498348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The Coordinator picks who acts next</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Its decision arrives as typed JSON</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One CallAgent helper for every specialist</a:t>
            </a:r>
            <a:endParaRPr lang="en-US" sz="1300" dirty="0"/>
          </a:p>
        </p:txBody>
      </p:sp>
      <p:sp>
        <p:nvSpPr>
          <p:cNvPr id="14" name="Text 10"/>
          <p:cNvSpPr txBox="1"/>
          <p:nvPr/>
        </p:nvSpPr>
        <p:spPr>
          <a:xfrm>
            <a:off x="457200" y="342900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Routing now reacts to what actually happened in the conversation.</a:t>
            </a:r>
            <a:endParaRPr lang="en-US" sz="1400" dirty="0"/>
          </a:p>
        </p:txBody>
      </p:sp>
      <p:sp>
        <p:nvSpPr>
          <p:cNvPr id="15" name="Text 11"/>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19 — CoordinatorPro</a:t>
            </a:r>
            <a:endParaRPr lang="en-US" sz="900" dirty="0"/>
          </a:p>
        </p:txBody>
      </p:sp>
      <p:sp>
        <p:nvSpPr>
          <p:cNvPr id="16" name="Text 12"/>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SETUP</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What you need before writing any code</a:t>
            </a:r>
            <a:endParaRPr lang="en-US" sz="2800" dirty="0"/>
          </a:p>
        </p:txBody>
      </p:sp>
      <p:sp>
        <p:nvSpPr>
          <p:cNvPr id="4" name="Shape 2"/>
          <p:cNvSpPr/>
          <p:nvPr/>
        </p:nvSpPr>
        <p:spPr>
          <a:xfrm>
            <a:off x="457200" y="1371600"/>
            <a:ext cx="1851660" cy="1463040"/>
          </a:xfrm>
          <a:prstGeom prst="roundRect">
            <a:avLst>
              <a:gd name="adj" fmla="val 5000"/>
            </a:avLst>
          </a:prstGeom>
          <a:solidFill>
            <a:srgbClr val="EFEBFC"/>
          </a:solidFill>
          <a:ln w="12700">
            <a:solidFill>
              <a:srgbClr val="EFEBFC"/>
            </a:solidFill>
            <a:prstDash val="solid"/>
          </a:ln>
        </p:spPr>
      </p:sp>
      <p:sp>
        <p:nvSpPr>
          <p:cNvPr id="5" name="Shape 3"/>
          <p:cNvSpPr/>
          <p:nvPr/>
        </p:nvSpPr>
        <p:spPr>
          <a:xfrm>
            <a:off x="640080" y="1554480"/>
            <a:ext cx="384048" cy="384048"/>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39932" y="1654332"/>
            <a:ext cx="184343" cy="184343"/>
          </a:xfrm>
          <a:prstGeom prst="rect">
            <a:avLst/>
          </a:prstGeom>
        </p:spPr>
      </p:pic>
      <p:sp>
        <p:nvSpPr>
          <p:cNvPr id="7" name="Text 4"/>
          <p:cNvSpPr txBox="1"/>
          <p:nvPr/>
        </p:nvSpPr>
        <p:spPr>
          <a:xfrm>
            <a:off x="1143000" y="1554480"/>
            <a:ext cx="1028700" cy="384048"/>
          </a:xfrm>
          <a:prstGeom prst="rect">
            <a:avLst/>
          </a:prstGeom>
          <a:noFill/>
          <a:ln/>
        </p:spPr>
        <p:txBody>
          <a:bodyPr wrap="square" lIns="0" tIns="0" rIns="0" bIns="0" rtlCol="0" anchor="ctr">
            <a:normAutofit/>
          </a:bodyPr>
          <a:lstStyle/>
          <a:p>
            <a:pPr indent="0" marL="0">
              <a:buNone/>
            </a:pPr>
            <a:r>
              <a:rPr lang="en-US" sz="1300" b="1" dirty="0">
                <a:solidFill>
                  <a:srgbClr val="1F2937"/>
                </a:solidFill>
                <a:latin typeface="Calibri" pitchFamily="34" charset="0"/>
                <a:ea typeface="Calibri" pitchFamily="34" charset="-122"/>
                <a:cs typeface="Calibri" pitchFamily="34" charset="-120"/>
              </a:rPr>
              <a:t>Packages</a:t>
            </a:r>
            <a:endParaRPr lang="en-US" sz="1300" dirty="0"/>
          </a:p>
        </p:txBody>
      </p:sp>
      <p:sp>
        <p:nvSpPr>
          <p:cNvPr id="8" name="Text 5"/>
          <p:cNvSpPr txBox="1"/>
          <p:nvPr/>
        </p:nvSpPr>
        <p:spPr>
          <a:xfrm>
            <a:off x="640080" y="2057400"/>
            <a:ext cx="1485900" cy="68580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SemanticKernel and Connectors.OpenAI 1.78.0, on .NET 10.</a:t>
            </a:r>
            <a:endParaRPr lang="en-US" sz="1200" dirty="0"/>
          </a:p>
        </p:txBody>
      </p:sp>
      <p:sp>
        <p:nvSpPr>
          <p:cNvPr id="9" name="Shape 6"/>
          <p:cNvSpPr/>
          <p:nvPr/>
        </p:nvSpPr>
        <p:spPr>
          <a:xfrm>
            <a:off x="2583180" y="1371600"/>
            <a:ext cx="1851660" cy="1463040"/>
          </a:xfrm>
          <a:prstGeom prst="roundRect">
            <a:avLst>
              <a:gd name="adj" fmla="val 5000"/>
            </a:avLst>
          </a:prstGeom>
          <a:solidFill>
            <a:srgbClr val="EFEBFC"/>
          </a:solidFill>
          <a:ln w="12700">
            <a:solidFill>
              <a:srgbClr val="EFEBFC"/>
            </a:solidFill>
            <a:prstDash val="solid"/>
          </a:ln>
        </p:spPr>
      </p:sp>
      <p:sp>
        <p:nvSpPr>
          <p:cNvPr id="10" name="Shape 7"/>
          <p:cNvSpPr/>
          <p:nvPr/>
        </p:nvSpPr>
        <p:spPr>
          <a:xfrm>
            <a:off x="2766060" y="155448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2865912" y="1654332"/>
            <a:ext cx="184343" cy="184343"/>
          </a:xfrm>
          <a:prstGeom prst="rect">
            <a:avLst/>
          </a:prstGeom>
        </p:spPr>
      </p:pic>
      <p:sp>
        <p:nvSpPr>
          <p:cNvPr id="12" name="Text 8"/>
          <p:cNvSpPr txBox="1"/>
          <p:nvPr/>
        </p:nvSpPr>
        <p:spPr>
          <a:xfrm>
            <a:off x="3268980" y="1554480"/>
            <a:ext cx="1028700" cy="384048"/>
          </a:xfrm>
          <a:prstGeom prst="rect">
            <a:avLst/>
          </a:prstGeom>
          <a:noFill/>
          <a:ln/>
        </p:spPr>
        <p:txBody>
          <a:bodyPr wrap="square" lIns="0" tIns="0" rIns="0" bIns="0" rtlCol="0" anchor="ctr">
            <a:normAutofit/>
          </a:bodyPr>
          <a:lstStyle/>
          <a:p>
            <a:pPr indent="0" marL="0">
              <a:buNone/>
            </a:pPr>
            <a:r>
              <a:rPr lang="en-US" sz="1300" b="1" dirty="0">
                <a:solidFill>
                  <a:srgbClr val="1F2937"/>
                </a:solidFill>
                <a:latin typeface="Calibri" pitchFamily="34" charset="0"/>
                <a:ea typeface="Calibri" pitchFamily="34" charset="-122"/>
                <a:cs typeface="Calibri" pitchFamily="34" charset="-120"/>
              </a:rPr>
              <a:t>API key</a:t>
            </a:r>
            <a:endParaRPr lang="en-US" sz="1300" dirty="0"/>
          </a:p>
        </p:txBody>
      </p:sp>
      <p:sp>
        <p:nvSpPr>
          <p:cNvPr id="13" name="Text 9"/>
          <p:cNvSpPr txBox="1"/>
          <p:nvPr/>
        </p:nvSpPr>
        <p:spPr>
          <a:xfrm>
            <a:off x="2766060" y="2057400"/>
            <a:ext cx="1485900" cy="68580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OPENAI_API_KEY, read from the environment at startup.</a:t>
            </a:r>
            <a:endParaRPr lang="en-US" sz="1200" dirty="0"/>
          </a:p>
        </p:txBody>
      </p:sp>
      <p:sp>
        <p:nvSpPr>
          <p:cNvPr id="14" name="Shape 10"/>
          <p:cNvSpPr/>
          <p:nvPr/>
        </p:nvSpPr>
        <p:spPr>
          <a:xfrm>
            <a:off x="4709160" y="1371600"/>
            <a:ext cx="1851660" cy="1463040"/>
          </a:xfrm>
          <a:prstGeom prst="roundRect">
            <a:avLst>
              <a:gd name="adj" fmla="val 5000"/>
            </a:avLst>
          </a:prstGeom>
          <a:solidFill>
            <a:srgbClr val="EFEBFC"/>
          </a:solidFill>
          <a:ln w="12700">
            <a:solidFill>
              <a:srgbClr val="EFEBFC"/>
            </a:solidFill>
            <a:prstDash val="solid"/>
          </a:ln>
        </p:spPr>
      </p:sp>
      <p:sp>
        <p:nvSpPr>
          <p:cNvPr id="15" name="Shape 11"/>
          <p:cNvSpPr/>
          <p:nvPr/>
        </p:nvSpPr>
        <p:spPr>
          <a:xfrm>
            <a:off x="4892040" y="1554480"/>
            <a:ext cx="384048" cy="384048"/>
          </a:xfrm>
          <a:prstGeom prst="ellipse">
            <a:avLst/>
          </a:prstGeom>
          <a:solidFill>
            <a:srgbClr val="512BD4"/>
          </a:solidFill>
          <a:ln w="12700">
            <a:solidFill>
              <a:srgbClr val="512BD4"/>
            </a:solidFill>
            <a:prstDash val="solid"/>
          </a:ln>
        </p:spPr>
      </p:sp>
      <p:pic>
        <p:nvPicPr>
          <p:cNvPr id="16" name="Image 2" descr="preencoded.png">    </p:cNvPr>
          <p:cNvPicPr>
            <a:picLocks noChangeAspect="1"/>
          </p:cNvPicPr>
          <p:nvPr/>
        </p:nvPicPr>
        <p:blipFill>
          <a:blip r:embed="rId3"/>
          <a:stretch>
            <a:fillRect/>
          </a:stretch>
        </p:blipFill>
        <p:spPr>
          <a:xfrm>
            <a:off x="4991892" y="1654332"/>
            <a:ext cx="184343" cy="184343"/>
          </a:xfrm>
          <a:prstGeom prst="rect">
            <a:avLst/>
          </a:prstGeom>
        </p:spPr>
      </p:pic>
      <p:sp>
        <p:nvSpPr>
          <p:cNvPr id="17" name="Text 12"/>
          <p:cNvSpPr txBox="1"/>
          <p:nvPr/>
        </p:nvSpPr>
        <p:spPr>
          <a:xfrm>
            <a:off x="5394960" y="1554480"/>
            <a:ext cx="1028700" cy="384048"/>
          </a:xfrm>
          <a:prstGeom prst="rect">
            <a:avLst/>
          </a:prstGeom>
          <a:noFill/>
          <a:ln/>
        </p:spPr>
        <p:txBody>
          <a:bodyPr wrap="square" lIns="0" tIns="0" rIns="0" bIns="0" rtlCol="0" anchor="ctr">
            <a:normAutofit/>
          </a:bodyPr>
          <a:lstStyle/>
          <a:p>
            <a:pPr indent="0" marL="0">
              <a:buNone/>
            </a:pPr>
            <a:r>
              <a:rPr lang="en-US" sz="1300" b="1" dirty="0">
                <a:solidFill>
                  <a:srgbClr val="1F2937"/>
                </a:solidFill>
                <a:latin typeface="Calibri" pitchFamily="34" charset="0"/>
                <a:ea typeface="Calibri" pitchFamily="34" charset="-122"/>
                <a:cs typeface="Calibri" pitchFamily="34" charset="-120"/>
              </a:rPr>
              <a:t>Model</a:t>
            </a:r>
            <a:endParaRPr lang="en-US" sz="1300" dirty="0"/>
          </a:p>
        </p:txBody>
      </p:sp>
      <p:sp>
        <p:nvSpPr>
          <p:cNvPr id="18" name="Text 13"/>
          <p:cNvSpPr txBox="1"/>
          <p:nvPr/>
        </p:nvSpPr>
        <p:spPr>
          <a:xfrm>
            <a:off x="4892040" y="2057400"/>
            <a:ext cx="1485900" cy="68580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gpt-4.1-mini for the Coordinator and both specialists.</a:t>
            </a:r>
            <a:endParaRPr lang="en-US" sz="1200" dirty="0"/>
          </a:p>
        </p:txBody>
      </p:sp>
      <p:sp>
        <p:nvSpPr>
          <p:cNvPr id="19" name="Shape 14"/>
          <p:cNvSpPr/>
          <p:nvPr/>
        </p:nvSpPr>
        <p:spPr>
          <a:xfrm>
            <a:off x="6835140" y="1371600"/>
            <a:ext cx="1851660" cy="1463040"/>
          </a:xfrm>
          <a:prstGeom prst="roundRect">
            <a:avLst>
              <a:gd name="adj" fmla="val 5000"/>
            </a:avLst>
          </a:prstGeom>
          <a:solidFill>
            <a:srgbClr val="512BD4"/>
          </a:solidFill>
          <a:ln w="12700">
            <a:solidFill>
              <a:srgbClr val="512BD4"/>
            </a:solidFill>
            <a:prstDash val="solid"/>
          </a:ln>
        </p:spPr>
      </p:sp>
      <p:sp>
        <p:nvSpPr>
          <p:cNvPr id="20" name="Shape 15"/>
          <p:cNvSpPr/>
          <p:nvPr/>
        </p:nvSpPr>
        <p:spPr>
          <a:xfrm>
            <a:off x="7018020" y="1554480"/>
            <a:ext cx="384048" cy="384048"/>
          </a:xfrm>
          <a:prstGeom prst="ellipse">
            <a:avLst/>
          </a:prstGeom>
          <a:solidFill>
            <a:srgbClr val="FFFFFF"/>
          </a:solidFill>
          <a:ln w="12700">
            <a:solidFill>
              <a:srgbClr val="FFFFFF"/>
            </a:solidFill>
            <a:prstDash val="solid"/>
          </a:ln>
        </p:spPr>
      </p:sp>
      <p:pic>
        <p:nvPicPr>
          <p:cNvPr id="21" name="Image 3" descr="preencoded.png">    </p:cNvPr>
          <p:cNvPicPr>
            <a:picLocks noChangeAspect="1"/>
          </p:cNvPicPr>
          <p:nvPr/>
        </p:nvPicPr>
        <p:blipFill>
          <a:blip r:embed="rId4"/>
          <a:stretch>
            <a:fillRect/>
          </a:stretch>
        </p:blipFill>
        <p:spPr>
          <a:xfrm>
            <a:off x="7117872" y="1654332"/>
            <a:ext cx="184343" cy="184343"/>
          </a:xfrm>
          <a:prstGeom prst="rect">
            <a:avLst/>
          </a:prstGeom>
        </p:spPr>
      </p:pic>
      <p:sp>
        <p:nvSpPr>
          <p:cNvPr id="22" name="Text 16"/>
          <p:cNvSpPr txBox="1"/>
          <p:nvPr/>
        </p:nvSpPr>
        <p:spPr>
          <a:xfrm>
            <a:off x="7520940" y="1554480"/>
            <a:ext cx="1028700" cy="384048"/>
          </a:xfrm>
          <a:prstGeom prst="rect">
            <a:avLst/>
          </a:prstGeom>
          <a:noFill/>
          <a:ln/>
        </p:spPr>
        <p:txBody>
          <a:bodyPr wrap="square" lIns="0" tIns="0" rIns="0" bIns="0" rtlCol="0" anchor="ctr">
            <a:normAutofit/>
          </a:bodyPr>
          <a:lstStyle/>
          <a:p>
            <a:pPr indent="0" marL="0">
              <a:buNone/>
            </a:pPr>
            <a:r>
              <a:rPr lang="en-US" sz="1300" b="1" dirty="0">
                <a:solidFill>
                  <a:srgbClr val="FFFFFF"/>
                </a:solidFill>
                <a:latin typeface="Calibri" pitchFamily="34" charset="0"/>
                <a:ea typeface="Calibri" pitchFamily="34" charset="-122"/>
                <a:cs typeface="Calibri" pitchFamily="34" charset="-120"/>
              </a:rPr>
              <a:t>HttpClient</a:t>
            </a:r>
            <a:endParaRPr lang="en-US" sz="1300" dirty="0"/>
          </a:p>
        </p:txBody>
      </p:sp>
      <p:sp>
        <p:nvSpPr>
          <p:cNvPr id="23" name="Text 17"/>
          <p:cNvSpPr txBox="1"/>
          <p:nvPr/>
        </p:nvSpPr>
        <p:spPr>
          <a:xfrm>
            <a:off x="7018020" y="2057400"/>
            <a:ext cx="1485900" cy="68580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Built on RetryHandler (5 retries) and passed to the connector.</a:t>
            </a:r>
            <a:endParaRPr lang="en-US" sz="1200" dirty="0"/>
          </a:p>
        </p:txBody>
      </p:sp>
      <p:sp>
        <p:nvSpPr>
          <p:cNvPr id="24" name="Text 18"/>
          <p:cNvSpPr txBox="1"/>
          <p:nvPr/>
        </p:nvSpPr>
        <p:spPr>
          <a:xfrm>
            <a:off x="457200" y="306324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Program.cs orchestrates, RoutingDecision.cs types it, RetryHandler.cs retries.</a:t>
            </a:r>
            <a:endParaRPr lang="en-US" sz="1400" dirty="0"/>
          </a:p>
        </p:txBody>
      </p:sp>
      <p:sp>
        <p:nvSpPr>
          <p:cNvPr id="25" name="Text 19"/>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19 — CoordinatorPro</a:t>
            </a:r>
            <a:endParaRPr lang="en-US" sz="900" dirty="0"/>
          </a:p>
        </p:txBody>
      </p:sp>
      <p:sp>
        <p:nvSpPr>
          <p:cNvPr id="26" name="Text 20"/>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The Coordinator routes on conversation state</a:t>
            </a:r>
            <a:endParaRPr lang="en-US" sz="2800" dirty="0"/>
          </a:p>
        </p:txBody>
      </p:sp>
      <p:sp>
        <p:nvSpPr>
          <p:cNvPr id="4" name="Shape 2"/>
          <p:cNvSpPr/>
          <p:nvPr/>
        </p:nvSpPr>
        <p:spPr>
          <a:xfrm>
            <a:off x="457200" y="1417320"/>
            <a:ext cx="2468880" cy="2377440"/>
          </a:xfrm>
          <a:prstGeom prst="roundRect">
            <a:avLst>
              <a:gd name="adj" fmla="val 3077"/>
            </a:avLst>
          </a:prstGeom>
          <a:solidFill>
            <a:srgbClr val="512BD4"/>
          </a:solidFill>
          <a:ln w="12700">
            <a:solidFill>
              <a:srgbClr val="512BD4"/>
            </a:solidFill>
            <a:prstDash val="solid"/>
          </a:ln>
        </p:spPr>
      </p:sp>
      <p:sp>
        <p:nvSpPr>
          <p:cNvPr id="5" name="Shape 3"/>
          <p:cNvSpPr/>
          <p:nvPr/>
        </p:nvSpPr>
        <p:spPr>
          <a:xfrm>
            <a:off x="685800" y="1645920"/>
            <a:ext cx="502920" cy="50292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816559" y="1776679"/>
            <a:ext cx="241402" cy="241402"/>
          </a:xfrm>
          <a:prstGeom prst="rect">
            <a:avLst/>
          </a:prstGeom>
        </p:spPr>
      </p:pic>
      <p:sp>
        <p:nvSpPr>
          <p:cNvPr id="7" name="Text 4"/>
          <p:cNvSpPr txBox="1"/>
          <p:nvPr/>
        </p:nvSpPr>
        <p:spPr>
          <a:xfrm>
            <a:off x="685800" y="2286000"/>
            <a:ext cx="2057400" cy="45720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Coordinator</a:t>
            </a:r>
            <a:endParaRPr lang="en-US" sz="1800" dirty="0"/>
          </a:p>
        </p:txBody>
      </p:sp>
      <p:sp>
        <p:nvSpPr>
          <p:cNvPr id="8" name="Text 5"/>
          <p:cNvSpPr txBox="1"/>
          <p:nvPr/>
        </p:nvSpPr>
        <p:spPr>
          <a:xfrm>
            <a:off x="685800" y="2743200"/>
            <a:ext cx="2057400" cy="9601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A meta-agent whose only job is to read the history and name the next step.</a:t>
            </a:r>
            <a:endParaRPr lang="en-US" sz="1300" dirty="0"/>
          </a:p>
        </p:txBody>
      </p:sp>
      <p:sp>
        <p:nvSpPr>
          <p:cNvPr id="9" name="Shape 6"/>
          <p:cNvSpPr/>
          <p:nvPr/>
        </p:nvSpPr>
        <p:spPr>
          <a:xfrm>
            <a:off x="2926080" y="1752600"/>
            <a:ext cx="502920" cy="0"/>
          </a:xfrm>
          <a:prstGeom prst="line">
            <a:avLst/>
          </a:prstGeom>
          <a:noFill/>
          <a:ln w="25400">
            <a:solidFill>
              <a:srgbClr val="F5A623"/>
            </a:solidFill>
            <a:prstDash val="solid"/>
          </a:ln>
        </p:spPr>
      </p:sp>
      <p:sp>
        <p:nvSpPr>
          <p:cNvPr id="10" name="Shape 7"/>
          <p:cNvSpPr/>
          <p:nvPr/>
        </p:nvSpPr>
        <p:spPr>
          <a:xfrm>
            <a:off x="3429000" y="1417320"/>
            <a:ext cx="5257800" cy="670560"/>
          </a:xfrm>
          <a:prstGeom prst="roundRect">
            <a:avLst>
              <a:gd name="adj" fmla="val 10909"/>
            </a:avLst>
          </a:prstGeom>
          <a:solidFill>
            <a:srgbClr val="EFEBFC"/>
          </a:solidFill>
          <a:ln w="12700">
            <a:solidFill>
              <a:srgbClr val="EFEBFC"/>
            </a:solidFill>
            <a:prstDash val="solid"/>
          </a:ln>
        </p:spPr>
      </p:sp>
      <p:sp>
        <p:nvSpPr>
          <p:cNvPr id="11" name="Shape 8"/>
          <p:cNvSpPr/>
          <p:nvPr/>
        </p:nvSpPr>
        <p:spPr>
          <a:xfrm>
            <a:off x="3593592" y="1560576"/>
            <a:ext cx="384048" cy="384048"/>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3693444" y="1660428"/>
            <a:ext cx="184343" cy="184343"/>
          </a:xfrm>
          <a:prstGeom prst="rect">
            <a:avLst/>
          </a:prstGeom>
        </p:spPr>
      </p:pic>
      <p:sp>
        <p:nvSpPr>
          <p:cNvPr id="13" name="Text 9"/>
          <p:cNvSpPr txBox="1"/>
          <p:nvPr/>
        </p:nvSpPr>
        <p:spPr>
          <a:xfrm>
            <a:off x="4142232" y="1508760"/>
            <a:ext cx="1463040" cy="4876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CODER</a:t>
            </a:r>
            <a:endParaRPr lang="en-US" sz="1500" dirty="0"/>
          </a:p>
        </p:txBody>
      </p:sp>
      <p:sp>
        <p:nvSpPr>
          <p:cNvPr id="14" name="Text 10"/>
          <p:cNvSpPr txBox="1"/>
          <p:nvPr/>
        </p:nvSpPr>
        <p:spPr>
          <a:xfrm>
            <a:off x="5577840" y="1508760"/>
            <a:ext cx="2971800" cy="4876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No code yet, or the Auditor asked for changes.</a:t>
            </a:r>
            <a:endParaRPr lang="en-US" sz="1200" dirty="0"/>
          </a:p>
        </p:txBody>
      </p:sp>
      <p:sp>
        <p:nvSpPr>
          <p:cNvPr id="15" name="Shape 11"/>
          <p:cNvSpPr/>
          <p:nvPr/>
        </p:nvSpPr>
        <p:spPr>
          <a:xfrm>
            <a:off x="2926080" y="2606040"/>
            <a:ext cx="502920" cy="0"/>
          </a:xfrm>
          <a:prstGeom prst="line">
            <a:avLst/>
          </a:prstGeom>
          <a:noFill/>
          <a:ln w="25400">
            <a:solidFill>
              <a:srgbClr val="F5A623"/>
            </a:solidFill>
            <a:prstDash val="solid"/>
          </a:ln>
        </p:spPr>
      </p:sp>
      <p:sp>
        <p:nvSpPr>
          <p:cNvPr id="16" name="Shape 12"/>
          <p:cNvSpPr/>
          <p:nvPr/>
        </p:nvSpPr>
        <p:spPr>
          <a:xfrm>
            <a:off x="3429000" y="2270760"/>
            <a:ext cx="5257800" cy="670560"/>
          </a:xfrm>
          <a:prstGeom prst="roundRect">
            <a:avLst>
              <a:gd name="adj" fmla="val 10909"/>
            </a:avLst>
          </a:prstGeom>
          <a:solidFill>
            <a:srgbClr val="EFEBFC"/>
          </a:solidFill>
          <a:ln w="12700">
            <a:solidFill>
              <a:srgbClr val="EFEBFC"/>
            </a:solidFill>
            <a:prstDash val="solid"/>
          </a:ln>
        </p:spPr>
      </p:sp>
      <p:sp>
        <p:nvSpPr>
          <p:cNvPr id="17" name="Shape 13"/>
          <p:cNvSpPr/>
          <p:nvPr/>
        </p:nvSpPr>
        <p:spPr>
          <a:xfrm>
            <a:off x="3593592" y="2414016"/>
            <a:ext cx="384048" cy="384048"/>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3693444" y="2513868"/>
            <a:ext cx="184343" cy="184343"/>
          </a:xfrm>
          <a:prstGeom prst="rect">
            <a:avLst/>
          </a:prstGeom>
        </p:spPr>
      </p:pic>
      <p:sp>
        <p:nvSpPr>
          <p:cNvPr id="19" name="Text 14"/>
          <p:cNvSpPr txBox="1"/>
          <p:nvPr/>
        </p:nvSpPr>
        <p:spPr>
          <a:xfrm>
            <a:off x="4142232" y="2362200"/>
            <a:ext cx="1463040" cy="4876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AUDITOR</a:t>
            </a:r>
            <a:endParaRPr lang="en-US" sz="1500" dirty="0"/>
          </a:p>
        </p:txBody>
      </p:sp>
      <p:sp>
        <p:nvSpPr>
          <p:cNvPr id="20" name="Text 15"/>
          <p:cNvSpPr txBox="1"/>
          <p:nvPr/>
        </p:nvSpPr>
        <p:spPr>
          <a:xfrm>
            <a:off x="5577840" y="2362200"/>
            <a:ext cx="2971800" cy="4876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Code exists, but it has not been reviewed.</a:t>
            </a:r>
            <a:endParaRPr lang="en-US" sz="1200" dirty="0"/>
          </a:p>
        </p:txBody>
      </p:sp>
      <p:sp>
        <p:nvSpPr>
          <p:cNvPr id="21" name="Shape 16"/>
          <p:cNvSpPr/>
          <p:nvPr/>
        </p:nvSpPr>
        <p:spPr>
          <a:xfrm>
            <a:off x="2926080" y="3459480"/>
            <a:ext cx="502920" cy="0"/>
          </a:xfrm>
          <a:prstGeom prst="line">
            <a:avLst/>
          </a:prstGeom>
          <a:noFill/>
          <a:ln w="25400">
            <a:solidFill>
              <a:srgbClr val="F5A623"/>
            </a:solidFill>
            <a:prstDash val="solid"/>
          </a:ln>
        </p:spPr>
      </p:sp>
      <p:sp>
        <p:nvSpPr>
          <p:cNvPr id="22" name="Shape 17"/>
          <p:cNvSpPr/>
          <p:nvPr/>
        </p:nvSpPr>
        <p:spPr>
          <a:xfrm>
            <a:off x="3429000" y="3124200"/>
            <a:ext cx="5257800" cy="670560"/>
          </a:xfrm>
          <a:prstGeom prst="roundRect">
            <a:avLst>
              <a:gd name="adj" fmla="val 10909"/>
            </a:avLst>
          </a:prstGeom>
          <a:solidFill>
            <a:srgbClr val="EFEBFC"/>
          </a:solidFill>
          <a:ln w="12700">
            <a:solidFill>
              <a:srgbClr val="EFEBFC"/>
            </a:solidFill>
            <a:prstDash val="solid"/>
          </a:ln>
        </p:spPr>
      </p:sp>
      <p:sp>
        <p:nvSpPr>
          <p:cNvPr id="23" name="Shape 18"/>
          <p:cNvSpPr/>
          <p:nvPr/>
        </p:nvSpPr>
        <p:spPr>
          <a:xfrm>
            <a:off x="3593592" y="3267456"/>
            <a:ext cx="384048" cy="384048"/>
          </a:xfrm>
          <a:prstGeom prst="ellipse">
            <a:avLst/>
          </a:prstGeom>
          <a:solidFill>
            <a:srgbClr val="512BD4"/>
          </a:solidFill>
          <a:ln w="12700">
            <a:solidFill>
              <a:srgbClr val="512BD4"/>
            </a:solidFill>
            <a:prstDash val="solid"/>
          </a:ln>
        </p:spPr>
      </p:sp>
      <p:pic>
        <p:nvPicPr>
          <p:cNvPr id="24" name="Image 3" descr="preencoded.png">    </p:cNvPr>
          <p:cNvPicPr>
            <a:picLocks noChangeAspect="1"/>
          </p:cNvPicPr>
          <p:nvPr/>
        </p:nvPicPr>
        <p:blipFill>
          <a:blip r:embed="rId4"/>
          <a:stretch>
            <a:fillRect/>
          </a:stretch>
        </p:blipFill>
        <p:spPr>
          <a:xfrm>
            <a:off x="3693444" y="3367308"/>
            <a:ext cx="184343" cy="184343"/>
          </a:xfrm>
          <a:prstGeom prst="rect">
            <a:avLst/>
          </a:prstGeom>
        </p:spPr>
      </p:pic>
      <p:sp>
        <p:nvSpPr>
          <p:cNvPr id="25" name="Text 19"/>
          <p:cNvSpPr txBox="1"/>
          <p:nvPr/>
        </p:nvSpPr>
        <p:spPr>
          <a:xfrm>
            <a:off x="4142232" y="3215640"/>
            <a:ext cx="1463040" cy="4876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COMPLETE</a:t>
            </a:r>
            <a:endParaRPr lang="en-US" sz="1500" dirty="0"/>
          </a:p>
        </p:txBody>
      </p:sp>
      <p:sp>
        <p:nvSpPr>
          <p:cNvPr id="26" name="Text 20"/>
          <p:cNvSpPr txBox="1"/>
          <p:nvPr/>
        </p:nvSpPr>
        <p:spPr>
          <a:xfrm>
            <a:off x="5577840" y="3215640"/>
            <a:ext cx="2971800" cy="4876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The Auditor said exactly 'LGTM'.</a:t>
            </a:r>
            <a:endParaRPr lang="en-US" sz="1200" dirty="0"/>
          </a:p>
        </p:txBody>
      </p:sp>
      <p:sp>
        <p:nvSpPr>
          <p:cNvPr id="27" name="Text 21"/>
          <p:cNvSpPr txBox="1"/>
          <p:nvPr/>
        </p:nvSpPr>
        <p:spPr>
          <a:xfrm>
            <a:off x="457200" y="411480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Four rules in the Coordinator's instructions map state to the next agent.</a:t>
            </a:r>
            <a:endParaRPr lang="en-US" sz="1400" dirty="0"/>
          </a:p>
        </p:txBody>
      </p:sp>
      <p:sp>
        <p:nvSpPr>
          <p:cNvPr id="28" name="Text 22"/>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19 — CoordinatorPro</a:t>
            </a:r>
            <a:endParaRPr lang="en-US" sz="900" dirty="0"/>
          </a:p>
        </p:txBody>
      </p:sp>
      <p:sp>
        <p:nvSpPr>
          <p:cNvPr id="29" name="Text 23"/>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STRUCTURED OUTPUT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The decision is JSON, not free text</a:t>
            </a:r>
            <a:endParaRPr lang="en-US" sz="2800" dirty="0"/>
          </a:p>
        </p:txBody>
      </p:sp>
      <p:sp>
        <p:nvSpPr>
          <p:cNvPr id="4" name="Shape 2"/>
          <p:cNvSpPr/>
          <p:nvPr/>
        </p:nvSpPr>
        <p:spPr>
          <a:xfrm>
            <a:off x="457200" y="1325880"/>
            <a:ext cx="5257800" cy="1554480"/>
          </a:xfrm>
          <a:prstGeom prst="roundRect">
            <a:avLst>
              <a:gd name="adj" fmla="val 4706"/>
            </a:avLst>
          </a:prstGeom>
          <a:solidFill>
            <a:srgbClr val="0F1420"/>
          </a:solidFill>
          <a:ln w="12700">
            <a:solidFill>
              <a:srgbClr val="0F1420"/>
            </a:solidFill>
            <a:prstDash val="solid"/>
          </a:ln>
        </p:spPr>
      </p:sp>
      <p:sp>
        <p:nvSpPr>
          <p:cNvPr id="5" name="Text 3"/>
          <p:cNvSpPr txBox="1"/>
          <p:nvPr/>
        </p:nvSpPr>
        <p:spPr>
          <a:xfrm>
            <a:off x="640080" y="1463040"/>
            <a:ext cx="4892040" cy="1280160"/>
          </a:xfrm>
          <a:prstGeom prst="rect">
            <a:avLst/>
          </a:prstGeom>
          <a:noFill/>
          <a:ln/>
        </p:spPr>
        <p:txBody>
          <a:bodyPr wrap="square" lIns="0" tIns="0" rIns="0" bIns="0" rtlCol="0" anchor="t"/>
          <a:lstStyle/>
          <a:p>
            <a:pPr indent="0" marL="0">
              <a:buNone/>
            </a:pPr>
            <a:r>
              <a:rPr lang="en-US" sz="1100" dirty="0">
                <a:solidFill>
                  <a:srgbClr val="D7E3F4"/>
                </a:solidFill>
                <a:latin typeface="Courier New" pitchFamily="34" charset="0"/>
                <a:ea typeface="Courier New" pitchFamily="34" charset="-122"/>
                <a:cs typeface="Courier New" pitchFamily="34" charset="-120"/>
              </a:rPr>
              <a:t>You must output your decision in valid JSON</a:t>
            </a:r>
            <a:endParaRPr lang="en-US" sz="1100" dirty="0"/>
          </a:p>
          <a:p>
            <a:pPr indent="0" marL="0">
              <a:buNone/>
            </a:pPr>
            <a:r>
              <a:rPr lang="en-US" sz="1100" dirty="0">
                <a:solidFill>
                  <a:srgbClr val="D7E3F4"/>
                </a:solidFill>
                <a:latin typeface="Courier New" pitchFamily="34" charset="0"/>
                <a:ea typeface="Courier New" pitchFamily="34" charset="-122"/>
                <a:cs typeface="Courier New" pitchFamily="34" charset="-120"/>
              </a:rPr>
              <a:t>matching this schema:</a:t>
            </a:r>
            <a:endParaRPr lang="en-US" sz="1100" dirty="0"/>
          </a:p>
          <a:p>
            <a:pPr indent="0" marL="0">
              <a:buNone/>
            </a:pPr>
            <a:r>
              <a:rPr lang="en-US" sz="1100" b="1" dirty="0">
                <a:solidFill>
                  <a:srgbClr val="F5A623"/>
                </a:solidFill>
                <a:latin typeface="Courier New" pitchFamily="34" charset="0"/>
                <a:ea typeface="Courier New" pitchFamily="34" charset="-122"/>
                <a:cs typeface="Courier New" pitchFamily="34" charset="-120"/>
              </a:rPr>
              <a:t>{</a:t>
            </a:r>
            <a:endParaRPr lang="en-US" sz="1100" dirty="0"/>
          </a:p>
          <a:p>
            <a:pPr indent="0" marL="0">
              <a:buNone/>
            </a:pPr>
            <a:r>
              <a:rPr lang="en-US" sz="1100" b="1" dirty="0">
                <a:solidFill>
                  <a:srgbClr val="F5A623"/>
                </a:solidFill>
                <a:latin typeface="Courier New" pitchFamily="34" charset="0"/>
                <a:ea typeface="Courier New" pitchFamily="34" charset="-122"/>
                <a:cs typeface="Courier New" pitchFamily="34" charset="-120"/>
              </a:rPr>
              <a:t>  "reasoning": "Your step-by-step logic.",</a:t>
            </a:r>
            <a:endParaRPr lang="en-US" sz="1100" dirty="0"/>
          </a:p>
          <a:p>
            <a:pPr indent="0" marL="0">
              <a:buNone/>
            </a:pPr>
            <a:r>
              <a:rPr lang="en-US" sz="1100" b="1" dirty="0">
                <a:solidFill>
                  <a:srgbClr val="F5A623"/>
                </a:solidFill>
                <a:latin typeface="Courier New" pitchFamily="34" charset="0"/>
                <a:ea typeface="Courier New" pitchFamily="34" charset="-122"/>
                <a:cs typeface="Courier New" pitchFamily="34" charset="-120"/>
              </a:rPr>
              <a:t>  "nextAgent": "CODER" | "AUDITOR" | "COMPLETE"</a:t>
            </a:r>
            <a:endParaRPr lang="en-US" sz="1100" dirty="0"/>
          </a:p>
          <a:p>
            <a:pPr indent="0" marL="0">
              <a:buNone/>
            </a:pPr>
            <a:r>
              <a:rPr lang="en-US" sz="1100" b="1" dirty="0">
                <a:solidFill>
                  <a:srgbClr val="F5A623"/>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9FE6B8"/>
                </a:solidFill>
                <a:latin typeface="Courier New" pitchFamily="34" charset="0"/>
                <a:ea typeface="Courier New" pitchFamily="34" charset="-122"/>
                <a:cs typeface="Courier New" pitchFamily="34" charset="-120"/>
              </a:rPr>
              <a:t>→ JsonSerializer.Deserialize&lt;RoutingDecision&gt;</a:t>
            </a:r>
            <a:endParaRPr lang="en-US" sz="1100" dirty="0"/>
          </a:p>
        </p:txBody>
      </p:sp>
      <p:sp>
        <p:nvSpPr>
          <p:cNvPr id="6" name="Shape 4"/>
          <p:cNvSpPr/>
          <p:nvPr/>
        </p:nvSpPr>
        <p:spPr>
          <a:xfrm>
            <a:off x="6035040" y="1325880"/>
            <a:ext cx="384048" cy="384048"/>
          </a:xfrm>
          <a:prstGeom prst="ellipse">
            <a:avLst/>
          </a:prstGeom>
          <a:solidFill>
            <a:srgbClr val="512BD4"/>
          </a:solidFill>
          <a:ln w="12700">
            <a:solidFill>
              <a:srgbClr val="512BD4"/>
            </a:solidFill>
            <a:prstDash val="solid"/>
          </a:ln>
        </p:spPr>
      </p:sp>
      <p:pic>
        <p:nvPicPr>
          <p:cNvPr id="7" name="Image 0" descr="preencoded.png">    </p:cNvPr>
          <p:cNvPicPr>
            <a:picLocks noChangeAspect="1"/>
          </p:cNvPicPr>
          <p:nvPr/>
        </p:nvPicPr>
        <p:blipFill>
          <a:blip r:embed="rId1"/>
          <a:stretch>
            <a:fillRect/>
          </a:stretch>
        </p:blipFill>
        <p:spPr>
          <a:xfrm>
            <a:off x="6134892" y="1425732"/>
            <a:ext cx="184343" cy="184343"/>
          </a:xfrm>
          <a:prstGeom prst="rect">
            <a:avLst/>
          </a:prstGeom>
        </p:spPr>
      </p:pic>
      <p:sp>
        <p:nvSpPr>
          <p:cNvPr id="8" name="Text 5"/>
          <p:cNvSpPr txBox="1"/>
          <p:nvPr/>
        </p:nvSpPr>
        <p:spPr>
          <a:xfrm>
            <a:off x="6537960" y="132588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json_object</a:t>
            </a:r>
            <a:endParaRPr lang="en-US" sz="1400" dirty="0"/>
          </a:p>
        </p:txBody>
      </p:sp>
      <p:sp>
        <p:nvSpPr>
          <p:cNvPr id="9" name="Text 6"/>
          <p:cNvSpPr txBox="1"/>
          <p:nvPr/>
        </p:nvSpPr>
        <p:spPr>
          <a:xfrm>
            <a:off x="6537960" y="170992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ResponseFormat forces the reply to be valid JSON.</a:t>
            </a:r>
            <a:endParaRPr lang="en-US" sz="1200" dirty="0"/>
          </a:p>
        </p:txBody>
      </p:sp>
      <p:sp>
        <p:nvSpPr>
          <p:cNvPr id="10" name="Shape 7"/>
          <p:cNvSpPr/>
          <p:nvPr/>
        </p:nvSpPr>
        <p:spPr>
          <a:xfrm>
            <a:off x="6035040" y="242316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6134892" y="2523012"/>
            <a:ext cx="184343" cy="184343"/>
          </a:xfrm>
          <a:prstGeom prst="rect">
            <a:avLst/>
          </a:prstGeom>
        </p:spPr>
      </p:pic>
      <p:sp>
        <p:nvSpPr>
          <p:cNvPr id="12" name="Text 8"/>
          <p:cNvSpPr txBox="1"/>
          <p:nvPr/>
        </p:nvSpPr>
        <p:spPr>
          <a:xfrm>
            <a:off x="6537960" y="242316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Reasoning first</a:t>
            </a:r>
            <a:endParaRPr lang="en-US" sz="1400" dirty="0"/>
          </a:p>
        </p:txBody>
      </p:sp>
      <p:sp>
        <p:nvSpPr>
          <p:cNvPr id="13" name="Text 9"/>
          <p:cNvSpPr txBox="1"/>
          <p:nvPr/>
        </p:nvSpPr>
        <p:spPr>
          <a:xfrm>
            <a:off x="6537960" y="280720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The model explains itself before it commits.</a:t>
            </a:r>
            <a:endParaRPr lang="en-US" sz="1200" dirty="0"/>
          </a:p>
        </p:txBody>
      </p:sp>
      <p:sp>
        <p:nvSpPr>
          <p:cNvPr id="14" name="Shape 10"/>
          <p:cNvSpPr/>
          <p:nvPr/>
        </p:nvSpPr>
        <p:spPr>
          <a:xfrm>
            <a:off x="6035040" y="3520440"/>
            <a:ext cx="384048" cy="384048"/>
          </a:xfrm>
          <a:prstGeom prst="ellipse">
            <a:avLst/>
          </a:prstGeom>
          <a:solidFill>
            <a:srgbClr val="512BD4"/>
          </a:solidFill>
          <a:ln w="12700">
            <a:solidFill>
              <a:srgbClr val="512BD4"/>
            </a:solidFill>
            <a:prstDash val="solid"/>
          </a:ln>
        </p:spPr>
      </p:sp>
      <p:pic>
        <p:nvPicPr>
          <p:cNvPr id="15" name="Image 2" descr="preencoded.png">    </p:cNvPr>
          <p:cNvPicPr>
            <a:picLocks noChangeAspect="1"/>
          </p:cNvPicPr>
          <p:nvPr/>
        </p:nvPicPr>
        <p:blipFill>
          <a:blip r:embed="rId3"/>
          <a:stretch>
            <a:fillRect/>
          </a:stretch>
        </p:blipFill>
        <p:spPr>
          <a:xfrm>
            <a:off x="6134892" y="3620292"/>
            <a:ext cx="184343" cy="184343"/>
          </a:xfrm>
          <a:prstGeom prst="rect">
            <a:avLst/>
          </a:prstGeom>
        </p:spPr>
      </p:pic>
      <p:sp>
        <p:nvSpPr>
          <p:cNvPr id="16" name="Text 11"/>
          <p:cNvSpPr txBox="1"/>
          <p:nvPr/>
        </p:nvSpPr>
        <p:spPr>
          <a:xfrm>
            <a:off x="6537960" y="352044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Temperature 0.0</a:t>
            </a:r>
            <a:endParaRPr lang="en-US" sz="1400" dirty="0"/>
          </a:p>
        </p:txBody>
      </p:sp>
      <p:sp>
        <p:nvSpPr>
          <p:cNvPr id="17" name="Text 12"/>
          <p:cNvSpPr txBox="1"/>
          <p:nvPr/>
        </p:nvSpPr>
        <p:spPr>
          <a:xfrm>
            <a:off x="6537960" y="390448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Routing is classification, so keep it deterministic.</a:t>
            </a:r>
            <a:endParaRPr lang="en-US" sz="1200" dirty="0"/>
          </a:p>
        </p:txBody>
      </p:sp>
      <p:sp>
        <p:nvSpPr>
          <p:cNvPr id="18" name="Text 13"/>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19 — CoordinatorPro</a:t>
            </a:r>
            <a:endParaRPr lang="en-US" sz="900" dirty="0"/>
          </a:p>
        </p:txBody>
      </p:sp>
      <p:sp>
        <p:nvSpPr>
          <p:cNvPr id="19" name="Text 14"/>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ONE ITERATION</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550" b="1" dirty="0">
                <a:solidFill>
                  <a:srgbClr val="1F2937"/>
                </a:solidFill>
                <a:latin typeface="Cambria" pitchFamily="34" charset="0"/>
                <a:ea typeface="Cambria" pitchFamily="34" charset="-122"/>
                <a:cs typeface="Cambria" pitchFamily="34" charset="-120"/>
              </a:rPr>
              <a:t>How one Coordinator turn keeps the history clean</a:t>
            </a:r>
            <a:endParaRPr lang="en-US" sz="2550" dirty="0"/>
          </a:p>
        </p:txBody>
      </p:sp>
      <p:sp>
        <p:nvSpPr>
          <p:cNvPr id="4" name="Shape 2"/>
          <p:cNvSpPr/>
          <p:nvPr/>
        </p:nvSpPr>
        <p:spPr>
          <a:xfrm>
            <a:off x="457200" y="1417320"/>
            <a:ext cx="1367942" cy="1993392"/>
          </a:xfrm>
          <a:prstGeom prst="roundRect">
            <a:avLst>
              <a:gd name="adj" fmla="val 5348"/>
            </a:avLst>
          </a:prstGeom>
          <a:solidFill>
            <a:srgbClr val="EFEBFC"/>
          </a:solidFill>
          <a:ln w="12700">
            <a:solidFill>
              <a:srgbClr val="EFEBFC"/>
            </a:solidFill>
            <a:prstDash val="solid"/>
          </a:ln>
        </p:spPr>
      </p:sp>
      <p:sp>
        <p:nvSpPr>
          <p:cNvPr id="5" name="Shape 3"/>
          <p:cNvSpPr/>
          <p:nvPr/>
        </p:nvSpPr>
        <p:spPr>
          <a:xfrm>
            <a:off x="640080" y="1618488"/>
            <a:ext cx="457200" cy="457200"/>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58952" y="1737360"/>
            <a:ext cx="219456" cy="219456"/>
          </a:xfrm>
          <a:prstGeom prst="rect">
            <a:avLst/>
          </a:prstGeom>
        </p:spPr>
      </p:pic>
      <p:sp>
        <p:nvSpPr>
          <p:cNvPr id="7" name="Text 4"/>
          <p:cNvSpPr txBox="1"/>
          <p:nvPr/>
        </p:nvSpPr>
        <p:spPr>
          <a:xfrm>
            <a:off x="640080" y="2194560"/>
            <a:ext cx="1047902" cy="411480"/>
          </a:xfrm>
          <a:prstGeom prst="rect">
            <a:avLst/>
          </a:prstGeom>
          <a:noFill/>
          <a:ln/>
        </p:spPr>
        <p:txBody>
          <a:bodyPr wrap="square" lIns="0" tIns="0" rIns="0" bIns="0" rtlCol="0" anchor="t"/>
          <a:lstStyle/>
          <a:p>
            <a:pPr indent="0" marL="0">
              <a:buNone/>
            </a:pPr>
            <a:r>
              <a:rPr lang="en-US" sz="1300" b="1" dirty="0">
                <a:solidFill>
                  <a:srgbClr val="1F2937"/>
                </a:solidFill>
                <a:latin typeface="Calibri" pitchFamily="34" charset="0"/>
                <a:ea typeface="Calibri" pitchFamily="34" charset="-122"/>
                <a:cs typeface="Calibri" pitchFamily="34" charset="-120"/>
              </a:rPr>
              <a:t>Ghost nudge</a:t>
            </a:r>
            <a:endParaRPr lang="en-US" sz="1300" dirty="0"/>
          </a:p>
        </p:txBody>
      </p:sp>
      <p:sp>
        <p:nvSpPr>
          <p:cNvPr id="8" name="Text 5"/>
          <p:cNvSpPr txBox="1"/>
          <p:nvPr/>
        </p:nvSpPr>
        <p:spPr>
          <a:xfrm>
            <a:off x="640080" y="2606040"/>
            <a:ext cx="1047902" cy="71323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A temporary user message: evaluate now.</a:t>
            </a:r>
            <a:endParaRPr lang="en-US" sz="1200" dirty="0"/>
          </a:p>
        </p:txBody>
      </p:sp>
      <p:sp>
        <p:nvSpPr>
          <p:cNvPr id="9" name="Shape 6"/>
          <p:cNvSpPr/>
          <p:nvPr/>
        </p:nvSpPr>
        <p:spPr>
          <a:xfrm>
            <a:off x="1889150" y="2304288"/>
            <a:ext cx="219456" cy="219456"/>
          </a:xfrm>
          <a:prstGeom prst="rightArrow">
            <a:avLst/>
          </a:prstGeom>
          <a:solidFill>
            <a:srgbClr val="F5A623"/>
          </a:solidFill>
          <a:ln w="12700">
            <a:solidFill>
              <a:srgbClr val="F5A623"/>
            </a:solidFill>
            <a:prstDash val="solid"/>
          </a:ln>
        </p:spPr>
      </p:sp>
      <p:sp>
        <p:nvSpPr>
          <p:cNvPr id="10" name="Shape 7"/>
          <p:cNvSpPr/>
          <p:nvPr/>
        </p:nvSpPr>
        <p:spPr>
          <a:xfrm>
            <a:off x="2172614" y="1417320"/>
            <a:ext cx="1367942" cy="1993392"/>
          </a:xfrm>
          <a:prstGeom prst="roundRect">
            <a:avLst>
              <a:gd name="adj" fmla="val 5348"/>
            </a:avLst>
          </a:prstGeom>
          <a:solidFill>
            <a:srgbClr val="EFEBFC"/>
          </a:solidFill>
          <a:ln w="12700">
            <a:solidFill>
              <a:srgbClr val="EFEBFC"/>
            </a:solidFill>
            <a:prstDash val="solid"/>
          </a:ln>
        </p:spPr>
      </p:sp>
      <p:sp>
        <p:nvSpPr>
          <p:cNvPr id="11" name="Shape 8"/>
          <p:cNvSpPr/>
          <p:nvPr/>
        </p:nvSpPr>
        <p:spPr>
          <a:xfrm>
            <a:off x="2355494" y="1618488"/>
            <a:ext cx="457200" cy="457200"/>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2474366" y="1737360"/>
            <a:ext cx="219456" cy="219456"/>
          </a:xfrm>
          <a:prstGeom prst="rect">
            <a:avLst/>
          </a:prstGeom>
        </p:spPr>
      </p:pic>
      <p:sp>
        <p:nvSpPr>
          <p:cNvPr id="13" name="Text 9"/>
          <p:cNvSpPr txBox="1"/>
          <p:nvPr/>
        </p:nvSpPr>
        <p:spPr>
          <a:xfrm>
            <a:off x="2355494" y="2194560"/>
            <a:ext cx="1047902" cy="411480"/>
          </a:xfrm>
          <a:prstGeom prst="rect">
            <a:avLst/>
          </a:prstGeom>
          <a:noFill/>
          <a:ln/>
        </p:spPr>
        <p:txBody>
          <a:bodyPr wrap="square" lIns="0" tIns="0" rIns="0" bIns="0" rtlCol="0" anchor="t"/>
          <a:lstStyle/>
          <a:p>
            <a:pPr indent="0" marL="0">
              <a:buNone/>
            </a:pPr>
            <a:r>
              <a:rPr lang="en-US" sz="1300" b="1" dirty="0">
                <a:solidFill>
                  <a:srgbClr val="1F2937"/>
                </a:solidFill>
                <a:latin typeface="Calibri" pitchFamily="34" charset="0"/>
                <a:ea typeface="Calibri" pitchFamily="34" charset="-122"/>
                <a:cs typeface="Calibri" pitchFamily="34" charset="-120"/>
              </a:rPr>
              <a:t>Persona</a:t>
            </a:r>
            <a:endParaRPr lang="en-US" sz="1300" dirty="0"/>
          </a:p>
        </p:txBody>
      </p:sp>
      <p:sp>
        <p:nvSpPr>
          <p:cNvPr id="14" name="Text 10"/>
          <p:cNvSpPr txBox="1"/>
          <p:nvPr/>
        </p:nvSpPr>
        <p:spPr>
          <a:xfrm>
            <a:off x="2355494" y="2606040"/>
            <a:ext cx="1047902" cy="71323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Coordinator instructions at index 0.</a:t>
            </a:r>
            <a:endParaRPr lang="en-US" sz="1200" dirty="0"/>
          </a:p>
        </p:txBody>
      </p:sp>
      <p:sp>
        <p:nvSpPr>
          <p:cNvPr id="15" name="Shape 11"/>
          <p:cNvSpPr/>
          <p:nvPr/>
        </p:nvSpPr>
        <p:spPr>
          <a:xfrm>
            <a:off x="3604565" y="2304288"/>
            <a:ext cx="219456" cy="219456"/>
          </a:xfrm>
          <a:prstGeom prst="rightArrow">
            <a:avLst/>
          </a:prstGeom>
          <a:solidFill>
            <a:srgbClr val="F5A623"/>
          </a:solidFill>
          <a:ln w="12700">
            <a:solidFill>
              <a:srgbClr val="F5A623"/>
            </a:solidFill>
            <a:prstDash val="solid"/>
          </a:ln>
        </p:spPr>
      </p:sp>
      <p:sp>
        <p:nvSpPr>
          <p:cNvPr id="16" name="Shape 12"/>
          <p:cNvSpPr/>
          <p:nvPr/>
        </p:nvSpPr>
        <p:spPr>
          <a:xfrm>
            <a:off x="3888029" y="1417320"/>
            <a:ext cx="1367942" cy="1993392"/>
          </a:xfrm>
          <a:prstGeom prst="roundRect">
            <a:avLst>
              <a:gd name="adj" fmla="val 5348"/>
            </a:avLst>
          </a:prstGeom>
          <a:solidFill>
            <a:srgbClr val="512BD4"/>
          </a:solidFill>
          <a:ln w="12700">
            <a:solidFill>
              <a:srgbClr val="512BD4"/>
            </a:solidFill>
            <a:prstDash val="solid"/>
          </a:ln>
        </p:spPr>
      </p:sp>
      <p:sp>
        <p:nvSpPr>
          <p:cNvPr id="17" name="Shape 13"/>
          <p:cNvSpPr/>
          <p:nvPr/>
        </p:nvSpPr>
        <p:spPr>
          <a:xfrm>
            <a:off x="4070909" y="1618488"/>
            <a:ext cx="457200" cy="457200"/>
          </a:xfrm>
          <a:prstGeom prst="ellipse">
            <a:avLst/>
          </a:prstGeom>
          <a:solidFill>
            <a:srgbClr val="FFFFFF"/>
          </a:solidFill>
          <a:ln w="12700">
            <a:solidFill>
              <a:srgbClr val="FFFFFF"/>
            </a:solidFill>
            <a:prstDash val="solid"/>
          </a:ln>
        </p:spPr>
      </p:sp>
      <p:pic>
        <p:nvPicPr>
          <p:cNvPr id="18" name="Image 2" descr="preencoded.png">    </p:cNvPr>
          <p:cNvPicPr>
            <a:picLocks noChangeAspect="1"/>
          </p:cNvPicPr>
          <p:nvPr/>
        </p:nvPicPr>
        <p:blipFill>
          <a:blip r:embed="rId3"/>
          <a:stretch>
            <a:fillRect/>
          </a:stretch>
        </p:blipFill>
        <p:spPr>
          <a:xfrm>
            <a:off x="4189781" y="1737360"/>
            <a:ext cx="219456" cy="219456"/>
          </a:xfrm>
          <a:prstGeom prst="rect">
            <a:avLst/>
          </a:prstGeom>
        </p:spPr>
      </p:pic>
      <p:sp>
        <p:nvSpPr>
          <p:cNvPr id="19" name="Text 14"/>
          <p:cNvSpPr txBox="1"/>
          <p:nvPr/>
        </p:nvSpPr>
        <p:spPr>
          <a:xfrm>
            <a:off x="4070909" y="2194560"/>
            <a:ext cx="1047902" cy="411480"/>
          </a:xfrm>
          <a:prstGeom prst="rect">
            <a:avLst/>
          </a:prstGeom>
          <a:noFill/>
          <a:ln/>
        </p:spPr>
        <p:txBody>
          <a:bodyPr wrap="square" lIns="0" tIns="0" rIns="0" bIns="0"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Decide</a:t>
            </a:r>
            <a:endParaRPr lang="en-US" sz="1300" dirty="0"/>
          </a:p>
        </p:txBody>
      </p:sp>
      <p:sp>
        <p:nvSpPr>
          <p:cNvPr id="20" name="Text 15"/>
          <p:cNvSpPr txBox="1"/>
          <p:nvPr/>
        </p:nvSpPr>
        <p:spPr>
          <a:xfrm>
            <a:off x="4070909" y="2606040"/>
            <a:ext cx="1047902" cy="713232"/>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One call with the JSON settings.</a:t>
            </a:r>
            <a:endParaRPr lang="en-US" sz="1200" dirty="0"/>
          </a:p>
        </p:txBody>
      </p:sp>
      <p:sp>
        <p:nvSpPr>
          <p:cNvPr id="21" name="Shape 16"/>
          <p:cNvSpPr/>
          <p:nvPr/>
        </p:nvSpPr>
        <p:spPr>
          <a:xfrm>
            <a:off x="5319979" y="2304288"/>
            <a:ext cx="219456" cy="219456"/>
          </a:xfrm>
          <a:prstGeom prst="rightArrow">
            <a:avLst/>
          </a:prstGeom>
          <a:solidFill>
            <a:srgbClr val="F5A623"/>
          </a:solidFill>
          <a:ln w="12700">
            <a:solidFill>
              <a:srgbClr val="F5A623"/>
            </a:solidFill>
            <a:prstDash val="solid"/>
          </a:ln>
        </p:spPr>
      </p:sp>
      <p:sp>
        <p:nvSpPr>
          <p:cNvPr id="22" name="Shape 17"/>
          <p:cNvSpPr/>
          <p:nvPr/>
        </p:nvSpPr>
        <p:spPr>
          <a:xfrm>
            <a:off x="5603443" y="1417320"/>
            <a:ext cx="1367942" cy="1993392"/>
          </a:xfrm>
          <a:prstGeom prst="roundRect">
            <a:avLst>
              <a:gd name="adj" fmla="val 5348"/>
            </a:avLst>
          </a:prstGeom>
          <a:solidFill>
            <a:srgbClr val="EFEBFC"/>
          </a:solidFill>
          <a:ln w="12700">
            <a:solidFill>
              <a:srgbClr val="EFEBFC"/>
            </a:solidFill>
            <a:prstDash val="solid"/>
          </a:ln>
        </p:spPr>
      </p:sp>
      <p:sp>
        <p:nvSpPr>
          <p:cNvPr id="23" name="Shape 18"/>
          <p:cNvSpPr/>
          <p:nvPr/>
        </p:nvSpPr>
        <p:spPr>
          <a:xfrm>
            <a:off x="5786323" y="1618488"/>
            <a:ext cx="457200" cy="457200"/>
          </a:xfrm>
          <a:prstGeom prst="ellipse">
            <a:avLst/>
          </a:prstGeom>
          <a:solidFill>
            <a:srgbClr val="512BD4"/>
          </a:solidFill>
          <a:ln w="12700">
            <a:solidFill>
              <a:srgbClr val="512BD4"/>
            </a:solidFill>
            <a:prstDash val="solid"/>
          </a:ln>
        </p:spPr>
      </p:sp>
      <p:pic>
        <p:nvPicPr>
          <p:cNvPr id="24" name="Image 3" descr="preencoded.png">    </p:cNvPr>
          <p:cNvPicPr>
            <a:picLocks noChangeAspect="1"/>
          </p:cNvPicPr>
          <p:nvPr/>
        </p:nvPicPr>
        <p:blipFill>
          <a:blip r:embed="rId4"/>
          <a:stretch>
            <a:fillRect/>
          </a:stretch>
        </p:blipFill>
        <p:spPr>
          <a:xfrm>
            <a:off x="5905195" y="1737360"/>
            <a:ext cx="219456" cy="219456"/>
          </a:xfrm>
          <a:prstGeom prst="rect">
            <a:avLst/>
          </a:prstGeom>
        </p:spPr>
      </p:pic>
      <p:sp>
        <p:nvSpPr>
          <p:cNvPr id="25" name="Text 19"/>
          <p:cNvSpPr txBox="1"/>
          <p:nvPr/>
        </p:nvSpPr>
        <p:spPr>
          <a:xfrm>
            <a:off x="5786323" y="2194560"/>
            <a:ext cx="1047902" cy="411480"/>
          </a:xfrm>
          <a:prstGeom prst="rect">
            <a:avLst/>
          </a:prstGeom>
          <a:noFill/>
          <a:ln/>
        </p:spPr>
        <p:txBody>
          <a:bodyPr wrap="square" lIns="0" tIns="0" rIns="0" bIns="0" rtlCol="0" anchor="t"/>
          <a:lstStyle/>
          <a:p>
            <a:pPr indent="0" marL="0">
              <a:buNone/>
            </a:pPr>
            <a:r>
              <a:rPr lang="en-US" sz="1300" b="1" dirty="0">
                <a:solidFill>
                  <a:srgbClr val="1F2937"/>
                </a:solidFill>
                <a:latin typeface="Calibri" pitchFamily="34" charset="0"/>
                <a:ea typeface="Calibri" pitchFamily="34" charset="-122"/>
                <a:cs typeface="Calibri" pitchFamily="34" charset="-120"/>
              </a:rPr>
              <a:t>Clean up</a:t>
            </a:r>
            <a:endParaRPr lang="en-US" sz="1300" dirty="0"/>
          </a:p>
        </p:txBody>
      </p:sp>
      <p:sp>
        <p:nvSpPr>
          <p:cNvPr id="26" name="Text 20"/>
          <p:cNvSpPr txBox="1"/>
          <p:nvPr/>
        </p:nvSpPr>
        <p:spPr>
          <a:xfrm>
            <a:off x="5786323" y="2606040"/>
            <a:ext cx="1047902" cy="71323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Remove the persona and the nudge.</a:t>
            </a:r>
            <a:endParaRPr lang="en-US" sz="1200" dirty="0"/>
          </a:p>
        </p:txBody>
      </p:sp>
      <p:sp>
        <p:nvSpPr>
          <p:cNvPr id="27" name="Shape 21"/>
          <p:cNvSpPr/>
          <p:nvPr/>
        </p:nvSpPr>
        <p:spPr>
          <a:xfrm>
            <a:off x="7035394" y="2304288"/>
            <a:ext cx="219456" cy="219456"/>
          </a:xfrm>
          <a:prstGeom prst="rightArrow">
            <a:avLst/>
          </a:prstGeom>
          <a:solidFill>
            <a:srgbClr val="F5A623"/>
          </a:solidFill>
          <a:ln w="12700">
            <a:solidFill>
              <a:srgbClr val="F5A623"/>
            </a:solidFill>
            <a:prstDash val="solid"/>
          </a:ln>
        </p:spPr>
      </p:sp>
      <p:sp>
        <p:nvSpPr>
          <p:cNvPr id="28" name="Shape 22"/>
          <p:cNvSpPr/>
          <p:nvPr/>
        </p:nvSpPr>
        <p:spPr>
          <a:xfrm>
            <a:off x="7318858" y="1417320"/>
            <a:ext cx="1367942" cy="1993392"/>
          </a:xfrm>
          <a:prstGeom prst="roundRect">
            <a:avLst>
              <a:gd name="adj" fmla="val 5348"/>
            </a:avLst>
          </a:prstGeom>
          <a:solidFill>
            <a:srgbClr val="EFEBFC"/>
          </a:solidFill>
          <a:ln w="12700">
            <a:solidFill>
              <a:srgbClr val="EFEBFC"/>
            </a:solidFill>
            <a:prstDash val="solid"/>
          </a:ln>
        </p:spPr>
      </p:sp>
      <p:sp>
        <p:nvSpPr>
          <p:cNvPr id="29" name="Shape 23"/>
          <p:cNvSpPr/>
          <p:nvPr/>
        </p:nvSpPr>
        <p:spPr>
          <a:xfrm>
            <a:off x="7501738" y="1618488"/>
            <a:ext cx="457200" cy="457200"/>
          </a:xfrm>
          <a:prstGeom prst="ellipse">
            <a:avLst/>
          </a:prstGeom>
          <a:solidFill>
            <a:srgbClr val="512BD4"/>
          </a:solidFill>
          <a:ln w="12700">
            <a:solidFill>
              <a:srgbClr val="512BD4"/>
            </a:solidFill>
            <a:prstDash val="solid"/>
          </a:ln>
        </p:spPr>
      </p:sp>
      <p:pic>
        <p:nvPicPr>
          <p:cNvPr id="30" name="Image 4" descr="preencoded.png">    </p:cNvPr>
          <p:cNvPicPr>
            <a:picLocks noChangeAspect="1"/>
          </p:cNvPicPr>
          <p:nvPr/>
        </p:nvPicPr>
        <p:blipFill>
          <a:blip r:embed="rId5"/>
          <a:stretch>
            <a:fillRect/>
          </a:stretch>
        </p:blipFill>
        <p:spPr>
          <a:xfrm>
            <a:off x="7620610" y="1737360"/>
            <a:ext cx="219456" cy="219456"/>
          </a:xfrm>
          <a:prstGeom prst="rect">
            <a:avLst/>
          </a:prstGeom>
        </p:spPr>
      </p:pic>
      <p:sp>
        <p:nvSpPr>
          <p:cNvPr id="31" name="Text 24"/>
          <p:cNvSpPr txBox="1"/>
          <p:nvPr/>
        </p:nvSpPr>
        <p:spPr>
          <a:xfrm>
            <a:off x="7501738" y="2194560"/>
            <a:ext cx="1047902" cy="411480"/>
          </a:xfrm>
          <a:prstGeom prst="rect">
            <a:avLst/>
          </a:prstGeom>
          <a:noFill/>
          <a:ln/>
        </p:spPr>
        <p:txBody>
          <a:bodyPr wrap="square" lIns="0" tIns="0" rIns="0" bIns="0" rtlCol="0" anchor="t"/>
          <a:lstStyle/>
          <a:p>
            <a:pPr indent="0" marL="0">
              <a:buNone/>
            </a:pPr>
            <a:r>
              <a:rPr lang="en-US" sz="1300" b="1" dirty="0">
                <a:solidFill>
                  <a:srgbClr val="1F2937"/>
                </a:solidFill>
                <a:latin typeface="Calibri" pitchFamily="34" charset="0"/>
                <a:ea typeface="Calibri" pitchFamily="34" charset="-122"/>
                <a:cs typeface="Calibri" pitchFamily="34" charset="-120"/>
              </a:rPr>
              <a:t>Route</a:t>
            </a:r>
            <a:endParaRPr lang="en-US" sz="1300" dirty="0"/>
          </a:p>
        </p:txBody>
      </p:sp>
      <p:sp>
        <p:nvSpPr>
          <p:cNvPr id="32" name="Text 25"/>
          <p:cNvSpPr txBox="1"/>
          <p:nvPr/>
        </p:nvSpPr>
        <p:spPr>
          <a:xfrm>
            <a:off x="7501738" y="2606040"/>
            <a:ext cx="1047902" cy="71323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CallAgent runs the Coder or Auditor.</a:t>
            </a:r>
            <a:endParaRPr lang="en-US" sz="1200" dirty="0"/>
          </a:p>
        </p:txBody>
      </p:sp>
      <p:sp>
        <p:nvSpPr>
          <p:cNvPr id="33" name="Text 26"/>
          <p:cNvSpPr txBox="1"/>
          <p:nvPr/>
        </p:nvSpPr>
        <p:spPr>
          <a:xfrm>
            <a:off x="457200" y="3730752"/>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Up to 8 iterations; COMPLETE ends the run early.</a:t>
            </a:r>
            <a:endParaRPr lang="en-US" sz="1400" dirty="0"/>
          </a:p>
        </p:txBody>
      </p:sp>
      <p:sp>
        <p:nvSpPr>
          <p:cNvPr id="34" name="Text 27"/>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19 — CoordinatorPro</a:t>
            </a:r>
            <a:endParaRPr lang="en-US" sz="900" dirty="0"/>
          </a:p>
        </p:txBody>
      </p:sp>
      <p:sp>
        <p:nvSpPr>
          <p:cNvPr id="35" name="Text 28"/>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RESILIENCE</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650" b="1" dirty="0">
                <a:solidFill>
                  <a:srgbClr val="1F2937"/>
                </a:solidFill>
                <a:latin typeface="Cambria" pitchFamily="34" charset="0"/>
                <a:ea typeface="Cambria" pitchFamily="34" charset="-122"/>
                <a:cs typeface="Cambria" pitchFamily="34" charset="-120"/>
              </a:rPr>
              <a:t>RetryHandler survives transient upstream errors</a:t>
            </a:r>
            <a:endParaRPr lang="en-US" sz="2650" dirty="0"/>
          </a:p>
        </p:txBody>
      </p:sp>
      <p:sp>
        <p:nvSpPr>
          <p:cNvPr id="4" name="Shape 2"/>
          <p:cNvSpPr/>
          <p:nvPr/>
        </p:nvSpPr>
        <p:spPr>
          <a:xfrm>
            <a:off x="457200" y="1371600"/>
            <a:ext cx="3977640" cy="1143000"/>
          </a:xfrm>
          <a:prstGeom prst="roundRect">
            <a:avLst>
              <a:gd name="adj" fmla="val 6400"/>
            </a:avLst>
          </a:prstGeom>
          <a:solidFill>
            <a:srgbClr val="EFEBFC"/>
          </a:solidFill>
          <a:ln w="12700">
            <a:solidFill>
              <a:srgbClr val="EFEBFC"/>
            </a:solidFill>
            <a:prstDash val="solid"/>
          </a:ln>
        </p:spPr>
      </p:sp>
      <p:sp>
        <p:nvSpPr>
          <p:cNvPr id="5" name="Shape 3"/>
          <p:cNvSpPr/>
          <p:nvPr/>
        </p:nvSpPr>
        <p:spPr>
          <a:xfrm>
            <a:off x="640080" y="1554480"/>
            <a:ext cx="384048" cy="384048"/>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39932" y="1654332"/>
            <a:ext cx="184343" cy="184343"/>
          </a:xfrm>
          <a:prstGeom prst="rect">
            <a:avLst/>
          </a:prstGeom>
        </p:spPr>
      </p:pic>
      <p:sp>
        <p:nvSpPr>
          <p:cNvPr id="7" name="Text 4"/>
          <p:cNvSpPr txBox="1"/>
          <p:nvPr/>
        </p:nvSpPr>
        <p:spPr>
          <a:xfrm>
            <a:off x="1143000" y="1554480"/>
            <a:ext cx="315468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alibri" pitchFamily="34" charset="0"/>
                <a:ea typeface="Calibri" pitchFamily="34" charset="-122"/>
                <a:cs typeface="Calibri" pitchFamily="34" charset="-120"/>
              </a:rPr>
              <a:t>Transient only</a:t>
            </a:r>
            <a:endParaRPr lang="en-US" sz="1500" dirty="0"/>
          </a:p>
        </p:txBody>
      </p:sp>
      <p:sp>
        <p:nvSpPr>
          <p:cNvPr id="8" name="Text 5"/>
          <p:cNvSpPr txBox="1"/>
          <p:nvPr/>
        </p:nvSpPr>
        <p:spPr>
          <a:xfrm>
            <a:off x="640080" y="2057400"/>
            <a:ext cx="3611880" cy="36576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Retries 500, 503 and 429. Success or any other status returns at once.</a:t>
            </a:r>
            <a:endParaRPr lang="en-US" sz="1200" dirty="0"/>
          </a:p>
        </p:txBody>
      </p:sp>
      <p:sp>
        <p:nvSpPr>
          <p:cNvPr id="9" name="Shape 6"/>
          <p:cNvSpPr/>
          <p:nvPr/>
        </p:nvSpPr>
        <p:spPr>
          <a:xfrm>
            <a:off x="4709160" y="1371600"/>
            <a:ext cx="3977640" cy="1143000"/>
          </a:xfrm>
          <a:prstGeom prst="roundRect">
            <a:avLst>
              <a:gd name="adj" fmla="val 6400"/>
            </a:avLst>
          </a:prstGeom>
          <a:solidFill>
            <a:srgbClr val="EFEBFC"/>
          </a:solidFill>
          <a:ln w="12700">
            <a:solidFill>
              <a:srgbClr val="EFEBFC"/>
            </a:solidFill>
            <a:prstDash val="solid"/>
          </a:ln>
        </p:spPr>
      </p:sp>
      <p:sp>
        <p:nvSpPr>
          <p:cNvPr id="10" name="Shape 7"/>
          <p:cNvSpPr/>
          <p:nvPr/>
        </p:nvSpPr>
        <p:spPr>
          <a:xfrm>
            <a:off x="4892040" y="155448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4991892" y="1654332"/>
            <a:ext cx="184343" cy="184343"/>
          </a:xfrm>
          <a:prstGeom prst="rect">
            <a:avLst/>
          </a:prstGeom>
        </p:spPr>
      </p:pic>
      <p:sp>
        <p:nvSpPr>
          <p:cNvPr id="12" name="Text 8"/>
          <p:cNvSpPr txBox="1"/>
          <p:nvPr/>
        </p:nvSpPr>
        <p:spPr>
          <a:xfrm>
            <a:off x="5394960" y="1554480"/>
            <a:ext cx="315468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alibri" pitchFamily="34" charset="0"/>
                <a:ea typeface="Calibri" pitchFamily="34" charset="-122"/>
                <a:cs typeface="Calibri" pitchFamily="34" charset="-120"/>
              </a:rPr>
              <a:t>Exponential backoff</a:t>
            </a:r>
            <a:endParaRPr lang="en-US" sz="1500" dirty="0"/>
          </a:p>
        </p:txBody>
      </p:sp>
      <p:sp>
        <p:nvSpPr>
          <p:cNvPr id="13" name="Text 9"/>
          <p:cNvSpPr txBox="1"/>
          <p:nvPr/>
        </p:nvSpPr>
        <p:spPr>
          <a:xfrm>
            <a:off x="4892040" y="2057400"/>
            <a:ext cx="3611880" cy="36576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Waits 1s, 2s, 4s and so on, logging each retry.</a:t>
            </a:r>
            <a:endParaRPr lang="en-US" sz="1200" dirty="0"/>
          </a:p>
        </p:txBody>
      </p:sp>
      <p:sp>
        <p:nvSpPr>
          <p:cNvPr id="14" name="Shape 10"/>
          <p:cNvSpPr/>
          <p:nvPr/>
        </p:nvSpPr>
        <p:spPr>
          <a:xfrm>
            <a:off x="457200" y="2743200"/>
            <a:ext cx="3977640" cy="1143000"/>
          </a:xfrm>
          <a:prstGeom prst="roundRect">
            <a:avLst>
              <a:gd name="adj" fmla="val 6400"/>
            </a:avLst>
          </a:prstGeom>
          <a:solidFill>
            <a:srgbClr val="512BD4"/>
          </a:solidFill>
          <a:ln w="12700">
            <a:solidFill>
              <a:srgbClr val="512BD4"/>
            </a:solidFill>
            <a:prstDash val="solid"/>
          </a:ln>
        </p:spPr>
      </p:sp>
      <p:sp>
        <p:nvSpPr>
          <p:cNvPr id="15" name="Shape 11"/>
          <p:cNvSpPr/>
          <p:nvPr/>
        </p:nvSpPr>
        <p:spPr>
          <a:xfrm>
            <a:off x="640080" y="2926080"/>
            <a:ext cx="384048" cy="384048"/>
          </a:xfrm>
          <a:prstGeom prst="ellipse">
            <a:avLst/>
          </a:prstGeom>
          <a:solidFill>
            <a:srgbClr val="FFFFFF"/>
          </a:solidFill>
          <a:ln w="12700">
            <a:solidFill>
              <a:srgbClr val="FFFFFF"/>
            </a:solidFill>
            <a:prstDash val="solid"/>
          </a:ln>
        </p:spPr>
      </p:sp>
      <p:pic>
        <p:nvPicPr>
          <p:cNvPr id="16" name="Image 2" descr="preencoded.png">    </p:cNvPr>
          <p:cNvPicPr>
            <a:picLocks noChangeAspect="1"/>
          </p:cNvPicPr>
          <p:nvPr/>
        </p:nvPicPr>
        <p:blipFill>
          <a:blip r:embed="rId3"/>
          <a:stretch>
            <a:fillRect/>
          </a:stretch>
        </p:blipFill>
        <p:spPr>
          <a:xfrm>
            <a:off x="739932" y="3025932"/>
            <a:ext cx="184343" cy="184343"/>
          </a:xfrm>
          <a:prstGeom prst="rect">
            <a:avLst/>
          </a:prstGeom>
        </p:spPr>
      </p:pic>
      <p:sp>
        <p:nvSpPr>
          <p:cNvPr id="17" name="Text 12"/>
          <p:cNvSpPr txBox="1"/>
          <p:nvPr/>
        </p:nvSpPr>
        <p:spPr>
          <a:xfrm>
            <a:off x="1143000" y="2926080"/>
            <a:ext cx="3154680" cy="384048"/>
          </a:xfrm>
          <a:prstGeom prst="rect">
            <a:avLst/>
          </a:prstGeom>
          <a:noFill/>
          <a:ln/>
        </p:spPr>
        <p:txBody>
          <a:bodyPr wrap="square" lIns="0" tIns="0" rIns="0" bIns="0" rtlCol="0" anchor="ctr">
            <a:normAutofit/>
          </a:bodyPr>
          <a:lstStyle/>
          <a:p>
            <a:pPr indent="0" marL="0">
              <a:buNone/>
            </a:pPr>
            <a:r>
              <a:rPr lang="en-US" sz="1500" b="1" dirty="0">
                <a:solidFill>
                  <a:srgbClr val="FFFFFF"/>
                </a:solidFill>
                <a:latin typeface="Calibri" pitchFamily="34" charset="0"/>
                <a:ea typeface="Calibri" pitchFamily="34" charset="-122"/>
                <a:cs typeface="Calibri" pitchFamily="34" charset="-120"/>
              </a:rPr>
              <a:t>Fresh clone</a:t>
            </a:r>
            <a:endParaRPr lang="en-US" sz="1500" dirty="0"/>
          </a:p>
        </p:txBody>
      </p:sp>
      <p:sp>
        <p:nvSpPr>
          <p:cNvPr id="18" name="Text 13"/>
          <p:cNvSpPr txBox="1"/>
          <p:nvPr/>
        </p:nvSpPr>
        <p:spPr>
          <a:xfrm>
            <a:off x="640080" y="3429000"/>
            <a:ext cx="3611880" cy="36576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CloneAsync builds a new request every attempt; a sent request can't be resent.</a:t>
            </a:r>
            <a:endParaRPr lang="en-US" sz="1200" dirty="0"/>
          </a:p>
        </p:txBody>
      </p:sp>
      <p:sp>
        <p:nvSpPr>
          <p:cNvPr id="19" name="Shape 14"/>
          <p:cNvSpPr/>
          <p:nvPr/>
        </p:nvSpPr>
        <p:spPr>
          <a:xfrm>
            <a:off x="4709160" y="2743200"/>
            <a:ext cx="3977640" cy="1143000"/>
          </a:xfrm>
          <a:prstGeom prst="roundRect">
            <a:avLst>
              <a:gd name="adj" fmla="val 6400"/>
            </a:avLst>
          </a:prstGeom>
          <a:solidFill>
            <a:srgbClr val="EFEBFC"/>
          </a:solidFill>
          <a:ln w="12700">
            <a:solidFill>
              <a:srgbClr val="EFEBFC"/>
            </a:solidFill>
            <a:prstDash val="solid"/>
          </a:ln>
        </p:spPr>
      </p:sp>
      <p:sp>
        <p:nvSpPr>
          <p:cNvPr id="20" name="Shape 15"/>
          <p:cNvSpPr/>
          <p:nvPr/>
        </p:nvSpPr>
        <p:spPr>
          <a:xfrm>
            <a:off x="4892040" y="2926080"/>
            <a:ext cx="384048" cy="384048"/>
          </a:xfrm>
          <a:prstGeom prst="ellipse">
            <a:avLst/>
          </a:prstGeom>
          <a:solidFill>
            <a:srgbClr val="512BD4"/>
          </a:solidFill>
          <a:ln w="12700">
            <a:solidFill>
              <a:srgbClr val="512BD4"/>
            </a:solidFill>
            <a:prstDash val="solid"/>
          </a:ln>
        </p:spPr>
      </p:sp>
      <p:pic>
        <p:nvPicPr>
          <p:cNvPr id="21" name="Image 3" descr="preencoded.png">    </p:cNvPr>
          <p:cNvPicPr>
            <a:picLocks noChangeAspect="1"/>
          </p:cNvPicPr>
          <p:nvPr/>
        </p:nvPicPr>
        <p:blipFill>
          <a:blip r:embed="rId4"/>
          <a:stretch>
            <a:fillRect/>
          </a:stretch>
        </p:blipFill>
        <p:spPr>
          <a:xfrm>
            <a:off x="4991892" y="3025932"/>
            <a:ext cx="184343" cy="184343"/>
          </a:xfrm>
          <a:prstGeom prst="rect">
            <a:avLst/>
          </a:prstGeom>
        </p:spPr>
      </p:pic>
      <p:sp>
        <p:nvSpPr>
          <p:cNvPr id="22" name="Text 16"/>
          <p:cNvSpPr txBox="1"/>
          <p:nvPr/>
        </p:nvSpPr>
        <p:spPr>
          <a:xfrm>
            <a:off x="5394960" y="2926080"/>
            <a:ext cx="315468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alibri" pitchFamily="34" charset="0"/>
                <a:ea typeface="Calibri" pitchFamily="34" charset="-122"/>
                <a:cs typeface="Calibri" pitchFamily="34" charset="-120"/>
              </a:rPr>
              <a:t>Provider-agnostic</a:t>
            </a:r>
            <a:endParaRPr lang="en-US" sz="1500" dirty="0"/>
          </a:p>
        </p:txBody>
      </p:sp>
      <p:sp>
        <p:nvSpPr>
          <p:cNvPr id="23" name="Text 17"/>
          <p:cNvSpPr txBox="1"/>
          <p:nvPr/>
        </p:nvSpPr>
        <p:spPr>
          <a:xfrm>
            <a:off x="4892040" y="3429000"/>
            <a:ext cx="3611880" cy="36576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A plain DelegatingHandler; no Semantic Kernel code.</a:t>
            </a:r>
            <a:endParaRPr lang="en-US" sz="1200" dirty="0"/>
          </a:p>
        </p:txBody>
      </p:sp>
      <p:sp>
        <p:nvSpPr>
          <p:cNvPr id="24" name="Text 18"/>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19 — CoordinatorPro</a:t>
            </a:r>
            <a:endParaRPr lang="en-US" sz="900" dirty="0"/>
          </a:p>
        </p:txBody>
      </p:sp>
      <p:sp>
        <p:nvSpPr>
          <p:cNvPr id="25" name="Text 19"/>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EXPECTED RESULT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Run it: route, code, audit, complete</a:t>
            </a:r>
            <a:endParaRPr lang="en-US" sz="2800" dirty="0"/>
          </a:p>
        </p:txBody>
      </p:sp>
      <p:sp>
        <p:nvSpPr>
          <p:cNvPr id="4" name="Shape 2"/>
          <p:cNvSpPr/>
          <p:nvPr/>
        </p:nvSpPr>
        <p:spPr>
          <a:xfrm>
            <a:off x="457200" y="1325880"/>
            <a:ext cx="5257800" cy="2331720"/>
          </a:xfrm>
          <a:prstGeom prst="roundRect">
            <a:avLst>
              <a:gd name="adj" fmla="val 3137"/>
            </a:avLst>
          </a:prstGeom>
          <a:solidFill>
            <a:srgbClr val="0F1420"/>
          </a:solidFill>
          <a:ln w="12700">
            <a:solidFill>
              <a:srgbClr val="0F1420"/>
            </a:solidFill>
            <a:prstDash val="solid"/>
          </a:ln>
        </p:spPr>
      </p:sp>
      <p:sp>
        <p:nvSpPr>
          <p:cNvPr id="5" name="Text 3"/>
          <p:cNvSpPr txBox="1"/>
          <p:nvPr/>
        </p:nvSpPr>
        <p:spPr>
          <a:xfrm>
            <a:off x="640080" y="1463040"/>
            <a:ext cx="4892040" cy="2057400"/>
          </a:xfrm>
          <a:prstGeom prst="rect">
            <a:avLst/>
          </a:prstGeom>
          <a:noFill/>
          <a:ln/>
        </p:spPr>
        <p:txBody>
          <a:bodyPr wrap="square" lIns="0" tIns="0" rIns="0" bIns="0" rtlCol="0" anchor="t"/>
          <a:lstStyle/>
          <a:p>
            <a:pPr indent="0" marL="0">
              <a:buNone/>
            </a:pPr>
            <a:r>
              <a:rPr lang="en-US" sz="1100" b="1" dirty="0">
                <a:solidFill>
                  <a:srgbClr val="F5A623"/>
                </a:solidFill>
                <a:latin typeface="Courier New" pitchFamily="34" charset="0"/>
                <a:ea typeface="Courier New" pitchFamily="34" charset="-122"/>
                <a:cs typeface="Courier New" pitchFamily="34" charset="-120"/>
              </a:rPr>
              <a:t>Enter a C# feature to build: email validator</a:t>
            </a:r>
            <a:endParaRPr lang="en-US" sz="1100" dirty="0"/>
          </a:p>
          <a:p>
            <a:pPr indent="0" marL="0">
              <a:buNone/>
            </a:pPr>
            <a:r>
              <a:rPr lang="en-US" sz="1100" dirty="0">
                <a:solidFill>
                  <a:srgbClr val="D7E3F4"/>
                </a:solidFill>
                <a:latin typeface="Courier New" pitchFamily="34" charset="0"/>
                <a:ea typeface="Courier New" pitchFamily="34" charset="-122"/>
                <a:cs typeface="Courier New" pitchFamily="34" charset="-120"/>
              </a:rPr>
              <a:t>[THOUGHT]: No code exists yet.</a:t>
            </a:r>
            <a:endParaRPr lang="en-US" sz="1100" dirty="0"/>
          </a:p>
          <a:p>
            <a:pPr indent="0" marL="0">
              <a:buNone/>
            </a:pPr>
            <a:r>
              <a:rPr lang="en-US" sz="1100" dirty="0">
                <a:solidFill>
                  <a:srgbClr val="D7E3F4"/>
                </a:solidFill>
                <a:latin typeface="Courier New" pitchFamily="34" charset="0"/>
                <a:ea typeface="Courier New" pitchFamily="34" charset="-122"/>
                <a:cs typeface="Courier New" pitchFamily="34" charset="-120"/>
              </a:rPr>
              <a:t>[ROUTE]: CODER</a:t>
            </a:r>
            <a:endParaRPr lang="en-US" sz="1100" dirty="0"/>
          </a:p>
          <a:p>
            <a:pPr indent="0" marL="0">
              <a:buNone/>
            </a:pPr>
            <a:r>
              <a:rPr lang="en-US" sz="1100" dirty="0">
                <a:solidFill>
                  <a:srgbClr val="9FE6B8"/>
                </a:solidFill>
                <a:latin typeface="Courier New" pitchFamily="34" charset="0"/>
                <a:ea typeface="Courier New" pitchFamily="34" charset="-122"/>
                <a:cs typeface="Courier New" pitchFamily="34" charset="-120"/>
              </a:rPr>
              <a:t>[CODER]: public static bool IsValidEmail(...)</a:t>
            </a:r>
            <a:endParaRPr lang="en-US" sz="1100" dirty="0"/>
          </a:p>
          <a:p>
            <a:pPr indent="0" marL="0">
              <a:buNone/>
            </a:pPr>
            <a:r>
              <a:rPr lang="en-US" sz="1100" dirty="0">
                <a:solidFill>
                  <a:srgbClr val="D7E3F4"/>
                </a:solidFill>
                <a:latin typeface="Courier New" pitchFamily="34" charset="0"/>
                <a:ea typeface="Courier New" pitchFamily="34" charset="-122"/>
                <a:cs typeface="Courier New" pitchFamily="34" charset="-120"/>
              </a:rPr>
              <a:t>[THOUGHT]: Code exists but has not been reviewed.</a:t>
            </a:r>
            <a:endParaRPr lang="en-US" sz="1100" dirty="0"/>
          </a:p>
          <a:p>
            <a:pPr indent="0" marL="0">
              <a:buNone/>
            </a:pPr>
            <a:r>
              <a:rPr lang="en-US" sz="1100" dirty="0">
                <a:solidFill>
                  <a:srgbClr val="D7E3F4"/>
                </a:solidFill>
                <a:latin typeface="Courier New" pitchFamily="34" charset="0"/>
                <a:ea typeface="Courier New" pitchFamily="34" charset="-122"/>
                <a:cs typeface="Courier New" pitchFamily="34" charset="-120"/>
              </a:rPr>
              <a:t>[ROUTE]: AUDITOR</a:t>
            </a:r>
            <a:endParaRPr lang="en-US" sz="1100" dirty="0"/>
          </a:p>
          <a:p>
            <a:pPr indent="0" marL="0">
              <a:buNone/>
            </a:pPr>
            <a:r>
              <a:rPr lang="en-US" sz="1100" dirty="0">
                <a:solidFill>
                  <a:srgbClr val="9FE6B8"/>
                </a:solidFill>
                <a:latin typeface="Courier New" pitchFamily="34" charset="0"/>
                <a:ea typeface="Courier New" pitchFamily="34" charset="-122"/>
                <a:cs typeface="Courier New" pitchFamily="34" charset="-120"/>
              </a:rPr>
              <a:t>[AUDITOR]: The regex allows consecutive dots...</a:t>
            </a:r>
            <a:endParaRPr lang="en-US" sz="1100" dirty="0"/>
          </a:p>
          <a:p>
            <a:pPr indent="0" marL="0">
              <a:buNone/>
            </a:pPr>
            <a:r>
              <a:rPr lang="en-US" sz="1100" dirty="0">
                <a:solidFill>
                  <a:srgbClr val="9FE6B8"/>
                </a:solidFill>
                <a:latin typeface="Courier New" pitchFamily="34" charset="0"/>
                <a:ea typeface="Courier New" pitchFamily="34" charset="-122"/>
                <a:cs typeface="Courier New" pitchFamily="34" charset="-120"/>
              </a:rPr>
              <a:t>[ROUTE]: CODER  ...  [AUDITOR]: LGTM</a:t>
            </a:r>
            <a:endParaRPr lang="en-US" sz="1100" dirty="0"/>
          </a:p>
          <a:p>
            <a:pPr indent="0" marL="0">
              <a:buNone/>
            </a:pPr>
            <a:r>
              <a:rPr lang="en-US" sz="1100" dirty="0">
                <a:solidFill>
                  <a:srgbClr val="D7E3F4"/>
                </a:solidFill>
                <a:latin typeface="Courier New" pitchFamily="34" charset="0"/>
                <a:ea typeface="Courier New" pitchFamily="34" charset="-122"/>
                <a:cs typeface="Courier New" pitchFamily="34" charset="-120"/>
              </a:rPr>
              <a:t>[THOUGHT]: The Auditor said LGTM.</a:t>
            </a:r>
            <a:endParaRPr lang="en-US" sz="1100" dirty="0"/>
          </a:p>
          <a:p>
            <a:pPr indent="0" marL="0">
              <a:buNone/>
            </a:pPr>
            <a:r>
              <a:rPr lang="en-US" sz="1100" dirty="0">
                <a:solidFill>
                  <a:srgbClr val="D7E3F4"/>
                </a:solidFill>
                <a:latin typeface="Courier New" pitchFamily="34" charset="0"/>
                <a:ea typeface="Courier New" pitchFamily="34" charset="-122"/>
                <a:cs typeface="Courier New" pitchFamily="34" charset="-120"/>
              </a:rPr>
              <a:t>[ROUTE]: COMPLETE</a:t>
            </a:r>
            <a:endParaRPr lang="en-US" sz="1100" dirty="0"/>
          </a:p>
          <a:p>
            <a:pPr indent="0" marL="0">
              <a:buNone/>
            </a:pPr>
            <a:r>
              <a:rPr lang="en-US" sz="1100" dirty="0">
                <a:solidFill>
                  <a:srgbClr val="D7E3F4"/>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rgbClr val="D7E3F4"/>
                </a:solidFill>
                <a:latin typeface="Courier New" pitchFamily="34" charset="0"/>
                <a:ea typeface="Courier New" pitchFamily="34" charset="-122"/>
                <a:cs typeface="Courier New" pitchFamily="34" charset="-120"/>
              </a:rPr>
              <a:t>Project lifecycle finished.</a:t>
            </a:r>
            <a:endParaRPr lang="en-US" sz="1100" dirty="0"/>
          </a:p>
        </p:txBody>
      </p:sp>
      <p:sp>
        <p:nvSpPr>
          <p:cNvPr id="6" name="Shape 4"/>
          <p:cNvSpPr/>
          <p:nvPr/>
        </p:nvSpPr>
        <p:spPr>
          <a:xfrm>
            <a:off x="6035040" y="1325880"/>
            <a:ext cx="384048" cy="384048"/>
          </a:xfrm>
          <a:prstGeom prst="ellipse">
            <a:avLst/>
          </a:prstGeom>
          <a:solidFill>
            <a:srgbClr val="512BD4"/>
          </a:solidFill>
          <a:ln w="12700">
            <a:solidFill>
              <a:srgbClr val="512BD4"/>
            </a:solidFill>
            <a:prstDash val="solid"/>
          </a:ln>
        </p:spPr>
      </p:sp>
      <p:pic>
        <p:nvPicPr>
          <p:cNvPr id="7" name="Image 0" descr="preencoded.png">    </p:cNvPr>
          <p:cNvPicPr>
            <a:picLocks noChangeAspect="1"/>
          </p:cNvPicPr>
          <p:nvPr/>
        </p:nvPicPr>
        <p:blipFill>
          <a:blip r:embed="rId1"/>
          <a:stretch>
            <a:fillRect/>
          </a:stretch>
        </p:blipFill>
        <p:spPr>
          <a:xfrm>
            <a:off x="6134892" y="1425732"/>
            <a:ext cx="184343" cy="184343"/>
          </a:xfrm>
          <a:prstGeom prst="rect">
            <a:avLst/>
          </a:prstGeom>
        </p:spPr>
      </p:pic>
      <p:sp>
        <p:nvSpPr>
          <p:cNvPr id="8" name="Text 5"/>
          <p:cNvSpPr txBox="1"/>
          <p:nvPr/>
        </p:nvSpPr>
        <p:spPr>
          <a:xfrm>
            <a:off x="6537960" y="132588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Visible routing</a:t>
            </a:r>
            <a:endParaRPr lang="en-US" sz="1400" dirty="0"/>
          </a:p>
        </p:txBody>
      </p:sp>
      <p:sp>
        <p:nvSpPr>
          <p:cNvPr id="9" name="Text 6"/>
          <p:cNvSpPr txBox="1"/>
          <p:nvPr/>
        </p:nvSpPr>
        <p:spPr>
          <a:xfrm>
            <a:off x="6537960" y="170992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Every decision prints its THOUGHT and ROUTE.</a:t>
            </a:r>
            <a:endParaRPr lang="en-US" sz="1200" dirty="0"/>
          </a:p>
        </p:txBody>
      </p:sp>
      <p:sp>
        <p:nvSpPr>
          <p:cNvPr id="10" name="Shape 7"/>
          <p:cNvSpPr/>
          <p:nvPr/>
        </p:nvSpPr>
        <p:spPr>
          <a:xfrm>
            <a:off x="6035040" y="242316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6134892" y="2523012"/>
            <a:ext cx="184343" cy="184343"/>
          </a:xfrm>
          <a:prstGeom prst="rect">
            <a:avLst/>
          </a:prstGeom>
        </p:spPr>
      </p:pic>
      <p:sp>
        <p:nvSpPr>
          <p:cNvPr id="12" name="Text 8"/>
          <p:cNvSpPr txBox="1"/>
          <p:nvPr/>
        </p:nvSpPr>
        <p:spPr>
          <a:xfrm>
            <a:off x="6537960" y="242316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Rework loops</a:t>
            </a:r>
            <a:endParaRPr lang="en-US" sz="1400" dirty="0"/>
          </a:p>
        </p:txBody>
      </p:sp>
      <p:sp>
        <p:nvSpPr>
          <p:cNvPr id="13" name="Text 9"/>
          <p:cNvSpPr txBox="1"/>
          <p:nvPr/>
        </p:nvSpPr>
        <p:spPr>
          <a:xfrm>
            <a:off x="6537960" y="280720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A flaw routes back to the Coder.</a:t>
            </a:r>
            <a:endParaRPr lang="en-US" sz="1200" dirty="0"/>
          </a:p>
        </p:txBody>
      </p:sp>
      <p:sp>
        <p:nvSpPr>
          <p:cNvPr id="14" name="Shape 10"/>
          <p:cNvSpPr/>
          <p:nvPr/>
        </p:nvSpPr>
        <p:spPr>
          <a:xfrm>
            <a:off x="6035040" y="3520440"/>
            <a:ext cx="384048" cy="384048"/>
          </a:xfrm>
          <a:prstGeom prst="ellipse">
            <a:avLst/>
          </a:prstGeom>
          <a:solidFill>
            <a:srgbClr val="512BD4"/>
          </a:solidFill>
          <a:ln w="12700">
            <a:solidFill>
              <a:srgbClr val="512BD4"/>
            </a:solidFill>
            <a:prstDash val="solid"/>
          </a:ln>
        </p:spPr>
      </p:sp>
      <p:pic>
        <p:nvPicPr>
          <p:cNvPr id="15" name="Image 2" descr="preencoded.png">    </p:cNvPr>
          <p:cNvPicPr>
            <a:picLocks noChangeAspect="1"/>
          </p:cNvPicPr>
          <p:nvPr/>
        </p:nvPicPr>
        <p:blipFill>
          <a:blip r:embed="rId3"/>
          <a:stretch>
            <a:fillRect/>
          </a:stretch>
        </p:blipFill>
        <p:spPr>
          <a:xfrm>
            <a:off x="6134892" y="3620292"/>
            <a:ext cx="184343" cy="184343"/>
          </a:xfrm>
          <a:prstGeom prst="rect">
            <a:avLst/>
          </a:prstGeom>
        </p:spPr>
      </p:pic>
      <p:sp>
        <p:nvSpPr>
          <p:cNvPr id="16" name="Text 11"/>
          <p:cNvSpPr txBox="1"/>
          <p:nvPr/>
        </p:nvSpPr>
        <p:spPr>
          <a:xfrm>
            <a:off x="6537960" y="352044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Illustrative</a:t>
            </a:r>
            <a:endParaRPr lang="en-US" sz="1400" dirty="0"/>
          </a:p>
        </p:txBody>
      </p:sp>
      <p:sp>
        <p:nvSpPr>
          <p:cNvPr id="17" name="Text 12"/>
          <p:cNvSpPr txBox="1"/>
          <p:nvPr/>
        </p:nvSpPr>
        <p:spPr>
          <a:xfrm>
            <a:off x="6537960" y="390448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Code, reasoning and flaws are examples. Yours will differ.</a:t>
            </a:r>
            <a:endParaRPr lang="en-US" sz="1200" dirty="0"/>
          </a:p>
        </p:txBody>
      </p:sp>
      <p:sp>
        <p:nvSpPr>
          <p:cNvPr id="18" name="Text 13"/>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19 — CoordinatorPro</a:t>
            </a:r>
            <a:endParaRPr lang="en-US" sz="900" dirty="0"/>
          </a:p>
        </p:txBody>
      </p:sp>
      <p:sp>
        <p:nvSpPr>
          <p:cNvPr id="19" name="Text 14"/>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EXERCISE</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Add a third specialist</a:t>
            </a:r>
            <a:endParaRPr lang="en-US" sz="2800" dirty="0"/>
          </a:p>
        </p:txBody>
      </p:sp>
      <p:sp>
        <p:nvSpPr>
          <p:cNvPr id="4" name="Shape 2"/>
          <p:cNvSpPr/>
          <p:nvPr/>
        </p:nvSpPr>
        <p:spPr>
          <a:xfrm>
            <a:off x="457200" y="1371600"/>
            <a:ext cx="3108960" cy="3017520"/>
          </a:xfrm>
          <a:prstGeom prst="roundRect">
            <a:avLst>
              <a:gd name="adj" fmla="val 2424"/>
            </a:avLst>
          </a:prstGeom>
          <a:solidFill>
            <a:srgbClr val="512BD4"/>
          </a:solidFill>
          <a:ln w="12700">
            <a:solidFill>
              <a:srgbClr val="512BD4"/>
            </a:solidFill>
            <a:prstDash val="solid"/>
          </a:ln>
        </p:spPr>
      </p:sp>
      <p:sp>
        <p:nvSpPr>
          <p:cNvPr id="5" name="Shape 3"/>
          <p:cNvSpPr/>
          <p:nvPr/>
        </p:nvSpPr>
        <p:spPr>
          <a:xfrm>
            <a:off x="685800" y="1600200"/>
            <a:ext cx="457200" cy="45720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804672" y="1719072"/>
            <a:ext cx="219456" cy="219456"/>
          </a:xfrm>
          <a:prstGeom prst="rect">
            <a:avLst/>
          </a:prstGeom>
        </p:spPr>
      </p:pic>
      <p:sp>
        <p:nvSpPr>
          <p:cNvPr id="7" name="Text 4"/>
          <p:cNvSpPr txBox="1"/>
          <p:nvPr/>
        </p:nvSpPr>
        <p:spPr>
          <a:xfrm>
            <a:off x="685800" y="2194560"/>
            <a:ext cx="2651760" cy="137160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Add a Tester persona that writes unit tests after LGTM, extend the Coordinator's rules and schema, and log any unknown nextAgent.</a:t>
            </a:r>
            <a:endParaRPr lang="en-US" sz="1400" dirty="0"/>
          </a:p>
        </p:txBody>
      </p:sp>
      <p:sp>
        <p:nvSpPr>
          <p:cNvPr id="8" name="Text 5"/>
          <p:cNvSpPr txBox="1"/>
          <p:nvPr/>
        </p:nvSpPr>
        <p:spPr>
          <a:xfrm>
            <a:off x="685800" y="3611880"/>
            <a:ext cx="2743200" cy="640080"/>
          </a:xfrm>
          <a:prstGeom prst="rect">
            <a:avLst/>
          </a:prstGeom>
          <a:noFill/>
          <a:ln/>
        </p:spPr>
        <p:txBody>
          <a:bodyPr wrap="square" lIns="0" tIns="0" rIns="0" bIns="0" rtlCol="0" anchor="b"/>
          <a:lstStyle/>
          <a:p>
            <a:pPr indent="0" marL="0">
              <a:buNone/>
            </a:pPr>
            <a:r>
              <a:rPr lang="en-US" sz="850" dirty="0">
                <a:solidFill>
                  <a:srgbClr val="B8B2E6"/>
                </a:solidFill>
                <a:latin typeface="Courier New" pitchFamily="34" charset="0"/>
                <a:ea typeface="Courier New" pitchFamily="34" charset="-122"/>
                <a:cs typeface="Courier New" pitchFamily="34" charset="-120"/>
              </a:rPr>
              <a:t>Lesson19-CoordinatorPro/</a:t>
            </a:r>
            <a:endParaRPr lang="en-US" sz="850" dirty="0"/>
          </a:p>
          <a:p>
            <a:pPr indent="0" marL="0">
              <a:buNone/>
            </a:pPr>
            <a:r>
              <a:rPr lang="en-US" sz="850" dirty="0">
                <a:solidFill>
                  <a:srgbClr val="B8B2E6"/>
                </a:solidFill>
                <a:latin typeface="Courier New" pitchFamily="34" charset="0"/>
                <a:ea typeface="Courier New" pitchFamily="34" charset="-122"/>
                <a:cs typeface="Courier New" pitchFamily="34" charset="-120"/>
              </a:rPr>
              <a:t>CoordinatorPro/Program.cs</a:t>
            </a:r>
            <a:endParaRPr lang="en-US" sz="850" dirty="0"/>
          </a:p>
        </p:txBody>
      </p:sp>
      <p:sp>
        <p:nvSpPr>
          <p:cNvPr id="9" name="Text 6"/>
          <p:cNvSpPr txBox="1"/>
          <p:nvPr/>
        </p:nvSpPr>
        <p:spPr>
          <a:xfrm>
            <a:off x="3931920" y="1371600"/>
            <a:ext cx="4754880" cy="320040"/>
          </a:xfrm>
          <a:prstGeom prst="rect">
            <a:avLst/>
          </a:prstGeom>
          <a:noFill/>
          <a:ln/>
        </p:spPr>
        <p:txBody>
          <a:bodyPr wrap="square" lIns="0" tIns="0" rIns="0" bIns="0" rtlCol="0" anchor="t"/>
          <a:lstStyle/>
          <a:p>
            <a:pPr indent="0" marL="0">
              <a:buNone/>
            </a:pPr>
            <a:r>
              <a:rPr lang="en-US" sz="1600" b="1" dirty="0">
                <a:solidFill>
                  <a:srgbClr val="1F2937"/>
                </a:solidFill>
                <a:latin typeface="Cambria" pitchFamily="34" charset="0"/>
                <a:ea typeface="Cambria" pitchFamily="34" charset="-122"/>
                <a:cs typeface="Cambria" pitchFamily="34" charset="-120"/>
              </a:rPr>
              <a:t>Done when</a:t>
            </a:r>
            <a:endParaRPr lang="en-US" sz="1600" dirty="0"/>
          </a:p>
        </p:txBody>
      </p:sp>
      <p:sp>
        <p:nvSpPr>
          <p:cNvPr id="10" name="Shape 7"/>
          <p:cNvSpPr/>
          <p:nvPr/>
        </p:nvSpPr>
        <p:spPr>
          <a:xfrm>
            <a:off x="3931920" y="1801368"/>
            <a:ext cx="292608" cy="292608"/>
          </a:xfrm>
          <a:prstGeom prst="ellipse">
            <a:avLst/>
          </a:prstGeom>
          <a:solidFill>
            <a:srgbClr val="F5A623"/>
          </a:solidFill>
          <a:ln w="12700">
            <a:solidFill>
              <a:srgbClr val="F5A623"/>
            </a:solidFill>
            <a:prstDash val="solid"/>
          </a:ln>
        </p:spPr>
      </p:sp>
      <p:pic>
        <p:nvPicPr>
          <p:cNvPr id="11" name="Image 1" descr="preencoded.png">    </p:cNvPr>
          <p:cNvPicPr>
            <a:picLocks noChangeAspect="1"/>
          </p:cNvPicPr>
          <p:nvPr/>
        </p:nvPicPr>
        <p:blipFill>
          <a:blip r:embed="rId2"/>
          <a:stretch>
            <a:fillRect/>
          </a:stretch>
        </p:blipFill>
        <p:spPr>
          <a:xfrm>
            <a:off x="4007998" y="1877446"/>
            <a:ext cx="140452" cy="140452"/>
          </a:xfrm>
          <a:prstGeom prst="rect">
            <a:avLst/>
          </a:prstGeom>
        </p:spPr>
      </p:pic>
      <p:sp>
        <p:nvSpPr>
          <p:cNvPr id="12" name="Text 8"/>
          <p:cNvSpPr txBox="1"/>
          <p:nvPr/>
        </p:nvSpPr>
        <p:spPr>
          <a:xfrm>
            <a:off x="4361688" y="1783080"/>
            <a:ext cx="4325112" cy="5943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The schema allows TESTER as a nextAgent value</a:t>
            </a:r>
            <a:endParaRPr lang="en-US" sz="1300" dirty="0"/>
          </a:p>
        </p:txBody>
      </p:sp>
      <p:sp>
        <p:nvSpPr>
          <p:cNvPr id="13" name="Shape 9"/>
          <p:cNvSpPr/>
          <p:nvPr/>
        </p:nvSpPr>
        <p:spPr>
          <a:xfrm>
            <a:off x="3931920" y="2441448"/>
            <a:ext cx="292608" cy="292608"/>
          </a:xfrm>
          <a:prstGeom prst="ellipse">
            <a:avLst/>
          </a:prstGeom>
          <a:solidFill>
            <a:srgbClr val="F5A623"/>
          </a:solidFill>
          <a:ln w="12700">
            <a:solidFill>
              <a:srgbClr val="F5A623"/>
            </a:solidFill>
            <a:prstDash val="solid"/>
          </a:ln>
        </p:spPr>
      </p:sp>
      <p:pic>
        <p:nvPicPr>
          <p:cNvPr id="14" name="Image 2" descr="preencoded.png">    </p:cNvPr>
          <p:cNvPicPr>
            <a:picLocks noChangeAspect="1"/>
          </p:cNvPicPr>
          <p:nvPr/>
        </p:nvPicPr>
        <p:blipFill>
          <a:blip r:embed="rId3"/>
          <a:stretch>
            <a:fillRect/>
          </a:stretch>
        </p:blipFill>
        <p:spPr>
          <a:xfrm>
            <a:off x="4007998" y="2517526"/>
            <a:ext cx="140452" cy="140452"/>
          </a:xfrm>
          <a:prstGeom prst="rect">
            <a:avLst/>
          </a:prstGeom>
        </p:spPr>
      </p:pic>
      <p:sp>
        <p:nvSpPr>
          <p:cNvPr id="15" name="Text 10"/>
          <p:cNvSpPr txBox="1"/>
          <p:nvPr/>
        </p:nvSpPr>
        <p:spPr>
          <a:xfrm>
            <a:off x="4361688" y="2423160"/>
            <a:ext cx="4325112" cy="5943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After LGTM, the route goes to TESTER before COMPLETE</a:t>
            </a:r>
            <a:endParaRPr lang="en-US" sz="1300" dirty="0"/>
          </a:p>
        </p:txBody>
      </p:sp>
      <p:sp>
        <p:nvSpPr>
          <p:cNvPr id="16" name="Shape 11"/>
          <p:cNvSpPr/>
          <p:nvPr/>
        </p:nvSpPr>
        <p:spPr>
          <a:xfrm>
            <a:off x="3931920" y="3081528"/>
            <a:ext cx="292608" cy="292608"/>
          </a:xfrm>
          <a:prstGeom prst="ellipse">
            <a:avLst/>
          </a:prstGeom>
          <a:solidFill>
            <a:srgbClr val="F5A623"/>
          </a:solidFill>
          <a:ln w="12700">
            <a:solidFill>
              <a:srgbClr val="F5A623"/>
            </a:solidFill>
            <a:prstDash val="solid"/>
          </a:ln>
        </p:spPr>
      </p:sp>
      <p:pic>
        <p:nvPicPr>
          <p:cNvPr id="17" name="Image 3" descr="preencoded.png">    </p:cNvPr>
          <p:cNvPicPr>
            <a:picLocks noChangeAspect="1"/>
          </p:cNvPicPr>
          <p:nvPr/>
        </p:nvPicPr>
        <p:blipFill>
          <a:blip r:embed="rId4"/>
          <a:stretch>
            <a:fillRect/>
          </a:stretch>
        </p:blipFill>
        <p:spPr>
          <a:xfrm>
            <a:off x="4007998" y="3157606"/>
            <a:ext cx="140452" cy="140452"/>
          </a:xfrm>
          <a:prstGeom prst="rect">
            <a:avLst/>
          </a:prstGeom>
        </p:spPr>
      </p:pic>
      <p:sp>
        <p:nvSpPr>
          <p:cNvPr id="18" name="Text 12"/>
          <p:cNvSpPr txBox="1"/>
          <p:nvPr/>
        </p:nvSpPr>
        <p:spPr>
          <a:xfrm>
            <a:off x="4361688" y="3063240"/>
            <a:ext cx="4325112" cy="5943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The Tester runs through the same CallAgent helper</a:t>
            </a:r>
            <a:endParaRPr lang="en-US" sz="1300" dirty="0"/>
          </a:p>
        </p:txBody>
      </p:sp>
      <p:sp>
        <p:nvSpPr>
          <p:cNvPr id="19" name="Shape 13"/>
          <p:cNvSpPr/>
          <p:nvPr/>
        </p:nvSpPr>
        <p:spPr>
          <a:xfrm>
            <a:off x="3931920" y="3721608"/>
            <a:ext cx="292608" cy="292608"/>
          </a:xfrm>
          <a:prstGeom prst="ellipse">
            <a:avLst/>
          </a:prstGeom>
          <a:solidFill>
            <a:srgbClr val="F5A623"/>
          </a:solidFill>
          <a:ln w="12700">
            <a:solidFill>
              <a:srgbClr val="F5A623"/>
            </a:solidFill>
            <a:prstDash val="solid"/>
          </a:ln>
        </p:spPr>
      </p:sp>
      <p:pic>
        <p:nvPicPr>
          <p:cNvPr id="20" name="Image 4" descr="preencoded.png">    </p:cNvPr>
          <p:cNvPicPr>
            <a:picLocks noChangeAspect="1"/>
          </p:cNvPicPr>
          <p:nvPr/>
        </p:nvPicPr>
        <p:blipFill>
          <a:blip r:embed="rId5"/>
          <a:stretch>
            <a:fillRect/>
          </a:stretch>
        </p:blipFill>
        <p:spPr>
          <a:xfrm>
            <a:off x="4007998" y="3797686"/>
            <a:ext cx="140452" cy="140452"/>
          </a:xfrm>
          <a:prstGeom prst="rect">
            <a:avLst/>
          </a:prstGeom>
        </p:spPr>
      </p:pic>
      <p:sp>
        <p:nvSpPr>
          <p:cNvPr id="21" name="Text 14"/>
          <p:cNvSpPr txBox="1"/>
          <p:nvPr/>
        </p:nvSpPr>
        <p:spPr>
          <a:xfrm>
            <a:off x="4361688" y="3703320"/>
            <a:ext cx="4325112" cy="5943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An unrecognized nextAgent prints a warning</a:t>
            </a:r>
            <a:endParaRPr lang="en-US" sz="1300" dirty="0"/>
          </a:p>
        </p:txBody>
      </p:sp>
      <p:sp>
        <p:nvSpPr>
          <p:cNvPr id="22" name="Text 15"/>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19 — CoordinatorPro</a:t>
            </a:r>
            <a:endParaRPr lang="en-US" sz="900" dirty="0"/>
          </a:p>
        </p:txBody>
      </p:sp>
      <p:sp>
        <p:nvSpPr>
          <p:cNvPr id="23" name="Text 16"/>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41B2D"/>
        </a:solidFill>
      </p:bgPr>
    </p:bg>
    <p:spTree>
      <p:nvGrpSpPr>
        <p:cNvPr id="1" name=""/>
        <p:cNvGrpSpPr/>
        <p:nvPr/>
      </p:nvGrpSpPr>
      <p:grpSpPr>
        <a:xfrm>
          <a:off x="0" y="0"/>
          <a:ext cx="0" cy="0"/>
          <a:chOff x="0" y="0"/>
          <a:chExt cx="0" cy="0"/>
        </a:xfrm>
      </p:grpSpPr>
      <p:sp>
        <p:nvSpPr>
          <p:cNvPr id="2" name="Text 0"/>
          <p:cNvSpPr txBox="1"/>
          <p:nvPr/>
        </p:nvSpPr>
        <p:spPr>
          <a:xfrm>
            <a:off x="457200" y="347472"/>
            <a:ext cx="4572000" cy="228600"/>
          </a:xfrm>
          <a:prstGeom prst="rect">
            <a:avLst/>
          </a:prstGeom>
          <a:noFill/>
          <a:ln/>
        </p:spPr>
        <p:txBody>
          <a:bodyPr wrap="square" lIns="0" tIns="0" rIns="0" bIns="0" rtlCol="0" anchor="t"/>
          <a:lstStyle/>
          <a:p>
            <a:pPr indent="0" marL="0">
              <a:buNone/>
            </a:pPr>
            <a:r>
              <a:rPr lang="en-US" sz="1100" b="1" spc="200" kern="0" dirty="0">
                <a:solidFill>
                  <a:srgbClr val="F5A623"/>
                </a:solidFill>
                <a:latin typeface="Calibri" pitchFamily="34" charset="0"/>
                <a:ea typeface="Calibri" pitchFamily="34" charset="-122"/>
                <a:cs typeface="Calibri" pitchFamily="34" charset="-120"/>
              </a:rPr>
              <a:t>SUMMARY</a:t>
            </a:r>
            <a:endParaRPr lang="en-US" sz="1100" dirty="0"/>
          </a:p>
        </p:txBody>
      </p:sp>
      <p:sp>
        <p:nvSpPr>
          <p:cNvPr id="3" name="Text 1"/>
          <p:cNvSpPr txBox="1"/>
          <p:nvPr/>
        </p:nvSpPr>
        <p:spPr>
          <a:xfrm>
            <a:off x="457200" y="566928"/>
            <a:ext cx="8229600" cy="502920"/>
          </a:xfrm>
          <a:prstGeom prst="rect">
            <a:avLst/>
          </a:prstGeom>
          <a:noFill/>
          <a:ln/>
        </p:spPr>
        <p:txBody>
          <a:bodyPr wrap="square" lIns="0" tIns="0" rIns="0" bIns="0" rtlCol="0" anchor="t"/>
          <a:lstStyle/>
          <a:p>
            <a:pPr indent="0" marL="0">
              <a:buNone/>
            </a:pPr>
            <a:r>
              <a:rPr lang="en-US" sz="2600" b="1" dirty="0">
                <a:solidFill>
                  <a:srgbClr val="FFFFFF"/>
                </a:solidFill>
                <a:latin typeface="Cambria" pitchFamily="34" charset="0"/>
                <a:ea typeface="Cambria" pitchFamily="34" charset="-122"/>
                <a:cs typeface="Cambria" pitchFamily="34" charset="-120"/>
              </a:rPr>
              <a:t>What we learned, and where it goes</a:t>
            </a:r>
            <a:endParaRPr lang="en-US" sz="2600" dirty="0"/>
          </a:p>
        </p:txBody>
      </p:sp>
      <p:sp>
        <p:nvSpPr>
          <p:cNvPr id="4" name="Shape 2"/>
          <p:cNvSpPr/>
          <p:nvPr/>
        </p:nvSpPr>
        <p:spPr>
          <a:xfrm>
            <a:off x="457200" y="1234440"/>
            <a:ext cx="2926080" cy="448056"/>
          </a:xfrm>
          <a:prstGeom prst="roundRect">
            <a:avLst>
              <a:gd name="adj" fmla="val 16327"/>
            </a:avLst>
          </a:prstGeom>
          <a:solidFill>
            <a:srgbClr val="1F2943"/>
          </a:solidFill>
          <a:ln w="12700">
            <a:solidFill>
              <a:srgbClr val="1F2943"/>
            </a:solidFill>
            <a:prstDash val="solid"/>
          </a:ln>
        </p:spPr>
      </p:sp>
      <p:sp>
        <p:nvSpPr>
          <p:cNvPr id="5" name="Text 3"/>
          <p:cNvSpPr txBox="1"/>
          <p:nvPr/>
        </p:nvSpPr>
        <p:spPr>
          <a:xfrm>
            <a:off x="621792" y="1234440"/>
            <a:ext cx="2651760" cy="44805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 JSON routing decision</a:t>
            </a:r>
            <a:endParaRPr lang="en-US" sz="1300" dirty="0"/>
          </a:p>
        </p:txBody>
      </p:sp>
      <p:sp>
        <p:nvSpPr>
          <p:cNvPr id="6" name="Shape 4"/>
          <p:cNvSpPr/>
          <p:nvPr/>
        </p:nvSpPr>
        <p:spPr>
          <a:xfrm>
            <a:off x="3493008" y="1367028"/>
            <a:ext cx="329184" cy="182880"/>
          </a:xfrm>
          <a:prstGeom prst="rightArrow">
            <a:avLst/>
          </a:prstGeom>
          <a:solidFill>
            <a:srgbClr val="F5A623"/>
          </a:solidFill>
          <a:ln w="12700">
            <a:solidFill>
              <a:srgbClr val="F5A623"/>
            </a:solidFill>
            <a:prstDash val="solid"/>
          </a:ln>
        </p:spPr>
      </p:sp>
      <p:sp>
        <p:nvSpPr>
          <p:cNvPr id="7" name="Text 5"/>
          <p:cNvSpPr txBox="1"/>
          <p:nvPr/>
        </p:nvSpPr>
        <p:spPr>
          <a:xfrm>
            <a:off x="3977640" y="1234440"/>
            <a:ext cx="4709160" cy="44805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21  </a:t>
            </a:r>
            <a:pPr indent="0" marL="0">
              <a:buNone/>
            </a:pPr>
            <a:r>
              <a:rPr lang="en-US" sz="1250" dirty="0">
                <a:solidFill>
                  <a:srgbClr val="FFFFFF"/>
                </a:solidFill>
                <a:latin typeface="Calibri" pitchFamily="34" charset="0"/>
                <a:ea typeface="Calibri" pitchFamily="34" charset="-122"/>
                <a:cs typeface="Calibri" pitchFamily="34" charset="-120"/>
              </a:rPr>
              <a:t>Intent routing to isolated specialist kernels</a:t>
            </a:r>
            <a:endParaRPr lang="en-US" sz="1250" dirty="0"/>
          </a:p>
        </p:txBody>
      </p:sp>
      <p:sp>
        <p:nvSpPr>
          <p:cNvPr id="8" name="Shape 6"/>
          <p:cNvSpPr/>
          <p:nvPr/>
        </p:nvSpPr>
        <p:spPr>
          <a:xfrm>
            <a:off x="457200" y="1792224"/>
            <a:ext cx="2926080" cy="448056"/>
          </a:xfrm>
          <a:prstGeom prst="roundRect">
            <a:avLst>
              <a:gd name="adj" fmla="val 16327"/>
            </a:avLst>
          </a:prstGeom>
          <a:solidFill>
            <a:srgbClr val="1F2943"/>
          </a:solidFill>
          <a:ln w="12700">
            <a:solidFill>
              <a:srgbClr val="1F2943"/>
            </a:solidFill>
            <a:prstDash val="solid"/>
          </a:ln>
        </p:spPr>
      </p:sp>
      <p:sp>
        <p:nvSpPr>
          <p:cNvPr id="9" name="Text 7"/>
          <p:cNvSpPr txBox="1"/>
          <p:nvPr/>
        </p:nvSpPr>
        <p:spPr>
          <a:xfrm>
            <a:off x="621792" y="1792224"/>
            <a:ext cx="2651760" cy="44805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ResponseFormat json_object</a:t>
            </a:r>
            <a:endParaRPr lang="en-US" sz="1300" dirty="0"/>
          </a:p>
        </p:txBody>
      </p:sp>
      <p:sp>
        <p:nvSpPr>
          <p:cNvPr id="10" name="Shape 8"/>
          <p:cNvSpPr/>
          <p:nvPr/>
        </p:nvSpPr>
        <p:spPr>
          <a:xfrm>
            <a:off x="3493008" y="1924812"/>
            <a:ext cx="329184" cy="182880"/>
          </a:xfrm>
          <a:prstGeom prst="rightArrow">
            <a:avLst/>
          </a:prstGeom>
          <a:solidFill>
            <a:srgbClr val="F5A623"/>
          </a:solidFill>
          <a:ln w="12700">
            <a:solidFill>
              <a:srgbClr val="F5A623"/>
            </a:solidFill>
            <a:prstDash val="solid"/>
          </a:ln>
        </p:spPr>
      </p:sp>
      <p:sp>
        <p:nvSpPr>
          <p:cNvPr id="11" name="Text 9"/>
          <p:cNvSpPr txBox="1"/>
          <p:nvPr/>
        </p:nvSpPr>
        <p:spPr>
          <a:xfrm>
            <a:off x="3977640" y="1792224"/>
            <a:ext cx="4709160" cy="44805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26  </a:t>
            </a:r>
            <a:pPr indent="0" marL="0">
              <a:buNone/>
            </a:pPr>
            <a:r>
              <a:rPr lang="en-US" sz="1250" dirty="0">
                <a:solidFill>
                  <a:srgbClr val="FFFFFF"/>
                </a:solidFill>
                <a:latin typeface="Calibri" pitchFamily="34" charset="0"/>
                <a:ea typeface="Calibri" pitchFamily="34" charset="-122"/>
                <a:cs typeface="Calibri" pitchFamily="34" charset="-120"/>
              </a:rPr>
              <a:t>A judge returns scores as structured JSON</a:t>
            </a:r>
            <a:endParaRPr lang="en-US" sz="1250" dirty="0"/>
          </a:p>
        </p:txBody>
      </p:sp>
      <p:sp>
        <p:nvSpPr>
          <p:cNvPr id="12" name="Shape 10"/>
          <p:cNvSpPr/>
          <p:nvPr/>
        </p:nvSpPr>
        <p:spPr>
          <a:xfrm>
            <a:off x="457200" y="2350008"/>
            <a:ext cx="2926080" cy="448056"/>
          </a:xfrm>
          <a:prstGeom prst="roundRect">
            <a:avLst>
              <a:gd name="adj" fmla="val 16327"/>
            </a:avLst>
          </a:prstGeom>
          <a:solidFill>
            <a:srgbClr val="1F2943"/>
          </a:solidFill>
          <a:ln w="12700">
            <a:solidFill>
              <a:srgbClr val="1F2943"/>
            </a:solidFill>
            <a:prstDash val="solid"/>
          </a:ln>
        </p:spPr>
      </p:sp>
      <p:sp>
        <p:nvSpPr>
          <p:cNvPr id="13" name="Text 11"/>
          <p:cNvSpPr txBox="1"/>
          <p:nvPr/>
        </p:nvSpPr>
        <p:spPr>
          <a:xfrm>
            <a:off x="621792" y="2350008"/>
            <a:ext cx="2651760" cy="44805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 coordinator loop</a:t>
            </a:r>
            <a:endParaRPr lang="en-US" sz="1300" dirty="0"/>
          </a:p>
        </p:txBody>
      </p:sp>
      <p:sp>
        <p:nvSpPr>
          <p:cNvPr id="14" name="Shape 12"/>
          <p:cNvSpPr/>
          <p:nvPr/>
        </p:nvSpPr>
        <p:spPr>
          <a:xfrm>
            <a:off x="3493008" y="2482596"/>
            <a:ext cx="329184" cy="182880"/>
          </a:xfrm>
          <a:prstGeom prst="rightArrow">
            <a:avLst/>
          </a:prstGeom>
          <a:solidFill>
            <a:srgbClr val="F5A623"/>
          </a:solidFill>
          <a:ln w="12700">
            <a:solidFill>
              <a:srgbClr val="F5A623"/>
            </a:solidFill>
            <a:prstDash val="solid"/>
          </a:ln>
        </p:spPr>
      </p:sp>
      <p:sp>
        <p:nvSpPr>
          <p:cNvPr id="15" name="Text 13"/>
          <p:cNvSpPr txBox="1"/>
          <p:nvPr/>
        </p:nvSpPr>
        <p:spPr>
          <a:xfrm>
            <a:off x="3977640" y="2350008"/>
            <a:ext cx="4709160" cy="44805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29  </a:t>
            </a:r>
            <a:pPr indent="0" marL="0">
              <a:buNone/>
            </a:pPr>
            <a:r>
              <a:rPr lang="en-US" sz="1250" dirty="0">
                <a:solidFill>
                  <a:srgbClr val="FFFFFF"/>
                </a:solidFill>
                <a:latin typeface="Calibri" pitchFamily="34" charset="0"/>
                <a:ea typeface="Calibri" pitchFamily="34" charset="-122"/>
                <a:cs typeface="Calibri" pitchFamily="34" charset="-120"/>
              </a:rPr>
              <a:t>ProjectOrchestrator runs the capstone agents</a:t>
            </a:r>
            <a:endParaRPr lang="en-US" sz="1250" dirty="0"/>
          </a:p>
        </p:txBody>
      </p:sp>
      <p:sp>
        <p:nvSpPr>
          <p:cNvPr id="16" name="Shape 14"/>
          <p:cNvSpPr/>
          <p:nvPr/>
        </p:nvSpPr>
        <p:spPr>
          <a:xfrm>
            <a:off x="457200" y="2907792"/>
            <a:ext cx="2926080" cy="448056"/>
          </a:xfrm>
          <a:prstGeom prst="roundRect">
            <a:avLst>
              <a:gd name="adj" fmla="val 16327"/>
            </a:avLst>
          </a:prstGeom>
          <a:solidFill>
            <a:srgbClr val="1F2943"/>
          </a:solidFill>
          <a:ln w="12700">
            <a:solidFill>
              <a:srgbClr val="1F2943"/>
            </a:solidFill>
            <a:prstDash val="solid"/>
          </a:ln>
        </p:spPr>
      </p:sp>
      <p:sp>
        <p:nvSpPr>
          <p:cNvPr id="17" name="Text 15"/>
          <p:cNvSpPr txBox="1"/>
          <p:nvPr/>
        </p:nvSpPr>
        <p:spPr>
          <a:xfrm>
            <a:off x="621792" y="2907792"/>
            <a:ext cx="2651760" cy="44805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Model picks the speaker</a:t>
            </a:r>
            <a:endParaRPr lang="en-US" sz="1300" dirty="0"/>
          </a:p>
        </p:txBody>
      </p:sp>
      <p:sp>
        <p:nvSpPr>
          <p:cNvPr id="18" name="Shape 16"/>
          <p:cNvSpPr/>
          <p:nvPr/>
        </p:nvSpPr>
        <p:spPr>
          <a:xfrm>
            <a:off x="3493008" y="3040380"/>
            <a:ext cx="329184" cy="182880"/>
          </a:xfrm>
          <a:prstGeom prst="rightArrow">
            <a:avLst/>
          </a:prstGeom>
          <a:solidFill>
            <a:srgbClr val="F5A623"/>
          </a:solidFill>
          <a:ln w="12700">
            <a:solidFill>
              <a:srgbClr val="F5A623"/>
            </a:solidFill>
            <a:prstDash val="solid"/>
          </a:ln>
        </p:spPr>
      </p:sp>
      <p:sp>
        <p:nvSpPr>
          <p:cNvPr id="19" name="Text 17"/>
          <p:cNvSpPr txBox="1"/>
          <p:nvPr/>
        </p:nvSpPr>
        <p:spPr>
          <a:xfrm>
            <a:off x="3977640" y="2907792"/>
            <a:ext cx="4709160" cy="44805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34  </a:t>
            </a:r>
            <a:pPr indent="0" marL="0">
              <a:buNone/>
            </a:pPr>
            <a:r>
              <a:rPr lang="en-US" sz="1250" dirty="0">
                <a:solidFill>
                  <a:srgbClr val="FFFFFF"/>
                </a:solidFill>
                <a:latin typeface="Calibri" pitchFamily="34" charset="0"/>
                <a:ea typeface="Calibri" pitchFamily="34" charset="-122"/>
                <a:cs typeface="Calibri" pitchFamily="34" charset="-120"/>
              </a:rPr>
              <a:t>A moderator runs a multi-agent debate</a:t>
            </a:r>
            <a:endParaRPr lang="en-US" sz="1250" dirty="0"/>
          </a:p>
        </p:txBody>
      </p:sp>
      <p:sp>
        <p:nvSpPr>
          <p:cNvPr id="20" name="Shape 18"/>
          <p:cNvSpPr/>
          <p:nvPr/>
        </p:nvSpPr>
        <p:spPr>
          <a:xfrm>
            <a:off x="457200" y="3465576"/>
            <a:ext cx="2926080" cy="448056"/>
          </a:xfrm>
          <a:prstGeom prst="roundRect">
            <a:avLst>
              <a:gd name="adj" fmla="val 16327"/>
            </a:avLst>
          </a:prstGeom>
          <a:solidFill>
            <a:srgbClr val="1F2943"/>
          </a:solidFill>
          <a:ln w="12700">
            <a:solidFill>
              <a:srgbClr val="1F2943"/>
            </a:solidFill>
            <a:prstDash val="solid"/>
          </a:ln>
        </p:spPr>
      </p:sp>
      <p:sp>
        <p:nvSpPr>
          <p:cNvPr id="21" name="Text 19"/>
          <p:cNvSpPr txBox="1"/>
          <p:nvPr/>
        </p:nvSpPr>
        <p:spPr>
          <a:xfrm>
            <a:off x="621792" y="3465576"/>
            <a:ext cx="2651760" cy="44805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One coordination layer</a:t>
            </a:r>
            <a:endParaRPr lang="en-US" sz="1300" dirty="0"/>
          </a:p>
        </p:txBody>
      </p:sp>
      <p:sp>
        <p:nvSpPr>
          <p:cNvPr id="22" name="Shape 20"/>
          <p:cNvSpPr/>
          <p:nvPr/>
        </p:nvSpPr>
        <p:spPr>
          <a:xfrm>
            <a:off x="3493008" y="3598164"/>
            <a:ext cx="329184" cy="182880"/>
          </a:xfrm>
          <a:prstGeom prst="rightArrow">
            <a:avLst/>
          </a:prstGeom>
          <a:solidFill>
            <a:srgbClr val="F5A623"/>
          </a:solidFill>
          <a:ln w="12700">
            <a:solidFill>
              <a:srgbClr val="F5A623"/>
            </a:solidFill>
            <a:prstDash val="solid"/>
          </a:ln>
        </p:spPr>
      </p:sp>
      <p:sp>
        <p:nvSpPr>
          <p:cNvPr id="23" name="Text 21"/>
          <p:cNvSpPr txBox="1"/>
          <p:nvPr/>
        </p:nvSpPr>
        <p:spPr>
          <a:xfrm>
            <a:off x="3977640" y="3465576"/>
            <a:ext cx="4709160" cy="44805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39  </a:t>
            </a:r>
            <a:pPr indent="0" marL="0">
              <a:buNone/>
            </a:pPr>
            <a:r>
              <a:rPr lang="en-US" sz="1250" dirty="0">
                <a:solidFill>
                  <a:srgbClr val="FFFFFF"/>
                </a:solidFill>
                <a:latin typeface="Calibri" pitchFamily="34" charset="0"/>
                <a:ea typeface="Calibri" pitchFamily="34" charset="-122"/>
                <a:cs typeface="Calibri" pitchFamily="34" charset="-120"/>
              </a:rPr>
              <a:t>Sub-orchestrators delegate in a tree (planned)</a:t>
            </a:r>
            <a:endParaRPr lang="en-US" sz="1250" dirty="0"/>
          </a:p>
        </p:txBody>
      </p:sp>
      <p:sp>
        <p:nvSpPr>
          <p:cNvPr id="24" name="Text 22"/>
          <p:cNvSpPr txBox="1"/>
          <p:nvPr/>
        </p:nvSpPr>
        <p:spPr>
          <a:xfrm>
            <a:off x="457200" y="4224528"/>
            <a:ext cx="8229600" cy="320040"/>
          </a:xfrm>
          <a:prstGeom prst="rect">
            <a:avLst/>
          </a:prstGeom>
          <a:noFill/>
          <a:ln/>
        </p:spPr>
        <p:txBody>
          <a:bodyPr wrap="square" lIns="0" tIns="0" rIns="0" bIns="0" rtlCol="0" anchor="t"/>
          <a:lstStyle/>
          <a:p>
            <a:pPr indent="0" marL="0">
              <a:buNone/>
            </a:pPr>
            <a:r>
              <a:rPr lang="en-US" sz="1300" dirty="0">
                <a:solidFill>
                  <a:srgbClr val="B8B2E6"/>
                </a:solidFill>
                <a:latin typeface="Calibri" pitchFamily="34" charset="0"/>
                <a:ea typeface="Calibri" pitchFamily="34" charset="-122"/>
                <a:cs typeface="Calibri" pitchFamily="34" charset="-120"/>
              </a:rPr>
              <a:t>Ships in  </a:t>
            </a:r>
            <a:pPr indent="0" marL="0">
              <a:buNone/>
            </a:pPr>
            <a:r>
              <a:rPr lang="en-US" sz="1300" b="1" dirty="0">
                <a:solidFill>
                  <a:srgbClr val="FFFFFF"/>
                </a:solidFill>
                <a:latin typeface="Calibri" pitchFamily="34" charset="0"/>
                <a:ea typeface="Calibri" pitchFamily="34" charset="-122"/>
                <a:cs typeface="Calibri" pitchFamily="34" charset="-120"/>
              </a:rPr>
              <a:t>Part 1: Foundations &amp; Core Orchestration</a:t>
            </a:r>
            <a:endParaRPr lang="en-US" sz="1300" dirty="0"/>
          </a:p>
        </p:txBody>
      </p:sp>
      <p:sp>
        <p:nvSpPr>
          <p:cNvPr id="25" name="Text 23"/>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B8B2E6"/>
                </a:solidFill>
                <a:latin typeface="Calibri" pitchFamily="34" charset="0"/>
                <a:ea typeface="Calibri" pitchFamily="34" charset="-122"/>
                <a:cs typeface="Calibri" pitchFamily="34" charset="-120"/>
              </a:rPr>
              <a:t>Applied Agentic Orchestration with Semantic Kernel  ·  Lesson 19 — CoordinatorPro</a:t>
            </a:r>
            <a:endParaRPr lang="en-US" sz="900" dirty="0"/>
          </a:p>
        </p:txBody>
      </p:sp>
      <p:sp>
        <p:nvSpPr>
          <p:cNvPr id="26" name="Text 24"/>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B8B2E6"/>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19 — CoordinatorPro</dc:title>
  <dc:subject>PptxGenJS Presentation</dc:subject>
  <dc:creator>Media Six LLC</dc:creator>
  <cp:lastModifiedBy>Media Six LLC</cp:lastModifiedBy>
  <cp:revision>1</cp:revision>
  <dcterms:created xsi:type="dcterms:W3CDTF">2026-10-21T23:27:18Z</dcterms:created>
  <dcterms:modified xsi:type="dcterms:W3CDTF">2026-10-21T23:27:18Z</dcterms:modified>
</cp:coreProperties>
</file>