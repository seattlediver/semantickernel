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18 wired two agents together with a fixed turn order. This lesson replaces that hard-coded order with the Coordinator pattern. A dedicated meta-agent, the Coordinator, reads the conversation on every iteration and decides which specialist should act next, a Coder or a Security Auditor, or whether the work is complete. The Coordinator must answer in strict JSON, so its routing decision deserializes straight into a typed RoutingDecision object instead of being guessed from free text. Alongside the orchestration logic, the lesson adds RetryHandler, a small DelegatingHandler that retries transient HTTP failures with exponential backoff.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Lesson 18 the code always ran the Copywriter, then the Editor, and spotted approval with a substring check. Here, the orchestration reacts to the state of the conversation. Has code been written? Has it been reviewed? Was it approved, or sent back for changes? A Coordinator answers those questions on every loop iteration and names the next speaker, and its decision comes back as structured JSON rather than free text. The duplicated persona-swap code from Lesson 18 also collapses into one reusable CallAgent helper.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adds one twist. The packages are the usual Microsoft.SemanticKernel and Connectors.OpenAI at version 1.78.0 on .NET 10, the key comes from OPENAI_API_KEY, and every agent uses gpt-4.1-mini. The comment in the code notes that you could swap in a higher-tier OpenAI model for the Coordinator's routing reasoning, but the lesson ships with gpt-4.1-mini throughout. The twist, highlighted, is the HttpClient: we create one wrapped in a RetryHandler with up to five retries, and pass it to AddOpenAIChatCompletion through its httpClient parameter. The project has two source files: Program.cs for the orchestration, and RetryHandler.cs for resilience.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Coordinator is a meta-agent: it does no coding or reviewing itself. Its instructions give four rules. If there is no code yet, the next agent is the Coder. If there is code but no security review, it is the Auditor. If the Auditor said LGTM, the next step is COMPLETE. And if the Auditor requested changes, it goes back to the Coder. The two specialists have their own personas: the Coder writes clean C# and outputs only the code, and the Security Auditor finds one flaw, or says exactly LGTM if the code is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end of the Coordinator's instructions: output the decision as valid JSON matching a schema with two fields, reasoning and nextAgent. The Coordinator's execution settings set ResponseFormat to json_object, which forces the reply to be valid JSON, and Temperature to 0.0, because routing is a classification task and should be deterministic. The schema puts reasoning before nextAgent on purpose: asking a model to explain itself before it commits tends to improve the decision. The reply is deserialized into a typed RoutingDecision class, whose JsonPropertyName attributes map the two fields. If the content is still malformed, a catch for JsonException prints an error and ends the run cleanly instead of crashing.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iteration starts with the Ghost Nudge: a throwaway user message telling the Coordinator to evaluate the state and output its JSON routing decision. It was originally needed for Gemini's strict user and assistant alternation; OpenAI has no such rule, but it still earns its place as an explicit evaluate-now cue. Next, the Coordinator's instructions are inserted at index 0. Then, highlighted, one call is made with the JSON settings. Immediately afterwards both the persona and the ghost nudge are removed, so neither ever pollutes the history the specialists see. Finally the decision is printed as THOUGHT and ROUTE lines, and CallAgent runs the chosen specialist, or the loop stops on COMPLETE. A cap of eight iterations guarantees the run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RetryHandler is a plain DelegatingHandler wrapping a SocketsHttpHandler. On each attempt it sends the request; if the response succeeds, or fails with a non-transient status such as 404, it is returned immediately. Only 500, 503 and 429 trigger a retry, with exponential backoff of one second, then two, then four, and a console line saying it is retrying. Highlighted is a subtle fix: .NET marks an HttpRequestMessage as sent once it is submitted, so resending the same instance would throw instead of retrying. CloneAsync therefore builds a fresh request every attempt, copying the method, URI, version, headers and buffered content. Because it only wraps the HttpClient, this works without touching any Semantic Kernel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run the project, and enter a feature to build. Each iteration prints the Coordinator's THOUGHT and ROUTE, then the chosen specialist's output in square-bracket tags. A typical run goes to the Coder first, then the Auditor, back to the Coder if a flaw is found, and to COMPLETE once the Auditor answers LGTM, ending with Project lifecycle finished. Everything the model writes on this slide is illustrative, including the reasoning, the code and the flaw, and the elided line stands for further rounds. Your run will differ, and if it never converges, the cap ends it with Max iterations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Add a third persona, a Tester that writes unit tests for the approved code. Extend the Coordinator's rules so that after the Auditor says LGTM, the next agent is the Tester, and only then COMPLETE; add TESTER to the schema's allowed values. Route it through the existing CallAgent helper, so no new plumbing is needed. Finally, add a branch that prints a warning when nextAgent is something the code doesn't recognize, because today such a value silently burns an iteration.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replaced a fixed turn order with a Coordinator that routes on conversation state, forced its decision into strict JSON with ResponseFormat, asked for reasoning before the decision, factored persona swaps into CallAgent, and made the HTTP layer survive transient errors with RetryHandler. Lesson 21 applies JSON routing to send each request to an isolated specialist kernel. Lesson 26 uses the same json_object format for an LLM judge's scores. Lesson 29 grows the coordinator loop into the capstone's ProjectOrchestrator. Lesson 34 has a moderator choose the next speaker in a debate, the same idea as this Coordinator. And the planned Lesson 39 extends this single layer into a tree of sub-orchestrators.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19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CoordinatorPro</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A JSON-speaking Coordinator decides which specialist acts next</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 C# feature request</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Code the Auditor calls LGTM</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Replace a fixed turn order with a router agent</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Force strict JSON with ResponseFormat</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Ask for reasoning before the decision</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Factor persona swaps into a CallAgent helper</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Retry transient HTTP errors with a DelegatingHandler</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19 — CoordinatorPro</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550" b="1" dirty="0">
                <a:solidFill>
                  <a:srgbClr val="1F2937"/>
                </a:solidFill>
                <a:latin typeface="Cambria" pitchFamily="34" charset="0"/>
                <a:ea typeface="Cambria" pitchFamily="34" charset="-122"/>
                <a:cs typeface="Cambria" pitchFamily="34" charset="-120"/>
              </a:rPr>
              <a:t>From a fixed turn order to a model-driven router</a:t>
            </a:r>
            <a:endParaRPr lang="en-US" sz="2550" dirty="0"/>
          </a:p>
        </p:txBody>
      </p:sp>
      <p:sp>
        <p:nvSpPr>
          <p:cNvPr id="4" name="Shape 2"/>
          <p:cNvSpPr/>
          <p:nvPr/>
        </p:nvSpPr>
        <p:spPr>
          <a:xfrm>
            <a:off x="457200" y="1371600"/>
            <a:ext cx="3931920" cy="1783080"/>
          </a:xfrm>
          <a:prstGeom prst="roundRect">
            <a:avLst>
              <a:gd name="adj" fmla="val 4103"/>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18: fixed order</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Copywriter, then Editor, every round</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Approval found by a substring check</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Persona swap code written twice</a:t>
            </a:r>
            <a:endParaRPr lang="en-US" sz="1300" dirty="0"/>
          </a:p>
        </p:txBody>
      </p:sp>
      <p:sp>
        <p:nvSpPr>
          <p:cNvPr id="9" name="Shape 6"/>
          <p:cNvSpPr/>
          <p:nvPr/>
        </p:nvSpPr>
        <p:spPr>
          <a:xfrm>
            <a:off x="4754880" y="1371600"/>
            <a:ext cx="3931920" cy="1783080"/>
          </a:xfrm>
          <a:prstGeom prst="roundRect">
            <a:avLst>
              <a:gd name="adj" fmla="val 4103"/>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19: Coordinator</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Coordinator picks who acts next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Its decision arrives as typed JSON</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One CallAgent helper for every specialist</a:t>
            </a:r>
            <a:endParaRPr lang="en-US" sz="1300" dirty="0"/>
          </a:p>
        </p:txBody>
      </p:sp>
      <p:sp>
        <p:nvSpPr>
          <p:cNvPr id="14" name="Text 10"/>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Routing now reacts to what actually happened in the conversation.</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19 — CoordinatorPro</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1851660" cy="1463040"/>
          </a:xfrm>
          <a:prstGeom prst="roundRect">
            <a:avLst>
              <a:gd name="adj" fmla="val 5000"/>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Packages</a:t>
            </a:r>
            <a:endParaRPr lang="en-US" sz="1300" dirty="0"/>
          </a:p>
        </p:txBody>
      </p:sp>
      <p:sp>
        <p:nvSpPr>
          <p:cNvPr id="8" name="Text 5"/>
          <p:cNvSpPr txBox="1"/>
          <p:nvPr/>
        </p:nvSpPr>
        <p:spPr>
          <a:xfrm>
            <a:off x="640080" y="2057400"/>
            <a:ext cx="1485900" cy="68580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SemanticKernel and Connectors.OpenAI 1.78.0, on .NET 10.</a:t>
            </a:r>
            <a:endParaRPr lang="en-US" sz="1200" dirty="0"/>
          </a:p>
        </p:txBody>
      </p:sp>
      <p:sp>
        <p:nvSpPr>
          <p:cNvPr id="9" name="Shape 6"/>
          <p:cNvSpPr/>
          <p:nvPr/>
        </p:nvSpPr>
        <p:spPr>
          <a:xfrm>
            <a:off x="2583180" y="1371600"/>
            <a:ext cx="1851660" cy="1463040"/>
          </a:xfrm>
          <a:prstGeom prst="roundRect">
            <a:avLst>
              <a:gd name="adj" fmla="val 5000"/>
            </a:avLst>
          </a:prstGeom>
          <a:solidFill>
            <a:srgbClr val="EFEBFC"/>
          </a:solidFill>
          <a:ln w="12700">
            <a:solidFill>
              <a:srgbClr val="EFEBFC"/>
            </a:solidFill>
            <a:prstDash val="solid"/>
          </a:ln>
        </p:spPr>
      </p:sp>
      <p:sp>
        <p:nvSpPr>
          <p:cNvPr id="10" name="Shape 7"/>
          <p:cNvSpPr/>
          <p:nvPr/>
        </p:nvSpPr>
        <p:spPr>
          <a:xfrm>
            <a:off x="276606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2865912" y="1654332"/>
            <a:ext cx="184343" cy="184343"/>
          </a:xfrm>
          <a:prstGeom prst="rect">
            <a:avLst/>
          </a:prstGeom>
        </p:spPr>
      </p:pic>
      <p:sp>
        <p:nvSpPr>
          <p:cNvPr id="12" name="Text 8"/>
          <p:cNvSpPr txBox="1"/>
          <p:nvPr/>
        </p:nvSpPr>
        <p:spPr>
          <a:xfrm>
            <a:off x="326898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API key</a:t>
            </a:r>
            <a:endParaRPr lang="en-US" sz="1300" dirty="0"/>
          </a:p>
        </p:txBody>
      </p:sp>
      <p:sp>
        <p:nvSpPr>
          <p:cNvPr id="13" name="Text 9"/>
          <p:cNvSpPr txBox="1"/>
          <p:nvPr/>
        </p:nvSpPr>
        <p:spPr>
          <a:xfrm>
            <a:off x="2766060" y="2057400"/>
            <a:ext cx="1485900" cy="68580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OPENAI_API_KEY, read from the environment at startup.</a:t>
            </a:r>
            <a:endParaRPr lang="en-US" sz="1200" dirty="0"/>
          </a:p>
        </p:txBody>
      </p:sp>
      <p:sp>
        <p:nvSpPr>
          <p:cNvPr id="14" name="Shape 10"/>
          <p:cNvSpPr/>
          <p:nvPr/>
        </p:nvSpPr>
        <p:spPr>
          <a:xfrm>
            <a:off x="4709160" y="1371600"/>
            <a:ext cx="1851660" cy="1463040"/>
          </a:xfrm>
          <a:prstGeom prst="roundRect">
            <a:avLst>
              <a:gd name="adj" fmla="val 5000"/>
            </a:avLst>
          </a:prstGeom>
          <a:solidFill>
            <a:srgbClr val="EFEBFC"/>
          </a:solidFill>
          <a:ln w="12700">
            <a:solidFill>
              <a:srgbClr val="EFEBFC"/>
            </a:solidFill>
            <a:prstDash val="solid"/>
          </a:ln>
        </p:spPr>
      </p:sp>
      <p:sp>
        <p:nvSpPr>
          <p:cNvPr id="15" name="Shape 11"/>
          <p:cNvSpPr/>
          <p:nvPr/>
        </p:nvSpPr>
        <p:spPr>
          <a:xfrm>
            <a:off x="489204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4991892" y="1654332"/>
            <a:ext cx="184343" cy="184343"/>
          </a:xfrm>
          <a:prstGeom prst="rect">
            <a:avLst/>
          </a:prstGeom>
        </p:spPr>
      </p:pic>
      <p:sp>
        <p:nvSpPr>
          <p:cNvPr id="17" name="Text 12"/>
          <p:cNvSpPr txBox="1"/>
          <p:nvPr/>
        </p:nvSpPr>
        <p:spPr>
          <a:xfrm>
            <a:off x="539496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Model</a:t>
            </a:r>
            <a:endParaRPr lang="en-US" sz="1300" dirty="0"/>
          </a:p>
        </p:txBody>
      </p:sp>
      <p:sp>
        <p:nvSpPr>
          <p:cNvPr id="18" name="Text 13"/>
          <p:cNvSpPr txBox="1"/>
          <p:nvPr/>
        </p:nvSpPr>
        <p:spPr>
          <a:xfrm>
            <a:off x="4892040" y="2057400"/>
            <a:ext cx="1485900" cy="68580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gpt-4.1-mini for the Coordinator and both specialists.</a:t>
            </a:r>
            <a:endParaRPr lang="en-US" sz="1200" dirty="0"/>
          </a:p>
        </p:txBody>
      </p:sp>
      <p:sp>
        <p:nvSpPr>
          <p:cNvPr id="19" name="Shape 14"/>
          <p:cNvSpPr/>
          <p:nvPr/>
        </p:nvSpPr>
        <p:spPr>
          <a:xfrm>
            <a:off x="6835140" y="1371600"/>
            <a:ext cx="1851660" cy="1463040"/>
          </a:xfrm>
          <a:prstGeom prst="roundRect">
            <a:avLst>
              <a:gd name="adj" fmla="val 5000"/>
            </a:avLst>
          </a:prstGeom>
          <a:solidFill>
            <a:srgbClr val="512BD4"/>
          </a:solidFill>
          <a:ln w="12700">
            <a:solidFill>
              <a:srgbClr val="512BD4"/>
            </a:solidFill>
            <a:prstDash val="solid"/>
          </a:ln>
        </p:spPr>
      </p:sp>
      <p:sp>
        <p:nvSpPr>
          <p:cNvPr id="20" name="Shape 15"/>
          <p:cNvSpPr/>
          <p:nvPr/>
        </p:nvSpPr>
        <p:spPr>
          <a:xfrm>
            <a:off x="7018020" y="1554480"/>
            <a:ext cx="384048" cy="384048"/>
          </a:xfrm>
          <a:prstGeom prst="ellipse">
            <a:avLst/>
          </a:prstGeom>
          <a:solidFill>
            <a:srgbClr val="FFFFFF"/>
          </a:solidFill>
          <a:ln w="12700">
            <a:solidFill>
              <a:srgbClr val="FFFFFF"/>
            </a:solidFill>
            <a:prstDash val="solid"/>
          </a:ln>
        </p:spPr>
      </p:sp>
      <p:pic>
        <p:nvPicPr>
          <p:cNvPr id="21" name="Image 3" descr="preencoded.png">    </p:cNvPr>
          <p:cNvPicPr>
            <a:picLocks noChangeAspect="1"/>
          </p:cNvPicPr>
          <p:nvPr/>
        </p:nvPicPr>
        <p:blipFill>
          <a:blip r:embed="rId4"/>
          <a:stretch>
            <a:fillRect/>
          </a:stretch>
        </p:blipFill>
        <p:spPr>
          <a:xfrm>
            <a:off x="7117872" y="1654332"/>
            <a:ext cx="184343" cy="184343"/>
          </a:xfrm>
          <a:prstGeom prst="rect">
            <a:avLst/>
          </a:prstGeom>
        </p:spPr>
      </p:pic>
      <p:sp>
        <p:nvSpPr>
          <p:cNvPr id="22" name="Text 16"/>
          <p:cNvSpPr txBox="1"/>
          <p:nvPr/>
        </p:nvSpPr>
        <p:spPr>
          <a:xfrm>
            <a:off x="752094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HttpClient</a:t>
            </a:r>
            <a:endParaRPr lang="en-US" sz="1300" dirty="0"/>
          </a:p>
        </p:txBody>
      </p:sp>
      <p:sp>
        <p:nvSpPr>
          <p:cNvPr id="23" name="Text 17"/>
          <p:cNvSpPr txBox="1"/>
          <p:nvPr/>
        </p:nvSpPr>
        <p:spPr>
          <a:xfrm>
            <a:off x="7018020" y="2057400"/>
            <a:ext cx="1485900" cy="68580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Built on RetryHandler (5 retries) and passed to the connector.</a:t>
            </a:r>
            <a:endParaRPr lang="en-US" sz="1200" dirty="0"/>
          </a:p>
        </p:txBody>
      </p:sp>
      <p:sp>
        <p:nvSpPr>
          <p:cNvPr id="24" name="Text 18"/>
          <p:cNvSpPr txBox="1"/>
          <p:nvPr/>
        </p:nvSpPr>
        <p:spPr>
          <a:xfrm>
            <a:off x="457200" y="306324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Two files: Program.cs for orchestration, RetryHandler.cs for resilience.</a:t>
            </a:r>
            <a:endParaRPr lang="en-US" sz="1400" dirty="0"/>
          </a:p>
        </p:txBody>
      </p:sp>
      <p:sp>
        <p:nvSpPr>
          <p:cNvPr id="25"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19 — CoordinatorPro</a:t>
            </a:r>
            <a:endParaRPr lang="en-US" sz="900" dirty="0"/>
          </a:p>
        </p:txBody>
      </p:sp>
      <p:sp>
        <p:nvSpPr>
          <p:cNvPr id="26"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Coordinator routes on conversation state</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Coordinator</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 meta-agent whose only job is to read the history and name the next step.</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CODER</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No code yet, or the Auditor asked for changes.</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AUDITOR</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Code exists, but it has not been reviewed.</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COMPLETE</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The Auditor said exactly 'LGTM'.</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Four rules in the Coordinator's instructions map state to the next agent.</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19 — CoordinatorPro</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STRUCTURED OUTPUT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decision is JSON, not free text</a:t>
            </a:r>
            <a:endParaRPr lang="en-US" sz="2800" dirty="0"/>
          </a:p>
        </p:txBody>
      </p:sp>
      <p:sp>
        <p:nvSpPr>
          <p:cNvPr id="4" name="Shape 2"/>
          <p:cNvSpPr/>
          <p:nvPr/>
        </p:nvSpPr>
        <p:spPr>
          <a:xfrm>
            <a:off x="457200" y="1325880"/>
            <a:ext cx="5257800" cy="1554480"/>
          </a:xfrm>
          <a:prstGeom prst="roundRect">
            <a:avLst>
              <a:gd name="adj" fmla="val 4706"/>
            </a:avLst>
          </a:prstGeom>
          <a:solidFill>
            <a:srgbClr val="0F1420"/>
          </a:solidFill>
          <a:ln w="12700">
            <a:solidFill>
              <a:srgbClr val="0F1420"/>
            </a:solidFill>
            <a:prstDash val="solid"/>
          </a:ln>
        </p:spPr>
      </p:sp>
      <p:sp>
        <p:nvSpPr>
          <p:cNvPr id="5" name="Text 3"/>
          <p:cNvSpPr txBox="1"/>
          <p:nvPr/>
        </p:nvSpPr>
        <p:spPr>
          <a:xfrm>
            <a:off x="640080" y="1463040"/>
            <a:ext cx="4892040" cy="128016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You must output your decision in valid JSON</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matching this schema:</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  "reasoning": "Your step-by-step logic.",</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  "nextAgent": "CODER" | "AUDITOR" | "COMPLETE"</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 JsonSerializer.Deserialize&lt;RoutingDecision&gt;</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json_object</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ResponseFormat forces the reply to be valid JSON.</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Reasoning first</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model explains itself before it commits.</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Temperature 0.0</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Routing is classification, so keep it deterministic.</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19 — CoordinatorPro</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ONE ITERATION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550" b="1" dirty="0">
                <a:solidFill>
                  <a:srgbClr val="1F2937"/>
                </a:solidFill>
                <a:latin typeface="Cambria" pitchFamily="34" charset="0"/>
                <a:ea typeface="Cambria" pitchFamily="34" charset="-122"/>
                <a:cs typeface="Cambria" pitchFamily="34" charset="-120"/>
              </a:rPr>
              <a:t>How one Coordinator turn keeps the history clean</a:t>
            </a:r>
            <a:endParaRPr lang="en-US" sz="2550" dirty="0"/>
          </a:p>
        </p:txBody>
      </p:sp>
      <p:sp>
        <p:nvSpPr>
          <p:cNvPr id="4" name="Shape 2"/>
          <p:cNvSpPr/>
          <p:nvPr/>
        </p:nvSpPr>
        <p:spPr>
          <a:xfrm>
            <a:off x="457200" y="1417320"/>
            <a:ext cx="1367942" cy="1993392"/>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Ghost nudge</a:t>
            </a:r>
            <a:endParaRPr lang="en-US" sz="1300" dirty="0"/>
          </a:p>
        </p:txBody>
      </p:sp>
      <p:sp>
        <p:nvSpPr>
          <p:cNvPr id="8" name="Text 5"/>
          <p:cNvSpPr txBox="1"/>
          <p:nvPr/>
        </p:nvSpPr>
        <p:spPr>
          <a:xfrm>
            <a:off x="640080"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temporary user message: evaluate now.</a:t>
            </a:r>
            <a:endParaRPr lang="en-US" sz="1200" dirty="0"/>
          </a:p>
        </p:txBody>
      </p:sp>
      <p:sp>
        <p:nvSpPr>
          <p:cNvPr id="9" name="Shape 6"/>
          <p:cNvSpPr/>
          <p:nvPr/>
        </p:nvSpPr>
        <p:spPr>
          <a:xfrm>
            <a:off x="1889150" y="2304288"/>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1993392"/>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Persona</a:t>
            </a:r>
            <a:endParaRPr lang="en-US" sz="1300" dirty="0"/>
          </a:p>
        </p:txBody>
      </p:sp>
      <p:sp>
        <p:nvSpPr>
          <p:cNvPr id="14" name="Text 10"/>
          <p:cNvSpPr txBox="1"/>
          <p:nvPr/>
        </p:nvSpPr>
        <p:spPr>
          <a:xfrm>
            <a:off x="2355494"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Coordinator instructions at index 0.</a:t>
            </a:r>
            <a:endParaRPr lang="en-US" sz="1200" dirty="0"/>
          </a:p>
        </p:txBody>
      </p:sp>
      <p:sp>
        <p:nvSpPr>
          <p:cNvPr id="15" name="Shape 11"/>
          <p:cNvSpPr/>
          <p:nvPr/>
        </p:nvSpPr>
        <p:spPr>
          <a:xfrm>
            <a:off x="3604565" y="2304288"/>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1993392"/>
          </a:xfrm>
          <a:prstGeom prst="roundRect">
            <a:avLst>
              <a:gd name="adj" fmla="val 5348"/>
            </a:avLst>
          </a:prstGeom>
          <a:solidFill>
            <a:srgbClr val="512BD4"/>
          </a:solidFill>
          <a:ln w="12700">
            <a:solidFill>
              <a:srgbClr val="512BD4"/>
            </a:solidFill>
            <a:prstDash val="solid"/>
          </a:ln>
        </p:spPr>
      </p:sp>
      <p:sp>
        <p:nvSpPr>
          <p:cNvPr id="17" name="Shape 13"/>
          <p:cNvSpPr/>
          <p:nvPr/>
        </p:nvSpPr>
        <p:spPr>
          <a:xfrm>
            <a:off x="4070909" y="1618488"/>
            <a:ext cx="457200" cy="457200"/>
          </a:xfrm>
          <a:prstGeom prst="ellipse">
            <a:avLst/>
          </a:prstGeom>
          <a:solidFill>
            <a:srgbClr val="FFFFFF"/>
          </a:solidFill>
          <a:ln w="127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Decide</a:t>
            </a:r>
            <a:endParaRPr lang="en-US" sz="1300" dirty="0"/>
          </a:p>
        </p:txBody>
      </p:sp>
      <p:sp>
        <p:nvSpPr>
          <p:cNvPr id="20" name="Text 15"/>
          <p:cNvSpPr txBox="1"/>
          <p:nvPr/>
        </p:nvSpPr>
        <p:spPr>
          <a:xfrm>
            <a:off x="4070909" y="2606040"/>
            <a:ext cx="1047902" cy="713232"/>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One call with the JSON settings.</a:t>
            </a:r>
            <a:endParaRPr lang="en-US" sz="1200" dirty="0"/>
          </a:p>
        </p:txBody>
      </p:sp>
      <p:sp>
        <p:nvSpPr>
          <p:cNvPr id="21" name="Shape 16"/>
          <p:cNvSpPr/>
          <p:nvPr/>
        </p:nvSpPr>
        <p:spPr>
          <a:xfrm>
            <a:off x="5319979" y="2304288"/>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1993392"/>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Clean up</a:t>
            </a:r>
            <a:endParaRPr lang="en-US" sz="1300" dirty="0"/>
          </a:p>
        </p:txBody>
      </p:sp>
      <p:sp>
        <p:nvSpPr>
          <p:cNvPr id="26" name="Text 20"/>
          <p:cNvSpPr txBox="1"/>
          <p:nvPr/>
        </p:nvSpPr>
        <p:spPr>
          <a:xfrm>
            <a:off x="5786323"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Remove the persona and the nudge.</a:t>
            </a:r>
            <a:endParaRPr lang="en-US" sz="1200" dirty="0"/>
          </a:p>
        </p:txBody>
      </p:sp>
      <p:sp>
        <p:nvSpPr>
          <p:cNvPr id="27" name="Shape 21"/>
          <p:cNvSpPr/>
          <p:nvPr/>
        </p:nvSpPr>
        <p:spPr>
          <a:xfrm>
            <a:off x="7035394" y="2304288"/>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1993392"/>
          </a:xfrm>
          <a:prstGeom prst="roundRect">
            <a:avLst>
              <a:gd name="adj" fmla="val 5348"/>
            </a:avLst>
          </a:prstGeom>
          <a:solidFill>
            <a:srgbClr val="EFEBFC"/>
          </a:solidFill>
          <a:ln w="12700">
            <a:solidFill>
              <a:srgbClr val="EFEBFC"/>
            </a:solidFill>
            <a:prstDash val="solid"/>
          </a:ln>
        </p:spPr>
      </p:sp>
      <p:sp>
        <p:nvSpPr>
          <p:cNvPr id="29" name="Shape 23"/>
          <p:cNvSpPr/>
          <p:nvPr/>
        </p:nvSpPr>
        <p:spPr>
          <a:xfrm>
            <a:off x="7501738" y="1618488"/>
            <a:ext cx="457200" cy="457200"/>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Route</a:t>
            </a:r>
            <a:endParaRPr lang="en-US" sz="1300" dirty="0"/>
          </a:p>
        </p:txBody>
      </p:sp>
      <p:sp>
        <p:nvSpPr>
          <p:cNvPr id="32" name="Text 25"/>
          <p:cNvSpPr txBox="1"/>
          <p:nvPr/>
        </p:nvSpPr>
        <p:spPr>
          <a:xfrm>
            <a:off x="7501738"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CallAgent runs the Coder or Auditor.</a:t>
            </a:r>
            <a:endParaRPr lang="en-US" sz="1200" dirty="0"/>
          </a:p>
        </p:txBody>
      </p:sp>
      <p:sp>
        <p:nvSpPr>
          <p:cNvPr id="33" name="Text 26"/>
          <p:cNvSpPr txBox="1"/>
          <p:nvPr/>
        </p:nvSpPr>
        <p:spPr>
          <a:xfrm>
            <a:off x="457200" y="3730752"/>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Up to 8 iterations; COMPLETE ends the run early.</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19 — CoordinatorPro</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RESILIENCE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650" b="1" dirty="0">
                <a:solidFill>
                  <a:srgbClr val="1F2937"/>
                </a:solidFill>
                <a:latin typeface="Cambria" pitchFamily="34" charset="0"/>
                <a:ea typeface="Cambria" pitchFamily="34" charset="-122"/>
                <a:cs typeface="Cambria" pitchFamily="34" charset="-120"/>
              </a:rPr>
              <a:t>RetryHandler survives transient upstream errors</a:t>
            </a:r>
            <a:endParaRPr lang="en-US" sz="2650" dirty="0"/>
          </a:p>
        </p:txBody>
      </p:sp>
      <p:sp>
        <p:nvSpPr>
          <p:cNvPr id="4" name="Shape 2"/>
          <p:cNvSpPr/>
          <p:nvPr/>
        </p:nvSpPr>
        <p:spPr>
          <a:xfrm>
            <a:off x="457200" y="1371600"/>
            <a:ext cx="3977640" cy="1143000"/>
          </a:xfrm>
          <a:prstGeom prst="roundRect">
            <a:avLst>
              <a:gd name="adj" fmla="val 6400"/>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Transient only</a:t>
            </a:r>
            <a:endParaRPr lang="en-US" sz="1500" dirty="0"/>
          </a:p>
        </p:txBody>
      </p:sp>
      <p:sp>
        <p:nvSpPr>
          <p:cNvPr id="8" name="Text 5"/>
          <p:cNvSpPr txBox="1"/>
          <p:nvPr/>
        </p:nvSpPr>
        <p:spPr>
          <a:xfrm>
            <a:off x="640080" y="20574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Retries 500, 503 and 429. Success or any other status returns at once.</a:t>
            </a:r>
            <a:endParaRPr lang="en-US" sz="1200" dirty="0"/>
          </a:p>
        </p:txBody>
      </p:sp>
      <p:sp>
        <p:nvSpPr>
          <p:cNvPr id="9" name="Shape 6"/>
          <p:cNvSpPr/>
          <p:nvPr/>
        </p:nvSpPr>
        <p:spPr>
          <a:xfrm>
            <a:off x="4709160" y="1371600"/>
            <a:ext cx="3977640" cy="1143000"/>
          </a:xfrm>
          <a:prstGeom prst="roundRect">
            <a:avLst>
              <a:gd name="adj" fmla="val 6400"/>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Exponential backoff</a:t>
            </a:r>
            <a:endParaRPr lang="en-US" sz="1500" dirty="0"/>
          </a:p>
        </p:txBody>
      </p:sp>
      <p:sp>
        <p:nvSpPr>
          <p:cNvPr id="13" name="Text 9"/>
          <p:cNvSpPr txBox="1"/>
          <p:nvPr/>
        </p:nvSpPr>
        <p:spPr>
          <a:xfrm>
            <a:off x="4892040" y="20574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Waits 1s, 2s, 4s and so on, logging each retry.</a:t>
            </a:r>
            <a:endParaRPr lang="en-US" sz="1200" dirty="0"/>
          </a:p>
        </p:txBody>
      </p:sp>
      <p:sp>
        <p:nvSpPr>
          <p:cNvPr id="14" name="Shape 10"/>
          <p:cNvSpPr/>
          <p:nvPr/>
        </p:nvSpPr>
        <p:spPr>
          <a:xfrm>
            <a:off x="457200" y="2743200"/>
            <a:ext cx="3977640" cy="1143000"/>
          </a:xfrm>
          <a:prstGeom prst="roundRect">
            <a:avLst>
              <a:gd name="adj" fmla="val 6400"/>
            </a:avLst>
          </a:prstGeom>
          <a:solidFill>
            <a:srgbClr val="512BD4"/>
          </a:solidFill>
          <a:ln w="12700">
            <a:solidFill>
              <a:srgbClr val="512BD4"/>
            </a:solidFill>
            <a:prstDash val="solid"/>
          </a:ln>
        </p:spPr>
      </p:sp>
      <p:sp>
        <p:nvSpPr>
          <p:cNvPr id="15" name="Shape 11"/>
          <p:cNvSpPr/>
          <p:nvPr/>
        </p:nvSpPr>
        <p:spPr>
          <a:xfrm>
            <a:off x="640080" y="2926080"/>
            <a:ext cx="384048" cy="384048"/>
          </a:xfrm>
          <a:prstGeom prst="ellipse">
            <a:avLst/>
          </a:prstGeom>
          <a:solidFill>
            <a:srgbClr val="FFFFFF"/>
          </a:solidFill>
          <a:ln w="12700">
            <a:solidFill>
              <a:srgbClr val="FFFFFF"/>
            </a:solidFill>
            <a:prstDash val="solid"/>
          </a:ln>
        </p:spPr>
      </p:sp>
      <p:pic>
        <p:nvPicPr>
          <p:cNvPr id="16" name="Image 2" descr="preencoded.png">    </p:cNvPr>
          <p:cNvPicPr>
            <a:picLocks noChangeAspect="1"/>
          </p:cNvPicPr>
          <p:nvPr/>
        </p:nvPicPr>
        <p:blipFill>
          <a:blip r:embed="rId3"/>
          <a:stretch>
            <a:fillRect/>
          </a:stretch>
        </p:blipFill>
        <p:spPr>
          <a:xfrm>
            <a:off x="739932" y="3025932"/>
            <a:ext cx="184343" cy="184343"/>
          </a:xfrm>
          <a:prstGeom prst="rect">
            <a:avLst/>
          </a:prstGeom>
        </p:spPr>
      </p:pic>
      <p:sp>
        <p:nvSpPr>
          <p:cNvPr id="17" name="Text 12"/>
          <p:cNvSpPr txBox="1"/>
          <p:nvPr/>
        </p:nvSpPr>
        <p:spPr>
          <a:xfrm>
            <a:off x="1143000" y="2926080"/>
            <a:ext cx="315468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Fresh clone</a:t>
            </a:r>
            <a:endParaRPr lang="en-US" sz="1500" dirty="0"/>
          </a:p>
        </p:txBody>
      </p:sp>
      <p:sp>
        <p:nvSpPr>
          <p:cNvPr id="18" name="Text 13"/>
          <p:cNvSpPr txBox="1"/>
          <p:nvPr/>
        </p:nvSpPr>
        <p:spPr>
          <a:xfrm>
            <a:off x="640080" y="3429000"/>
            <a:ext cx="3611880" cy="3657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CloneAsync builds a new request every attempt; a sent request can't be resent.</a:t>
            </a:r>
            <a:endParaRPr lang="en-US" sz="1200" dirty="0"/>
          </a:p>
        </p:txBody>
      </p:sp>
      <p:sp>
        <p:nvSpPr>
          <p:cNvPr id="19" name="Shape 14"/>
          <p:cNvSpPr/>
          <p:nvPr/>
        </p:nvSpPr>
        <p:spPr>
          <a:xfrm>
            <a:off x="4709160" y="2743200"/>
            <a:ext cx="3977640" cy="1143000"/>
          </a:xfrm>
          <a:prstGeom prst="roundRect">
            <a:avLst>
              <a:gd name="adj" fmla="val 6400"/>
            </a:avLst>
          </a:prstGeom>
          <a:solidFill>
            <a:srgbClr val="EFEBFC"/>
          </a:solidFill>
          <a:ln w="12700">
            <a:solidFill>
              <a:srgbClr val="EFEBFC"/>
            </a:solidFill>
            <a:prstDash val="solid"/>
          </a:ln>
        </p:spPr>
      </p:sp>
      <p:sp>
        <p:nvSpPr>
          <p:cNvPr id="20" name="Shape 15"/>
          <p:cNvSpPr/>
          <p:nvPr/>
        </p:nvSpPr>
        <p:spPr>
          <a:xfrm>
            <a:off x="4892040" y="29260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025932"/>
            <a:ext cx="184343" cy="184343"/>
          </a:xfrm>
          <a:prstGeom prst="rect">
            <a:avLst/>
          </a:prstGeom>
        </p:spPr>
      </p:pic>
      <p:sp>
        <p:nvSpPr>
          <p:cNvPr id="22" name="Text 16"/>
          <p:cNvSpPr txBox="1"/>
          <p:nvPr/>
        </p:nvSpPr>
        <p:spPr>
          <a:xfrm>
            <a:off x="5394960" y="29260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Provider-agnostic</a:t>
            </a:r>
            <a:endParaRPr lang="en-US" sz="1500" dirty="0"/>
          </a:p>
        </p:txBody>
      </p:sp>
      <p:sp>
        <p:nvSpPr>
          <p:cNvPr id="23" name="Text 17"/>
          <p:cNvSpPr txBox="1"/>
          <p:nvPr/>
        </p:nvSpPr>
        <p:spPr>
          <a:xfrm>
            <a:off x="4892040" y="34290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plain DelegatingHandler; no Semantic Kernel code.</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19 — CoordinatorPro</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route, code, audit, complete</a:t>
            </a:r>
            <a:endParaRPr lang="en-US" sz="2800" dirty="0"/>
          </a:p>
        </p:txBody>
      </p:sp>
      <p:sp>
        <p:nvSpPr>
          <p:cNvPr id="4" name="Shape 2"/>
          <p:cNvSpPr/>
          <p:nvPr/>
        </p:nvSpPr>
        <p:spPr>
          <a:xfrm>
            <a:off x="457200" y="1325880"/>
            <a:ext cx="5257800" cy="2331720"/>
          </a:xfrm>
          <a:prstGeom prst="roundRect">
            <a:avLst>
              <a:gd name="adj" fmla="val 3137"/>
            </a:avLst>
          </a:prstGeom>
          <a:solidFill>
            <a:srgbClr val="0F1420"/>
          </a:solidFill>
          <a:ln w="12700">
            <a:solidFill>
              <a:srgbClr val="0F1420"/>
            </a:solidFill>
            <a:prstDash val="solid"/>
          </a:ln>
        </p:spPr>
      </p:sp>
      <p:sp>
        <p:nvSpPr>
          <p:cNvPr id="5" name="Text 3"/>
          <p:cNvSpPr txBox="1"/>
          <p:nvPr/>
        </p:nvSpPr>
        <p:spPr>
          <a:xfrm>
            <a:off x="640080" y="1463040"/>
            <a:ext cx="4892040" cy="2057400"/>
          </a:xfrm>
          <a:prstGeom prst="rect">
            <a:avLst/>
          </a:prstGeom>
          <a:noFill/>
          <a:ln/>
        </p:spPr>
        <p:txBody>
          <a:bodyPr wrap="square" lIns="0" tIns="0" rIns="0" bIns="0" rtlCol="0" anchor="t"/>
          <a:lstStyle/>
          <a:p>
            <a:pPr indent="0" marL="0">
              <a:buNone/>
            </a:pPr>
            <a:r>
              <a:rPr lang="en-US" sz="1100" b="1" dirty="0">
                <a:solidFill>
                  <a:srgbClr val="F5A623"/>
                </a:solidFill>
                <a:latin typeface="Courier New" pitchFamily="34" charset="0"/>
                <a:ea typeface="Courier New" pitchFamily="34" charset="-122"/>
                <a:cs typeface="Courier New" pitchFamily="34" charset="-120"/>
              </a:rPr>
              <a:t>Enter a C# feature to build: email validator</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[THOUGHT]: No code exists yet.</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[ROUTE]: CODER</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[CODER]: public static bool IsValidEmail(...)</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[THOUGHT]: Code exists but has not been reviewed.</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[ROUTE]: AUDITOR</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[AUDITOR]: The regex allows consecutive dots...</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[ROUTE]: CODER  ...  [AUDITOR]: LGTM</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[THOUGHT]: The Auditor said LGTM.</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[ROUTE]: COMPLETE</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Project lifecycle finished.</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Visible routing</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Every decision prints its THOUGHT and ROUTE.</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Rework loops</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flaw routes back to the Coder.</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Code, reasoning and flaws are examples. Yours will differ.</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19 — CoordinatorPro</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Add a third specialist</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Add a Tester persona that writes unit tests after LGTM, extend the Coordinator's rules and schema, and log any unknown nextAgent.</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Lesson19-CoordinatorPro/</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CoordinatorPro/Program.cs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schema allows TESTER as a nextAgent value</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After LGTM, the route goes to TESTER before COMPLETE</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Tester runs through the same CallAgent helper</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An unrecognized nextAgent prints a warning</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19 — CoordinatorPro</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JSON routing decision</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21  </a:t>
            </a:r>
            <a:pPr indent="0" marL="0">
              <a:buNone/>
            </a:pPr>
            <a:r>
              <a:rPr lang="en-US" sz="1250" dirty="0">
                <a:solidFill>
                  <a:srgbClr val="FFFFFF"/>
                </a:solidFill>
                <a:latin typeface="Calibri" pitchFamily="34" charset="0"/>
                <a:ea typeface="Calibri" pitchFamily="34" charset="-122"/>
                <a:cs typeface="Calibri" pitchFamily="34" charset="-120"/>
              </a:rPr>
              <a:t>Intent routing to isolated specialist kernels</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ResponseFormat json_object</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26  </a:t>
            </a:r>
            <a:pPr indent="0" marL="0">
              <a:buNone/>
            </a:pPr>
            <a:r>
              <a:rPr lang="en-US" sz="1250" dirty="0">
                <a:solidFill>
                  <a:srgbClr val="FFFFFF"/>
                </a:solidFill>
                <a:latin typeface="Calibri" pitchFamily="34" charset="0"/>
                <a:ea typeface="Calibri" pitchFamily="34" charset="-122"/>
                <a:cs typeface="Calibri" pitchFamily="34" charset="-120"/>
              </a:rPr>
              <a:t>A judge returns scores as structured JSON</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coordinator loop</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29  </a:t>
            </a:r>
            <a:pPr indent="0" marL="0">
              <a:buNone/>
            </a:pPr>
            <a:r>
              <a:rPr lang="en-US" sz="1250" dirty="0">
                <a:solidFill>
                  <a:srgbClr val="FFFFFF"/>
                </a:solidFill>
                <a:latin typeface="Calibri" pitchFamily="34" charset="0"/>
                <a:ea typeface="Calibri" pitchFamily="34" charset="-122"/>
                <a:cs typeface="Calibri" pitchFamily="34" charset="-120"/>
              </a:rPr>
              <a:t>ProjectOrchestrator runs the capstone agents</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Model picks the speaker</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34  </a:t>
            </a:r>
            <a:pPr indent="0" marL="0">
              <a:buNone/>
            </a:pPr>
            <a:r>
              <a:rPr lang="en-US" sz="1250" dirty="0">
                <a:solidFill>
                  <a:srgbClr val="FFFFFF"/>
                </a:solidFill>
                <a:latin typeface="Calibri" pitchFamily="34" charset="0"/>
                <a:ea typeface="Calibri" pitchFamily="34" charset="-122"/>
                <a:cs typeface="Calibri" pitchFamily="34" charset="-120"/>
              </a:rPr>
              <a:t>A moderator runs a multi-agent debate</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coordination layer</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39  </a:t>
            </a:r>
            <a:pPr indent="0" marL="0">
              <a:buNone/>
            </a:pPr>
            <a:r>
              <a:rPr lang="en-US" sz="1250" dirty="0">
                <a:solidFill>
                  <a:srgbClr val="FFFFFF"/>
                </a:solidFill>
                <a:latin typeface="Calibri" pitchFamily="34" charset="0"/>
                <a:ea typeface="Calibri" pitchFamily="34" charset="-122"/>
                <a:cs typeface="Calibri" pitchFamily="34" charset="-120"/>
              </a:rPr>
              <a:t>Sub-orchestrators delegate in a tree (planned)</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19 — CoordinatorPro</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19 — CoordinatorPro</dc:title>
  <dc:subject>PptxGenJS Presentation</dc:subject>
  <dc:creator>Media Six LLC</dc:creator>
  <cp:lastModifiedBy>Media Six LLC</cp:lastModifiedBy>
  <cp:revision>1</cp:revision>
  <dcterms:created xsi:type="dcterms:W3CDTF">2026-10-21T23:15:52Z</dcterms:created>
  <dcterms:modified xsi:type="dcterms:W3CDTF">2026-10-21T23:15:52Z</dcterms:modified>
</cp:coreProperties>
</file>