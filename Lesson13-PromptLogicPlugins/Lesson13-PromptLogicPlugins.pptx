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renders a customer-support prompt for a sample Gold-tier customer called Alice, sends it to gpt-4.1-mini, and prints the reply. The AI call itself isn't the interesting part. What matters is how the prompt is assembled. As soon as a prompt needs a loop, such as listing purchases, or a conditional, such as choosing a tone and discount by membership tier, cramming that logic into template syntax gets awkward fast. Instead, this template calls out to two native C# plugin functions and splices their return values into the rendered text. The prompt stays limited to variable substitution and function calls, and the branching and iteration live in ordinary, testable C#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2, a template slot was a named variable: Semantic Kernel looked up the value in KernelArguments and pasted it in. Any formatting or decision-making had to happen in your code before the call. In this lesson, a slot can also be a function call. The double-brace syntax names a plugin and a function, followed by an argument, and Semantic Kernel invokes that function while it renders the prompt, inserting whatever it returns. The loop over purchases and the if on membership tier both live in C#, and the template simply asks for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earlier lessons. You need the .NET 10 SDK and a console application referencing Microsoft.SemanticKernel and Microsoft.SemanticKernel.Connectors.OpenAI, both at version 1.78.0. The key comes from the OPENAI_API_KEY environment variable, and the program throws at startup if it is missing. The model is gpt-4.1-mini, registered with AddOpenAIChatCompletion on the same kernel builder where we'll register the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UserHelperPlugin is an ordinary C# class that acts as the logic layer for the template. It has two methods. GetPurchaseList is the loop: given a UserProfile, it returns one bullet per purchase with its name and price, or No recent purchases if the list is empty. GetTierInstructions is the conditional: for Gold it returns an ultra-polite tone with a twenty percent discount code, GOLD20, and for anything else a professional tone with a five percent code, SAVE5. Each method carries a KernelFunction attribute, which exposes it to the kernel, and a Description attribute, which says what it does. builder.Plugins.AddFromType scans the class for those methods and registers them under the plugin's name, before the kernel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template. The highlighted lines are function calls: the plugin name, a dot, the function name, then an argument taken from KernelArguments. GetTierInstructions receives the tier, and GetPurchaseList receives the user. The green lines are ordinary variable slots for the name, the tier and the user's question. The template is written as a C# raw string literal, with triple quotes, so a multi-line prompt needs no escaping. Notice what is not here: no loop syntax and no if syntax. The template only says what goes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The program registers the plugin on the builder and builds the kernel. It creates the sample data: a UserProfile record for Alice, Gold tier, with two Product records, an AI Camera and a Tripod. Product and UserProfile are C# records, which make convenient immutable data carriers; each lives in its own file, as does UserHelperPlugin. KernelArguments then gets four entries. Note that user is the whole UserProfile object, not a string: the template engine passes it straight to GetPurchaseList, matching the parameter type. Name and tier are simple strings for display, and tier also feeds the tier function. Then one InvokePromptAsync call does two jobs. First, highlighted, it renders the template, calling both plugin functions. Then it sends the finished prompt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prompt after rendering, worked out by hand from the template and the sample data rather than captured from a run. The tier line has been replaced by the Gold instruction, ultra-polite with the GOLD20 discount code, because GetTierInstructions took the Gold branch. The purchases slot has become two bullets, one per product, produced by GetPurchaseList's loop. The prices print the way C# formats a double, so 49.50 appears as 49.5. Everything else is plain variable substitution. One subtle detail from the code: the tier instructions deliberately contain no quote characters. Semantic Kernel's default template rendering HTML-encodes function return values, so quotes around GOLD20 would reach the model as encoded entities rather than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points are worth calling out. First, the logic is testable: GetPurchaseList and GetTierInstructions are ordinary methods you can unit-test without ever calling a model. Second, the single InvokePromptAsync call is wrapped in a try/catch, and that one guard covers two kinds of failure: an exception thrown by a plugin function while the template renders, and a network or API failure while the request is sent. Either way you get a Request failed message instead of a stack trace. Third, watch what plugin functions return: because rendering HTML-encodes their output by default, the tier strings avoid quote characters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the Processing Alice header, then the model's answer under AI Response. The reply on this slide is illustrative; the wording will differ from run to run. What you should see is the effect of the rendered prompt: an ultra-polite tone, the GOLD20 twenty percent discount code, and often a mention of the AI Camera or the Tripod from her purchase history. If a plugin or the API call fails, you'll see Request failed with the error message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Silver branch to GetTierInstructions with its own tone and a ten percent code, SILVER10, keeping the strings free of quote characters. Then, in Program.cs, create a second UserProfile for a Silver customer with an empty purchase list and run the prompt for them. Check that Gold and the default tier behave as before, that the Silver reply offers the new code, and that the purchases section says No recent purchases. The key point: you should not have to touch the template at all. All of the change lives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turned C# methods into plugin functions with KernelFunction and Description, registered the plugin on the builder, called its functions from inside a template, passed a whole object as an argument, and kept the prompt declarative while the logic stayed testable. Plugins are everywhere from here. Lesson 15 registers two plugins and lets the model decide which to call. Lesson 16 opens the box and executes tool calls by hand in a ReAct loop. Lesson 21 gives each specialist agent a cloned kernel with only its own tool. Lesson 22 adds a prompt-render filter that logs exactly what we just worked out by hand, the rendered prompt. And in the first capstone, Lesson 28's plugin writes tasks into a shared ProjectState.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13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Prompt Logic Plugins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Keep loops and conditionals in C#, and call them from the template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Gold-tier UserProfile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tier-aware support reply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C# methods into plugin functions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a plugin on the kernel builder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Call plugin functions from inside a template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Pass a whole object as a template argument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the prompt declarative and the logic testable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Templates that call code, not just fill slots</a:t>
            </a:r>
            <a:endParaRPr lang="en-US" sz="2750" dirty="0"/>
          </a:p>
        </p:txBody>
      </p:sp>
      <p:sp>
        <p:nvSpPr>
          <p:cNvPr id="4" name="Shape 2"/>
          <p:cNvSpPr/>
          <p:nvPr/>
        </p:nvSpPr>
        <p:spPr>
          <a:xfrm>
            <a:off x="457200" y="1371600"/>
            <a:ext cx="3931920" cy="2331720"/>
          </a:xfrm>
          <a:prstGeom prst="roundRect">
            <a:avLst>
              <a:gd name="adj" fmla="val 313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 variables only</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{{$variable}} slots, filled by name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Any logic runs before the call</a:t>
            </a:r>
            <a:endParaRPr lang="en-US" sz="1300" dirty="0"/>
          </a:p>
        </p:txBody>
      </p:sp>
      <p:sp>
        <p:nvSpPr>
          <p:cNvPr id="9" name="Shape 6"/>
          <p:cNvSpPr/>
          <p:nvPr/>
        </p:nvSpPr>
        <p:spPr>
          <a:xfrm>
            <a:off x="685800" y="2907792"/>
            <a:ext cx="3474720" cy="594360"/>
          </a:xfrm>
          <a:prstGeom prst="roundRect">
            <a:avLst>
              <a:gd name="adj" fmla="val 12308"/>
            </a:avLst>
          </a:prstGeom>
          <a:solidFill>
            <a:srgbClr val="0F1420"/>
          </a:solidFill>
          <a:ln w="12700">
            <a:solidFill>
              <a:srgbClr val="0F1420"/>
            </a:solidFill>
            <a:prstDash val="solid"/>
          </a:ln>
        </p:spPr>
      </p:sp>
      <p:sp>
        <p:nvSpPr>
          <p:cNvPr id="10" name="Text 7"/>
          <p:cNvSpPr txBox="1"/>
          <p:nvPr/>
        </p:nvSpPr>
        <p:spPr>
          <a:xfrm>
            <a:off x="868680" y="3044952"/>
            <a:ext cx="3108960" cy="32004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{{$articleContent}}</a:t>
            </a:r>
            <a:endParaRPr lang="en-US" sz="1100" dirty="0"/>
          </a:p>
        </p:txBody>
      </p:sp>
      <p:sp>
        <p:nvSpPr>
          <p:cNvPr id="11" name="Shape 8"/>
          <p:cNvSpPr/>
          <p:nvPr/>
        </p:nvSpPr>
        <p:spPr>
          <a:xfrm>
            <a:off x="4754880" y="1371600"/>
            <a:ext cx="3931920" cy="2331720"/>
          </a:xfrm>
          <a:prstGeom prst="roundRect">
            <a:avLst>
              <a:gd name="adj" fmla="val 313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13: function calls</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Slots can call plugin functions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Logic runs while the prompt renders</a:t>
            </a:r>
            <a:endParaRPr lang="en-US" sz="1300" dirty="0"/>
          </a:p>
        </p:txBody>
      </p:sp>
      <p:sp>
        <p:nvSpPr>
          <p:cNvPr id="16" name="Shape 12"/>
          <p:cNvSpPr/>
          <p:nvPr/>
        </p:nvSpPr>
        <p:spPr>
          <a:xfrm>
            <a:off x="4983480" y="2907792"/>
            <a:ext cx="3474720" cy="594360"/>
          </a:xfrm>
          <a:prstGeom prst="roundRect">
            <a:avLst>
              <a:gd name="adj" fmla="val 12308"/>
            </a:avLst>
          </a:prstGeom>
          <a:solidFill>
            <a:srgbClr val="0F1420"/>
          </a:solidFill>
          <a:ln w="12700">
            <a:solidFill>
              <a:srgbClr val="0F1420"/>
            </a:solidFill>
            <a:prstDash val="solid"/>
          </a:ln>
        </p:spPr>
      </p:sp>
      <p:sp>
        <p:nvSpPr>
          <p:cNvPr id="17" name="Text 13"/>
          <p:cNvSpPr txBox="1"/>
          <p:nvPr/>
        </p:nvSpPr>
        <p:spPr>
          <a:xfrm>
            <a:off x="5166360" y="3044952"/>
            <a:ext cx="3108960" cy="32004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{{UserHelperPlugin.</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GetPurchaseList $user}}</a:t>
            </a:r>
            <a:endParaRPr lang="en-US" sz="1100" dirty="0"/>
          </a:p>
        </p:txBody>
      </p:sp>
      <p:sp>
        <p:nvSpPr>
          <p:cNvPr id="18" name="Text 14"/>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loop and the if live in C#; the template just asks for the result.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alongside the plugin on the same builder.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UserHelperPlugin is the prompt's logic layer</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UserHelperPlugin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plain C# class whose [KernelFunction] methods the template can call by name.</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Purchase list</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GetPurchaseList: the loop. One bullet per Product.</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Tier rules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GetTierInstructions: the if. Gold gets GOLD20.</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Attributes</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[KernelFunction] exposes it; [Description] explains it.</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Registration</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On the builder: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Plugins.AddFromType&lt;UserHelperPlugin&gt;()</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TEMPLATE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Variables and function calls, side by side</a:t>
            </a:r>
            <a:endParaRPr lang="en-US" sz="2800" dirty="0"/>
          </a:p>
        </p:txBody>
      </p:sp>
      <p:sp>
        <p:nvSpPr>
          <p:cNvPr id="4" name="Shape 2"/>
          <p:cNvSpPr/>
          <p:nvPr/>
        </p:nvSpPr>
        <p:spPr>
          <a:xfrm>
            <a:off x="457200" y="1325880"/>
            <a:ext cx="5257800" cy="2560320"/>
          </a:xfrm>
          <a:prstGeom prst="roundRect">
            <a:avLst>
              <a:gd name="adj" fmla="val 2857"/>
            </a:avLst>
          </a:prstGeom>
          <a:solidFill>
            <a:srgbClr val="0F1420"/>
          </a:solidFill>
          <a:ln w="12700">
            <a:solidFill>
              <a:srgbClr val="0F1420"/>
            </a:solidFill>
            <a:prstDash val="solid"/>
          </a:ln>
        </p:spPr>
      </p:sp>
      <p:sp>
        <p:nvSpPr>
          <p:cNvPr id="5" name="Text 3"/>
          <p:cNvSpPr txBox="1"/>
          <p:nvPr/>
        </p:nvSpPr>
        <p:spPr>
          <a:xfrm>
            <a:off x="640080" y="1463040"/>
            <a:ext cx="4892040" cy="22860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System: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You are a customer support agent.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{{UserHelperPlugin.GetTierInstructions $tier}}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User Context: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Name: {{$name}}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Membership: {{$tier}}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Recent Purchases: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{{UserHelperPlugin.GetPurchaseList $user}}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User Question: {{$input}}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Function calls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Plugin.Function plus an argument, run at render time.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Variables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{{$name}}, {{$tier}} and {{$input}} are plain slots.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Raw string</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Written as a C# raw string literal: no escaping.</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CALL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data to reply in one InvokePromptAsync</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Register</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AddFromType adds the plugin to the builder.</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Profile</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Alice, Gold, two Product records.</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Arguments</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user, name, tier and input.</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Render</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Plugin functions run and fill their slots.</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Send</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finished prompt goes to the model.</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user argument is a whole UserProfile object, not a string.</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RENDERED PROMPT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model actually receives</a:t>
            </a:r>
            <a:endParaRPr lang="en-US" sz="2800" dirty="0"/>
          </a:p>
        </p:txBody>
      </p:sp>
      <p:sp>
        <p:nvSpPr>
          <p:cNvPr id="4" name="Shape 2"/>
          <p:cNvSpPr/>
          <p:nvPr/>
        </p:nvSpPr>
        <p:spPr>
          <a:xfrm>
            <a:off x="457200" y="1325880"/>
            <a:ext cx="5257800" cy="2560320"/>
          </a:xfrm>
          <a:prstGeom prst="roundRect">
            <a:avLst>
              <a:gd name="adj" fmla="val 2857"/>
            </a:avLst>
          </a:prstGeom>
          <a:solidFill>
            <a:srgbClr val="0F1420"/>
          </a:solidFill>
          <a:ln w="12700">
            <a:solidFill>
              <a:srgbClr val="0F1420"/>
            </a:solidFill>
            <a:prstDash val="solid"/>
          </a:ln>
        </p:spPr>
      </p:sp>
      <p:sp>
        <p:nvSpPr>
          <p:cNvPr id="5" name="Text 3"/>
          <p:cNvSpPr txBox="1"/>
          <p:nvPr/>
        </p:nvSpPr>
        <p:spPr>
          <a:xfrm>
            <a:off x="640080" y="1463040"/>
            <a:ext cx="4892040" cy="22860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System: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You are a customer support agent.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Tone: Ultra-polite. Offer 20% discount code GOLD20.</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User Context: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Name: Alice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Membership: Gold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Recent Purchases: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AI Camera ($299.99)</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Tripod ($49.5)</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User Question: I need help with my recent order.</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From the if</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Gold tier, so the GOLD20 instruction.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From the loop</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bullet per purchase.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Derived from code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Built by hand from the template and sample data.</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NOTES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this pattern holds up</a:t>
            </a:r>
            <a:endParaRPr lang="en-US" sz="2800" dirty="0"/>
          </a:p>
        </p:txBody>
      </p:sp>
      <p:sp>
        <p:nvSpPr>
          <p:cNvPr id="4" name="Shape 2"/>
          <p:cNvSpPr/>
          <p:nvPr/>
        </p:nvSpPr>
        <p:spPr>
          <a:xfrm>
            <a:off x="457200" y="1371600"/>
            <a:ext cx="2560320" cy="1417320"/>
          </a:xfrm>
          <a:prstGeom prst="roundRect">
            <a:avLst>
              <a:gd name="adj" fmla="val 516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Testable logic</a:t>
            </a:r>
            <a:endParaRPr lang="en-US" sz="1500" dirty="0"/>
          </a:p>
        </p:txBody>
      </p:sp>
      <p:sp>
        <p:nvSpPr>
          <p:cNvPr id="8" name="Text 5"/>
          <p:cNvSpPr txBox="1"/>
          <p:nvPr/>
        </p:nvSpPr>
        <p:spPr>
          <a:xfrm>
            <a:off x="640080" y="2057400"/>
            <a:ext cx="21945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methods are plain C#, so the loop and the if can be unit-tested.</a:t>
            </a:r>
            <a:endParaRPr lang="en-US" sz="1200" dirty="0"/>
          </a:p>
        </p:txBody>
      </p:sp>
      <p:sp>
        <p:nvSpPr>
          <p:cNvPr id="9" name="Shape 6"/>
          <p:cNvSpPr/>
          <p:nvPr/>
        </p:nvSpPr>
        <p:spPr>
          <a:xfrm>
            <a:off x="3291840" y="1371600"/>
            <a:ext cx="2560320" cy="1417320"/>
          </a:xfrm>
          <a:prstGeom prst="roundRect">
            <a:avLst>
              <a:gd name="adj" fmla="val 5161"/>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One guard</a:t>
            </a:r>
            <a:endParaRPr lang="en-US" sz="1500" dirty="0"/>
          </a:p>
        </p:txBody>
      </p:sp>
      <p:sp>
        <p:nvSpPr>
          <p:cNvPr id="13" name="Text 9"/>
          <p:cNvSpPr txBox="1"/>
          <p:nvPr/>
        </p:nvSpPr>
        <p:spPr>
          <a:xfrm>
            <a:off x="3474720" y="2057400"/>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try/catch covers plugin errors during render and API failures.</a:t>
            </a:r>
            <a:endParaRPr lang="en-US" sz="1200" dirty="0"/>
          </a:p>
        </p:txBody>
      </p:sp>
      <p:sp>
        <p:nvSpPr>
          <p:cNvPr id="14" name="Shape 10"/>
          <p:cNvSpPr/>
          <p:nvPr/>
        </p:nvSpPr>
        <p:spPr>
          <a:xfrm>
            <a:off x="6126480" y="1371600"/>
            <a:ext cx="2560320" cy="1417320"/>
          </a:xfrm>
          <a:prstGeom prst="roundRect">
            <a:avLst>
              <a:gd name="adj" fmla="val 516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No quotes</a:t>
            </a:r>
            <a:endParaRPr lang="en-US" sz="1500" dirty="0"/>
          </a:p>
        </p:txBody>
      </p:sp>
      <p:sp>
        <p:nvSpPr>
          <p:cNvPr id="18" name="Text 13"/>
          <p:cNvSpPr txBox="1"/>
          <p:nvPr/>
        </p:nvSpPr>
        <p:spPr>
          <a:xfrm>
            <a:off x="6309360" y="2057400"/>
            <a:ext cx="21945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Return strings avoid quotes, which rendering would HTML-encode.</a:t>
            </a:r>
            <a:endParaRPr lang="en-US" sz="1200" dirty="0"/>
          </a:p>
        </p:txBody>
      </p:sp>
      <p:sp>
        <p:nvSpPr>
          <p:cNvPr id="19" name="Text 14"/>
          <p:cNvSpPr txBox="1"/>
          <p:nvPr/>
        </p:nvSpPr>
        <p:spPr>
          <a:xfrm>
            <a:off x="457200" y="30175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Logic in C# can be unit-tested; logic buried in template syntax cannot.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Run it: a polite reply with the Gold discount</a:t>
            </a:r>
            <a:endParaRPr lang="en-US" sz="2750" dirty="0"/>
          </a:p>
        </p:txBody>
      </p:sp>
      <p:sp>
        <p:nvSpPr>
          <p:cNvPr id="4" name="Shape 2"/>
          <p:cNvSpPr/>
          <p:nvPr/>
        </p:nvSpPr>
        <p:spPr>
          <a:xfrm>
            <a:off x="457200" y="1325880"/>
            <a:ext cx="5257800" cy="1600200"/>
          </a:xfrm>
          <a:prstGeom prst="roundRect">
            <a:avLst>
              <a:gd name="adj" fmla="val 4571"/>
            </a:avLst>
          </a:prstGeom>
          <a:solidFill>
            <a:srgbClr val="0F1420"/>
          </a:solidFill>
          <a:ln w="12700">
            <a:solidFill>
              <a:srgbClr val="0F1420"/>
            </a:solidFill>
            <a:prstDash val="solid"/>
          </a:ln>
        </p:spPr>
      </p:sp>
      <p:sp>
        <p:nvSpPr>
          <p:cNvPr id="5" name="Text 3"/>
          <p:cNvSpPr txBox="1"/>
          <p:nvPr/>
        </p:nvSpPr>
        <p:spPr>
          <a:xfrm>
            <a:off x="640080" y="1463040"/>
            <a:ext cx="4892040" cy="13258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Processing Alice via a Custom Native Plugin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AI Response: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Dear Alice, thank you for being a valued Gold member! I'd be delighted to help with your recent order of the AI Camera and Tripod. As a thank-you, please enjoy 20% off with code GOLD20.</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reply's wording will differ on every run.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GOLD20</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Gold tier's discount code should appear.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Her purchases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reply can name the camera and tripod.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Silver tier</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Extend GetTierInstructions with a Silver tier that offers 10% with code SILVER10, then run the prompt for a Silver customer with no purchases.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Lesson13-PromptLogicPlugins/</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PromptLogicPlugins/UserHelperPlugin.cs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Gold still gets GOLD20 and other tiers SAVE5</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Silver customer's reply offers SILVER10</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empty purchase list renders No recent purchases.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template text itself is unchanged</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[KernelFunction] plugins</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The model chooses between two plugins itself</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Functions run by the kernel</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Tool calls are executed by hand in a ReAct loop</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Plugins per kernel</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Each specialist's kernel holds only its own tool</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rendered prompt</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A filter logs the prompt right before it is sent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Plugins over shared data</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28  </a:t>
            </a:r>
            <a:pPr indent="0" marL="0">
              <a:buNone/>
            </a:pPr>
            <a:r>
              <a:rPr lang="en-US" sz="1250" dirty="0">
                <a:solidFill>
                  <a:srgbClr val="FFFFFF"/>
                </a:solidFill>
                <a:latin typeface="Calibri" pitchFamily="34" charset="0"/>
                <a:ea typeface="Calibri" pitchFamily="34" charset="-122"/>
                <a:cs typeface="Calibri" pitchFamily="34" charset="-120"/>
              </a:rPr>
              <a:t>A plugin writes tasks into shared ProjectState</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13 — Prompt Logic Plugins</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 — Prompt Logic Plugins</dc:title>
  <dc:subject>PptxGenJS Presentation</dc:subject>
  <dc:creator>Media Six LLC</dc:creator>
  <cp:lastModifiedBy>Media Six LLC</cp:lastModifiedBy>
  <cp:revision>1</cp:revision>
  <dcterms:created xsi:type="dcterms:W3CDTF">2026-10-21T23:26:08Z</dcterms:created>
  <dcterms:modified xsi:type="dcterms:W3CDTF">2026-10-21T23:26:08Z</dcterms:modified>
</cp:coreProperties>
</file>