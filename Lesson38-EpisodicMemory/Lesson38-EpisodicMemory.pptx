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stores the facts learned across a conversation together with their embedding vectors, and then, for a new question, retrieves them by relevance instead of recency. It upgrades Lesson 25's flat fact list with the one piece it was missing. A fact from turn one can still be the single most useful thing to recall on turn six, and a recency window has no way to know that. The demo is built to make that difference visible: one fact is planted early and never repeated, and then a later question makes it the most relevant thing in memory even though it's the oldest.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25 extracted durable facts from the conversation and persisted them to a JSON file as a flat list of strings. When it used them, it rebuilt the system prompt from every fact it knew, in the order they were learned, with no ranking at all. This lesson keeps the extraction idea and adds the ranking Lesson 25 never had: relevance to the current question. Every fact is stored with an embedding vector, and retrieval takes the top K facts by cosine similarity to the query. One difference to be aware of: this lesson's store lives in memory only. It doesn't write to disk the way Lesson 25 did, because the point here is retrieval, not persistence.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need the .NET 10 SDK and a console project referencing Microsoft.SemanticKernel and Microsoft.SemanticKernel.Connectors.OpenAI, both at version 1.78.0. The OPENAI_API_KEY environment variable is read once and passed to two registrations. AddOpenAIChatCompletion registers gpt-4.1-mini, which extracts facts. AddOpenAIEmbeddingGenerator registers text-embedding-3-small, which turns each fact and each query into a vector. The program resolves it from the kernel as an IEmbeddingGenerator of string and Embedding of float, from Microsoft.Extensions.AI. AddOpenAIEmbeddingGenerator is marked experimental in this Semantic Kernel version, under diagnostic SKEXP0010, so the project file adds that ID to NoWarn.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of the five scripted turns goes through the same pipeline. FactExtractor asks gpt-4.1-mini whether the message contains a durable fact about the user, such as a preference, a pet, a job, a plan or an allergy, and if so to restate it concisely in third person. Small talk produces nothing. EpisodicMemoryStore.RememberAsync embeds the fact with text-embedding-3-small and stores it as an EpisodicFact along with the turn number it came from. After all five turns, the program asks a sixth-turn question and retrieves from the same store twice: once by recency and once by relevance. Keeping extraction and retrieval in separate classes means the retrieval strategy can change without touching how facts are captured.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EpisodicMemoryStore holds a private list of EpisodicFact objects, each with its content, the turn it was learned on, and its embedding. RememberAsync calls GenerateVectorAsync on the embedding generator and adds the fact. RetrieveByRelevanceAsync embeds the query the same way, orders every fact by cosine similarity to it, and takes the top K. The cosine similarity is hand-rolled, the same approach as Lesson 8's RAG agent, applied to a memory of the conversation instead of a static knowledge base. RetrieveByRecency ignores meaning entirely and just takes the K facts with the highest turn numbers. RetrieveByRecency isn't dead code kept for comparison: printing both results for the same query in the same run is what makes the upgrade visible.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history from the lesson's development, and it is worth knowing. The first version of FactExtractionResult had two fields, a boolean isDurableFact followed by a string fact. Against Gemini, which the series used before moving to OpenAI, every live call came back as a complete, valid JSON object with isDurableFact set to true and no fact field at all. The fix wasn't reordering the fields; it was removing the boolean. A single fact field, where an empty string means nothing to remember, carries the same information with one field instead of two. FactExtractor runs at temperature zero with ResponseFormat set to that type, and returns null when the fact is empty or the JSON can't be parsed. The failure hasn't been re-tested against OpenAI's schema mode, so it may or may not occur there. The single-field design is worth keeping either way. The example JSON on the right is illustrative.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five scripted turns are deliberately unrelated to each other except for one thing. Turn one, the dog Biscuit's chicken allergy, is the only fact that has anything to do with the eventual question: what treats should I avoid buying for my pet? Turns two to five, a trip to Japan, a favorite color, a new job at a marine biology lab, and weekend hiking, are all genuinely durable, memorable facts. They are just irrelevant to this question. That combination is what makes the comparison fair. Recency retrieval doesn't fail because turns two to five are bad facts. It fails because most recent and most relevant answer different questions, and only one of them is the question being 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real transcript from the lesson text, captured against Gemini before the lesson moved to OpenAI. The rankings come from the scripted turns and cosine similarity, so they should hold under OpenAI too, but the exact wording of each restated fact will differ. Recency retrieval surfaces turns five and four, a hobby and a job, and neither helps answer the question. Relevance retrieval puts the turn one allergy fact first, even though it is the oldest fact in memory. That is the upgrade this lesson exists to show. The second relevance result varies more between runs, because the remaining facts are all unrelated and their embeddings score close together, but the top result should be the allergy fact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Try this on your own. Add a RetrieveHybridAsync method to EpisodicMemoryStore that scores each fact as its cosine similarity to the query plus a small bonus that grows with the turn number, and returns the top K by that score. Print it as a third list in Program.cs. Keep the bonus small: the allergy fact should still win for the pet question, because relevance should dominate. Then try a second query about weekend plans and check that the hiking fact comes first. The existing recency and relevance lists should print exactly as before.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recap: we extracted durable facts from conversation turns, stored each one with its embedding, and ranked memories by cosine similarity to the question, side by side with plain recency, so the upgrade over Lesson 25 is visible in one run. We also kept the extraction schema to a single field. Part 2 continues into its last phase, which is still planned. Lesson 39 adds hierarchical delegation, with orchestrators handing work to sub-orchestrators. Lesson 40 decouples agents with a pub-sub event bus. Lesson 42 checkpoints state so a run survives restarts, which this in-memory store does not. And Lesson 43, the second capstone, combines these pieces into one deployable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B2D"/>
        </a:solidFill>
      </p:bgPr>
    </p:bg>
    <p:spTree>
      <p:nvGrpSpPr>
        <p:cNvPr id="1" name=""/>
        <p:cNvGrpSpPr/>
        <p:nvPr/>
      </p:nvGrpSpPr>
      <p:grpSpPr>
        <a:xfrm>
          <a:off x="0" y="0"/>
          <a:ext cx="0" cy="0"/>
          <a:chOff x="0" y="0"/>
          <a:chExt cx="0" cy="0"/>
        </a:xfrm>
      </p:grpSpPr>
      <p:sp>
        <p:nvSpPr>
          <p:cNvPr id="2" name="Text 0"/>
          <p:cNvSpPr txBox="1"/>
          <p:nvPr/>
        </p:nvSpPr>
        <p:spPr>
          <a:xfrm>
            <a:off x="457200" y="502920"/>
            <a:ext cx="4206240" cy="457200"/>
          </a:xfrm>
          <a:prstGeom prst="rect">
            <a:avLst/>
          </a:prstGeom>
          <a:noFill/>
          <a:ln/>
        </p:spPr>
        <p:txBody>
          <a:bodyPr wrap="square" lIns="0" tIns="0" rIns="0" bIns="0" rtlCol="0" anchor="t"/>
          <a:lstStyle/>
          <a:p>
            <a:pPr indent="0" marL="0">
              <a:buNone/>
            </a:pPr>
            <a:r>
              <a:rPr lang="en-US" sz="1100" b="1" spc="200" kern="0" dirty="0">
                <a:solidFill>
                  <a:srgbClr val="F5A623"/>
                </a:solidFill>
                <a:latin typeface="Calibri" pitchFamily="34" charset="0"/>
                <a:ea typeface="Calibri" pitchFamily="34" charset="-122"/>
                <a:cs typeface="Calibri" pitchFamily="34" charset="-120"/>
              </a:rPr>
              <a:t>LESSON 38  ·  PART 2</a:t>
            </a:r>
            <a:endParaRPr lang="en-US" sz="1100" dirty="0"/>
          </a:p>
        </p:txBody>
      </p:sp>
      <p:sp>
        <p:nvSpPr>
          <p:cNvPr id="3" name="Text 1"/>
          <p:cNvSpPr txBox="1"/>
          <p:nvPr/>
        </p:nvSpPr>
        <p:spPr>
          <a:xfrm>
            <a:off x="457200" y="1005840"/>
            <a:ext cx="4206240" cy="1371600"/>
          </a:xfrm>
          <a:prstGeom prst="rect">
            <a:avLst/>
          </a:prstGeom>
          <a:noFill/>
          <a:ln/>
        </p:spPr>
        <p:txBody>
          <a:bodyPr wrap="square" lIns="0" tIns="0" rIns="0" bIns="0" rtlCol="0" anchor="b"/>
          <a:lstStyle/>
          <a:p>
            <a:pPr indent="0" marL="0">
              <a:buNone/>
            </a:pPr>
            <a:r>
              <a:rPr lang="en-US" sz="3200" b="1" dirty="0">
                <a:solidFill>
                  <a:srgbClr val="FFFFFF"/>
                </a:solidFill>
                <a:latin typeface="Cambria" pitchFamily="34" charset="0"/>
                <a:ea typeface="Cambria" pitchFamily="34" charset="-122"/>
                <a:cs typeface="Cambria" pitchFamily="34" charset="-120"/>
              </a:rPr>
              <a:t>Vector-Indexed Episodic Memory</a:t>
            </a:r>
            <a:endParaRPr lang="en-US" sz="3200" dirty="0"/>
          </a:p>
        </p:txBody>
      </p:sp>
      <p:sp>
        <p:nvSpPr>
          <p:cNvPr id="4" name="Text 2"/>
          <p:cNvSpPr txBox="1"/>
          <p:nvPr/>
        </p:nvSpPr>
        <p:spPr>
          <a:xfrm>
            <a:off x="457200" y="2468880"/>
            <a:ext cx="4206240" cy="640080"/>
          </a:xfrm>
          <a:prstGeom prst="rect">
            <a:avLst/>
          </a:prstGeom>
          <a:noFill/>
          <a:ln/>
        </p:spPr>
        <p:txBody>
          <a:bodyPr wrap="square" lIns="0" tIns="0" rIns="0" bIns="0" rtlCol="0" anchor="t"/>
          <a:lstStyle/>
          <a:p>
            <a:pPr indent="0" marL="0">
              <a:buNone/>
            </a:pPr>
            <a:r>
              <a:rPr lang="en-US" sz="1600" dirty="0">
                <a:solidFill>
                  <a:srgbClr val="B8B2E6"/>
                </a:solidFill>
                <a:latin typeface="Calibri" pitchFamily="34" charset="0"/>
                <a:ea typeface="Calibri" pitchFamily="34" charset="-122"/>
                <a:cs typeface="Calibri" pitchFamily="34" charset="-120"/>
              </a:rPr>
              <a:t>Recall facts by relevance to the question, not by how recent they are</a:t>
            </a:r>
            <a:endParaRPr lang="en-US" sz="1600" dirty="0"/>
          </a:p>
        </p:txBody>
      </p:sp>
      <p:sp>
        <p:nvSpPr>
          <p:cNvPr id="5" name="Text 3"/>
          <p:cNvSpPr txBox="1"/>
          <p:nvPr/>
        </p:nvSpPr>
        <p:spPr>
          <a:xfrm>
            <a:off x="457200" y="3346704"/>
            <a:ext cx="1097280" cy="274320"/>
          </a:xfrm>
          <a:prstGeom prst="rect">
            <a:avLst/>
          </a:prstGeom>
          <a:noFill/>
          <a:ln/>
        </p:spPr>
        <p:txBody>
          <a:bodyPr wrap="square" lIns="0" tIns="0" rIns="0" bIns="0" rtlCol="0" anchor="t"/>
          <a:lstStyle/>
          <a:p>
            <a:pPr indent="0" marL="0">
              <a:buNone/>
            </a:pPr>
            <a:r>
              <a:rPr lang="en-US" sz="900" b="1" spc="100" kern="0" dirty="0">
                <a:solidFill>
                  <a:srgbClr val="B8B2E6"/>
                </a:solidFill>
                <a:latin typeface="Calibri" pitchFamily="34" charset="0"/>
                <a:ea typeface="Calibri" pitchFamily="34" charset="-122"/>
                <a:cs typeface="Calibri" pitchFamily="34" charset="-120"/>
              </a:rPr>
              <a:t>STARTS FROM</a:t>
            </a:r>
            <a:endParaRPr lang="en-US" sz="900" dirty="0"/>
          </a:p>
        </p:txBody>
      </p:sp>
      <p:sp>
        <p:nvSpPr>
          <p:cNvPr id="6" name="Text 4"/>
          <p:cNvSpPr txBox="1"/>
          <p:nvPr/>
        </p:nvSpPr>
        <p:spPr>
          <a:xfrm>
            <a:off x="1554480" y="3291840"/>
            <a:ext cx="3291840" cy="365760"/>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5 scripted turns</a:t>
            </a:r>
            <a:endParaRPr lang="en-US" sz="1100" dirty="0"/>
          </a:p>
        </p:txBody>
      </p:sp>
      <p:sp>
        <p:nvSpPr>
          <p:cNvPr id="7" name="Text 5"/>
          <p:cNvSpPr txBox="1"/>
          <p:nvPr/>
        </p:nvSpPr>
        <p:spPr>
          <a:xfrm>
            <a:off x="457200" y="3803904"/>
            <a:ext cx="1097280" cy="274320"/>
          </a:xfrm>
          <a:prstGeom prst="rect">
            <a:avLst/>
          </a:prstGeom>
          <a:noFill/>
          <a:ln/>
        </p:spPr>
        <p:txBody>
          <a:bodyPr wrap="square" lIns="0" tIns="0" rIns="0" bIns="0" rtlCol="0" anchor="t"/>
          <a:lstStyle/>
          <a:p>
            <a:pPr indent="0" marL="0">
              <a:buNone/>
            </a:pPr>
            <a:r>
              <a:rPr lang="en-US" sz="900" b="1" spc="100" kern="0" dirty="0">
                <a:solidFill>
                  <a:srgbClr val="B8B2E6"/>
                </a:solidFill>
                <a:latin typeface="Calibri" pitchFamily="34" charset="0"/>
                <a:ea typeface="Calibri" pitchFamily="34" charset="-122"/>
                <a:cs typeface="Calibri" pitchFamily="34" charset="-120"/>
              </a:rPr>
              <a:t>FINISHES AS</a:t>
            </a:r>
            <a:endParaRPr lang="en-US" sz="900" dirty="0"/>
          </a:p>
        </p:txBody>
      </p:sp>
      <p:sp>
        <p:nvSpPr>
          <p:cNvPr id="8" name="Text 6"/>
          <p:cNvSpPr txBox="1"/>
          <p:nvPr/>
        </p:nvSpPr>
        <p:spPr>
          <a:xfrm>
            <a:off x="1554480" y="3749040"/>
            <a:ext cx="3291840" cy="365760"/>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top-2 facts by relevance</a:t>
            </a:r>
            <a:endParaRPr lang="en-US" sz="1100" dirty="0"/>
          </a:p>
        </p:txBody>
      </p:sp>
      <p:sp>
        <p:nvSpPr>
          <p:cNvPr id="9" name="Shape 7"/>
          <p:cNvSpPr/>
          <p:nvPr/>
        </p:nvSpPr>
        <p:spPr>
          <a:xfrm>
            <a:off x="4983480" y="502920"/>
            <a:ext cx="3703320" cy="4069080"/>
          </a:xfrm>
          <a:prstGeom prst="roundRect">
            <a:avLst>
              <a:gd name="adj" fmla="val 1975"/>
            </a:avLst>
          </a:prstGeom>
          <a:solidFill>
            <a:srgbClr val="1F2943"/>
          </a:solidFill>
          <a:ln w="12700">
            <a:solidFill>
              <a:srgbClr val="1F2943"/>
            </a:solidFill>
            <a:prstDash val="solid"/>
          </a:ln>
        </p:spPr>
      </p:sp>
      <p:sp>
        <p:nvSpPr>
          <p:cNvPr id="10" name="Text 8"/>
          <p:cNvSpPr txBox="1"/>
          <p:nvPr/>
        </p:nvSpPr>
        <p:spPr>
          <a:xfrm>
            <a:off x="5257800" y="731520"/>
            <a:ext cx="3200400" cy="365760"/>
          </a:xfrm>
          <a:prstGeom prst="rect">
            <a:avLst/>
          </a:prstGeom>
          <a:noFill/>
          <a:ln/>
        </p:spPr>
        <p:txBody>
          <a:bodyPr wrap="square" lIns="0" tIns="0" rIns="0" bIns="0" rtlCol="0" anchor="t"/>
          <a:lstStyle/>
          <a:p>
            <a:pPr indent="0" marL="0">
              <a:buNone/>
            </a:pPr>
            <a:r>
              <a:rPr lang="en-US" sz="1600" b="1" dirty="0">
                <a:solidFill>
                  <a:srgbClr val="FFFFFF"/>
                </a:solidFill>
                <a:latin typeface="Cambria" pitchFamily="34" charset="0"/>
                <a:ea typeface="Cambria" pitchFamily="34" charset="-122"/>
                <a:cs typeface="Cambria" pitchFamily="34" charset="-120"/>
              </a:rPr>
              <a:t>In this lesson you'll learn</a:t>
            </a:r>
            <a:endParaRPr lang="en-US" sz="1600" dirty="0"/>
          </a:p>
        </p:txBody>
      </p:sp>
      <p:sp>
        <p:nvSpPr>
          <p:cNvPr id="11" name="Shape 9"/>
          <p:cNvSpPr/>
          <p:nvPr/>
        </p:nvSpPr>
        <p:spPr>
          <a:xfrm>
            <a:off x="5257800" y="1252728"/>
            <a:ext cx="310896" cy="310896"/>
          </a:xfrm>
          <a:prstGeom prst="ellipse">
            <a:avLst/>
          </a:prstGeom>
          <a:solidFill>
            <a:srgbClr val="512BD4"/>
          </a:solidFill>
          <a:ln w="12700">
            <a:solidFill>
              <a:srgbClr val="512BD4"/>
            </a:solidFill>
            <a:prstDash val="solid"/>
          </a:ln>
        </p:spPr>
      </p:sp>
      <p:pic>
        <p:nvPicPr>
          <p:cNvPr id="12" name="Image 0" descr="preencoded.png">    </p:cNvPr>
          <p:cNvPicPr>
            <a:picLocks noChangeAspect="1"/>
          </p:cNvPicPr>
          <p:nvPr/>
        </p:nvPicPr>
        <p:blipFill>
          <a:blip r:embed="rId1"/>
          <a:stretch>
            <a:fillRect/>
          </a:stretch>
        </p:blipFill>
        <p:spPr>
          <a:xfrm>
            <a:off x="5338633" y="1333561"/>
            <a:ext cx="149230" cy="149230"/>
          </a:xfrm>
          <a:prstGeom prst="rect">
            <a:avLst/>
          </a:prstGeom>
        </p:spPr>
      </p:pic>
      <p:sp>
        <p:nvSpPr>
          <p:cNvPr id="13" name="Text 10"/>
          <p:cNvSpPr txBox="1"/>
          <p:nvPr/>
        </p:nvSpPr>
        <p:spPr>
          <a:xfrm>
            <a:off x="5715000" y="123444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Extract durable facts from conversation turns</a:t>
            </a:r>
            <a:endParaRPr lang="en-US" sz="1300" dirty="0"/>
          </a:p>
        </p:txBody>
      </p:sp>
      <p:sp>
        <p:nvSpPr>
          <p:cNvPr id="14" name="Shape 11"/>
          <p:cNvSpPr/>
          <p:nvPr/>
        </p:nvSpPr>
        <p:spPr>
          <a:xfrm>
            <a:off x="5257800" y="1892808"/>
            <a:ext cx="310896" cy="310896"/>
          </a:xfrm>
          <a:prstGeom prst="ellipse">
            <a:avLst/>
          </a:prstGeom>
          <a:solidFill>
            <a:srgbClr val="512BD4"/>
          </a:solidFill>
          <a:ln w="12700">
            <a:solidFill>
              <a:srgbClr val="512BD4"/>
            </a:solidFill>
            <a:prstDash val="solid"/>
          </a:ln>
        </p:spPr>
      </p:sp>
      <p:pic>
        <p:nvPicPr>
          <p:cNvPr id="15" name="Image 1" descr="preencoded.png">    </p:cNvPr>
          <p:cNvPicPr>
            <a:picLocks noChangeAspect="1"/>
          </p:cNvPicPr>
          <p:nvPr/>
        </p:nvPicPr>
        <p:blipFill>
          <a:blip r:embed="rId2"/>
          <a:stretch>
            <a:fillRect/>
          </a:stretch>
        </p:blipFill>
        <p:spPr>
          <a:xfrm>
            <a:off x="5338633" y="1973641"/>
            <a:ext cx="149230" cy="149230"/>
          </a:xfrm>
          <a:prstGeom prst="rect">
            <a:avLst/>
          </a:prstGeom>
        </p:spPr>
      </p:pic>
      <p:sp>
        <p:nvSpPr>
          <p:cNvPr id="16" name="Text 12"/>
          <p:cNvSpPr txBox="1"/>
          <p:nvPr/>
        </p:nvSpPr>
        <p:spPr>
          <a:xfrm>
            <a:off x="5715000" y="187452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Store each fact with its embedding vector</a:t>
            </a:r>
            <a:endParaRPr lang="en-US" sz="1300" dirty="0"/>
          </a:p>
        </p:txBody>
      </p:sp>
      <p:sp>
        <p:nvSpPr>
          <p:cNvPr id="17" name="Shape 13"/>
          <p:cNvSpPr/>
          <p:nvPr/>
        </p:nvSpPr>
        <p:spPr>
          <a:xfrm>
            <a:off x="5257800" y="2532888"/>
            <a:ext cx="310896" cy="310896"/>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5338633" y="2613721"/>
            <a:ext cx="149230" cy="149230"/>
          </a:xfrm>
          <a:prstGeom prst="rect">
            <a:avLst/>
          </a:prstGeom>
        </p:spPr>
      </p:pic>
      <p:sp>
        <p:nvSpPr>
          <p:cNvPr id="19" name="Text 14"/>
          <p:cNvSpPr txBox="1"/>
          <p:nvPr/>
        </p:nvSpPr>
        <p:spPr>
          <a:xfrm>
            <a:off x="5715000" y="251460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Rank memories by cosine similarity to a query</a:t>
            </a:r>
            <a:endParaRPr lang="en-US" sz="1300" dirty="0"/>
          </a:p>
        </p:txBody>
      </p:sp>
      <p:sp>
        <p:nvSpPr>
          <p:cNvPr id="20" name="Shape 15"/>
          <p:cNvSpPr/>
          <p:nvPr/>
        </p:nvSpPr>
        <p:spPr>
          <a:xfrm>
            <a:off x="5257800" y="3172968"/>
            <a:ext cx="310896" cy="310896"/>
          </a:xfrm>
          <a:prstGeom prst="ellipse">
            <a:avLst/>
          </a:prstGeom>
          <a:solidFill>
            <a:srgbClr val="512BD4"/>
          </a:solidFill>
          <a:ln w="12700">
            <a:solidFill>
              <a:srgbClr val="512BD4"/>
            </a:solidFill>
            <a:prstDash val="solid"/>
          </a:ln>
        </p:spPr>
      </p:sp>
      <p:pic>
        <p:nvPicPr>
          <p:cNvPr id="21" name="Image 3" descr="preencoded.png">    </p:cNvPr>
          <p:cNvPicPr>
            <a:picLocks noChangeAspect="1"/>
          </p:cNvPicPr>
          <p:nvPr/>
        </p:nvPicPr>
        <p:blipFill>
          <a:blip r:embed="rId4"/>
          <a:stretch>
            <a:fillRect/>
          </a:stretch>
        </p:blipFill>
        <p:spPr>
          <a:xfrm>
            <a:off x="5338633" y="3253801"/>
            <a:ext cx="149230" cy="149230"/>
          </a:xfrm>
          <a:prstGeom prst="rect">
            <a:avLst/>
          </a:prstGeom>
        </p:spPr>
      </p:pic>
      <p:sp>
        <p:nvSpPr>
          <p:cNvPr id="22" name="Text 16"/>
          <p:cNvSpPr txBox="1"/>
          <p:nvPr/>
        </p:nvSpPr>
        <p:spPr>
          <a:xfrm>
            <a:off x="5715000" y="315468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Compare relevance with recency on the same data</a:t>
            </a:r>
            <a:endParaRPr lang="en-US" sz="1300" dirty="0"/>
          </a:p>
        </p:txBody>
      </p:sp>
      <p:sp>
        <p:nvSpPr>
          <p:cNvPr id="23" name="Shape 17"/>
          <p:cNvSpPr/>
          <p:nvPr/>
        </p:nvSpPr>
        <p:spPr>
          <a:xfrm>
            <a:off x="5257800" y="3813048"/>
            <a:ext cx="310896" cy="310896"/>
          </a:xfrm>
          <a:prstGeom prst="ellipse">
            <a:avLst/>
          </a:prstGeom>
          <a:solidFill>
            <a:srgbClr val="512BD4"/>
          </a:solidFill>
          <a:ln w="12700">
            <a:solidFill>
              <a:srgbClr val="512BD4"/>
            </a:solidFill>
            <a:prstDash val="solid"/>
          </a:ln>
        </p:spPr>
      </p:sp>
      <p:pic>
        <p:nvPicPr>
          <p:cNvPr id="24" name="Image 4" descr="preencoded.png">    </p:cNvPr>
          <p:cNvPicPr>
            <a:picLocks noChangeAspect="1"/>
          </p:cNvPicPr>
          <p:nvPr/>
        </p:nvPicPr>
        <p:blipFill>
          <a:blip r:embed="rId5"/>
          <a:stretch>
            <a:fillRect/>
          </a:stretch>
        </p:blipFill>
        <p:spPr>
          <a:xfrm>
            <a:off x="5338633" y="3893881"/>
            <a:ext cx="149230" cy="149230"/>
          </a:xfrm>
          <a:prstGeom prst="rect">
            <a:avLst/>
          </a:prstGeom>
        </p:spPr>
      </p:pic>
      <p:sp>
        <p:nvSpPr>
          <p:cNvPr id="25" name="Text 18"/>
          <p:cNvSpPr txBox="1"/>
          <p:nvPr/>
        </p:nvSpPr>
        <p:spPr>
          <a:xfrm>
            <a:off x="5715000" y="379476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Keep a structured-output schema to one field</a:t>
            </a:r>
            <a:endParaRPr lang="en-US" sz="1300" dirty="0"/>
          </a:p>
        </p:txBody>
      </p:sp>
      <p:sp>
        <p:nvSpPr>
          <p:cNvPr id="26" name="Text 19"/>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B8B2E6"/>
                </a:solidFill>
                <a:latin typeface="Calibri" pitchFamily="34" charset="0"/>
                <a:ea typeface="Calibri" pitchFamily="34" charset="-122"/>
                <a:cs typeface="Calibri" pitchFamily="34" charset="-120"/>
              </a:rPr>
              <a:t>Applied Agentic Orchestration with Semantic Kernel  ·  Lesson 38 — Episodic Memory</a:t>
            </a:r>
            <a:endParaRPr lang="en-US" sz="900" dirty="0"/>
          </a:p>
        </p:txBody>
      </p:sp>
      <p:sp>
        <p:nvSpPr>
          <p:cNvPr id="27" name="Text 20"/>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B8B2E6"/>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WHAT CHANGES</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From a flat fact list to a vector index</a:t>
            </a:r>
            <a:endParaRPr lang="en-US" sz="2800" dirty="0"/>
          </a:p>
        </p:txBody>
      </p:sp>
      <p:sp>
        <p:nvSpPr>
          <p:cNvPr id="4" name="Shape 2"/>
          <p:cNvSpPr/>
          <p:nvPr/>
        </p:nvSpPr>
        <p:spPr>
          <a:xfrm>
            <a:off x="457200" y="1371600"/>
            <a:ext cx="3931920" cy="1828800"/>
          </a:xfrm>
          <a:prstGeom prst="roundRect">
            <a:avLst>
              <a:gd name="adj" fmla="val 4000"/>
            </a:avLst>
          </a:prstGeom>
          <a:solidFill>
            <a:srgbClr val="F6F4FE"/>
          </a:solidFill>
          <a:ln w="12700">
            <a:solidFill>
              <a:srgbClr val="F6F4FE"/>
            </a:solidFill>
            <a:prstDash val="solid"/>
          </a:ln>
        </p:spPr>
      </p:sp>
      <p:sp>
        <p:nvSpPr>
          <p:cNvPr id="5" name="Shape 3"/>
          <p:cNvSpPr/>
          <p:nvPr/>
        </p:nvSpPr>
        <p:spPr>
          <a:xfrm>
            <a:off x="685800" y="1600200"/>
            <a:ext cx="438912" cy="438912"/>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99917" y="1714317"/>
            <a:ext cx="210678" cy="210678"/>
          </a:xfrm>
          <a:prstGeom prst="rect">
            <a:avLst/>
          </a:prstGeom>
        </p:spPr>
      </p:pic>
      <p:sp>
        <p:nvSpPr>
          <p:cNvPr id="7" name="Text 4"/>
          <p:cNvSpPr txBox="1"/>
          <p:nvPr/>
        </p:nvSpPr>
        <p:spPr>
          <a:xfrm>
            <a:off x="126187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Lesson 25: flat list</a:t>
            </a:r>
            <a:endParaRPr lang="en-US" sz="1700" dirty="0"/>
          </a:p>
        </p:txBody>
      </p:sp>
      <p:sp>
        <p:nvSpPr>
          <p:cNvPr id="8" name="Text 5"/>
          <p:cNvSpPr txBox="1"/>
          <p:nvPr/>
        </p:nvSpPr>
        <p:spPr>
          <a:xfrm>
            <a:off x="68580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Facts kept in a List&lt;string&gt;</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Every fact, in the order learned</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No ranking against the question</a:t>
            </a:r>
            <a:endParaRPr lang="en-US" sz="1300" dirty="0"/>
          </a:p>
        </p:txBody>
      </p:sp>
      <p:sp>
        <p:nvSpPr>
          <p:cNvPr id="9" name="Shape 6"/>
          <p:cNvSpPr/>
          <p:nvPr/>
        </p:nvSpPr>
        <p:spPr>
          <a:xfrm>
            <a:off x="4754880" y="1371600"/>
            <a:ext cx="3931920" cy="1828800"/>
          </a:xfrm>
          <a:prstGeom prst="roundRect">
            <a:avLst>
              <a:gd name="adj" fmla="val 4000"/>
            </a:avLst>
          </a:prstGeom>
          <a:solidFill>
            <a:srgbClr val="EFEBFC"/>
          </a:solidFill>
          <a:ln w="12700">
            <a:solidFill>
              <a:srgbClr val="EFEBFC"/>
            </a:solidFill>
            <a:prstDash val="solid"/>
          </a:ln>
        </p:spPr>
      </p:sp>
      <p:sp>
        <p:nvSpPr>
          <p:cNvPr id="10" name="Shape 7"/>
          <p:cNvSpPr/>
          <p:nvPr/>
        </p:nvSpPr>
        <p:spPr>
          <a:xfrm>
            <a:off x="4983480" y="1600200"/>
            <a:ext cx="438912" cy="438912"/>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5097597" y="1714317"/>
            <a:ext cx="210678" cy="210678"/>
          </a:xfrm>
          <a:prstGeom prst="rect">
            <a:avLst/>
          </a:prstGeom>
        </p:spPr>
      </p:pic>
      <p:sp>
        <p:nvSpPr>
          <p:cNvPr id="12" name="Text 8"/>
          <p:cNvSpPr txBox="1"/>
          <p:nvPr/>
        </p:nvSpPr>
        <p:spPr>
          <a:xfrm>
            <a:off x="555955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Lesson 38: vector index</a:t>
            </a:r>
            <a:endParaRPr lang="en-US" sz="1700" dirty="0"/>
          </a:p>
        </p:txBody>
      </p:sp>
      <p:sp>
        <p:nvSpPr>
          <p:cNvPr id="13" name="Text 9"/>
          <p:cNvSpPr txBox="1"/>
          <p:nvPr/>
        </p:nvSpPr>
        <p:spPr>
          <a:xfrm>
            <a:off x="498348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Each fact stored with its embedding</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Ranked by cosine similarity</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Top K most relevant facts recalled</a:t>
            </a:r>
            <a:endParaRPr lang="en-US" sz="1300" dirty="0"/>
          </a:p>
        </p:txBody>
      </p:sp>
      <p:sp>
        <p:nvSpPr>
          <p:cNvPr id="14" name="Text 10"/>
          <p:cNvSpPr txBox="1"/>
          <p:nvPr/>
        </p:nvSpPr>
        <p:spPr>
          <a:xfrm>
            <a:off x="457200" y="347472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Same job, extracting facts; a new way to choose which ones to recall.</a:t>
            </a:r>
            <a:endParaRPr lang="en-US" sz="1400" dirty="0"/>
          </a:p>
        </p:txBody>
      </p:sp>
      <p:sp>
        <p:nvSpPr>
          <p:cNvPr id="15" name="Text 11"/>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38 — Episodic Memory</a:t>
            </a:r>
            <a:endParaRPr lang="en-US" sz="900" dirty="0"/>
          </a:p>
        </p:txBody>
      </p:sp>
      <p:sp>
        <p:nvSpPr>
          <p:cNvPr id="16" name="Text 12"/>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SETUP</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What you need before writing any code</a:t>
            </a:r>
            <a:endParaRPr lang="en-US" sz="2800" dirty="0"/>
          </a:p>
        </p:txBody>
      </p:sp>
      <p:sp>
        <p:nvSpPr>
          <p:cNvPr id="4" name="Shape 2"/>
          <p:cNvSpPr/>
          <p:nvPr/>
        </p:nvSpPr>
        <p:spPr>
          <a:xfrm>
            <a:off x="457200" y="1371600"/>
            <a:ext cx="3977640" cy="1394460"/>
          </a:xfrm>
          <a:prstGeom prst="roundRect">
            <a:avLst>
              <a:gd name="adj" fmla="val 5246"/>
            </a:avLst>
          </a:prstGeom>
          <a:solidFill>
            <a:srgbClr val="EFEBFC"/>
          </a:solidFill>
          <a:ln w="12700">
            <a:solidFill>
              <a:srgbClr val="EFEBFC"/>
            </a:solidFill>
            <a:prstDash val="solid"/>
          </a:ln>
        </p:spPr>
      </p:sp>
      <p:sp>
        <p:nvSpPr>
          <p:cNvPr id="5" name="Shape 3"/>
          <p:cNvSpPr/>
          <p:nvPr/>
        </p:nvSpPr>
        <p:spPr>
          <a:xfrm>
            <a:off x="640080" y="1554480"/>
            <a:ext cx="384048" cy="384048"/>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39932" y="1654332"/>
            <a:ext cx="184343" cy="184343"/>
          </a:xfrm>
          <a:prstGeom prst="rect">
            <a:avLst/>
          </a:prstGeom>
        </p:spPr>
      </p:pic>
      <p:sp>
        <p:nvSpPr>
          <p:cNvPr id="7" name="Text 4"/>
          <p:cNvSpPr txBox="1"/>
          <p:nvPr/>
        </p:nvSpPr>
        <p:spPr>
          <a:xfrm>
            <a:off x="1143000" y="1554480"/>
            <a:ext cx="315468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alibri" pitchFamily="34" charset="0"/>
                <a:ea typeface="Calibri" pitchFamily="34" charset="-122"/>
                <a:cs typeface="Calibri" pitchFamily="34" charset="-120"/>
              </a:rPr>
              <a:t>.NET 10 and two packages</a:t>
            </a:r>
            <a:endParaRPr lang="en-US" sz="1500" dirty="0"/>
          </a:p>
        </p:txBody>
      </p:sp>
      <p:sp>
        <p:nvSpPr>
          <p:cNvPr id="8" name="Text 5"/>
          <p:cNvSpPr txBox="1"/>
          <p:nvPr/>
        </p:nvSpPr>
        <p:spPr>
          <a:xfrm>
            <a:off x="640080" y="2057400"/>
            <a:ext cx="361188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Microsoft.SemanticKernel and Connectors.OpenAI 1.78.0, opened as EpisodicMemory.slnx.</a:t>
            </a:r>
            <a:endParaRPr lang="en-US" sz="1200" dirty="0"/>
          </a:p>
        </p:txBody>
      </p:sp>
      <p:sp>
        <p:nvSpPr>
          <p:cNvPr id="9" name="Shape 6"/>
          <p:cNvSpPr/>
          <p:nvPr/>
        </p:nvSpPr>
        <p:spPr>
          <a:xfrm>
            <a:off x="4709160" y="1371600"/>
            <a:ext cx="3977640" cy="1394460"/>
          </a:xfrm>
          <a:prstGeom prst="roundRect">
            <a:avLst>
              <a:gd name="adj" fmla="val 5246"/>
            </a:avLst>
          </a:prstGeom>
          <a:solidFill>
            <a:srgbClr val="EFEBFC"/>
          </a:solidFill>
          <a:ln w="12700">
            <a:solidFill>
              <a:srgbClr val="EFEBFC"/>
            </a:solidFill>
            <a:prstDash val="solid"/>
          </a:ln>
        </p:spPr>
      </p:sp>
      <p:sp>
        <p:nvSpPr>
          <p:cNvPr id="10" name="Shape 7"/>
          <p:cNvSpPr/>
          <p:nvPr/>
        </p:nvSpPr>
        <p:spPr>
          <a:xfrm>
            <a:off x="4892040" y="155448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4991892" y="1654332"/>
            <a:ext cx="184343" cy="184343"/>
          </a:xfrm>
          <a:prstGeom prst="rect">
            <a:avLst/>
          </a:prstGeom>
        </p:spPr>
      </p:pic>
      <p:sp>
        <p:nvSpPr>
          <p:cNvPr id="12" name="Text 8"/>
          <p:cNvSpPr txBox="1"/>
          <p:nvPr/>
        </p:nvSpPr>
        <p:spPr>
          <a:xfrm>
            <a:off x="5394960" y="1554480"/>
            <a:ext cx="315468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ourier New" pitchFamily="34" charset="0"/>
                <a:ea typeface="Courier New" pitchFamily="34" charset="-122"/>
                <a:cs typeface="Courier New" pitchFamily="34" charset="-120"/>
              </a:rPr>
              <a:t>OPENAI_API_KEY</a:t>
            </a:r>
            <a:endParaRPr lang="en-US" sz="1500" dirty="0"/>
          </a:p>
        </p:txBody>
      </p:sp>
      <p:sp>
        <p:nvSpPr>
          <p:cNvPr id="13" name="Text 9"/>
          <p:cNvSpPr txBox="1"/>
          <p:nvPr/>
        </p:nvSpPr>
        <p:spPr>
          <a:xfrm>
            <a:off x="4892040" y="2057400"/>
            <a:ext cx="361188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Read from the environment and shared by both OpenAI services.</a:t>
            </a:r>
            <a:endParaRPr lang="en-US" sz="1200" dirty="0"/>
          </a:p>
        </p:txBody>
      </p:sp>
      <p:sp>
        <p:nvSpPr>
          <p:cNvPr id="14" name="Shape 10"/>
          <p:cNvSpPr/>
          <p:nvPr/>
        </p:nvSpPr>
        <p:spPr>
          <a:xfrm>
            <a:off x="457200" y="2994660"/>
            <a:ext cx="3977640" cy="1394460"/>
          </a:xfrm>
          <a:prstGeom prst="roundRect">
            <a:avLst>
              <a:gd name="adj" fmla="val 5246"/>
            </a:avLst>
          </a:prstGeom>
          <a:solidFill>
            <a:srgbClr val="EFEBFC"/>
          </a:solidFill>
          <a:ln w="12700">
            <a:solidFill>
              <a:srgbClr val="EFEBFC"/>
            </a:solidFill>
            <a:prstDash val="solid"/>
          </a:ln>
        </p:spPr>
      </p:sp>
      <p:sp>
        <p:nvSpPr>
          <p:cNvPr id="15" name="Shape 11"/>
          <p:cNvSpPr/>
          <p:nvPr/>
        </p:nvSpPr>
        <p:spPr>
          <a:xfrm>
            <a:off x="640080" y="3177540"/>
            <a:ext cx="384048" cy="384048"/>
          </a:xfrm>
          <a:prstGeom prst="ellipse">
            <a:avLst/>
          </a:prstGeom>
          <a:solidFill>
            <a:srgbClr val="512BD4"/>
          </a:solidFill>
          <a:ln w="12700">
            <a:solidFill>
              <a:srgbClr val="512BD4"/>
            </a:solidFill>
            <a:prstDash val="solid"/>
          </a:ln>
        </p:spPr>
      </p:sp>
      <p:pic>
        <p:nvPicPr>
          <p:cNvPr id="16" name="Image 2" descr="preencoded.png">    </p:cNvPr>
          <p:cNvPicPr>
            <a:picLocks noChangeAspect="1"/>
          </p:cNvPicPr>
          <p:nvPr/>
        </p:nvPicPr>
        <p:blipFill>
          <a:blip r:embed="rId3"/>
          <a:stretch>
            <a:fillRect/>
          </a:stretch>
        </p:blipFill>
        <p:spPr>
          <a:xfrm>
            <a:off x="739932" y="3277392"/>
            <a:ext cx="184343" cy="184343"/>
          </a:xfrm>
          <a:prstGeom prst="rect">
            <a:avLst/>
          </a:prstGeom>
        </p:spPr>
      </p:pic>
      <p:sp>
        <p:nvSpPr>
          <p:cNvPr id="17" name="Text 12"/>
          <p:cNvSpPr txBox="1"/>
          <p:nvPr/>
        </p:nvSpPr>
        <p:spPr>
          <a:xfrm>
            <a:off x="1143000" y="3177540"/>
            <a:ext cx="315468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alibri" pitchFamily="34" charset="0"/>
                <a:ea typeface="Calibri" pitchFamily="34" charset="-122"/>
                <a:cs typeface="Calibri" pitchFamily="34" charset="-120"/>
              </a:rPr>
              <a:t>Two models</a:t>
            </a:r>
            <a:endParaRPr lang="en-US" sz="1500" dirty="0"/>
          </a:p>
        </p:txBody>
      </p:sp>
      <p:sp>
        <p:nvSpPr>
          <p:cNvPr id="18" name="Text 13"/>
          <p:cNvSpPr txBox="1"/>
          <p:nvPr/>
        </p:nvSpPr>
        <p:spPr>
          <a:xfrm>
            <a:off x="640080" y="3680460"/>
            <a:ext cx="361188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gpt-4.1-mini extracts facts; text-embedding-3-small turns them into vectors.</a:t>
            </a:r>
            <a:endParaRPr lang="en-US" sz="1200" dirty="0"/>
          </a:p>
        </p:txBody>
      </p:sp>
      <p:sp>
        <p:nvSpPr>
          <p:cNvPr id="19" name="Shape 14"/>
          <p:cNvSpPr/>
          <p:nvPr/>
        </p:nvSpPr>
        <p:spPr>
          <a:xfrm>
            <a:off x="4709160" y="2994660"/>
            <a:ext cx="3977640" cy="1394460"/>
          </a:xfrm>
          <a:prstGeom prst="roundRect">
            <a:avLst>
              <a:gd name="adj" fmla="val 5246"/>
            </a:avLst>
          </a:prstGeom>
          <a:solidFill>
            <a:srgbClr val="EFEBFC"/>
          </a:solidFill>
          <a:ln w="12700">
            <a:solidFill>
              <a:srgbClr val="EFEBFC"/>
            </a:solidFill>
            <a:prstDash val="solid"/>
          </a:ln>
        </p:spPr>
      </p:sp>
      <p:sp>
        <p:nvSpPr>
          <p:cNvPr id="20" name="Shape 15"/>
          <p:cNvSpPr/>
          <p:nvPr/>
        </p:nvSpPr>
        <p:spPr>
          <a:xfrm>
            <a:off x="4892040" y="3177540"/>
            <a:ext cx="384048" cy="384048"/>
          </a:xfrm>
          <a:prstGeom prst="ellipse">
            <a:avLst/>
          </a:prstGeom>
          <a:solidFill>
            <a:srgbClr val="512BD4"/>
          </a:solidFill>
          <a:ln w="12700">
            <a:solidFill>
              <a:srgbClr val="512BD4"/>
            </a:solidFill>
            <a:prstDash val="solid"/>
          </a:ln>
        </p:spPr>
      </p:sp>
      <p:pic>
        <p:nvPicPr>
          <p:cNvPr id="21" name="Image 3" descr="preencoded.png">    </p:cNvPr>
          <p:cNvPicPr>
            <a:picLocks noChangeAspect="1"/>
          </p:cNvPicPr>
          <p:nvPr/>
        </p:nvPicPr>
        <p:blipFill>
          <a:blip r:embed="rId4"/>
          <a:stretch>
            <a:fillRect/>
          </a:stretch>
        </p:blipFill>
        <p:spPr>
          <a:xfrm>
            <a:off x="4991892" y="3277392"/>
            <a:ext cx="184343" cy="184343"/>
          </a:xfrm>
          <a:prstGeom prst="rect">
            <a:avLst/>
          </a:prstGeom>
        </p:spPr>
      </p:pic>
      <p:sp>
        <p:nvSpPr>
          <p:cNvPr id="22" name="Text 16"/>
          <p:cNvSpPr txBox="1"/>
          <p:nvPr/>
        </p:nvSpPr>
        <p:spPr>
          <a:xfrm>
            <a:off x="5394960" y="3177540"/>
            <a:ext cx="315468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ourier New" pitchFamily="34" charset="0"/>
                <a:ea typeface="Courier New" pitchFamily="34" charset="-122"/>
                <a:cs typeface="Courier New" pitchFamily="34" charset="-120"/>
              </a:rPr>
              <a:t>SKEXP0010</a:t>
            </a:r>
            <a:endParaRPr lang="en-US" sz="1500" dirty="0"/>
          </a:p>
        </p:txBody>
      </p:sp>
      <p:sp>
        <p:nvSpPr>
          <p:cNvPr id="23" name="Text 17"/>
          <p:cNvSpPr txBox="1"/>
          <p:nvPr/>
        </p:nvSpPr>
        <p:spPr>
          <a:xfrm>
            <a:off x="4892040" y="3680460"/>
            <a:ext cx="361188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AddOpenAIEmbeddingGenerator is experimental; the .csproj suppresses the warning.</a:t>
            </a:r>
            <a:endParaRPr lang="en-US" sz="1200" dirty="0"/>
          </a:p>
        </p:txBody>
      </p:sp>
      <p:sp>
        <p:nvSpPr>
          <p:cNvPr id="24" name="Text 18"/>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38 — Episodic Memory</a:t>
            </a:r>
            <a:endParaRPr lang="en-US" sz="900" dirty="0"/>
          </a:p>
        </p:txBody>
      </p:sp>
      <p:sp>
        <p:nvSpPr>
          <p:cNvPr id="25" name="Text 19"/>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THE PIPELINE</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From a chat turn to a ranked memory</a:t>
            </a:r>
            <a:endParaRPr lang="en-US" sz="2800" dirty="0"/>
          </a:p>
        </p:txBody>
      </p:sp>
      <p:sp>
        <p:nvSpPr>
          <p:cNvPr id="4" name="Shape 2"/>
          <p:cNvSpPr/>
          <p:nvPr/>
        </p:nvSpPr>
        <p:spPr>
          <a:xfrm>
            <a:off x="457200" y="1417320"/>
            <a:ext cx="1367942" cy="2185416"/>
          </a:xfrm>
          <a:prstGeom prst="roundRect">
            <a:avLst>
              <a:gd name="adj" fmla="val 5348"/>
            </a:avLst>
          </a:prstGeom>
          <a:solidFill>
            <a:srgbClr val="EFEBFC"/>
          </a:solidFill>
          <a:ln w="12700">
            <a:solidFill>
              <a:srgbClr val="EFEBFC"/>
            </a:solidFill>
            <a:prstDash val="solid"/>
          </a:ln>
        </p:spPr>
      </p:sp>
      <p:sp>
        <p:nvSpPr>
          <p:cNvPr id="5" name="Shape 3"/>
          <p:cNvSpPr/>
          <p:nvPr/>
        </p:nvSpPr>
        <p:spPr>
          <a:xfrm>
            <a:off x="640080" y="1618488"/>
            <a:ext cx="457200" cy="457200"/>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58952" y="1737360"/>
            <a:ext cx="219456" cy="219456"/>
          </a:xfrm>
          <a:prstGeom prst="rect">
            <a:avLst/>
          </a:prstGeom>
        </p:spPr>
      </p:pic>
      <p:sp>
        <p:nvSpPr>
          <p:cNvPr id="7" name="Text 4"/>
          <p:cNvSpPr txBox="1"/>
          <p:nvPr/>
        </p:nvSpPr>
        <p:spPr>
          <a:xfrm>
            <a:off x="640080" y="2194560"/>
            <a:ext cx="1047902" cy="411480"/>
          </a:xfrm>
          <a:prstGeom prst="rect">
            <a:avLst/>
          </a:prstGeom>
          <a:noFill/>
          <a:ln/>
        </p:spPr>
        <p:txBody>
          <a:bodyPr wrap="square" lIns="0" tIns="0" rIns="0" bIns="0" rtlCol="0" anchor="t"/>
          <a:lstStyle/>
          <a:p>
            <a:pPr indent="0" marL="0">
              <a:buNone/>
            </a:pPr>
            <a:r>
              <a:rPr lang="en-US" sz="1300" b="1" dirty="0">
                <a:solidFill>
                  <a:srgbClr val="1F2937"/>
                </a:solidFill>
                <a:latin typeface="Calibri" pitchFamily="34" charset="0"/>
                <a:ea typeface="Calibri" pitchFamily="34" charset="-122"/>
                <a:cs typeface="Calibri" pitchFamily="34" charset="-120"/>
              </a:rPr>
              <a:t>Turn</a:t>
            </a:r>
            <a:endParaRPr lang="en-US" sz="1300" dirty="0"/>
          </a:p>
        </p:txBody>
      </p:sp>
      <p:sp>
        <p:nvSpPr>
          <p:cNvPr id="8" name="Text 5"/>
          <p:cNvSpPr txBox="1"/>
          <p:nvPr/>
        </p:nvSpPr>
        <p:spPr>
          <a:xfrm>
            <a:off x="640080" y="2606040"/>
            <a:ext cx="1047902" cy="905256"/>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One scripted user message.</a:t>
            </a:r>
            <a:endParaRPr lang="en-US" sz="1200" dirty="0"/>
          </a:p>
        </p:txBody>
      </p:sp>
      <p:sp>
        <p:nvSpPr>
          <p:cNvPr id="9" name="Shape 6"/>
          <p:cNvSpPr/>
          <p:nvPr/>
        </p:nvSpPr>
        <p:spPr>
          <a:xfrm>
            <a:off x="1889150" y="2400300"/>
            <a:ext cx="219456" cy="219456"/>
          </a:xfrm>
          <a:prstGeom prst="rightArrow">
            <a:avLst/>
          </a:prstGeom>
          <a:solidFill>
            <a:srgbClr val="F5A623"/>
          </a:solidFill>
          <a:ln w="12700">
            <a:solidFill>
              <a:srgbClr val="F5A623"/>
            </a:solidFill>
            <a:prstDash val="solid"/>
          </a:ln>
        </p:spPr>
      </p:sp>
      <p:sp>
        <p:nvSpPr>
          <p:cNvPr id="10" name="Shape 7"/>
          <p:cNvSpPr/>
          <p:nvPr/>
        </p:nvSpPr>
        <p:spPr>
          <a:xfrm>
            <a:off x="2172614" y="1417320"/>
            <a:ext cx="1367942" cy="2185416"/>
          </a:xfrm>
          <a:prstGeom prst="roundRect">
            <a:avLst>
              <a:gd name="adj" fmla="val 5348"/>
            </a:avLst>
          </a:prstGeom>
          <a:solidFill>
            <a:srgbClr val="EFEBFC"/>
          </a:solidFill>
          <a:ln w="12700">
            <a:solidFill>
              <a:srgbClr val="EFEBFC"/>
            </a:solidFill>
            <a:prstDash val="solid"/>
          </a:ln>
        </p:spPr>
      </p:sp>
      <p:sp>
        <p:nvSpPr>
          <p:cNvPr id="11" name="Shape 8"/>
          <p:cNvSpPr/>
          <p:nvPr/>
        </p:nvSpPr>
        <p:spPr>
          <a:xfrm>
            <a:off x="2355494" y="1618488"/>
            <a:ext cx="457200" cy="457200"/>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2474366" y="1737360"/>
            <a:ext cx="219456" cy="219456"/>
          </a:xfrm>
          <a:prstGeom prst="rect">
            <a:avLst/>
          </a:prstGeom>
        </p:spPr>
      </p:pic>
      <p:sp>
        <p:nvSpPr>
          <p:cNvPr id="13" name="Text 9"/>
          <p:cNvSpPr txBox="1"/>
          <p:nvPr/>
        </p:nvSpPr>
        <p:spPr>
          <a:xfrm>
            <a:off x="2355494" y="2194560"/>
            <a:ext cx="1047902" cy="411480"/>
          </a:xfrm>
          <a:prstGeom prst="rect">
            <a:avLst/>
          </a:prstGeom>
          <a:noFill/>
          <a:ln/>
        </p:spPr>
        <p:txBody>
          <a:bodyPr wrap="square" lIns="0" tIns="0" rIns="0" bIns="0" rtlCol="0" anchor="t"/>
          <a:lstStyle/>
          <a:p>
            <a:pPr indent="0" marL="0">
              <a:buNone/>
            </a:pPr>
            <a:r>
              <a:rPr lang="en-US" sz="1300" b="1" dirty="0">
                <a:solidFill>
                  <a:srgbClr val="1F2937"/>
                </a:solidFill>
                <a:latin typeface="Calibri" pitchFamily="34" charset="0"/>
                <a:ea typeface="Calibri" pitchFamily="34" charset="-122"/>
                <a:cs typeface="Calibri" pitchFamily="34" charset="-120"/>
              </a:rPr>
              <a:t>Extract</a:t>
            </a:r>
            <a:endParaRPr lang="en-US" sz="1300" dirty="0"/>
          </a:p>
        </p:txBody>
      </p:sp>
      <p:sp>
        <p:nvSpPr>
          <p:cNvPr id="14" name="Text 10"/>
          <p:cNvSpPr txBox="1"/>
          <p:nvPr/>
        </p:nvSpPr>
        <p:spPr>
          <a:xfrm>
            <a:off x="2355494" y="2606040"/>
            <a:ext cx="1047902" cy="905256"/>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 durable fact in third person, or none.</a:t>
            </a:r>
            <a:endParaRPr lang="en-US" sz="1200" dirty="0"/>
          </a:p>
        </p:txBody>
      </p:sp>
      <p:sp>
        <p:nvSpPr>
          <p:cNvPr id="15" name="Shape 11"/>
          <p:cNvSpPr/>
          <p:nvPr/>
        </p:nvSpPr>
        <p:spPr>
          <a:xfrm>
            <a:off x="3604565" y="2400300"/>
            <a:ext cx="219456" cy="219456"/>
          </a:xfrm>
          <a:prstGeom prst="rightArrow">
            <a:avLst/>
          </a:prstGeom>
          <a:solidFill>
            <a:srgbClr val="F5A623"/>
          </a:solidFill>
          <a:ln w="12700">
            <a:solidFill>
              <a:srgbClr val="F5A623"/>
            </a:solidFill>
            <a:prstDash val="solid"/>
          </a:ln>
        </p:spPr>
      </p:sp>
      <p:sp>
        <p:nvSpPr>
          <p:cNvPr id="16" name="Shape 12"/>
          <p:cNvSpPr/>
          <p:nvPr/>
        </p:nvSpPr>
        <p:spPr>
          <a:xfrm>
            <a:off x="3888029" y="1417320"/>
            <a:ext cx="1367942" cy="2185416"/>
          </a:xfrm>
          <a:prstGeom prst="roundRect">
            <a:avLst>
              <a:gd name="adj" fmla="val 5348"/>
            </a:avLst>
          </a:prstGeom>
          <a:solidFill>
            <a:srgbClr val="EFEBFC"/>
          </a:solidFill>
          <a:ln w="12700">
            <a:solidFill>
              <a:srgbClr val="EFEBFC"/>
            </a:solidFill>
            <a:prstDash val="solid"/>
          </a:ln>
        </p:spPr>
      </p:sp>
      <p:sp>
        <p:nvSpPr>
          <p:cNvPr id="17" name="Shape 13"/>
          <p:cNvSpPr/>
          <p:nvPr/>
        </p:nvSpPr>
        <p:spPr>
          <a:xfrm>
            <a:off x="4070909" y="1618488"/>
            <a:ext cx="457200" cy="457200"/>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4189781" y="1737360"/>
            <a:ext cx="219456" cy="219456"/>
          </a:xfrm>
          <a:prstGeom prst="rect">
            <a:avLst/>
          </a:prstGeom>
        </p:spPr>
      </p:pic>
      <p:sp>
        <p:nvSpPr>
          <p:cNvPr id="19" name="Text 14"/>
          <p:cNvSpPr txBox="1"/>
          <p:nvPr/>
        </p:nvSpPr>
        <p:spPr>
          <a:xfrm>
            <a:off x="4070909" y="2194560"/>
            <a:ext cx="1047902" cy="411480"/>
          </a:xfrm>
          <a:prstGeom prst="rect">
            <a:avLst/>
          </a:prstGeom>
          <a:noFill/>
          <a:ln/>
        </p:spPr>
        <p:txBody>
          <a:bodyPr wrap="square" lIns="0" tIns="0" rIns="0" bIns="0" rtlCol="0" anchor="t"/>
          <a:lstStyle/>
          <a:p>
            <a:pPr indent="0" marL="0">
              <a:buNone/>
            </a:pPr>
            <a:r>
              <a:rPr lang="en-US" sz="1300" b="1" dirty="0">
                <a:solidFill>
                  <a:srgbClr val="1F2937"/>
                </a:solidFill>
                <a:latin typeface="Calibri" pitchFamily="34" charset="0"/>
                <a:ea typeface="Calibri" pitchFamily="34" charset="-122"/>
                <a:cs typeface="Calibri" pitchFamily="34" charset="-120"/>
              </a:rPr>
              <a:t>Embed</a:t>
            </a:r>
            <a:endParaRPr lang="en-US" sz="1300" dirty="0"/>
          </a:p>
        </p:txBody>
      </p:sp>
      <p:sp>
        <p:nvSpPr>
          <p:cNvPr id="20" name="Text 15"/>
          <p:cNvSpPr txBox="1"/>
          <p:nvPr/>
        </p:nvSpPr>
        <p:spPr>
          <a:xfrm>
            <a:off x="4070909" y="2606040"/>
            <a:ext cx="1047902" cy="905256"/>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The fact becomes a vector.</a:t>
            </a:r>
            <a:endParaRPr lang="en-US" sz="1200" dirty="0"/>
          </a:p>
        </p:txBody>
      </p:sp>
      <p:sp>
        <p:nvSpPr>
          <p:cNvPr id="21" name="Shape 16"/>
          <p:cNvSpPr/>
          <p:nvPr/>
        </p:nvSpPr>
        <p:spPr>
          <a:xfrm>
            <a:off x="5319979" y="2400300"/>
            <a:ext cx="219456" cy="219456"/>
          </a:xfrm>
          <a:prstGeom prst="rightArrow">
            <a:avLst/>
          </a:prstGeom>
          <a:solidFill>
            <a:srgbClr val="F5A623"/>
          </a:solidFill>
          <a:ln w="12700">
            <a:solidFill>
              <a:srgbClr val="F5A623"/>
            </a:solidFill>
            <a:prstDash val="solid"/>
          </a:ln>
        </p:spPr>
      </p:sp>
      <p:sp>
        <p:nvSpPr>
          <p:cNvPr id="22" name="Shape 17"/>
          <p:cNvSpPr/>
          <p:nvPr/>
        </p:nvSpPr>
        <p:spPr>
          <a:xfrm>
            <a:off x="5603443" y="1417320"/>
            <a:ext cx="1367942" cy="2185416"/>
          </a:xfrm>
          <a:prstGeom prst="roundRect">
            <a:avLst>
              <a:gd name="adj" fmla="val 5348"/>
            </a:avLst>
          </a:prstGeom>
          <a:solidFill>
            <a:srgbClr val="EFEBFC"/>
          </a:solidFill>
          <a:ln w="12700">
            <a:solidFill>
              <a:srgbClr val="EFEBFC"/>
            </a:solidFill>
            <a:prstDash val="solid"/>
          </a:ln>
        </p:spPr>
      </p:sp>
      <p:sp>
        <p:nvSpPr>
          <p:cNvPr id="23" name="Shape 18"/>
          <p:cNvSpPr/>
          <p:nvPr/>
        </p:nvSpPr>
        <p:spPr>
          <a:xfrm>
            <a:off x="5786323" y="1618488"/>
            <a:ext cx="457200" cy="457200"/>
          </a:xfrm>
          <a:prstGeom prst="ellipse">
            <a:avLst/>
          </a:prstGeom>
          <a:solidFill>
            <a:srgbClr val="512BD4"/>
          </a:solidFill>
          <a:ln w="12700">
            <a:solidFill>
              <a:srgbClr val="512BD4"/>
            </a:solidFill>
            <a:prstDash val="solid"/>
          </a:ln>
        </p:spPr>
      </p:sp>
      <p:pic>
        <p:nvPicPr>
          <p:cNvPr id="24" name="Image 3" descr="preencoded.png">    </p:cNvPr>
          <p:cNvPicPr>
            <a:picLocks noChangeAspect="1"/>
          </p:cNvPicPr>
          <p:nvPr/>
        </p:nvPicPr>
        <p:blipFill>
          <a:blip r:embed="rId4"/>
          <a:stretch>
            <a:fillRect/>
          </a:stretch>
        </p:blipFill>
        <p:spPr>
          <a:xfrm>
            <a:off x="5905195" y="1737360"/>
            <a:ext cx="219456" cy="219456"/>
          </a:xfrm>
          <a:prstGeom prst="rect">
            <a:avLst/>
          </a:prstGeom>
        </p:spPr>
      </p:pic>
      <p:sp>
        <p:nvSpPr>
          <p:cNvPr id="25" name="Text 19"/>
          <p:cNvSpPr txBox="1"/>
          <p:nvPr/>
        </p:nvSpPr>
        <p:spPr>
          <a:xfrm>
            <a:off x="5786323" y="2194560"/>
            <a:ext cx="1047902" cy="411480"/>
          </a:xfrm>
          <a:prstGeom prst="rect">
            <a:avLst/>
          </a:prstGeom>
          <a:noFill/>
          <a:ln/>
        </p:spPr>
        <p:txBody>
          <a:bodyPr wrap="square" lIns="0" tIns="0" rIns="0" bIns="0" rtlCol="0" anchor="t"/>
          <a:lstStyle/>
          <a:p>
            <a:pPr indent="0" marL="0">
              <a:buNone/>
            </a:pPr>
            <a:r>
              <a:rPr lang="en-US" sz="1300" b="1" dirty="0">
                <a:solidFill>
                  <a:srgbClr val="1F2937"/>
                </a:solidFill>
                <a:latin typeface="Calibri" pitchFamily="34" charset="0"/>
                <a:ea typeface="Calibri" pitchFamily="34" charset="-122"/>
                <a:cs typeface="Calibri" pitchFamily="34" charset="-120"/>
              </a:rPr>
              <a:t>Remember</a:t>
            </a:r>
            <a:endParaRPr lang="en-US" sz="1300" dirty="0"/>
          </a:p>
        </p:txBody>
      </p:sp>
      <p:sp>
        <p:nvSpPr>
          <p:cNvPr id="26" name="Text 20"/>
          <p:cNvSpPr txBox="1"/>
          <p:nvPr/>
        </p:nvSpPr>
        <p:spPr>
          <a:xfrm>
            <a:off x="5786323" y="2606040"/>
            <a:ext cx="1047902" cy="905256"/>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Stored with its turn number.</a:t>
            </a:r>
            <a:endParaRPr lang="en-US" sz="1200" dirty="0"/>
          </a:p>
        </p:txBody>
      </p:sp>
      <p:sp>
        <p:nvSpPr>
          <p:cNvPr id="27" name="Shape 21"/>
          <p:cNvSpPr/>
          <p:nvPr/>
        </p:nvSpPr>
        <p:spPr>
          <a:xfrm>
            <a:off x="7035394" y="2400300"/>
            <a:ext cx="219456" cy="219456"/>
          </a:xfrm>
          <a:prstGeom prst="rightArrow">
            <a:avLst/>
          </a:prstGeom>
          <a:solidFill>
            <a:srgbClr val="F5A623"/>
          </a:solidFill>
          <a:ln w="12700">
            <a:solidFill>
              <a:srgbClr val="F5A623"/>
            </a:solidFill>
            <a:prstDash val="solid"/>
          </a:ln>
        </p:spPr>
      </p:sp>
      <p:sp>
        <p:nvSpPr>
          <p:cNvPr id="28" name="Shape 22"/>
          <p:cNvSpPr/>
          <p:nvPr/>
        </p:nvSpPr>
        <p:spPr>
          <a:xfrm>
            <a:off x="7318858" y="1417320"/>
            <a:ext cx="1367942" cy="2185416"/>
          </a:xfrm>
          <a:prstGeom prst="roundRect">
            <a:avLst>
              <a:gd name="adj" fmla="val 5348"/>
            </a:avLst>
          </a:prstGeom>
          <a:solidFill>
            <a:srgbClr val="512BD4"/>
          </a:solidFill>
          <a:ln w="12700">
            <a:solidFill>
              <a:srgbClr val="512BD4"/>
            </a:solidFill>
            <a:prstDash val="solid"/>
          </a:ln>
        </p:spPr>
      </p:sp>
      <p:sp>
        <p:nvSpPr>
          <p:cNvPr id="29" name="Shape 23"/>
          <p:cNvSpPr/>
          <p:nvPr/>
        </p:nvSpPr>
        <p:spPr>
          <a:xfrm>
            <a:off x="7501738" y="1618488"/>
            <a:ext cx="457200" cy="457200"/>
          </a:xfrm>
          <a:prstGeom prst="ellipse">
            <a:avLst/>
          </a:prstGeom>
          <a:solidFill>
            <a:srgbClr val="FFFFFF"/>
          </a:solidFill>
          <a:ln w="12700">
            <a:solidFill>
              <a:srgbClr val="FFFFFF"/>
            </a:solidFill>
            <a:prstDash val="solid"/>
          </a:ln>
        </p:spPr>
      </p:sp>
      <p:pic>
        <p:nvPicPr>
          <p:cNvPr id="30" name="Image 4" descr="preencoded.png">    </p:cNvPr>
          <p:cNvPicPr>
            <a:picLocks noChangeAspect="1"/>
          </p:cNvPicPr>
          <p:nvPr/>
        </p:nvPicPr>
        <p:blipFill>
          <a:blip r:embed="rId5"/>
          <a:stretch>
            <a:fillRect/>
          </a:stretch>
        </p:blipFill>
        <p:spPr>
          <a:xfrm>
            <a:off x="7620610" y="1737360"/>
            <a:ext cx="219456" cy="219456"/>
          </a:xfrm>
          <a:prstGeom prst="rect">
            <a:avLst/>
          </a:prstGeom>
        </p:spPr>
      </p:pic>
      <p:sp>
        <p:nvSpPr>
          <p:cNvPr id="31" name="Text 24"/>
          <p:cNvSpPr txBox="1"/>
          <p:nvPr/>
        </p:nvSpPr>
        <p:spPr>
          <a:xfrm>
            <a:off x="7501738" y="2194560"/>
            <a:ext cx="1047902" cy="411480"/>
          </a:xfrm>
          <a:prstGeom prst="rect">
            <a:avLst/>
          </a:prstGeom>
          <a:noFill/>
          <a:ln/>
        </p:spPr>
        <p:txBody>
          <a:bodyPr wrap="square" lIns="0" tIns="0" rIns="0" bIns="0"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Retrieve</a:t>
            </a:r>
            <a:endParaRPr lang="en-US" sz="1300" dirty="0"/>
          </a:p>
        </p:txBody>
      </p:sp>
      <p:sp>
        <p:nvSpPr>
          <p:cNvPr id="32" name="Text 25"/>
          <p:cNvSpPr txBox="1"/>
          <p:nvPr/>
        </p:nvSpPr>
        <p:spPr>
          <a:xfrm>
            <a:off x="7501738" y="2606040"/>
            <a:ext cx="1047902" cy="905256"/>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Top 2 by relevance, and by recency.</a:t>
            </a:r>
            <a:endParaRPr lang="en-US" sz="1200" dirty="0"/>
          </a:p>
        </p:txBody>
      </p:sp>
      <p:sp>
        <p:nvSpPr>
          <p:cNvPr id="33" name="Text 26"/>
          <p:cNvSpPr txBox="1"/>
          <p:nvPr/>
        </p:nvSpPr>
        <p:spPr>
          <a:xfrm>
            <a:off x="457200" y="3922776"/>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Extraction decides what to keep; the store decides what to recall.</a:t>
            </a:r>
            <a:endParaRPr lang="en-US" sz="1400" dirty="0"/>
          </a:p>
        </p:txBody>
      </p:sp>
      <p:sp>
        <p:nvSpPr>
          <p:cNvPr id="34" name="Text 27"/>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38 — Episodic Memory</a:t>
            </a:r>
            <a:endParaRPr lang="en-US" sz="900" dirty="0"/>
          </a:p>
        </p:txBody>
      </p:sp>
      <p:sp>
        <p:nvSpPr>
          <p:cNvPr id="35" name="Text 28"/>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One store, two ways to recall</a:t>
            </a:r>
            <a:endParaRPr lang="en-US" sz="2800" dirty="0"/>
          </a:p>
        </p:txBody>
      </p:sp>
      <p:sp>
        <p:nvSpPr>
          <p:cNvPr id="4" name="Shape 2"/>
          <p:cNvSpPr/>
          <p:nvPr/>
        </p:nvSpPr>
        <p:spPr>
          <a:xfrm>
            <a:off x="457200" y="1417320"/>
            <a:ext cx="2468880" cy="2377440"/>
          </a:xfrm>
          <a:prstGeom prst="roundRect">
            <a:avLst>
              <a:gd name="adj" fmla="val 3077"/>
            </a:avLst>
          </a:prstGeom>
          <a:solidFill>
            <a:srgbClr val="512BD4"/>
          </a:solidFill>
          <a:ln w="12700">
            <a:solidFill>
              <a:srgbClr val="512BD4"/>
            </a:solidFill>
            <a:prstDash val="solid"/>
          </a:ln>
        </p:spPr>
      </p:sp>
      <p:sp>
        <p:nvSpPr>
          <p:cNvPr id="5" name="Shape 3"/>
          <p:cNvSpPr/>
          <p:nvPr/>
        </p:nvSpPr>
        <p:spPr>
          <a:xfrm>
            <a:off x="685800" y="1645920"/>
            <a:ext cx="502920" cy="50292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816559" y="1776679"/>
            <a:ext cx="241402" cy="241402"/>
          </a:xfrm>
          <a:prstGeom prst="rect">
            <a:avLst/>
          </a:prstGeom>
        </p:spPr>
      </p:pic>
      <p:sp>
        <p:nvSpPr>
          <p:cNvPr id="7" name="Text 4"/>
          <p:cNvSpPr txBox="1"/>
          <p:nvPr/>
        </p:nvSpPr>
        <p:spPr>
          <a:xfrm>
            <a:off x="685800" y="2286000"/>
            <a:ext cx="2057400" cy="45720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Memory store</a:t>
            </a:r>
            <a:endParaRPr lang="en-US" sz="1800" dirty="0"/>
          </a:p>
        </p:txBody>
      </p:sp>
      <p:sp>
        <p:nvSpPr>
          <p:cNvPr id="8" name="Text 5"/>
          <p:cNvSpPr txBox="1"/>
          <p:nvPr/>
        </p:nvSpPr>
        <p:spPr>
          <a:xfrm>
            <a:off x="685800" y="2743200"/>
            <a:ext cx="2057400" cy="9601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EpisodicMemoryStore keeps a list of facts, each with its turn and embedding.</a:t>
            </a:r>
            <a:endParaRPr lang="en-US" sz="1300" dirty="0"/>
          </a:p>
        </p:txBody>
      </p:sp>
      <p:sp>
        <p:nvSpPr>
          <p:cNvPr id="9" name="Shape 6"/>
          <p:cNvSpPr/>
          <p:nvPr/>
        </p:nvSpPr>
        <p:spPr>
          <a:xfrm>
            <a:off x="2926080" y="1752600"/>
            <a:ext cx="502920" cy="0"/>
          </a:xfrm>
          <a:prstGeom prst="line">
            <a:avLst/>
          </a:prstGeom>
          <a:noFill/>
          <a:ln w="25400">
            <a:solidFill>
              <a:srgbClr val="F5A623"/>
            </a:solidFill>
            <a:prstDash val="solid"/>
          </a:ln>
        </p:spPr>
      </p:sp>
      <p:sp>
        <p:nvSpPr>
          <p:cNvPr id="10" name="Shape 7"/>
          <p:cNvSpPr/>
          <p:nvPr/>
        </p:nvSpPr>
        <p:spPr>
          <a:xfrm>
            <a:off x="3429000" y="1417320"/>
            <a:ext cx="5257800" cy="670560"/>
          </a:xfrm>
          <a:prstGeom prst="roundRect">
            <a:avLst>
              <a:gd name="adj" fmla="val 10909"/>
            </a:avLst>
          </a:prstGeom>
          <a:solidFill>
            <a:srgbClr val="EFEBFC"/>
          </a:solidFill>
          <a:ln w="12700">
            <a:solidFill>
              <a:srgbClr val="EFEBFC"/>
            </a:solidFill>
            <a:prstDash val="solid"/>
          </a:ln>
        </p:spPr>
      </p:sp>
      <p:sp>
        <p:nvSpPr>
          <p:cNvPr id="11" name="Shape 8"/>
          <p:cNvSpPr/>
          <p:nvPr/>
        </p:nvSpPr>
        <p:spPr>
          <a:xfrm>
            <a:off x="3593592" y="1560576"/>
            <a:ext cx="384048" cy="384048"/>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3693444" y="1660428"/>
            <a:ext cx="184343" cy="184343"/>
          </a:xfrm>
          <a:prstGeom prst="rect">
            <a:avLst/>
          </a:prstGeom>
        </p:spPr>
      </p:pic>
      <p:sp>
        <p:nvSpPr>
          <p:cNvPr id="13" name="Text 9"/>
          <p:cNvSpPr txBox="1"/>
          <p:nvPr/>
        </p:nvSpPr>
        <p:spPr>
          <a:xfrm>
            <a:off x="4142232" y="1508760"/>
            <a:ext cx="146304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Remember</a:t>
            </a:r>
            <a:endParaRPr lang="en-US" sz="1500" dirty="0"/>
          </a:p>
        </p:txBody>
      </p:sp>
      <p:sp>
        <p:nvSpPr>
          <p:cNvPr id="14" name="Text 10"/>
          <p:cNvSpPr txBox="1"/>
          <p:nvPr/>
        </p:nvSpPr>
        <p:spPr>
          <a:xfrm>
            <a:off x="5577840" y="150876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RememberAsync embeds the fact and adds it with its turn number.</a:t>
            </a:r>
            <a:endParaRPr lang="en-US" sz="1200" dirty="0"/>
          </a:p>
        </p:txBody>
      </p:sp>
      <p:sp>
        <p:nvSpPr>
          <p:cNvPr id="15" name="Shape 11"/>
          <p:cNvSpPr/>
          <p:nvPr/>
        </p:nvSpPr>
        <p:spPr>
          <a:xfrm>
            <a:off x="2926080" y="2606040"/>
            <a:ext cx="502920" cy="0"/>
          </a:xfrm>
          <a:prstGeom prst="line">
            <a:avLst/>
          </a:prstGeom>
          <a:noFill/>
          <a:ln w="25400">
            <a:solidFill>
              <a:srgbClr val="F5A623"/>
            </a:solidFill>
            <a:prstDash val="solid"/>
          </a:ln>
        </p:spPr>
      </p:sp>
      <p:sp>
        <p:nvSpPr>
          <p:cNvPr id="16" name="Shape 12"/>
          <p:cNvSpPr/>
          <p:nvPr/>
        </p:nvSpPr>
        <p:spPr>
          <a:xfrm>
            <a:off x="3429000" y="2270760"/>
            <a:ext cx="5257800" cy="670560"/>
          </a:xfrm>
          <a:prstGeom prst="roundRect">
            <a:avLst>
              <a:gd name="adj" fmla="val 10909"/>
            </a:avLst>
          </a:prstGeom>
          <a:solidFill>
            <a:srgbClr val="EFEBFC"/>
          </a:solidFill>
          <a:ln w="12700">
            <a:solidFill>
              <a:srgbClr val="EFEBFC"/>
            </a:solidFill>
            <a:prstDash val="solid"/>
          </a:ln>
        </p:spPr>
      </p:sp>
      <p:sp>
        <p:nvSpPr>
          <p:cNvPr id="17" name="Shape 13"/>
          <p:cNvSpPr/>
          <p:nvPr/>
        </p:nvSpPr>
        <p:spPr>
          <a:xfrm>
            <a:off x="3593592" y="2414016"/>
            <a:ext cx="384048" cy="384048"/>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3693444" y="2513868"/>
            <a:ext cx="184343" cy="184343"/>
          </a:xfrm>
          <a:prstGeom prst="rect">
            <a:avLst/>
          </a:prstGeom>
        </p:spPr>
      </p:pic>
      <p:sp>
        <p:nvSpPr>
          <p:cNvPr id="19" name="Text 14"/>
          <p:cNvSpPr txBox="1"/>
          <p:nvPr/>
        </p:nvSpPr>
        <p:spPr>
          <a:xfrm>
            <a:off x="4142232" y="2362200"/>
            <a:ext cx="146304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By relevance</a:t>
            </a:r>
            <a:endParaRPr lang="en-US" sz="1500" dirty="0"/>
          </a:p>
        </p:txBody>
      </p:sp>
      <p:sp>
        <p:nvSpPr>
          <p:cNvPr id="20" name="Text 15"/>
          <p:cNvSpPr txBox="1"/>
          <p:nvPr/>
        </p:nvSpPr>
        <p:spPr>
          <a:xfrm>
            <a:off x="5577840" y="236220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Embed the query, sort by cosine similarity, take the top K.</a:t>
            </a:r>
            <a:endParaRPr lang="en-US" sz="1200" dirty="0"/>
          </a:p>
        </p:txBody>
      </p:sp>
      <p:sp>
        <p:nvSpPr>
          <p:cNvPr id="21" name="Shape 16"/>
          <p:cNvSpPr/>
          <p:nvPr/>
        </p:nvSpPr>
        <p:spPr>
          <a:xfrm>
            <a:off x="2926080" y="3459480"/>
            <a:ext cx="502920" cy="0"/>
          </a:xfrm>
          <a:prstGeom prst="line">
            <a:avLst/>
          </a:prstGeom>
          <a:noFill/>
          <a:ln w="25400">
            <a:solidFill>
              <a:srgbClr val="F5A623"/>
            </a:solidFill>
            <a:prstDash val="solid"/>
          </a:ln>
        </p:spPr>
      </p:sp>
      <p:sp>
        <p:nvSpPr>
          <p:cNvPr id="22" name="Shape 17"/>
          <p:cNvSpPr/>
          <p:nvPr/>
        </p:nvSpPr>
        <p:spPr>
          <a:xfrm>
            <a:off x="3429000" y="3124200"/>
            <a:ext cx="5257800" cy="670560"/>
          </a:xfrm>
          <a:prstGeom prst="roundRect">
            <a:avLst>
              <a:gd name="adj" fmla="val 10909"/>
            </a:avLst>
          </a:prstGeom>
          <a:solidFill>
            <a:srgbClr val="EFEBFC"/>
          </a:solidFill>
          <a:ln w="12700">
            <a:solidFill>
              <a:srgbClr val="EFEBFC"/>
            </a:solidFill>
            <a:prstDash val="solid"/>
          </a:ln>
        </p:spPr>
      </p:sp>
      <p:sp>
        <p:nvSpPr>
          <p:cNvPr id="23" name="Shape 18"/>
          <p:cNvSpPr/>
          <p:nvPr/>
        </p:nvSpPr>
        <p:spPr>
          <a:xfrm>
            <a:off x="3593592" y="3267456"/>
            <a:ext cx="384048" cy="384048"/>
          </a:xfrm>
          <a:prstGeom prst="ellipse">
            <a:avLst/>
          </a:prstGeom>
          <a:solidFill>
            <a:srgbClr val="512BD4"/>
          </a:solidFill>
          <a:ln w="12700">
            <a:solidFill>
              <a:srgbClr val="512BD4"/>
            </a:solidFill>
            <a:prstDash val="solid"/>
          </a:ln>
        </p:spPr>
      </p:sp>
      <p:pic>
        <p:nvPicPr>
          <p:cNvPr id="24" name="Image 3" descr="preencoded.png">    </p:cNvPr>
          <p:cNvPicPr>
            <a:picLocks noChangeAspect="1"/>
          </p:cNvPicPr>
          <p:nvPr/>
        </p:nvPicPr>
        <p:blipFill>
          <a:blip r:embed="rId4"/>
          <a:stretch>
            <a:fillRect/>
          </a:stretch>
        </p:blipFill>
        <p:spPr>
          <a:xfrm>
            <a:off x="3693444" y="3367308"/>
            <a:ext cx="184343" cy="184343"/>
          </a:xfrm>
          <a:prstGeom prst="rect">
            <a:avLst/>
          </a:prstGeom>
        </p:spPr>
      </p:pic>
      <p:sp>
        <p:nvSpPr>
          <p:cNvPr id="25" name="Text 19"/>
          <p:cNvSpPr txBox="1"/>
          <p:nvPr/>
        </p:nvSpPr>
        <p:spPr>
          <a:xfrm>
            <a:off x="4142232" y="3215640"/>
            <a:ext cx="146304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By recency</a:t>
            </a:r>
            <a:endParaRPr lang="en-US" sz="1500" dirty="0"/>
          </a:p>
        </p:txBody>
      </p:sp>
      <p:sp>
        <p:nvSpPr>
          <p:cNvPr id="26" name="Text 20"/>
          <p:cNvSpPr txBox="1"/>
          <p:nvPr/>
        </p:nvSpPr>
        <p:spPr>
          <a:xfrm>
            <a:off x="5577840" y="321564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Newest turn numbers first, ignoring meaning.</a:t>
            </a:r>
            <a:endParaRPr lang="en-US" sz="1200" dirty="0"/>
          </a:p>
        </p:txBody>
      </p:sp>
      <p:sp>
        <p:nvSpPr>
          <p:cNvPr id="27" name="Text 21"/>
          <p:cNvSpPr txBox="1"/>
          <p:nvPr/>
        </p:nvSpPr>
        <p:spPr>
          <a:xfrm>
            <a:off x="457200" y="411480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Both strategies stay live, so the upgrade is shown, not asserted.</a:t>
            </a:r>
            <a:endParaRPr lang="en-US" sz="1400" dirty="0"/>
          </a:p>
        </p:txBody>
      </p:sp>
      <p:sp>
        <p:nvSpPr>
          <p:cNvPr id="28" name="Text 22"/>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38 — Episodic Memory</a:t>
            </a:r>
            <a:endParaRPr lang="en-US" sz="900" dirty="0"/>
          </a:p>
        </p:txBody>
      </p:sp>
      <p:sp>
        <p:nvSpPr>
          <p:cNvPr id="29" name="Text 23"/>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SCHEMA DESIGN</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A bool before a string lost the string</a:t>
            </a:r>
            <a:endParaRPr lang="en-US" sz="2800" dirty="0"/>
          </a:p>
        </p:txBody>
      </p:sp>
      <p:sp>
        <p:nvSpPr>
          <p:cNvPr id="4" name="Shape 2"/>
          <p:cNvSpPr/>
          <p:nvPr/>
        </p:nvSpPr>
        <p:spPr>
          <a:xfrm>
            <a:off x="457200" y="1371600"/>
            <a:ext cx="3931920" cy="2331720"/>
          </a:xfrm>
          <a:prstGeom prst="roundRect">
            <a:avLst>
              <a:gd name="adj" fmla="val 3137"/>
            </a:avLst>
          </a:prstGeom>
          <a:solidFill>
            <a:srgbClr val="F6F4FE"/>
          </a:solidFill>
          <a:ln w="12700">
            <a:solidFill>
              <a:srgbClr val="F6F4FE"/>
            </a:solidFill>
            <a:prstDash val="solid"/>
          </a:ln>
        </p:spPr>
      </p:sp>
      <p:sp>
        <p:nvSpPr>
          <p:cNvPr id="5" name="Shape 3"/>
          <p:cNvSpPr/>
          <p:nvPr/>
        </p:nvSpPr>
        <p:spPr>
          <a:xfrm>
            <a:off x="685800" y="1600200"/>
            <a:ext cx="438912" cy="438912"/>
          </a:xfrm>
          <a:prstGeom prst="ellipse">
            <a:avLst/>
          </a:prstGeom>
          <a:solidFill>
            <a:srgbClr val="DC2626"/>
          </a:solidFill>
          <a:ln w="12700">
            <a:solidFill>
              <a:srgbClr val="DC2626"/>
            </a:solidFill>
            <a:prstDash val="solid"/>
          </a:ln>
        </p:spPr>
      </p:sp>
      <p:pic>
        <p:nvPicPr>
          <p:cNvPr id="6" name="Image 0" descr="preencoded.png">    </p:cNvPr>
          <p:cNvPicPr>
            <a:picLocks noChangeAspect="1"/>
          </p:cNvPicPr>
          <p:nvPr/>
        </p:nvPicPr>
        <p:blipFill>
          <a:blip r:embed="rId1"/>
          <a:stretch>
            <a:fillRect/>
          </a:stretch>
        </p:blipFill>
        <p:spPr>
          <a:xfrm>
            <a:off x="799917" y="1714317"/>
            <a:ext cx="210678" cy="210678"/>
          </a:xfrm>
          <a:prstGeom prst="rect">
            <a:avLst/>
          </a:prstGeom>
        </p:spPr>
      </p:pic>
      <p:sp>
        <p:nvSpPr>
          <p:cNvPr id="7" name="Text 4"/>
          <p:cNvSpPr txBox="1"/>
          <p:nvPr/>
        </p:nvSpPr>
        <p:spPr>
          <a:xfrm>
            <a:off x="126187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First design, on Gemini</a:t>
            </a:r>
            <a:endParaRPr lang="en-US" sz="1700" dirty="0"/>
          </a:p>
        </p:txBody>
      </p:sp>
      <p:sp>
        <p:nvSpPr>
          <p:cNvPr id="8" name="Text 5"/>
          <p:cNvSpPr txBox="1"/>
          <p:nvPr/>
        </p:nvSpPr>
        <p:spPr>
          <a:xfrm>
            <a:off x="685800" y="2194560"/>
            <a:ext cx="3474720" cy="64008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isDurableFact (bool), then fact</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Valid JSON, but no fact field</a:t>
            </a:r>
            <a:endParaRPr lang="en-US" sz="1300" dirty="0"/>
          </a:p>
        </p:txBody>
      </p:sp>
      <p:sp>
        <p:nvSpPr>
          <p:cNvPr id="9" name="Shape 6"/>
          <p:cNvSpPr/>
          <p:nvPr/>
        </p:nvSpPr>
        <p:spPr>
          <a:xfrm>
            <a:off x="685800" y="2907792"/>
            <a:ext cx="3474720" cy="594360"/>
          </a:xfrm>
          <a:prstGeom prst="roundRect">
            <a:avLst>
              <a:gd name="adj" fmla="val 12308"/>
            </a:avLst>
          </a:prstGeom>
          <a:solidFill>
            <a:srgbClr val="0F1420"/>
          </a:solidFill>
          <a:ln w="12700">
            <a:solidFill>
              <a:srgbClr val="0F1420"/>
            </a:solidFill>
            <a:prstDash val="solid"/>
          </a:ln>
        </p:spPr>
      </p:sp>
      <p:sp>
        <p:nvSpPr>
          <p:cNvPr id="10" name="Text 7"/>
          <p:cNvSpPr txBox="1"/>
          <p:nvPr/>
        </p:nvSpPr>
        <p:spPr>
          <a:xfrm>
            <a:off x="868680" y="3044952"/>
            <a:ext cx="3108960" cy="320040"/>
          </a:xfrm>
          <a:prstGeom prst="rect">
            <a:avLst/>
          </a:prstGeom>
          <a:noFill/>
          <a:ln/>
        </p:spPr>
        <p:txBody>
          <a:bodyPr wrap="square" lIns="0" tIns="0" rIns="0" bIns="0" rtlCol="0" anchor="t"/>
          <a:lstStyle/>
          <a:p>
            <a:pPr indent="0" marL="0">
              <a:buNone/>
            </a:pPr>
            <a:r>
              <a:rPr lang="en-US" sz="1100" dirty="0">
                <a:solidFill>
                  <a:srgbClr val="FF9B9B"/>
                </a:solidFill>
                <a:latin typeface="Courier New" pitchFamily="34" charset="0"/>
                <a:ea typeface="Courier New" pitchFamily="34" charset="-122"/>
                <a:cs typeface="Courier New" pitchFamily="34" charset="-120"/>
              </a:rPr>
              <a:t>{ "isDurableFact": true }</a:t>
            </a:r>
            <a:endParaRPr lang="en-US" sz="1100" dirty="0"/>
          </a:p>
        </p:txBody>
      </p:sp>
      <p:sp>
        <p:nvSpPr>
          <p:cNvPr id="11" name="Shape 8"/>
          <p:cNvSpPr/>
          <p:nvPr/>
        </p:nvSpPr>
        <p:spPr>
          <a:xfrm>
            <a:off x="4754880" y="1371600"/>
            <a:ext cx="3931920" cy="2331720"/>
          </a:xfrm>
          <a:prstGeom prst="roundRect">
            <a:avLst>
              <a:gd name="adj" fmla="val 3137"/>
            </a:avLst>
          </a:prstGeom>
          <a:solidFill>
            <a:srgbClr val="EFEBFC"/>
          </a:solidFill>
          <a:ln w="12700">
            <a:solidFill>
              <a:srgbClr val="EFEBFC"/>
            </a:solidFill>
            <a:prstDash val="solid"/>
          </a:ln>
        </p:spPr>
      </p:sp>
      <p:sp>
        <p:nvSpPr>
          <p:cNvPr id="12" name="Shape 9"/>
          <p:cNvSpPr/>
          <p:nvPr/>
        </p:nvSpPr>
        <p:spPr>
          <a:xfrm>
            <a:off x="4983480" y="1600200"/>
            <a:ext cx="438912" cy="438912"/>
          </a:xfrm>
          <a:prstGeom prst="ellipse">
            <a:avLst/>
          </a:prstGeom>
          <a:solidFill>
            <a:srgbClr val="16A34A"/>
          </a:solidFill>
          <a:ln w="12700">
            <a:solidFill>
              <a:srgbClr val="16A34A"/>
            </a:solidFill>
            <a:prstDash val="solid"/>
          </a:ln>
        </p:spPr>
      </p:sp>
      <p:pic>
        <p:nvPicPr>
          <p:cNvPr id="13" name="Image 1" descr="preencoded.png">    </p:cNvPr>
          <p:cNvPicPr>
            <a:picLocks noChangeAspect="1"/>
          </p:cNvPicPr>
          <p:nvPr/>
        </p:nvPicPr>
        <p:blipFill>
          <a:blip r:embed="rId2"/>
          <a:stretch>
            <a:fillRect/>
          </a:stretch>
        </p:blipFill>
        <p:spPr>
          <a:xfrm>
            <a:off x="5097597" y="1714317"/>
            <a:ext cx="210678" cy="210678"/>
          </a:xfrm>
          <a:prstGeom prst="rect">
            <a:avLst/>
          </a:prstGeom>
        </p:spPr>
      </p:pic>
      <p:sp>
        <p:nvSpPr>
          <p:cNvPr id="14" name="Text 10"/>
          <p:cNvSpPr txBox="1"/>
          <p:nvPr/>
        </p:nvSpPr>
        <p:spPr>
          <a:xfrm>
            <a:off x="555955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Shipped: one field</a:t>
            </a:r>
            <a:endParaRPr lang="en-US" sz="1700" dirty="0"/>
          </a:p>
        </p:txBody>
      </p:sp>
      <p:sp>
        <p:nvSpPr>
          <p:cNvPr id="15" name="Text 11"/>
          <p:cNvSpPr txBox="1"/>
          <p:nvPr/>
        </p:nvSpPr>
        <p:spPr>
          <a:xfrm>
            <a:off x="4983480" y="2194560"/>
            <a:ext cx="3474720" cy="64008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Only fact; empty means nothing</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FactExtractor returns null if empty</a:t>
            </a:r>
            <a:endParaRPr lang="en-US" sz="1300" dirty="0"/>
          </a:p>
        </p:txBody>
      </p:sp>
      <p:sp>
        <p:nvSpPr>
          <p:cNvPr id="16" name="Shape 12"/>
          <p:cNvSpPr/>
          <p:nvPr/>
        </p:nvSpPr>
        <p:spPr>
          <a:xfrm>
            <a:off x="4983480" y="2907792"/>
            <a:ext cx="3474720" cy="594360"/>
          </a:xfrm>
          <a:prstGeom prst="roundRect">
            <a:avLst>
              <a:gd name="adj" fmla="val 12308"/>
            </a:avLst>
          </a:prstGeom>
          <a:solidFill>
            <a:srgbClr val="0F1420"/>
          </a:solidFill>
          <a:ln w="12700">
            <a:solidFill>
              <a:srgbClr val="0F1420"/>
            </a:solidFill>
            <a:prstDash val="solid"/>
          </a:ln>
        </p:spPr>
      </p:sp>
      <p:sp>
        <p:nvSpPr>
          <p:cNvPr id="17" name="Text 13"/>
          <p:cNvSpPr txBox="1"/>
          <p:nvPr/>
        </p:nvSpPr>
        <p:spPr>
          <a:xfrm>
            <a:off x="5166360" y="3044952"/>
            <a:ext cx="3108960" cy="320040"/>
          </a:xfrm>
          <a:prstGeom prst="rect">
            <a:avLst/>
          </a:prstGeom>
          <a:noFill/>
          <a:ln/>
        </p:spPr>
        <p:txBody>
          <a:bodyPr wrap="square" lIns="0" tIns="0" rIns="0" bIns="0" rtlCol="0" anchor="t"/>
          <a:lstStyle/>
          <a:p>
            <a:pPr indent="0" marL="0">
              <a:buNone/>
            </a:pPr>
            <a:r>
              <a:rPr lang="en-US" sz="1100" dirty="0">
                <a:solidFill>
                  <a:srgbClr val="9FE6B8"/>
                </a:solidFill>
                <a:latin typeface="Courier New" pitchFamily="34" charset="0"/>
                <a:ea typeface="Courier New" pitchFamily="34" charset="-122"/>
                <a:cs typeface="Courier New" pitchFamily="34" charset="-120"/>
              </a:rPr>
              <a:t>{ "fact": "Their favorite</a:t>
            </a:r>
            <a:endParaRPr lang="en-US" sz="1100" dirty="0"/>
          </a:p>
          <a:p>
            <a:pPr indent="0" marL="0">
              <a:buNone/>
            </a:pPr>
            <a:r>
              <a:rPr lang="en-US" sz="1100" dirty="0">
                <a:solidFill>
                  <a:srgbClr val="9FE6B8"/>
                </a:solidFill>
                <a:latin typeface="Courier New" pitchFamily="34" charset="0"/>
                <a:ea typeface="Courier New" pitchFamily="34" charset="-122"/>
                <a:cs typeface="Courier New" pitchFamily="34" charset="-120"/>
              </a:rPr>
              <a:t>  color is teal." }</a:t>
            </a:r>
            <a:endParaRPr lang="en-US" sz="1100" dirty="0"/>
          </a:p>
        </p:txBody>
      </p:sp>
      <p:sp>
        <p:nvSpPr>
          <p:cNvPr id="18" name="Text 14"/>
          <p:cNvSpPr txBox="1"/>
          <p:nvPr/>
        </p:nvSpPr>
        <p:spPr>
          <a:xfrm>
            <a:off x="457200" y="397764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The right-hand JSON is illustrative.</a:t>
            </a:r>
            <a:endParaRPr lang="en-US" sz="1400" dirty="0"/>
          </a:p>
        </p:txBody>
      </p:sp>
      <p:sp>
        <p:nvSpPr>
          <p:cNvPr id="19" name="Text 15"/>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38 — Episodic Memory</a:t>
            </a:r>
            <a:endParaRPr lang="en-US" sz="900" dirty="0"/>
          </a:p>
        </p:txBody>
      </p:sp>
      <p:sp>
        <p:nvSpPr>
          <p:cNvPr id="20" name="Text 16"/>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THE DEMO</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A fair test of recency against relevance</a:t>
            </a:r>
            <a:endParaRPr lang="en-US" sz="2800" dirty="0"/>
          </a:p>
        </p:txBody>
      </p:sp>
      <p:sp>
        <p:nvSpPr>
          <p:cNvPr id="4" name="Shape 2"/>
          <p:cNvSpPr/>
          <p:nvPr/>
        </p:nvSpPr>
        <p:spPr>
          <a:xfrm>
            <a:off x="457200" y="1371600"/>
            <a:ext cx="1851660" cy="1508760"/>
          </a:xfrm>
          <a:prstGeom prst="roundRect">
            <a:avLst>
              <a:gd name="adj" fmla="val 4848"/>
            </a:avLst>
          </a:prstGeom>
          <a:solidFill>
            <a:srgbClr val="512BD4"/>
          </a:solidFill>
          <a:ln w="12700">
            <a:solidFill>
              <a:srgbClr val="512BD4"/>
            </a:solidFill>
            <a:prstDash val="solid"/>
          </a:ln>
        </p:spPr>
      </p:sp>
      <p:sp>
        <p:nvSpPr>
          <p:cNvPr id="5" name="Shape 3"/>
          <p:cNvSpPr/>
          <p:nvPr/>
        </p:nvSpPr>
        <p:spPr>
          <a:xfrm>
            <a:off x="640080" y="1554480"/>
            <a:ext cx="384048" cy="384048"/>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739932" y="1654332"/>
            <a:ext cx="184343" cy="184343"/>
          </a:xfrm>
          <a:prstGeom prst="rect">
            <a:avLst/>
          </a:prstGeom>
        </p:spPr>
      </p:pic>
      <p:sp>
        <p:nvSpPr>
          <p:cNvPr id="7" name="Text 4"/>
          <p:cNvSpPr txBox="1"/>
          <p:nvPr/>
        </p:nvSpPr>
        <p:spPr>
          <a:xfrm>
            <a:off x="1143000" y="1554480"/>
            <a:ext cx="1028700" cy="384048"/>
          </a:xfrm>
          <a:prstGeom prst="rect">
            <a:avLst/>
          </a:prstGeom>
          <a:noFill/>
          <a:ln/>
        </p:spPr>
        <p:txBody>
          <a:bodyPr wrap="square" lIns="0" tIns="0" rIns="0" bIns="0" rtlCol="0" anchor="ctr">
            <a:normAutofit/>
          </a:bodyPr>
          <a:lstStyle/>
          <a:p>
            <a:pPr indent="0" marL="0">
              <a:buNone/>
            </a:pPr>
            <a:r>
              <a:rPr lang="en-US" sz="1300" b="1" dirty="0">
                <a:solidFill>
                  <a:srgbClr val="FFFFFF"/>
                </a:solidFill>
                <a:latin typeface="Calibri" pitchFamily="34" charset="0"/>
                <a:ea typeface="Calibri" pitchFamily="34" charset="-122"/>
                <a:cs typeface="Calibri" pitchFamily="34" charset="-120"/>
              </a:rPr>
              <a:t>Turn 1</a:t>
            </a:r>
            <a:endParaRPr lang="en-US" sz="1300" dirty="0"/>
          </a:p>
        </p:txBody>
      </p:sp>
      <p:sp>
        <p:nvSpPr>
          <p:cNvPr id="8" name="Text 5"/>
          <p:cNvSpPr txBox="1"/>
          <p:nvPr/>
        </p:nvSpPr>
        <p:spPr>
          <a:xfrm>
            <a:off x="640080" y="2057400"/>
            <a:ext cx="1485900" cy="73152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Biscuit the dog is allergic to chicken.</a:t>
            </a:r>
            <a:endParaRPr lang="en-US" sz="1200" dirty="0"/>
          </a:p>
        </p:txBody>
      </p:sp>
      <p:sp>
        <p:nvSpPr>
          <p:cNvPr id="9" name="Shape 6"/>
          <p:cNvSpPr/>
          <p:nvPr/>
        </p:nvSpPr>
        <p:spPr>
          <a:xfrm>
            <a:off x="2583180" y="1371600"/>
            <a:ext cx="1851660" cy="1508760"/>
          </a:xfrm>
          <a:prstGeom prst="roundRect">
            <a:avLst>
              <a:gd name="adj" fmla="val 4848"/>
            </a:avLst>
          </a:prstGeom>
          <a:solidFill>
            <a:srgbClr val="EFEBFC"/>
          </a:solidFill>
          <a:ln w="12700">
            <a:solidFill>
              <a:srgbClr val="EFEBFC"/>
            </a:solidFill>
            <a:prstDash val="solid"/>
          </a:ln>
        </p:spPr>
      </p:sp>
      <p:sp>
        <p:nvSpPr>
          <p:cNvPr id="10" name="Shape 7"/>
          <p:cNvSpPr/>
          <p:nvPr/>
        </p:nvSpPr>
        <p:spPr>
          <a:xfrm>
            <a:off x="2766060" y="155448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2865912" y="1654332"/>
            <a:ext cx="184343" cy="184343"/>
          </a:xfrm>
          <a:prstGeom prst="rect">
            <a:avLst/>
          </a:prstGeom>
        </p:spPr>
      </p:pic>
      <p:sp>
        <p:nvSpPr>
          <p:cNvPr id="12" name="Text 8"/>
          <p:cNvSpPr txBox="1"/>
          <p:nvPr/>
        </p:nvSpPr>
        <p:spPr>
          <a:xfrm>
            <a:off x="3268980" y="1554480"/>
            <a:ext cx="1028700" cy="384048"/>
          </a:xfrm>
          <a:prstGeom prst="rect">
            <a:avLst/>
          </a:prstGeom>
          <a:noFill/>
          <a:ln/>
        </p:spPr>
        <p:txBody>
          <a:bodyPr wrap="square" lIns="0" tIns="0" rIns="0" bIns="0" rtlCol="0" anchor="ctr">
            <a:normAutofit/>
          </a:bodyPr>
          <a:lstStyle/>
          <a:p>
            <a:pPr indent="0" marL="0">
              <a:buNone/>
            </a:pPr>
            <a:r>
              <a:rPr lang="en-US" sz="1300" b="1" dirty="0">
                <a:solidFill>
                  <a:srgbClr val="1F2937"/>
                </a:solidFill>
                <a:latin typeface="Calibri" pitchFamily="34" charset="0"/>
                <a:ea typeface="Calibri" pitchFamily="34" charset="-122"/>
                <a:cs typeface="Calibri" pitchFamily="34" charset="-120"/>
              </a:rPr>
              <a:t>Turns 2 to 5</a:t>
            </a:r>
            <a:endParaRPr lang="en-US" sz="1300" dirty="0"/>
          </a:p>
        </p:txBody>
      </p:sp>
      <p:sp>
        <p:nvSpPr>
          <p:cNvPr id="13" name="Text 9"/>
          <p:cNvSpPr txBox="1"/>
          <p:nvPr/>
        </p:nvSpPr>
        <p:spPr>
          <a:xfrm>
            <a:off x="2766060" y="2057400"/>
            <a:ext cx="1485900" cy="7315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 trip, a color, a job, a hobby.</a:t>
            </a:r>
            <a:endParaRPr lang="en-US" sz="1200" dirty="0"/>
          </a:p>
        </p:txBody>
      </p:sp>
      <p:sp>
        <p:nvSpPr>
          <p:cNvPr id="14" name="Shape 10"/>
          <p:cNvSpPr/>
          <p:nvPr/>
        </p:nvSpPr>
        <p:spPr>
          <a:xfrm>
            <a:off x="4709160" y="1371600"/>
            <a:ext cx="1851660" cy="1508760"/>
          </a:xfrm>
          <a:prstGeom prst="roundRect">
            <a:avLst>
              <a:gd name="adj" fmla="val 4848"/>
            </a:avLst>
          </a:prstGeom>
          <a:solidFill>
            <a:srgbClr val="EFEBFC"/>
          </a:solidFill>
          <a:ln w="12700">
            <a:solidFill>
              <a:srgbClr val="EFEBFC"/>
            </a:solidFill>
            <a:prstDash val="solid"/>
          </a:ln>
        </p:spPr>
      </p:sp>
      <p:sp>
        <p:nvSpPr>
          <p:cNvPr id="15" name="Shape 11"/>
          <p:cNvSpPr/>
          <p:nvPr/>
        </p:nvSpPr>
        <p:spPr>
          <a:xfrm>
            <a:off x="4892040" y="1554480"/>
            <a:ext cx="384048" cy="384048"/>
          </a:xfrm>
          <a:prstGeom prst="ellipse">
            <a:avLst/>
          </a:prstGeom>
          <a:solidFill>
            <a:srgbClr val="512BD4"/>
          </a:solidFill>
          <a:ln w="12700">
            <a:solidFill>
              <a:srgbClr val="512BD4"/>
            </a:solidFill>
            <a:prstDash val="solid"/>
          </a:ln>
        </p:spPr>
      </p:sp>
      <p:pic>
        <p:nvPicPr>
          <p:cNvPr id="16" name="Image 2" descr="preencoded.png">    </p:cNvPr>
          <p:cNvPicPr>
            <a:picLocks noChangeAspect="1"/>
          </p:cNvPicPr>
          <p:nvPr/>
        </p:nvPicPr>
        <p:blipFill>
          <a:blip r:embed="rId3"/>
          <a:stretch>
            <a:fillRect/>
          </a:stretch>
        </p:blipFill>
        <p:spPr>
          <a:xfrm>
            <a:off x="4991892" y="1654332"/>
            <a:ext cx="184343" cy="184343"/>
          </a:xfrm>
          <a:prstGeom prst="rect">
            <a:avLst/>
          </a:prstGeom>
        </p:spPr>
      </p:pic>
      <p:sp>
        <p:nvSpPr>
          <p:cNvPr id="17" name="Text 12"/>
          <p:cNvSpPr txBox="1"/>
          <p:nvPr/>
        </p:nvSpPr>
        <p:spPr>
          <a:xfrm>
            <a:off x="5394960" y="1554480"/>
            <a:ext cx="1028700" cy="384048"/>
          </a:xfrm>
          <a:prstGeom prst="rect">
            <a:avLst/>
          </a:prstGeom>
          <a:noFill/>
          <a:ln/>
        </p:spPr>
        <p:txBody>
          <a:bodyPr wrap="square" lIns="0" tIns="0" rIns="0" bIns="0" rtlCol="0" anchor="ctr">
            <a:normAutofit/>
          </a:bodyPr>
          <a:lstStyle/>
          <a:p>
            <a:pPr indent="0" marL="0">
              <a:buNone/>
            </a:pPr>
            <a:r>
              <a:rPr lang="en-US" sz="1300" b="1" dirty="0">
                <a:solidFill>
                  <a:srgbClr val="1F2937"/>
                </a:solidFill>
                <a:latin typeface="Calibri" pitchFamily="34" charset="0"/>
                <a:ea typeface="Calibri" pitchFamily="34" charset="-122"/>
                <a:cs typeface="Calibri" pitchFamily="34" charset="-120"/>
              </a:rPr>
              <a:t>Turn 6</a:t>
            </a:r>
            <a:endParaRPr lang="en-US" sz="1300" dirty="0"/>
          </a:p>
        </p:txBody>
      </p:sp>
      <p:sp>
        <p:nvSpPr>
          <p:cNvPr id="18" name="Text 13"/>
          <p:cNvSpPr txBox="1"/>
          <p:nvPr/>
        </p:nvSpPr>
        <p:spPr>
          <a:xfrm>
            <a:off x="4892040" y="2057400"/>
            <a:ext cx="1485900" cy="7315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Asks which treats to avoid for the pet.</a:t>
            </a:r>
            <a:endParaRPr lang="en-US" sz="1200" dirty="0"/>
          </a:p>
        </p:txBody>
      </p:sp>
      <p:sp>
        <p:nvSpPr>
          <p:cNvPr id="19" name="Shape 14"/>
          <p:cNvSpPr/>
          <p:nvPr/>
        </p:nvSpPr>
        <p:spPr>
          <a:xfrm>
            <a:off x="6835140" y="1371600"/>
            <a:ext cx="1851660" cy="1508760"/>
          </a:xfrm>
          <a:prstGeom prst="roundRect">
            <a:avLst>
              <a:gd name="adj" fmla="val 4848"/>
            </a:avLst>
          </a:prstGeom>
          <a:solidFill>
            <a:srgbClr val="EFEBFC"/>
          </a:solidFill>
          <a:ln w="12700">
            <a:solidFill>
              <a:srgbClr val="EFEBFC"/>
            </a:solidFill>
            <a:prstDash val="solid"/>
          </a:ln>
        </p:spPr>
      </p:sp>
      <p:sp>
        <p:nvSpPr>
          <p:cNvPr id="20" name="Shape 15"/>
          <p:cNvSpPr/>
          <p:nvPr/>
        </p:nvSpPr>
        <p:spPr>
          <a:xfrm>
            <a:off x="7018020" y="1554480"/>
            <a:ext cx="384048" cy="384048"/>
          </a:xfrm>
          <a:prstGeom prst="ellipse">
            <a:avLst/>
          </a:prstGeom>
          <a:solidFill>
            <a:srgbClr val="512BD4"/>
          </a:solidFill>
          <a:ln w="12700">
            <a:solidFill>
              <a:srgbClr val="512BD4"/>
            </a:solidFill>
            <a:prstDash val="solid"/>
          </a:ln>
        </p:spPr>
      </p:sp>
      <p:pic>
        <p:nvPicPr>
          <p:cNvPr id="21" name="Image 3" descr="preencoded.png">    </p:cNvPr>
          <p:cNvPicPr>
            <a:picLocks noChangeAspect="1"/>
          </p:cNvPicPr>
          <p:nvPr/>
        </p:nvPicPr>
        <p:blipFill>
          <a:blip r:embed="rId4"/>
          <a:stretch>
            <a:fillRect/>
          </a:stretch>
        </p:blipFill>
        <p:spPr>
          <a:xfrm>
            <a:off x="7117872" y="1654332"/>
            <a:ext cx="184343" cy="184343"/>
          </a:xfrm>
          <a:prstGeom prst="rect">
            <a:avLst/>
          </a:prstGeom>
        </p:spPr>
      </p:pic>
      <p:sp>
        <p:nvSpPr>
          <p:cNvPr id="22" name="Text 16"/>
          <p:cNvSpPr txBox="1"/>
          <p:nvPr/>
        </p:nvSpPr>
        <p:spPr>
          <a:xfrm>
            <a:off x="7520940" y="1554480"/>
            <a:ext cx="1028700" cy="384048"/>
          </a:xfrm>
          <a:prstGeom prst="rect">
            <a:avLst/>
          </a:prstGeom>
          <a:noFill/>
          <a:ln/>
        </p:spPr>
        <p:txBody>
          <a:bodyPr wrap="square" lIns="0" tIns="0" rIns="0" bIns="0" rtlCol="0" anchor="ctr">
            <a:normAutofit/>
          </a:bodyPr>
          <a:lstStyle/>
          <a:p>
            <a:pPr indent="0" marL="0">
              <a:buNone/>
            </a:pPr>
            <a:r>
              <a:rPr lang="en-US" sz="1300" b="1" dirty="0">
                <a:solidFill>
                  <a:srgbClr val="1F2937"/>
                </a:solidFill>
                <a:latin typeface="Calibri" pitchFamily="34" charset="0"/>
                <a:ea typeface="Calibri" pitchFamily="34" charset="-122"/>
                <a:cs typeface="Calibri" pitchFamily="34" charset="-120"/>
              </a:rPr>
              <a:t>Top 2</a:t>
            </a:r>
            <a:endParaRPr lang="en-US" sz="1300" dirty="0"/>
          </a:p>
        </p:txBody>
      </p:sp>
      <p:sp>
        <p:nvSpPr>
          <p:cNvPr id="23" name="Text 17"/>
          <p:cNvSpPr txBox="1"/>
          <p:nvPr/>
        </p:nvSpPr>
        <p:spPr>
          <a:xfrm>
            <a:off x="7018020" y="2057400"/>
            <a:ext cx="1485900" cy="7315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Both strategies return two facts each.</a:t>
            </a:r>
            <a:endParaRPr lang="en-US" sz="1200" dirty="0"/>
          </a:p>
        </p:txBody>
      </p:sp>
      <p:sp>
        <p:nvSpPr>
          <p:cNvPr id="24" name="Text 18"/>
          <p:cNvSpPr txBox="1"/>
          <p:nvPr/>
        </p:nvSpPr>
        <p:spPr>
          <a:xfrm>
            <a:off x="457200" y="310896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Recency fails because it answers a different question, not because of bad facts.</a:t>
            </a:r>
            <a:endParaRPr lang="en-US" sz="1400" dirty="0"/>
          </a:p>
        </p:txBody>
      </p:sp>
      <p:sp>
        <p:nvSpPr>
          <p:cNvPr id="25" name="Text 19"/>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38 — Episodic Memory</a:t>
            </a:r>
            <a:endParaRPr lang="en-US" sz="900" dirty="0"/>
          </a:p>
        </p:txBody>
      </p:sp>
      <p:sp>
        <p:nvSpPr>
          <p:cNvPr id="26" name="Text 20"/>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EXPECTED RESULT  ·  GEMINI-ERA CAPTURE</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Run it: relevance finds the oldest fact</a:t>
            </a:r>
            <a:endParaRPr lang="en-US" sz="2800" dirty="0"/>
          </a:p>
        </p:txBody>
      </p:sp>
      <p:sp>
        <p:nvSpPr>
          <p:cNvPr id="4" name="Shape 2"/>
          <p:cNvSpPr/>
          <p:nvPr/>
        </p:nvSpPr>
        <p:spPr>
          <a:xfrm>
            <a:off x="457200" y="1325880"/>
            <a:ext cx="8229600" cy="2880360"/>
          </a:xfrm>
          <a:prstGeom prst="roundRect">
            <a:avLst>
              <a:gd name="adj" fmla="val 2540"/>
            </a:avLst>
          </a:prstGeom>
          <a:solidFill>
            <a:srgbClr val="0F1420"/>
          </a:solidFill>
          <a:ln w="12700">
            <a:solidFill>
              <a:srgbClr val="0F1420"/>
            </a:solidFill>
            <a:prstDash val="solid"/>
          </a:ln>
        </p:spPr>
      </p:sp>
      <p:sp>
        <p:nvSpPr>
          <p:cNvPr id="5" name="Text 3"/>
          <p:cNvSpPr txBox="1"/>
          <p:nvPr/>
        </p:nvSpPr>
        <p:spPr>
          <a:xfrm>
            <a:off x="640080" y="1463040"/>
            <a:ext cx="7863840" cy="2606040"/>
          </a:xfrm>
          <a:prstGeom prst="rect">
            <a:avLst/>
          </a:prstGeom>
          <a:noFill/>
          <a:ln/>
        </p:spPr>
        <p:txBody>
          <a:bodyPr wrap="square" lIns="0" tIns="0" rIns="0" bIns="0" rtlCol="0" anchor="t"/>
          <a:lstStyle/>
          <a:p>
            <a:pPr indent="0" marL="0">
              <a:buNone/>
            </a:pPr>
            <a:r>
              <a:rPr lang="en-US" sz="1000" dirty="0">
                <a:solidFill>
                  <a:srgbClr val="D7E3F4"/>
                </a:solidFill>
                <a:latin typeface="Courier New" pitchFamily="34" charset="0"/>
                <a:ea typeface="Courier New" pitchFamily="34" charset="-122"/>
                <a:cs typeface="Courier New" pitchFamily="34" charset="-120"/>
              </a:rPr>
              <a:t>=== Recording conversation turns ===</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  Turn 1: remembered - "Their dog Biscuit is allergic to chicken."</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  Turn 2: remembered - "The user is planning a trip to Japan next spring."</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  Turn 3: remembered - "Their favorite color is teal."</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  Turn 4: remembered - "The user started a new job at a marine biology lab."</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  Turn 5: remembered - "The user likes hiking on weekends when the weather is nice."</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New query (turn 6) ===</a:t>
            </a:r>
            <a:endParaRPr lang="en-US" sz="1000" dirty="0"/>
          </a:p>
          <a:p>
            <a:pPr indent="0" marL="0">
              <a:buNone/>
            </a:pPr>
            <a:r>
              <a:rPr lang="en-US" sz="1000" b="1" dirty="0">
                <a:solidFill>
                  <a:srgbClr val="F5A623"/>
                </a:solidFill>
                <a:latin typeface="Courier New" pitchFamily="34" charset="0"/>
                <a:ea typeface="Courier New" pitchFamily="34" charset="-122"/>
                <a:cs typeface="Courier New" pitchFamily="34" charset="-120"/>
              </a:rPr>
              <a:t>What treats should I avoid buying for my pet?</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Retrieval by RECENCY (last 2 facts learned) ---</a:t>
            </a:r>
            <a:endParaRPr lang="en-US" sz="1000" dirty="0"/>
          </a:p>
          <a:p>
            <a:pPr indent="0" marL="0">
              <a:buNone/>
            </a:pPr>
            <a:r>
              <a:rPr lang="en-US" sz="1000" dirty="0">
                <a:solidFill>
                  <a:srgbClr val="FF9B9B"/>
                </a:solidFill>
                <a:latin typeface="Courier New" pitchFamily="34" charset="0"/>
                <a:ea typeface="Courier New" pitchFamily="34" charset="-122"/>
                <a:cs typeface="Courier New" pitchFamily="34" charset="-120"/>
              </a:rPr>
              <a:t>  [Turn 5] The user likes hiking on weekends when the weather is nice.</a:t>
            </a:r>
            <a:endParaRPr lang="en-US" sz="1000" dirty="0"/>
          </a:p>
          <a:p>
            <a:pPr indent="0" marL="0">
              <a:buNone/>
            </a:pPr>
            <a:r>
              <a:rPr lang="en-US" sz="1000" dirty="0">
                <a:solidFill>
                  <a:srgbClr val="FF9B9B"/>
                </a:solidFill>
                <a:latin typeface="Courier New" pitchFamily="34" charset="0"/>
                <a:ea typeface="Courier New" pitchFamily="34" charset="-122"/>
                <a:cs typeface="Courier New" pitchFamily="34" charset="-120"/>
              </a:rPr>
              <a:t>  [Turn 4] The user started a new job at a marine biology lab.</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Retrieval by RELEVANCE (top 2 by cosine similarity to the query) ---</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  [Turn 1] Their dog Biscuit is allergic to chicken.</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  [Turn 3] Their favorite color is teal.</a:t>
            </a:r>
            <a:endParaRPr lang="en-US" sz="1000" dirty="0"/>
          </a:p>
        </p:txBody>
      </p:sp>
      <p:sp>
        <p:nvSpPr>
          <p:cNvPr id="6" name="Text 4"/>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38 — Episodic Memory</a:t>
            </a:r>
            <a:endParaRPr lang="en-US" sz="900" dirty="0"/>
          </a:p>
        </p:txBody>
      </p:sp>
      <p:sp>
        <p:nvSpPr>
          <p:cNvPr id="7" name="Text 5"/>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EXERCISE</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Blend relevance with recency</a:t>
            </a:r>
            <a:endParaRPr lang="en-US" sz="2800" dirty="0"/>
          </a:p>
        </p:txBody>
      </p:sp>
      <p:sp>
        <p:nvSpPr>
          <p:cNvPr id="4" name="Shape 2"/>
          <p:cNvSpPr/>
          <p:nvPr/>
        </p:nvSpPr>
        <p:spPr>
          <a:xfrm>
            <a:off x="457200" y="1371600"/>
            <a:ext cx="3108960" cy="3017520"/>
          </a:xfrm>
          <a:prstGeom prst="roundRect">
            <a:avLst>
              <a:gd name="adj" fmla="val 2424"/>
            </a:avLst>
          </a:prstGeom>
          <a:solidFill>
            <a:srgbClr val="512BD4"/>
          </a:solidFill>
          <a:ln w="12700">
            <a:solidFill>
              <a:srgbClr val="512BD4"/>
            </a:solidFill>
            <a:prstDash val="solid"/>
          </a:ln>
        </p:spPr>
      </p:sp>
      <p:sp>
        <p:nvSpPr>
          <p:cNvPr id="5" name="Shape 3"/>
          <p:cNvSpPr/>
          <p:nvPr/>
        </p:nvSpPr>
        <p:spPr>
          <a:xfrm>
            <a:off x="685800" y="1600200"/>
            <a:ext cx="457200" cy="45720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804672" y="1719072"/>
            <a:ext cx="219456" cy="219456"/>
          </a:xfrm>
          <a:prstGeom prst="rect">
            <a:avLst/>
          </a:prstGeom>
        </p:spPr>
      </p:pic>
      <p:sp>
        <p:nvSpPr>
          <p:cNvPr id="7" name="Text 4"/>
          <p:cNvSpPr txBox="1"/>
          <p:nvPr/>
        </p:nvSpPr>
        <p:spPr>
          <a:xfrm>
            <a:off x="685800" y="2194560"/>
            <a:ext cx="2651760" cy="137160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Add RetrieveHybridAsync: cosine similarity plus a small bonus for newer turns. Print it as a third list.</a:t>
            </a:r>
            <a:endParaRPr lang="en-US" sz="1400" dirty="0"/>
          </a:p>
        </p:txBody>
      </p:sp>
      <p:sp>
        <p:nvSpPr>
          <p:cNvPr id="8" name="Text 5"/>
          <p:cNvSpPr txBox="1"/>
          <p:nvPr/>
        </p:nvSpPr>
        <p:spPr>
          <a:xfrm>
            <a:off x="685800" y="3611880"/>
            <a:ext cx="2743200" cy="640080"/>
          </a:xfrm>
          <a:prstGeom prst="rect">
            <a:avLst/>
          </a:prstGeom>
          <a:noFill/>
          <a:ln/>
        </p:spPr>
        <p:txBody>
          <a:bodyPr wrap="square" lIns="0" tIns="0" rIns="0" bIns="0" rtlCol="0" anchor="b"/>
          <a:lstStyle/>
          <a:p>
            <a:pPr indent="0" marL="0">
              <a:buNone/>
            </a:pPr>
            <a:r>
              <a:rPr lang="en-US" sz="850" dirty="0">
                <a:solidFill>
                  <a:srgbClr val="B8B2E6"/>
                </a:solidFill>
                <a:latin typeface="Courier New" pitchFamily="34" charset="0"/>
                <a:ea typeface="Courier New" pitchFamily="34" charset="-122"/>
                <a:cs typeface="Courier New" pitchFamily="34" charset="-120"/>
              </a:rPr>
              <a:t>Lesson38-EpisodicMemory/EpisodicMemory/</a:t>
            </a:r>
            <a:endParaRPr lang="en-US" sz="850" dirty="0"/>
          </a:p>
          <a:p>
            <a:pPr indent="0" marL="0">
              <a:buNone/>
            </a:pPr>
            <a:r>
              <a:rPr lang="en-US" sz="850" dirty="0">
                <a:solidFill>
                  <a:srgbClr val="B8B2E6"/>
                </a:solidFill>
                <a:latin typeface="Courier New" pitchFamily="34" charset="0"/>
                <a:ea typeface="Courier New" pitchFamily="34" charset="-122"/>
                <a:cs typeface="Courier New" pitchFamily="34" charset="-120"/>
              </a:rPr>
              <a:t>EpisodicMemoryStore.cs</a:t>
            </a:r>
            <a:endParaRPr lang="en-US" sz="850" dirty="0"/>
          </a:p>
        </p:txBody>
      </p:sp>
      <p:sp>
        <p:nvSpPr>
          <p:cNvPr id="9" name="Text 6"/>
          <p:cNvSpPr txBox="1"/>
          <p:nvPr/>
        </p:nvSpPr>
        <p:spPr>
          <a:xfrm>
            <a:off x="3931920" y="1371600"/>
            <a:ext cx="4754880" cy="320040"/>
          </a:xfrm>
          <a:prstGeom prst="rect">
            <a:avLst/>
          </a:prstGeom>
          <a:noFill/>
          <a:ln/>
        </p:spPr>
        <p:txBody>
          <a:bodyPr wrap="square" lIns="0" tIns="0" rIns="0" bIns="0" rtlCol="0" anchor="t"/>
          <a:lstStyle/>
          <a:p>
            <a:pPr indent="0" marL="0">
              <a:buNone/>
            </a:pPr>
            <a:r>
              <a:rPr lang="en-US" sz="1600" b="1" dirty="0">
                <a:solidFill>
                  <a:srgbClr val="1F2937"/>
                </a:solidFill>
                <a:latin typeface="Cambria" pitchFamily="34" charset="0"/>
                <a:ea typeface="Cambria" pitchFamily="34" charset="-122"/>
                <a:cs typeface="Cambria" pitchFamily="34" charset="-120"/>
              </a:rPr>
              <a:t>Done when</a:t>
            </a:r>
            <a:endParaRPr lang="en-US" sz="1600" dirty="0"/>
          </a:p>
        </p:txBody>
      </p:sp>
      <p:sp>
        <p:nvSpPr>
          <p:cNvPr id="10" name="Shape 7"/>
          <p:cNvSpPr/>
          <p:nvPr/>
        </p:nvSpPr>
        <p:spPr>
          <a:xfrm>
            <a:off x="3931920" y="1801368"/>
            <a:ext cx="292608" cy="292608"/>
          </a:xfrm>
          <a:prstGeom prst="ellipse">
            <a:avLst/>
          </a:prstGeom>
          <a:solidFill>
            <a:srgbClr val="F5A623"/>
          </a:solidFill>
          <a:ln w="12700">
            <a:solidFill>
              <a:srgbClr val="F5A623"/>
            </a:solidFill>
            <a:prstDash val="solid"/>
          </a:ln>
        </p:spPr>
      </p:sp>
      <p:pic>
        <p:nvPicPr>
          <p:cNvPr id="11" name="Image 1" descr="preencoded.png">    </p:cNvPr>
          <p:cNvPicPr>
            <a:picLocks noChangeAspect="1"/>
          </p:cNvPicPr>
          <p:nvPr/>
        </p:nvPicPr>
        <p:blipFill>
          <a:blip r:embed="rId2"/>
          <a:stretch>
            <a:fillRect/>
          </a:stretch>
        </p:blipFill>
        <p:spPr>
          <a:xfrm>
            <a:off x="4007998" y="1877446"/>
            <a:ext cx="140452" cy="140452"/>
          </a:xfrm>
          <a:prstGeom prst="rect">
            <a:avLst/>
          </a:prstGeom>
        </p:spPr>
      </p:pic>
      <p:sp>
        <p:nvSpPr>
          <p:cNvPr id="12" name="Text 8"/>
          <p:cNvSpPr txBox="1"/>
          <p:nvPr/>
        </p:nvSpPr>
        <p:spPr>
          <a:xfrm>
            <a:off x="4361688" y="178308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A third, hybrid list prints after the other two</a:t>
            </a:r>
            <a:endParaRPr lang="en-US" sz="1300" dirty="0"/>
          </a:p>
        </p:txBody>
      </p:sp>
      <p:sp>
        <p:nvSpPr>
          <p:cNvPr id="13" name="Shape 9"/>
          <p:cNvSpPr/>
          <p:nvPr/>
        </p:nvSpPr>
        <p:spPr>
          <a:xfrm>
            <a:off x="3931920" y="2441448"/>
            <a:ext cx="292608" cy="292608"/>
          </a:xfrm>
          <a:prstGeom prst="ellipse">
            <a:avLst/>
          </a:prstGeom>
          <a:solidFill>
            <a:srgbClr val="F5A623"/>
          </a:solidFill>
          <a:ln w="12700">
            <a:solidFill>
              <a:srgbClr val="F5A623"/>
            </a:solidFill>
            <a:prstDash val="solid"/>
          </a:ln>
        </p:spPr>
      </p:sp>
      <p:pic>
        <p:nvPicPr>
          <p:cNvPr id="14" name="Image 2" descr="preencoded.png">    </p:cNvPr>
          <p:cNvPicPr>
            <a:picLocks noChangeAspect="1"/>
          </p:cNvPicPr>
          <p:nvPr/>
        </p:nvPicPr>
        <p:blipFill>
          <a:blip r:embed="rId3"/>
          <a:stretch>
            <a:fillRect/>
          </a:stretch>
        </p:blipFill>
        <p:spPr>
          <a:xfrm>
            <a:off x="4007998" y="2517526"/>
            <a:ext cx="140452" cy="140452"/>
          </a:xfrm>
          <a:prstGeom prst="rect">
            <a:avLst/>
          </a:prstGeom>
        </p:spPr>
      </p:pic>
      <p:sp>
        <p:nvSpPr>
          <p:cNvPr id="15" name="Text 10"/>
          <p:cNvSpPr txBox="1"/>
          <p:nvPr/>
        </p:nvSpPr>
        <p:spPr>
          <a:xfrm>
            <a:off x="4361688" y="242316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The allergy fact still ranks first for the pet query</a:t>
            </a:r>
            <a:endParaRPr lang="en-US" sz="1300" dirty="0"/>
          </a:p>
        </p:txBody>
      </p:sp>
      <p:sp>
        <p:nvSpPr>
          <p:cNvPr id="16" name="Shape 11"/>
          <p:cNvSpPr/>
          <p:nvPr/>
        </p:nvSpPr>
        <p:spPr>
          <a:xfrm>
            <a:off x="3931920" y="3081528"/>
            <a:ext cx="292608" cy="292608"/>
          </a:xfrm>
          <a:prstGeom prst="ellipse">
            <a:avLst/>
          </a:prstGeom>
          <a:solidFill>
            <a:srgbClr val="F5A623"/>
          </a:solidFill>
          <a:ln w="12700">
            <a:solidFill>
              <a:srgbClr val="F5A623"/>
            </a:solidFill>
            <a:prstDash val="solid"/>
          </a:ln>
        </p:spPr>
      </p:sp>
      <p:pic>
        <p:nvPicPr>
          <p:cNvPr id="17" name="Image 3" descr="preencoded.png">    </p:cNvPr>
          <p:cNvPicPr>
            <a:picLocks noChangeAspect="1"/>
          </p:cNvPicPr>
          <p:nvPr/>
        </p:nvPicPr>
        <p:blipFill>
          <a:blip r:embed="rId4"/>
          <a:stretch>
            <a:fillRect/>
          </a:stretch>
        </p:blipFill>
        <p:spPr>
          <a:xfrm>
            <a:off x="4007998" y="3157606"/>
            <a:ext cx="140452" cy="140452"/>
          </a:xfrm>
          <a:prstGeom prst="rect">
            <a:avLst/>
          </a:prstGeom>
        </p:spPr>
      </p:pic>
      <p:sp>
        <p:nvSpPr>
          <p:cNvPr id="18" name="Text 12"/>
          <p:cNvSpPr txBox="1"/>
          <p:nvPr/>
        </p:nvSpPr>
        <p:spPr>
          <a:xfrm>
            <a:off x="4361688" y="306324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A weekend-plans query puts turn 5 first</a:t>
            </a:r>
            <a:endParaRPr lang="en-US" sz="1300" dirty="0"/>
          </a:p>
        </p:txBody>
      </p:sp>
      <p:sp>
        <p:nvSpPr>
          <p:cNvPr id="19" name="Shape 13"/>
          <p:cNvSpPr/>
          <p:nvPr/>
        </p:nvSpPr>
        <p:spPr>
          <a:xfrm>
            <a:off x="3931920" y="3721608"/>
            <a:ext cx="292608" cy="292608"/>
          </a:xfrm>
          <a:prstGeom prst="ellipse">
            <a:avLst/>
          </a:prstGeom>
          <a:solidFill>
            <a:srgbClr val="F5A623"/>
          </a:solidFill>
          <a:ln w="12700">
            <a:solidFill>
              <a:srgbClr val="F5A623"/>
            </a:solidFill>
            <a:prstDash val="solid"/>
          </a:ln>
        </p:spPr>
      </p:sp>
      <p:pic>
        <p:nvPicPr>
          <p:cNvPr id="20" name="Image 4" descr="preencoded.png">    </p:cNvPr>
          <p:cNvPicPr>
            <a:picLocks noChangeAspect="1"/>
          </p:cNvPicPr>
          <p:nvPr/>
        </p:nvPicPr>
        <p:blipFill>
          <a:blip r:embed="rId5"/>
          <a:stretch>
            <a:fillRect/>
          </a:stretch>
        </p:blipFill>
        <p:spPr>
          <a:xfrm>
            <a:off x="4007998" y="3797686"/>
            <a:ext cx="140452" cy="140452"/>
          </a:xfrm>
          <a:prstGeom prst="rect">
            <a:avLst/>
          </a:prstGeom>
        </p:spPr>
      </p:pic>
      <p:sp>
        <p:nvSpPr>
          <p:cNvPr id="21" name="Text 14"/>
          <p:cNvSpPr txBox="1"/>
          <p:nvPr/>
        </p:nvSpPr>
        <p:spPr>
          <a:xfrm>
            <a:off x="4361688" y="370332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The recency and relevance lists are unchanged</a:t>
            </a:r>
            <a:endParaRPr lang="en-US" sz="1300" dirty="0"/>
          </a:p>
        </p:txBody>
      </p:sp>
      <p:sp>
        <p:nvSpPr>
          <p:cNvPr id="22" name="Text 15"/>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38 — Episodic Memory</a:t>
            </a:r>
            <a:endParaRPr lang="en-US" sz="900" dirty="0"/>
          </a:p>
        </p:txBody>
      </p:sp>
      <p:sp>
        <p:nvSpPr>
          <p:cNvPr id="23" name="Text 16"/>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41B2D"/>
        </a:solidFill>
      </p:bgPr>
    </p:bg>
    <p:spTree>
      <p:nvGrpSpPr>
        <p:cNvPr id="1" name=""/>
        <p:cNvGrpSpPr/>
        <p:nvPr/>
      </p:nvGrpSpPr>
      <p:grpSpPr>
        <a:xfrm>
          <a:off x="0" y="0"/>
          <a:ext cx="0" cy="0"/>
          <a:chOff x="0" y="0"/>
          <a:chExt cx="0" cy="0"/>
        </a:xfrm>
      </p:grpSpPr>
      <p:sp>
        <p:nvSpPr>
          <p:cNvPr id="2" name="Text 0"/>
          <p:cNvSpPr txBox="1"/>
          <p:nvPr/>
        </p:nvSpPr>
        <p:spPr>
          <a:xfrm>
            <a:off x="457200" y="347472"/>
            <a:ext cx="4572000" cy="228600"/>
          </a:xfrm>
          <a:prstGeom prst="rect">
            <a:avLst/>
          </a:prstGeom>
          <a:noFill/>
          <a:ln/>
        </p:spPr>
        <p:txBody>
          <a:bodyPr wrap="square" lIns="0" tIns="0" rIns="0" bIns="0" rtlCol="0" anchor="t"/>
          <a:lstStyle/>
          <a:p>
            <a:pPr indent="0" marL="0">
              <a:buNone/>
            </a:pPr>
            <a:r>
              <a:rPr lang="en-US" sz="1100" b="1" spc="200" kern="0" dirty="0">
                <a:solidFill>
                  <a:srgbClr val="F5A623"/>
                </a:solidFill>
                <a:latin typeface="Calibri" pitchFamily="34" charset="0"/>
                <a:ea typeface="Calibri" pitchFamily="34" charset="-122"/>
                <a:cs typeface="Calibri" pitchFamily="34" charset="-120"/>
              </a:rPr>
              <a:t>SUMMARY</a:t>
            </a:r>
            <a:endParaRPr lang="en-US" sz="1100" dirty="0"/>
          </a:p>
        </p:txBody>
      </p:sp>
      <p:sp>
        <p:nvSpPr>
          <p:cNvPr id="3" name="Text 1"/>
          <p:cNvSpPr txBox="1"/>
          <p:nvPr/>
        </p:nvSpPr>
        <p:spPr>
          <a:xfrm>
            <a:off x="457200" y="566928"/>
            <a:ext cx="8229600" cy="502920"/>
          </a:xfrm>
          <a:prstGeom prst="rect">
            <a:avLst/>
          </a:prstGeom>
          <a:noFill/>
          <a:ln/>
        </p:spPr>
        <p:txBody>
          <a:bodyPr wrap="square" lIns="0" tIns="0" rIns="0" bIns="0" rtlCol="0" anchor="t"/>
          <a:lstStyle/>
          <a:p>
            <a:pPr indent="0" marL="0">
              <a:buNone/>
            </a:pPr>
            <a:r>
              <a:rPr lang="en-US" sz="2600" b="1" dirty="0">
                <a:solidFill>
                  <a:srgbClr val="FFFFFF"/>
                </a:solidFill>
                <a:latin typeface="Cambria" pitchFamily="34" charset="0"/>
                <a:ea typeface="Cambria" pitchFamily="34" charset="-122"/>
                <a:cs typeface="Cambria" pitchFamily="34" charset="-120"/>
              </a:rPr>
              <a:t>What we learned, and where it goes</a:t>
            </a:r>
            <a:endParaRPr lang="en-US" sz="2600" dirty="0"/>
          </a:p>
        </p:txBody>
      </p:sp>
      <p:sp>
        <p:nvSpPr>
          <p:cNvPr id="4" name="Shape 2"/>
          <p:cNvSpPr/>
          <p:nvPr/>
        </p:nvSpPr>
        <p:spPr>
          <a:xfrm>
            <a:off x="457200" y="1234440"/>
            <a:ext cx="2926080" cy="493776"/>
          </a:xfrm>
          <a:prstGeom prst="roundRect">
            <a:avLst>
              <a:gd name="adj" fmla="val 14815"/>
            </a:avLst>
          </a:prstGeom>
          <a:solidFill>
            <a:srgbClr val="1F2943"/>
          </a:solidFill>
          <a:ln w="12700">
            <a:solidFill>
              <a:srgbClr val="1F2943"/>
            </a:solidFill>
            <a:prstDash val="solid"/>
          </a:ln>
        </p:spPr>
      </p:sp>
      <p:sp>
        <p:nvSpPr>
          <p:cNvPr id="5" name="Text 3"/>
          <p:cNvSpPr txBox="1"/>
          <p:nvPr/>
        </p:nvSpPr>
        <p:spPr>
          <a:xfrm>
            <a:off x="621792" y="1234440"/>
            <a:ext cx="2651760" cy="49377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One clear job per class</a:t>
            </a:r>
            <a:endParaRPr lang="en-US" sz="1300" dirty="0"/>
          </a:p>
        </p:txBody>
      </p:sp>
      <p:sp>
        <p:nvSpPr>
          <p:cNvPr id="6" name="Shape 4"/>
          <p:cNvSpPr/>
          <p:nvPr/>
        </p:nvSpPr>
        <p:spPr>
          <a:xfrm>
            <a:off x="3493008" y="1389888"/>
            <a:ext cx="329184" cy="182880"/>
          </a:xfrm>
          <a:prstGeom prst="rightArrow">
            <a:avLst/>
          </a:prstGeom>
          <a:solidFill>
            <a:srgbClr val="F5A623"/>
          </a:solidFill>
          <a:ln w="12700">
            <a:solidFill>
              <a:srgbClr val="F5A623"/>
            </a:solidFill>
            <a:prstDash val="solid"/>
          </a:ln>
        </p:spPr>
      </p:sp>
      <p:sp>
        <p:nvSpPr>
          <p:cNvPr id="7" name="Text 5"/>
          <p:cNvSpPr txBox="1"/>
          <p:nvPr/>
        </p:nvSpPr>
        <p:spPr>
          <a:xfrm>
            <a:off x="3977640" y="1234440"/>
            <a:ext cx="4709160" cy="49377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39  </a:t>
            </a:r>
            <a:pPr indent="0" marL="0">
              <a:buNone/>
            </a:pPr>
            <a:r>
              <a:rPr lang="en-US" sz="1250" dirty="0">
                <a:solidFill>
                  <a:srgbClr val="FFFFFF"/>
                </a:solidFill>
                <a:latin typeface="Calibri" pitchFamily="34" charset="0"/>
                <a:ea typeface="Calibri" pitchFamily="34" charset="-122"/>
                <a:cs typeface="Calibri" pitchFamily="34" charset="-120"/>
              </a:rPr>
              <a:t>Orchestrators delegate to sub-orchestrators (planned)</a:t>
            </a:r>
            <a:endParaRPr lang="en-US" sz="1250" dirty="0"/>
          </a:p>
        </p:txBody>
      </p:sp>
      <p:sp>
        <p:nvSpPr>
          <p:cNvPr id="8" name="Shape 6"/>
          <p:cNvSpPr/>
          <p:nvPr/>
        </p:nvSpPr>
        <p:spPr>
          <a:xfrm>
            <a:off x="457200" y="1837944"/>
            <a:ext cx="2926080" cy="493776"/>
          </a:xfrm>
          <a:prstGeom prst="roundRect">
            <a:avLst>
              <a:gd name="adj" fmla="val 14815"/>
            </a:avLst>
          </a:prstGeom>
          <a:solidFill>
            <a:srgbClr val="1F2943"/>
          </a:solidFill>
          <a:ln w="12700">
            <a:solidFill>
              <a:srgbClr val="1F2943"/>
            </a:solidFill>
            <a:prstDash val="solid"/>
          </a:ln>
        </p:spPr>
      </p:sp>
      <p:sp>
        <p:nvSpPr>
          <p:cNvPr id="9" name="Text 7"/>
          <p:cNvSpPr txBox="1"/>
          <p:nvPr/>
        </p:nvSpPr>
        <p:spPr>
          <a:xfrm>
            <a:off x="621792" y="1837944"/>
            <a:ext cx="2651760" cy="49377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Capture separate from recall</a:t>
            </a:r>
            <a:endParaRPr lang="en-US" sz="1300" dirty="0"/>
          </a:p>
        </p:txBody>
      </p:sp>
      <p:sp>
        <p:nvSpPr>
          <p:cNvPr id="10" name="Shape 8"/>
          <p:cNvSpPr/>
          <p:nvPr/>
        </p:nvSpPr>
        <p:spPr>
          <a:xfrm>
            <a:off x="3493008" y="1993392"/>
            <a:ext cx="329184" cy="182880"/>
          </a:xfrm>
          <a:prstGeom prst="rightArrow">
            <a:avLst/>
          </a:prstGeom>
          <a:solidFill>
            <a:srgbClr val="F5A623"/>
          </a:solidFill>
          <a:ln w="12700">
            <a:solidFill>
              <a:srgbClr val="F5A623"/>
            </a:solidFill>
            <a:prstDash val="solid"/>
          </a:ln>
        </p:spPr>
      </p:sp>
      <p:sp>
        <p:nvSpPr>
          <p:cNvPr id="11" name="Text 9"/>
          <p:cNvSpPr txBox="1"/>
          <p:nvPr/>
        </p:nvSpPr>
        <p:spPr>
          <a:xfrm>
            <a:off x="3977640" y="1837944"/>
            <a:ext cx="4709160" cy="49377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40  </a:t>
            </a:r>
            <a:pPr indent="0" marL="0">
              <a:buNone/>
            </a:pPr>
            <a:r>
              <a:rPr lang="en-US" sz="1250" dirty="0">
                <a:solidFill>
                  <a:srgbClr val="FFFFFF"/>
                </a:solidFill>
                <a:latin typeface="Calibri" pitchFamily="34" charset="0"/>
                <a:ea typeface="Calibri" pitchFamily="34" charset="-122"/>
                <a:cs typeface="Calibri" pitchFamily="34" charset="-120"/>
              </a:rPr>
              <a:t>Agents decoupled by a pub-sub event bus (planned)</a:t>
            </a:r>
            <a:endParaRPr lang="en-US" sz="1250" dirty="0"/>
          </a:p>
        </p:txBody>
      </p:sp>
      <p:sp>
        <p:nvSpPr>
          <p:cNvPr id="12" name="Shape 10"/>
          <p:cNvSpPr/>
          <p:nvPr/>
        </p:nvSpPr>
        <p:spPr>
          <a:xfrm>
            <a:off x="457200" y="2441448"/>
            <a:ext cx="2926080" cy="493776"/>
          </a:xfrm>
          <a:prstGeom prst="roundRect">
            <a:avLst>
              <a:gd name="adj" fmla="val 14815"/>
            </a:avLst>
          </a:prstGeom>
          <a:solidFill>
            <a:srgbClr val="1F2943"/>
          </a:solidFill>
          <a:ln w="12700">
            <a:solidFill>
              <a:srgbClr val="1F2943"/>
            </a:solidFill>
            <a:prstDash val="solid"/>
          </a:ln>
        </p:spPr>
      </p:sp>
      <p:sp>
        <p:nvSpPr>
          <p:cNvPr id="13" name="Text 11"/>
          <p:cNvSpPr txBox="1"/>
          <p:nvPr/>
        </p:nvSpPr>
        <p:spPr>
          <a:xfrm>
            <a:off x="621792" y="2441448"/>
            <a:ext cx="2651760" cy="49377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 memory that lives in RAM</a:t>
            </a:r>
            <a:endParaRPr lang="en-US" sz="1300" dirty="0"/>
          </a:p>
        </p:txBody>
      </p:sp>
      <p:sp>
        <p:nvSpPr>
          <p:cNvPr id="14" name="Shape 12"/>
          <p:cNvSpPr/>
          <p:nvPr/>
        </p:nvSpPr>
        <p:spPr>
          <a:xfrm>
            <a:off x="3493008" y="2596896"/>
            <a:ext cx="329184" cy="182880"/>
          </a:xfrm>
          <a:prstGeom prst="rightArrow">
            <a:avLst/>
          </a:prstGeom>
          <a:solidFill>
            <a:srgbClr val="F5A623"/>
          </a:solidFill>
          <a:ln w="12700">
            <a:solidFill>
              <a:srgbClr val="F5A623"/>
            </a:solidFill>
            <a:prstDash val="solid"/>
          </a:ln>
        </p:spPr>
      </p:sp>
      <p:sp>
        <p:nvSpPr>
          <p:cNvPr id="15" name="Text 13"/>
          <p:cNvSpPr txBox="1"/>
          <p:nvPr/>
        </p:nvSpPr>
        <p:spPr>
          <a:xfrm>
            <a:off x="3977640" y="2441448"/>
            <a:ext cx="4709160" cy="49377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42  </a:t>
            </a:r>
            <a:pPr indent="0" marL="0">
              <a:buNone/>
            </a:pPr>
            <a:r>
              <a:rPr lang="en-US" sz="1250" dirty="0">
                <a:solidFill>
                  <a:srgbClr val="FFFFFF"/>
                </a:solidFill>
                <a:latin typeface="Calibri" pitchFamily="34" charset="0"/>
                <a:ea typeface="Calibri" pitchFamily="34" charset="-122"/>
                <a:cs typeface="Calibri" pitchFamily="34" charset="-120"/>
              </a:rPr>
              <a:t>State checkpointed to survive restarts (planned)</a:t>
            </a:r>
            <a:endParaRPr lang="en-US" sz="1250" dirty="0"/>
          </a:p>
        </p:txBody>
      </p:sp>
      <p:sp>
        <p:nvSpPr>
          <p:cNvPr id="16" name="Shape 14"/>
          <p:cNvSpPr/>
          <p:nvPr/>
        </p:nvSpPr>
        <p:spPr>
          <a:xfrm>
            <a:off x="457200" y="3044952"/>
            <a:ext cx="2926080" cy="493776"/>
          </a:xfrm>
          <a:prstGeom prst="roundRect">
            <a:avLst>
              <a:gd name="adj" fmla="val 14815"/>
            </a:avLst>
          </a:prstGeom>
          <a:solidFill>
            <a:srgbClr val="1F2943"/>
          </a:solidFill>
          <a:ln w="12700">
            <a:solidFill>
              <a:srgbClr val="1F2943"/>
            </a:solidFill>
            <a:prstDash val="solid"/>
          </a:ln>
        </p:spPr>
      </p:sp>
      <p:sp>
        <p:nvSpPr>
          <p:cNvPr id="17" name="Text 15"/>
          <p:cNvSpPr txBox="1"/>
          <p:nvPr/>
        </p:nvSpPr>
        <p:spPr>
          <a:xfrm>
            <a:off x="621792" y="3044952"/>
            <a:ext cx="2651760" cy="49377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Production-hardened pieces</a:t>
            </a:r>
            <a:endParaRPr lang="en-US" sz="1300" dirty="0"/>
          </a:p>
        </p:txBody>
      </p:sp>
      <p:sp>
        <p:nvSpPr>
          <p:cNvPr id="18" name="Shape 16"/>
          <p:cNvSpPr/>
          <p:nvPr/>
        </p:nvSpPr>
        <p:spPr>
          <a:xfrm>
            <a:off x="3493008" y="3200400"/>
            <a:ext cx="329184" cy="182880"/>
          </a:xfrm>
          <a:prstGeom prst="rightArrow">
            <a:avLst/>
          </a:prstGeom>
          <a:solidFill>
            <a:srgbClr val="F5A623"/>
          </a:solidFill>
          <a:ln w="12700">
            <a:solidFill>
              <a:srgbClr val="F5A623"/>
            </a:solidFill>
            <a:prstDash val="solid"/>
          </a:ln>
        </p:spPr>
      </p:sp>
      <p:sp>
        <p:nvSpPr>
          <p:cNvPr id="19" name="Text 17"/>
          <p:cNvSpPr txBox="1"/>
          <p:nvPr/>
        </p:nvSpPr>
        <p:spPr>
          <a:xfrm>
            <a:off x="3977640" y="3044952"/>
            <a:ext cx="4709160" cy="49377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43  </a:t>
            </a:r>
            <a:pPr indent="0" marL="0">
              <a:buNone/>
            </a:pPr>
            <a:r>
              <a:rPr lang="en-US" sz="1250" dirty="0">
                <a:solidFill>
                  <a:srgbClr val="FFFFFF"/>
                </a:solidFill>
                <a:latin typeface="Calibri" pitchFamily="34" charset="0"/>
                <a:ea typeface="Calibri" pitchFamily="34" charset="-122"/>
                <a:cs typeface="Calibri" pitchFamily="34" charset="-120"/>
              </a:rPr>
              <a:t>Capstone II combines them in one system (planned)</a:t>
            </a:r>
            <a:endParaRPr lang="en-US" sz="1250" dirty="0"/>
          </a:p>
        </p:txBody>
      </p:sp>
      <p:sp>
        <p:nvSpPr>
          <p:cNvPr id="20" name="Text 18"/>
          <p:cNvSpPr txBox="1"/>
          <p:nvPr/>
        </p:nvSpPr>
        <p:spPr>
          <a:xfrm>
            <a:off x="457200" y="4224528"/>
            <a:ext cx="8229600" cy="320040"/>
          </a:xfrm>
          <a:prstGeom prst="rect">
            <a:avLst/>
          </a:prstGeom>
          <a:noFill/>
          <a:ln/>
        </p:spPr>
        <p:txBody>
          <a:bodyPr wrap="square" lIns="0" tIns="0" rIns="0" bIns="0" rtlCol="0" anchor="t"/>
          <a:lstStyle/>
          <a:p>
            <a:pPr indent="0" marL="0">
              <a:buNone/>
            </a:pPr>
            <a:r>
              <a:rPr lang="en-US" sz="1300" dirty="0">
                <a:solidFill>
                  <a:srgbClr val="B8B2E6"/>
                </a:solidFill>
                <a:latin typeface="Calibri" pitchFamily="34" charset="0"/>
                <a:ea typeface="Calibri" pitchFamily="34" charset="-122"/>
                <a:cs typeface="Calibri" pitchFamily="34" charset="-120"/>
              </a:rPr>
              <a:t>Ships in  </a:t>
            </a:r>
            <a:pPr indent="0" marL="0">
              <a:buNone/>
            </a:pPr>
            <a:r>
              <a:rPr lang="en-US" sz="1300" b="1" dirty="0">
                <a:solidFill>
                  <a:srgbClr val="FFFFFF"/>
                </a:solidFill>
                <a:latin typeface="Calibri" pitchFamily="34" charset="0"/>
                <a:ea typeface="Calibri" pitchFamily="34" charset="-122"/>
                <a:cs typeface="Calibri" pitchFamily="34" charset="-120"/>
              </a:rPr>
              <a:t>Part 2: Production Hardening</a:t>
            </a:r>
            <a:endParaRPr lang="en-US" sz="1300" dirty="0"/>
          </a:p>
        </p:txBody>
      </p:sp>
      <p:sp>
        <p:nvSpPr>
          <p:cNvPr id="21" name="Text 19"/>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B8B2E6"/>
                </a:solidFill>
                <a:latin typeface="Calibri" pitchFamily="34" charset="0"/>
                <a:ea typeface="Calibri" pitchFamily="34" charset="-122"/>
                <a:cs typeface="Calibri" pitchFamily="34" charset="-120"/>
              </a:rPr>
              <a:t>Applied Agentic Orchestration with Semantic Kernel  ·  Lesson 38 — Episodic Memory</a:t>
            </a:r>
            <a:endParaRPr lang="en-US" sz="900" dirty="0"/>
          </a:p>
        </p:txBody>
      </p:sp>
      <p:sp>
        <p:nvSpPr>
          <p:cNvPr id="22" name="Text 20"/>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B8B2E6"/>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38 — Vector-Indexed Episodic Memory</dc:title>
  <dc:subject>PptxGenJS Presentation</dc:subject>
  <dc:creator>Media Six LLC</dc:creator>
  <cp:lastModifiedBy>Media Six LLC</cp:lastModifiedBy>
  <cp:revision>1</cp:revision>
  <dcterms:created xsi:type="dcterms:W3CDTF">2026-10-21T23:10:43Z</dcterms:created>
  <dcterms:modified xsi:type="dcterms:W3CDTF">2026-10-21T23:10:43Z</dcterms:modified>
</cp:coreProperties>
</file>