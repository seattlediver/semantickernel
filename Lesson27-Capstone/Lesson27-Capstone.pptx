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opens the four-part Part 1 capstone: the Universal Project Manager, or UPM. By the end of Lesson 30 it will take a rough project idea, break it into tasks, write code for those tasks with a Developer agent and review the results. Lesson 27 doesn't run any of that pipeline yet. Its job is to lay down the architecture the rest of the capstone builds on: a shared state object called ProjectState, a ProjectTask data model, an IProjectAgent interface every specialist will implement, and one concrete agent, the GoalRefinerAgent. Running the app asks for a rough idea, refines it into a clean technical goal and prints the resulting state, which proves the design works before any planning or coding agents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lesson sits in the capstone. Lesson 27, highlighted, builds the architecture: ProjectState, the IProjectAgent contract and the GoalRefiner. Lesson 28 adds the Planner and Developer agents and the first state-changing plugin, CreateTask. Lesson 29 replaces the hand-written sequence with a ProjectOrchestrator and adds a Reviewer that can send work back. Lesson 30 deploys the finished system twice, as a console app and as an ASP.NET Core Web API. The point of designing the shape first is that each later lesson only adds agents to the same state object; none of them has to redesign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earlier lesson passed context around as a ChatHistory or a plain string, from one caller to one agent. That works for a single agent, but it doesn't scale once several specialists need to collaborate on the same piece of work, because every new agent means new hand-off wiring. The blackboard pattern replaces those point-to-point hand-offs with one shared object. Every agent reads from ProjectState and writes its results back to it, so a new agent only needs to know the state, not the other agents. Lesson 27 puts that object and the agent contract in place before any real agent logic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application named UniversalProjectManager, opened from its .slnx file. The same project name and namespace carry through Lessons 28, 29 and 30. It references Microsoft.SemanticKernel and Microsoft.SemanticKernel.Connectors.OpenAI, both at version 1.78.0. The API key is read from the OPENAI_API_KEY environment variable, and Program.cs throws at startup if it is missing. The model is gpt-4.1-mini, registered once with AddOpenAIChatCompletion on a kernel that every agent will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ProjectState is the blackboard. It holds the user's OriginalRequest exactly as typed, the RefinedGoal the GoalRefiner produces, and a list of ProjectTask objects that stays empty in this lesson and is filled by the Planner from Lesson 28 on. The fourth member is the interesting one: IsFullyCompleted isn't a flag anyone sets. It is a computed property that returns true only when at least one task exists and every task is complete. Because it is derived from the task list, it can never drift out of sync with it, and in Lesson 29 it becomes the orchestrator's stopping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types carry the design. IProjectAgent is the contract: a Name and an ExecuteAsync method that takes the ProjectState. That is all a future orchestrator needs to know about any agent, whatever it does. ProjectTask is the unit of work, with a short eight-character Id cut from a GUID, a Description, an AssignedTo role, a Result and an IsCompleted flag. Result defaults to an empty string, like its sibling string properties, so it is never null under nullable reference types. GoalRefinerAgent, highlighted, is the first class that implements the contract, and Program.cs deliberately holds it through the IProjectAgent interface rather than its concrete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GoalRefiner's whole prompt. It casts the model as an analytical project manager, asks it to turn the raw request into one clear technical sentence, and tells it to strip away conversational filler. The highlighted line interpolates the user's original request from the state. The agent sends the prompt with kernel.InvokePromptAsync, passing OpenAIPromptExecutionSettings inside KernelArguments; for a single-shot rewrite there is no need to manage a ChatHistory. Temperature is 0.1 because we want a consistent, professional rewrite rather than creative variation. The result is trimmed and written to state.RefinedGoal. The call is wrapped in a try/catch, so a network blip, rate limit or content filter prints a short message and leaves RefinedGoal empty instead of crashing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runs in four steps. It builds the kernel with the OpenAI connector. It prompts for a rough project idea, exits if the input is blank, and stores it on a fresh ProjectState as OriginalRequest. Then, highlighted, it creates the GoalRefinerAgent, holds it as an IProjectAgent, and awaits ExecuteAsync with the state. Finally it prints the current project state: the original request, the refined goal, the task count and the completion flag. Notice that Main never touches the model's reply directly. The agent wrote its result into the state, and Main reads it from there, which is exactly how every later agent will communicate.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a two-line banner and asks for a rough project idea. The idea and the refined goal on this slide are illustrative; your refined sentence will differ. Then it prints the current project state: your original wording, the refined one-sentence goal, zero tasks pending generation, and Complete False, because IsFullyCompleted needs at least one task before it can be true. The program ends with the line 'Architecture validated. Ready for Planners and Developers in Day 28.', which refers to the next lesson, Lesson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Create a new class in its own file that implements IProjectAgent; it doesn't need to call the model at all. In ExecuteAsync, add one ProjectTask to state.Tasks with a description built from the refined goal. Run it after the GoalRefiner on the same ProjectState and check that the task count goes up. Then set the task's IsCompleted to true and watch the computed IsFullyCompleted property flip to True without you setting it. You've just done in miniature what Lesson 28's Planner does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created a shared ProjectState blackboard, a ProjectTask model, and an IProjectAgent contract, and implemented the first agent, a GoalRefiner that turns a rough idea into a clean goal with a single prompt call. Every piece is used again. In Lesson 28 the Planner and Developer hand work to each other only through the state. In Lesson 29 a ProjectOrchestrator loops over a list of IProjectAgent, and the computed IsFullyCompleted property becomes its exit condition. In Lesson 30, because each agent simply takes a Kernel in its constructor, ASP.NET Core's dependency injection can build the whole team per request. And in Part 2, the planned Lesson 42 will make this in-memory state durable, so a run can survive a process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27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Capstone I: Design &amp; Architecture</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The blackboard and agent contract the Universal Project Manager is built on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rough project idea</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ProjectState.RefinedGoal</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Share one mutable state object across agents</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Define a single contract every agent implements</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Refine a rough request into a one-line technical goal</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Derive status from state instead of tracking a flag</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CAPSTONE ARC</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Part 1 of 4: the foundation everything plugs into</a:t>
            </a:r>
            <a:endParaRPr lang="en-US" sz="2500" dirty="0"/>
          </a:p>
        </p:txBody>
      </p:sp>
      <p:sp>
        <p:nvSpPr>
          <p:cNvPr id="4" name="Shape 2"/>
          <p:cNvSpPr/>
          <p:nvPr/>
        </p:nvSpPr>
        <p:spPr>
          <a:xfrm>
            <a:off x="457200" y="1417320"/>
            <a:ext cx="1796796" cy="1993392"/>
          </a:xfrm>
          <a:prstGeom prst="roundRect">
            <a:avLst>
              <a:gd name="adj" fmla="val 4071"/>
            </a:avLst>
          </a:prstGeom>
          <a:solidFill>
            <a:srgbClr val="512BD4"/>
          </a:solidFill>
          <a:ln w="12700">
            <a:solidFill>
              <a:srgbClr val="512BD4"/>
            </a:solidFill>
            <a:prstDash val="solid"/>
          </a:ln>
        </p:spPr>
      </p:sp>
      <p:sp>
        <p:nvSpPr>
          <p:cNvPr id="5" name="Shape 3"/>
          <p:cNvSpPr/>
          <p:nvPr/>
        </p:nvSpPr>
        <p:spPr>
          <a:xfrm>
            <a:off x="640080" y="1618488"/>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Architecture</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Lesson 27: ProjectState, a contract, GoalRefiner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Plugins</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28: Planner, Developer and a CreateTask tool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Orchestration</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29: an orchestrator and a Reviewer loop</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Deployment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30: console app plus a Web API with Scalar</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lesson adds agents to the same ProjectState; none redesigns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From passing strings to sharing one blackboard</a:t>
            </a:r>
            <a:endParaRPr lang="en-US" sz="27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Earlier lessons</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Context travels as ChatHistory or a string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hand-off is point to point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Adding an agent means rewiring callers</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27: blackboard</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ProjectState that every agent reads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Agents write their results back to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New agents plug in without new wiring</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Design the shared state before any agent logic depends on it.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opened as UniversalProjectManager.slnx. The same solution grows through Lesson 30.</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once with AddOpenAIChatCompletion and shared by every agent.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BLACKBOARD</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ProjectState holds everything the agents share</a:t>
            </a:r>
            <a:endParaRPr lang="en-US" sz="27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ProjectState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mutable object. Every agent receives it and writes back to it.</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Request</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OriginalRequest: the idea as typed.</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Refined goal</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RefinedGoal: one sentence from the refiner.</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Tasks</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List&lt;ProjectTask&gt;: filled from Lesson 28.</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Completion</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IsFullyCompleted: computed, never set.</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CONTRACTS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types every later lesson builds on</a:t>
            </a:r>
            <a:endParaRPr lang="en-US" sz="2800" dirty="0"/>
          </a:p>
        </p:txBody>
      </p:sp>
      <p:sp>
        <p:nvSpPr>
          <p:cNvPr id="4" name="Shape 2"/>
          <p:cNvSpPr/>
          <p:nvPr/>
        </p:nvSpPr>
        <p:spPr>
          <a:xfrm>
            <a:off x="457200" y="1371600"/>
            <a:ext cx="2560320" cy="1554480"/>
          </a:xfrm>
          <a:prstGeom prst="roundRect">
            <a:avLst>
              <a:gd name="adj" fmla="val 470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IProjectAgent</a:t>
            </a:r>
            <a:endParaRPr lang="en-US" sz="1500" dirty="0"/>
          </a:p>
        </p:txBody>
      </p:sp>
      <p:sp>
        <p:nvSpPr>
          <p:cNvPr id="8" name="Text 5"/>
          <p:cNvSpPr txBox="1"/>
          <p:nvPr/>
        </p:nvSpPr>
        <p:spPr>
          <a:xfrm>
            <a:off x="640080" y="2057400"/>
            <a:ext cx="2194560"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Name and one ExecuteAsync method: all an orchestrator needs.</a:t>
            </a:r>
            <a:endParaRPr lang="en-US" sz="1200" dirty="0"/>
          </a:p>
        </p:txBody>
      </p:sp>
      <p:sp>
        <p:nvSpPr>
          <p:cNvPr id="9" name="Shape 6"/>
          <p:cNvSpPr/>
          <p:nvPr/>
        </p:nvSpPr>
        <p:spPr>
          <a:xfrm>
            <a:off x="3291840" y="1371600"/>
            <a:ext cx="2560320" cy="1554480"/>
          </a:xfrm>
          <a:prstGeom prst="roundRect">
            <a:avLst>
              <a:gd name="adj" fmla="val 470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ProjectTask</a:t>
            </a:r>
            <a:endParaRPr lang="en-US" sz="1500" dirty="0"/>
          </a:p>
        </p:txBody>
      </p:sp>
      <p:sp>
        <p:nvSpPr>
          <p:cNvPr id="13" name="Text 9"/>
          <p:cNvSpPr txBox="1"/>
          <p:nvPr/>
        </p:nvSpPr>
        <p:spPr>
          <a:xfrm>
            <a:off x="3474720" y="2057400"/>
            <a:ext cx="2194560" cy="7772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Id, Description, AssignedTo, Result and IsCompleted. Result defaults to empty.</a:t>
            </a:r>
            <a:endParaRPr lang="en-US" sz="1200" dirty="0"/>
          </a:p>
        </p:txBody>
      </p:sp>
      <p:sp>
        <p:nvSpPr>
          <p:cNvPr id="14" name="Shape 10"/>
          <p:cNvSpPr/>
          <p:nvPr/>
        </p:nvSpPr>
        <p:spPr>
          <a:xfrm>
            <a:off x="6126480" y="1371600"/>
            <a:ext cx="2560320" cy="1554480"/>
          </a:xfrm>
          <a:prstGeom prst="roundRect">
            <a:avLst>
              <a:gd name="adj" fmla="val 470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GoalRefiner</a:t>
            </a:r>
            <a:endParaRPr lang="en-US" sz="1500" dirty="0"/>
          </a:p>
        </p:txBody>
      </p:sp>
      <p:sp>
        <p:nvSpPr>
          <p:cNvPr id="18" name="Text 13"/>
          <p:cNvSpPr txBox="1"/>
          <p:nvPr/>
        </p:nvSpPr>
        <p:spPr>
          <a:xfrm>
            <a:off x="6309360" y="2057400"/>
            <a:ext cx="2194560" cy="7772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GoalRefinerAgent: the first class that implements IProjectAgent.</a:t>
            </a:r>
            <a:endParaRPr lang="en-US" sz="1200" dirty="0"/>
          </a:p>
        </p:txBody>
      </p:sp>
      <p:sp>
        <p:nvSpPr>
          <p:cNvPr id="19" name="Text 14"/>
          <p:cNvSpPr txBox="1"/>
          <p:nvPr/>
        </p:nvSpPr>
        <p:spPr>
          <a:xfrm>
            <a:off x="457200" y="31546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Program.cs holds the refiner as an IProjectAgent, not as its concrete type.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GOAL REFINEMENT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GoalRefiner is a single prompt call</a:t>
            </a:r>
            <a:endParaRPr lang="en-US" sz="2800" dirty="0"/>
          </a:p>
        </p:txBody>
      </p:sp>
      <p:sp>
        <p:nvSpPr>
          <p:cNvPr id="4" name="Shape 2"/>
          <p:cNvSpPr/>
          <p:nvPr/>
        </p:nvSpPr>
        <p:spPr>
          <a:xfrm>
            <a:off x="457200" y="1325880"/>
            <a:ext cx="5257800" cy="1325880"/>
          </a:xfrm>
          <a:prstGeom prst="roundRect">
            <a:avLst>
              <a:gd name="adj" fmla="val 5517"/>
            </a:avLst>
          </a:prstGeom>
          <a:solidFill>
            <a:srgbClr val="0F1420"/>
          </a:solidFill>
          <a:ln w="12700">
            <a:solidFill>
              <a:srgbClr val="0F1420"/>
            </a:solidFill>
            <a:prstDash val="solid"/>
          </a:ln>
        </p:spPr>
      </p:sp>
      <p:sp>
        <p:nvSpPr>
          <p:cNvPr id="5" name="Text 3"/>
          <p:cNvSpPr txBox="1"/>
          <p:nvPr/>
        </p:nvSpPr>
        <p:spPr>
          <a:xfrm>
            <a:off x="640080" y="1463040"/>
            <a:ext cx="4892040" cy="1051560"/>
          </a:xfrm>
          <a:prstGeom prst="rect">
            <a:avLst/>
          </a:prstGeom>
          <a:noFill/>
          <a:ln/>
        </p:spPr>
        <p:txBody>
          <a:bodyPr wrap="square" lIns="0" tIns="0" rIns="0" bIns="0" rtlCol="0" anchor="t"/>
          <a:lstStyle/>
          <a:p>
            <a:pPr indent="0" marL="0">
              <a:buNone/>
            </a:pPr>
            <a:r>
              <a:rPr lang="en-US" sz="1200" dirty="0">
                <a:solidFill>
                  <a:srgbClr val="D7E3F4"/>
                </a:solidFill>
                <a:latin typeface="Courier New" pitchFamily="34" charset="0"/>
                <a:ea typeface="Courier New" pitchFamily="34" charset="-122"/>
                <a:cs typeface="Courier New" pitchFamily="34" charset="-120"/>
              </a:rPr>
              <a:t>You are a highly analytical Project Manager.</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Take the user's raw request and refine it into</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a clear, 1-sentence technical goal.</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Strip away conversational filler.</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RAW REQUEST: {state.OriginalRequest}</a:t>
            </a:r>
            <a:endParaRPr lang="en-US" sz="12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InvokePromptAsync</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call with KernelArguments; no ChatHistory needed.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Temperature 0.1</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consistent, professional rewrite, not a creative one.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try / catch</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failed call prints a message; RefinedGoal stays empty.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PROGRAM FLOW</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From rough idea to printed state in four steps</a:t>
            </a:r>
            <a:endParaRPr lang="en-US" sz="27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 kernel</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with gpt-4.1-mini, as in every lesson.</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Read the idea</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Store it in a new ProjectState as OriginalRequest.</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Refine</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refiner's ExecuteAsync writes RefinedGoal.</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Print state</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Original, Refined, Tasks and Complete.</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Main never reads the model's reply; it only reads the state.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blackboard after one agent</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Universal Project Manager (UPM) Initialized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Architecture: Blackboard Pattern + Interface-Driven Agents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Enter a rough project idea:</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i want some app to track my gym workouts i guess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[GOALREFINER] is processing the request...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CURRENT PROJECT STATE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Original : i want some app to track my gym workouts...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Refined  : Build an app to log and track gym workouts.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Tasks    : 0 (Pending Generation)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Complete : False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lines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Banner, headers and labels come from Program.cs.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idea and refined goal are examples only.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Complete: False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tasks yet, so IsFullyCompleted is false.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Prove a second agent plugs in unchanged</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second IProjectAgent that writes one placeholder ProjectTask to the state, and run it after the GoalRefiner.</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Lesson27-Capstone/</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UniversalProjectManager/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new agent implements IProjectAgent in its own file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Program.cs runs it as an IProjectAgent on the same state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Tasks prints 1 after it runs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Complete prints True once that task is marked complete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shared ProjectState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Planner and Developer hand off work through it</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IProjectAgent contract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The orchestrator loops over a List&lt;IProjectAgent&gt;</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Computed IsFullyCompleted</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Becomes the orchestration loop's exit condition</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 passed to each agent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30  </a:t>
            </a:r>
            <a:pPr indent="0" marL="0">
              <a:buNone/>
            </a:pPr>
            <a:r>
              <a:rPr lang="en-US" sz="1250" dirty="0">
                <a:solidFill>
                  <a:srgbClr val="FFFFFF"/>
                </a:solidFill>
                <a:latin typeface="Calibri" pitchFamily="34" charset="0"/>
                <a:ea typeface="Calibri" pitchFamily="34" charset="-122"/>
                <a:cs typeface="Calibri" pitchFamily="34" charset="-120"/>
              </a:rPr>
              <a:t>DI builds the Kernel and agents per HTTP request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State that lives in memory</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Checkpointed state survives a restart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Capstone I: Universal Project Manager</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27 — Capstone I: Design &amp; Architecture</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27 — Capstone I: Design &amp; Architecture</dc:title>
  <dc:subject>PptxGenJS Presentation</dc:subject>
  <dc:creator>Media Six LLC</dc:creator>
  <cp:lastModifiedBy>Media Six LLC</cp:lastModifiedBy>
  <cp:revision>1</cp:revision>
  <dcterms:created xsi:type="dcterms:W3CDTF">2026-10-21T23:07:48Z</dcterms:created>
  <dcterms:modified xsi:type="dcterms:W3CDTF">2026-10-21T23:07:48Z</dcterms:modified>
</cp:coreProperties>
</file>