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builds a single-shot code critic. A hard-coded C# snippet, a Calculate method with a deliberate bug, is placed inside a rubric-driven prompt and sent to gpt-4.1-mini. The model scores the snippet on three criteria, reliability, performance and best practices, and returns its verdict in a strict SCORE, PROS, CONS and FIX layout. The program prints the critique and exits: no conversation loop, no follow-up turns, one prompt in and one structured-looking answer out. It is a deliberate stepping stone toward real structured output. Here the shape comes purely from careful prompt wording, with nothing in the SDK enforcing it, and seeing that approach and its fragility makes the schema-enforced approaches elsewhere in the series easier to appreciate.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10's developer agent created code across a multi-turn conversation, using a ChatHistory and IChatCompletionService at low temperature. Lesson 11 does the opposite job: it judges a single snippet and exits. It never touches IChatCompletionService directly; it goes straight through kernel.InvokePromptAsync with a template, the lighter-weight entry point we first used in Lesson 2. And it turns determinism all the way up, with Temperature 0.0 and TopP 0.1, because a critic that gave the same code a different score on every run would undermine the whole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matches the earlier lessons. You need the .NET 10 SDK and a console application referencing Microsoft.SemanticKernel and Microsoft.SemanticKernel.Connectors.OpenAI, both at version 1.78.0. The key comes from the OPENAI_API_KEY environment variable, and the program throws at startup if it is missing. The model is gpt-4.1-mini, registered with AddOpenAIChatCompletion, and this time we call it through kernel.InvokePromptAsync rather than the chat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in five steps. Step 1 builds the kernel with the OpenAI connector. Step 2 defines the code to review: a Calculate method that takes two integers, divides a by b and returns the result. The code comments describe it as output from Lesson 10, and it carries a deliberate bug: nothing checks for b being zero, so a zero divisor throws a DivideByZeroException. Step 3 defines the critic's rubric as a prompt template. Step 4 builds the execution settings and the KernelArguments. Step 5, highlighted, calls InvokePromptAsync and prints the result under a Critique Result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critic's full prompt template, shown exactly as it appears in the code. Notice three things. First, the roles: instead of a ChatHistory with separate system and user messages, the words System and User are written straight into one template string, which is sent as a single prompt. Second, the rubric: three numbered criteria, reliability, performance and best practices, each with a short guiding question. Third, the output format: the prompt asks for exactly four labelled fields, SCORE from zero to ten, PROS, CONS and a FIX with a corrected version of the code. The snippet itself goes into the input placeholder at the end. The model follows this layout because it was told to, not because anything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2, KernelArguments only carried template values. Here one object does double duty. It is constructed with the OpenAIPromptExecutionSettings, Temperature 0.0 and TopP 0.1, so those settings travel with the call. Then the input entry is added, holding the code to review, which fills the input placeholder. A single InvokePromptAsync call takes the template and the arguments, renders the prompt, applies the settings and sends it to the model. The call is wrapped in a try/catch, so a bad key, a rate limit, a network error or a content-safety rejection prints Critique failed with the error message instead of crashing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worth being clear about what this technique does and does not give you. The SCORE, PROS, CONS and FIX layout exists only because the prompt describes it. Most of the time the model complies, but nothing validates the reply. If it adds a sentence before SCORE or renames a field, a program trying to parse the score would break. That is fine when a person reads the critique, as here, but not when code needs to act on it. Lesson 7 already showed the stronger alternative, using ResponseFormat to force a JSON shape and deserialize it into a typed object, and Lesson 19's Coordinator is forced to answer in strict JSON so its decisions can drive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prints that the critic is analyzing the code, then prints the critique under the Critique Result header. The critique on this slide is illustrative and abridged; in a real run the FIX section usually contains a full corrected version of the method. Your exact score and wording will differ, though Temperature 0 keeps repeated runs very close. What you should see is the four fields in order, and the unchecked division by zero called out as the main flaw. If the call fails, you'll see Critique failed followed by the error message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After the critique prints, find the line that starts with SCORE, parse the number after the colon, and print PASS if it is seven or more and FAIL otherwise. Run it against the buggy snippet, then change codeToReview to a version that guards against a zero divisor and check that the score goes up. Finally, handle the case where no SCORE line can be found, and print a clear message instead of throwing. You will see first-hand why parsing prompt-shaped text is fragile, which is exactly the problem JSON output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described an exact output format in the prompt, wrote System and User roles into one template string, used Temperature 0 for consistent judgments, carried settings and the template variable in one KernelArguments, and saw where prompt-only structure stops. The critic idea runs through the rest of the series. Lesson 18 pairs a Copywriter with an Editor that approves or asks for a revision. Lesson 19's Coordinator answers in strict JSON instead of prompt-shaped text. Lesson 26 turns rubric scoring into an LLM-as-judge evaluator. Lesson 29 adds a Reviewer that sends capstone tasks back for rework. And in Part 2, Lesson 31 closes the loop: unlike this lesson's Critic, which scores a fixed snippet from outside, a single agent critiques and revises its own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11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Critic</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rubric-driven code reviewer that answers in a fixed format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buggy Calculate()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SCORE / PROS / CONS / FIX</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Describe an exact output format in the prompt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Write System and User roles into one template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Temperature 0 for consistent judgments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Carry settings and variables in one KernelArguments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See where prompt-only structure stops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writing code to judging it</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10: generator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Creates code, turn after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ChatHistory and a request loop</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Temperature 0.2, TopP 0.1</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11: critic</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Judges one snippet, then exits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templated InvokePromptAsync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Temperature 0.0, TopP 0.1</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critic that scored the same code differently each run would be useless.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a .slnx solution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and called through the kernel's prompt helper.</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5</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snippet in, one critique out</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Kernel</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 connector, as in Lesson 10.</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Snippet</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Calculate(a, b) returns a / b, unguarded.</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Rubric</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Three criteria and an exact output format.</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Arguments</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Settings plus the snippet as input.</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Critique</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call renders, sends and prints.</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bug is deliberate: b = 0 throws DivideByZeroException.</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RUBRIC</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The whole critic lives in one template string</a:t>
            </a:r>
            <a:endParaRPr lang="en-US" sz="2750" dirty="0"/>
          </a:p>
        </p:txBody>
      </p:sp>
      <p:sp>
        <p:nvSpPr>
          <p:cNvPr id="4" name="Shape 2"/>
          <p:cNvSpPr/>
          <p:nvPr/>
        </p:nvSpPr>
        <p:spPr>
          <a:xfrm>
            <a:off x="457200" y="1325880"/>
            <a:ext cx="5257800" cy="2743200"/>
          </a:xfrm>
          <a:prstGeom prst="roundRect">
            <a:avLst>
              <a:gd name="adj" fmla="val 2667"/>
            </a:avLst>
          </a:prstGeom>
          <a:solidFill>
            <a:srgbClr val="0F1420"/>
          </a:solidFill>
          <a:ln w="12700">
            <a:solidFill>
              <a:srgbClr val="0F1420"/>
            </a:solidFill>
            <a:prstDash val="solid"/>
          </a:ln>
        </p:spPr>
      </p:sp>
      <p:sp>
        <p:nvSpPr>
          <p:cNvPr id="5" name="Text 3"/>
          <p:cNvSpPr txBox="1"/>
          <p:nvPr/>
        </p:nvSpPr>
        <p:spPr>
          <a:xfrm>
            <a:off x="640080" y="1463040"/>
            <a:ext cx="4892040" cy="246888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System: You are a senior security auditor and</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Performance engineer.</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Your task is to critique the C# code provided by the user.</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Evaluate the code based on these 3 criteria:</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1. Reliability (Is there error handling?)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2. Performance (Is it efficient?)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3. Best Practices (Does it follow C# best practices?)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Output your critique in this EXACT format: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SCORE: [0-10]</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PROS: [List highlights]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CONS: [List flaws]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FIX: [Provide a corrected version of the code if necessary]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User: Review this c# code: {{$input}}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Roles in text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System: and User: are labels in one string, not ChatHistory roles.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Three criteria</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Reliability, performance and best practices.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Exact format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Four labelled fields. Nothing enforces them.</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One KernelArguments carries two kinds of input</a:t>
            </a:r>
            <a:endParaRPr lang="en-US" sz="27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KernelArguments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Constructed with the execution settings, then given the template variable.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Settings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Temperature 0.0 and TopP 0.1, passed to the constructor.</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input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codeToReview fills {{$input}} in the template.</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One call</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InvokePromptAsync renders the template and sends it.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Compare Lesson 2, where KernelArguments held only template values.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DECISION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Prompt-shaped text versus enforced structure</a:t>
            </a:r>
            <a:endParaRPr lang="en-US" sz="2800" dirty="0"/>
          </a:p>
        </p:txBody>
      </p:sp>
      <p:sp>
        <p:nvSpPr>
          <p:cNvPr id="4" name="Shape 2"/>
          <p:cNvSpPr/>
          <p:nvPr/>
        </p:nvSpPr>
        <p:spPr>
          <a:xfrm>
            <a:off x="457200" y="1371600"/>
            <a:ext cx="39319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This lesson: text format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Format described in plain words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Nothing validates the reply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Readable, but fragile to parse</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Lessons 7, 19: JSON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Reply forced into a JSON shape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Deserialized into a typed object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Code can rely on every field</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Prompt-only structure is fine for people to read; code needs a schema.</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the critic finds the bug</a:t>
            </a:r>
            <a:endParaRPr lang="en-US" sz="2800" dirty="0"/>
          </a:p>
        </p:txBody>
      </p:sp>
      <p:sp>
        <p:nvSpPr>
          <p:cNvPr id="4" name="Shape 2"/>
          <p:cNvSpPr/>
          <p:nvPr/>
        </p:nvSpPr>
        <p:spPr>
          <a:xfrm>
            <a:off x="457200" y="1325880"/>
            <a:ext cx="5257800" cy="1691640"/>
          </a:xfrm>
          <a:prstGeom prst="roundRect">
            <a:avLst>
              <a:gd name="adj" fmla="val 4324"/>
            </a:avLst>
          </a:prstGeom>
          <a:solidFill>
            <a:srgbClr val="0F1420"/>
          </a:solidFill>
          <a:ln w="12700">
            <a:solidFill>
              <a:srgbClr val="0F1420"/>
            </a:solidFill>
            <a:prstDash val="solid"/>
          </a:ln>
        </p:spPr>
      </p:sp>
      <p:sp>
        <p:nvSpPr>
          <p:cNvPr id="5" name="Text 3"/>
          <p:cNvSpPr txBox="1"/>
          <p:nvPr/>
        </p:nvSpPr>
        <p:spPr>
          <a:xfrm>
            <a:off x="640080" y="1463040"/>
            <a:ext cx="4892040" cy="1417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The critic is analyzing the code...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Critique Result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SCORE: 4</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PROS: Simple, readable, correct for non-zero b.</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CONS: No check for b == 0; division by zero throws.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FIX: Guard b == 0 and throw an ArgumentException.</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Abridged. Your score and wording will differ.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real bug</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Expect the unchecked division in CONS.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Four fields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SCORE, PROS, CONS and FIX, in order.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Turn the critique into a verdict</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Parse the SCORE line from the critique into an int and print PASS when it is 7 or higher, FAIL otherwise.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Lesson11-Critic/</a:t>
            </a:r>
            <a:endParaRPr lang="en-US" sz="950" dirty="0"/>
          </a:p>
          <a:p>
            <a:pPr indent="0" marL="0">
              <a:buNone/>
            </a:pPr>
            <a:r>
              <a:rPr lang="en-US" sz="950" dirty="0">
                <a:solidFill>
                  <a:srgbClr val="B8B2E6"/>
                </a:solidFill>
                <a:latin typeface="Courier New" pitchFamily="34" charset="0"/>
                <a:ea typeface="Courier New" pitchFamily="34" charset="-122"/>
                <a:cs typeface="Courier New" pitchFamily="34" charset="-120"/>
              </a:rPr>
              <a:t>Critic/Program.cs</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parsed score prints as a number</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buggy snippet gets a FAIL verdict</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fixed snippet with a b == 0 guard scores higher</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missing SCORE line prints a clear message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critic persona</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18  </a:t>
            </a:r>
            <a:pPr indent="0" marL="0">
              <a:buNone/>
            </a:pPr>
            <a:r>
              <a:rPr lang="en-US" sz="1250" dirty="0">
                <a:solidFill>
                  <a:srgbClr val="FFFFFF"/>
                </a:solidFill>
                <a:latin typeface="Calibri" pitchFamily="34" charset="0"/>
                <a:ea typeface="Calibri" pitchFamily="34" charset="-122"/>
                <a:cs typeface="Calibri" pitchFamily="34" charset="-120"/>
              </a:rPr>
              <a:t>An Editor approves or requests one revision</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Prompt-shaped output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A Coordinator answers in strict JSON</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Rubric-based scoring</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An LLM judge scores answers against ground truth</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Review as a gate</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A Reviewer sends tasks back for rework</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 external critic</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31  </a:t>
            </a:r>
            <a:pPr indent="0" marL="0">
              <a:buNone/>
            </a:pPr>
            <a:r>
              <a:rPr lang="en-US" sz="1250" dirty="0">
                <a:solidFill>
                  <a:srgbClr val="FFFFFF"/>
                </a:solidFill>
                <a:latin typeface="Calibri" pitchFamily="34" charset="0"/>
                <a:ea typeface="Calibri" pitchFamily="34" charset="-122"/>
                <a:cs typeface="Calibri" pitchFamily="34" charset="-120"/>
              </a:rPr>
              <a:t>Unlike this Critic, one agent critiques itself</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11 — The Critic</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 — The Critic</dc:title>
  <dc:subject>PptxGenJS Presentation</dc:subject>
  <dc:creator>Media Six LLC</dc:creator>
  <cp:lastModifiedBy>Media Six LLC</cp:lastModifiedBy>
  <cp:revision>1</cp:revision>
  <dcterms:created xsi:type="dcterms:W3CDTF">2026-10-21T23:26:07Z</dcterms:created>
  <dcterms:modified xsi:type="dcterms:W3CDTF">2026-10-21T23:26:07Z</dcterms:modified>
</cp:coreProperties>
</file>