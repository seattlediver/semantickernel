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builds a console-based mock technical interviewer. The AI plays a senior .NET architect who asks you one question at a time about agentic AI and Semantic Kernel, probes vague answers with follow-ups, and moves to harder topics when you answer well, until you type exit. The interesting thing is what this lesson does not introduce: there is no new API. It uses the same Kernel, IChatCompletionService and ChatHistory loop from Lesson 1. Everything that makes the interviewer behave like an interviewer, from turn-taking to follow-up questions to escalating difficulty, comes from how the system prompt is written. It is the first lesson where prompt design itself is the core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this with Lesson 1. There, a short system message set up a generic assistant, you typed first, and the model simply answered whatever you asked. Here the code shape is the same, a ChatHistory and a loop, but the roles are reversed. The interviewer introduces itself and asks the first question, and it stays in charge for the whole session. What it does on each turn is governed by five numbered rules in the system prompt, which it is expected to keep following without ever being reminded.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as the earlier chat lessons. You need the .NET 10 SDK and a console application referencing Microsoft.SemanticKernel and Microsoft.SemanticKernel.Connectors.OpenAI, both at version 1.78.0. The key comes from the OPENAI_API_KEY environment variable, and the program throws an InvalidOperationException at startup if it isn't set. The model is gpt-4.1-mini, registered with AddOpenAIChatCompletion.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system message the ChatHistory is created with. It reads like a small specification in three parts. First the role: a senior .NET architect interviewing for a C# developer position. Then the goal: assess the candidate's understanding of agentic AI and Semantic Kernel. Then five numbered rules: ask only one question at a time; probe vague answers with a follow-up; acknowledge a correct answer briefly and move to a harder topic; stay professional and in character; and start by introducing yourself and asking the first question. Numbered, concrete rules like these are much easier for a model to follow consistently than a vague request to act like an interviewer, and because the system message stays at the top of the history, the model sees them on every single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in five steps. Step 1 builds the kernel and Step 2 gets the chat completion service. Step 3 creates the ChatHistory with the persona, then adds one scripted user message: I am here for the .NET Architect interview, I'm ready to begin. Nobody typed that; it exists only to give the model something to respond to, so its first reply is the self-introduction and opening question. Step 4 makes that priming call and prints the interviewer's first message. Step 5 is the interview loop: read the candidate's answer, skip blank lines, break on exit, otherwise send the whole history back and print the next question. One OpenAIPromptExecutionSettings with Temperature 0.7 is created before the first call and reused on every call, so the interviewer's tone stays stable from turn to 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ChatHistory holds four kinds of entries. At the top is the system message with the persona and rules, which never moves. Then comes the scripted kickoff message. After that, every candidate answer is added with AddUserMessage and every interviewer reply with AddAssistantMessage. This is the same write-both-sides-back discipline from Lesson 1, now carried across an open-ended session. Because the whole history goes to the model on every call, the interviewer can notice that an answer was vague and follow up, or see that you got something right and raise the difficulty. If you forgot to add the assistant's replies, it would lose track of what it had already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 calls are wrapped in try/catch, but they recover differently. If the priming call fails, there is no interview yet, so the program prints that the interviewer is unavailable and exits cleanly. If a call fails in the middle of the interview, exiting would throw away the whole conversation. Instead, the program removes the candidate's last answer from the history with RemoveAt, so the history stays a clean back-and-forth, prints that the interviewer is momentarily unavailable, and lets the candidate answer again. Both calls also check that the response content isn't null before printing it or adding it to the history, because AddAssistantMessage requires a non-null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The program prints Interview Mode started, and the interviewer immediately introduces itself and asks the first question. The candidate prompt appears and waits for you. The exchange on this slide is illustrative; the model's wording changes from run to run. What you should see is the behavior the rules describe: one question at a time, a follow-up when an answer is vague, like the short answer here, and harder questions when you answer well. Blank lines are ignored, and typing exit ends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Keep a counter of real candidate answers. When it reaches five, add one more user message asking the interviewer to end the interview, give an overall score out of ten and one piece of feedback, then print that reply and break out of the loop. Make sure blank lines still don't count, and that exit still works at any point. Notice that you can change the interviewer's behavior at the end just by adding a message to the history; the persona itself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steered a model's whole behavior with a system prompt written like a spec, let the AI open the conversation with a scripted kickoff, reused one set of execution settings across the session, wrote both sides back to the history, and recovered from failed calls without losing the interview. Lesson 10 takes the persona idea further by adding output-format rules for code. Lesson 11 tunes temperature down to zero for a consistent critic. Lesson 17 moves the persona onto a ChatCompletionAgent's Instructions. Lesson 18 puts two personas into one shared conversation. And Lesson 25 gives an agent memory that outlives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9  ·  PART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The Interviewer</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 mock technical interviewer steered entirely by its system prompt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persona + 5 rules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open-ended interview</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Write a system prompt that reads like a spec</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Let the AI open the conversation</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Keep one set of execution settings for every turn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Write both sides back to ChatHistory</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Survive a failed turn without losing the interview</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Same chat loop, different person on the other end</a:t>
            </a:r>
            <a:endParaRPr lang="en-US" sz="2500" dirty="0"/>
          </a:p>
        </p:txBody>
      </p:sp>
      <p:sp>
        <p:nvSpPr>
          <p:cNvPr id="4" name="Shape 2"/>
          <p:cNvSpPr/>
          <p:nvPr/>
        </p:nvSpPr>
        <p:spPr>
          <a:xfrm>
            <a:off x="457200" y="1371600"/>
            <a:ext cx="3931920" cy="1920240"/>
          </a:xfrm>
          <a:prstGeom prst="roundRect">
            <a:avLst>
              <a:gd name="adj" fmla="val 381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 assistant</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generic helpful assistant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You speak first; it answers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Behavior left to the model</a:t>
            </a:r>
            <a:endParaRPr lang="en-US" sz="1300" dirty="0"/>
          </a:p>
        </p:txBody>
      </p:sp>
      <p:sp>
        <p:nvSpPr>
          <p:cNvPr id="9" name="Shape 6"/>
          <p:cNvSpPr/>
          <p:nvPr/>
        </p:nvSpPr>
        <p:spPr>
          <a:xfrm>
            <a:off x="4754880" y="1371600"/>
            <a:ext cx="39319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9: interviewer</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senior .NET architect persona</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 speaks first and leads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Five rules shape every turn</a:t>
            </a:r>
            <a:endParaRPr lang="en-US" sz="1300" dirty="0"/>
          </a:p>
        </p:txBody>
      </p:sp>
      <p:sp>
        <p:nvSpPr>
          <p:cNvPr id="14" name="Text 10"/>
          <p:cNvSpPr txBox="1"/>
          <p:nvPr/>
        </p:nvSpPr>
        <p:spPr>
          <a:xfrm>
            <a:off x="457200" y="35661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new API: the system prompt does all the work.</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 console app targeting net10.0, opened as a .slnx solution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version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app throws InvalidOperationException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the same as every lesson so far.</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PERSONA</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system prompt written like a small spec</a:t>
            </a:r>
            <a:endParaRPr lang="en-US" sz="2800" dirty="0"/>
          </a:p>
        </p:txBody>
      </p:sp>
      <p:sp>
        <p:nvSpPr>
          <p:cNvPr id="4" name="Shape 2"/>
          <p:cNvSpPr/>
          <p:nvPr/>
        </p:nvSpPr>
        <p:spPr>
          <a:xfrm>
            <a:off x="457200" y="1325880"/>
            <a:ext cx="5257800" cy="2514600"/>
          </a:xfrm>
          <a:prstGeom prst="roundRect">
            <a:avLst>
              <a:gd name="adj" fmla="val 2909"/>
            </a:avLst>
          </a:prstGeom>
          <a:solidFill>
            <a:srgbClr val="0F1420"/>
          </a:solidFill>
          <a:ln w="12700">
            <a:solidFill>
              <a:srgbClr val="0F1420"/>
            </a:solidFill>
            <a:prstDash val="solid"/>
          </a:ln>
        </p:spPr>
      </p:sp>
      <p:sp>
        <p:nvSpPr>
          <p:cNvPr id="5" name="Text 3"/>
          <p:cNvSpPr txBox="1"/>
          <p:nvPr/>
        </p:nvSpPr>
        <p:spPr>
          <a:xfrm>
            <a:off x="640080" y="1463040"/>
            <a:ext cx="4892040" cy="2240280"/>
          </a:xfrm>
          <a:prstGeom prst="rect">
            <a:avLst/>
          </a:prstGeom>
          <a:noFill/>
          <a:ln/>
        </p:spPr>
        <p:txBody>
          <a:bodyPr wrap="square" lIns="0" tIns="0" rIns="0" bIns="0" rtlCol="0" anchor="t"/>
          <a:lstStyle/>
          <a:p>
            <a:pPr indent="0" marL="0">
              <a:buNone/>
            </a:pPr>
            <a:r>
              <a:rPr lang="en-US" sz="1100" b="1" dirty="0">
                <a:solidFill>
                  <a:srgbClr val="F5A623"/>
                </a:solidFill>
                <a:latin typeface="Courier New" pitchFamily="34" charset="0"/>
                <a:ea typeface="Courier New" pitchFamily="34" charset="-122"/>
                <a:cs typeface="Courier New" pitchFamily="34" charset="-120"/>
              </a:rPr>
              <a:t>You are a senior .NET architect conducting a technical</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interview for a c# developer position.</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Your goal is to assess the candidate's understanding of</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Agentic AI and Semantic Kernel.</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Rules: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1. Ask only ONE question at a time.</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2. If the user's answer is vague, ask a follow-up question</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to probe deeper.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3. If the answer is correct, acknowledge it briefly and</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move to a more difficult topic.</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4. Stay professional and stay in character.</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5. Start by introducing yourself and asking the first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   question.</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Role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Who the model is: a senior .NET architect.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Goal</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it is assessing: agentic AI and Semantic Kernel.</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Rules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Five numbered behaviors it keeps for the whole session.</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STEPS 1 TO 5</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How the interview gets going</a:t>
            </a:r>
            <a:endParaRPr lang="en-US" sz="2800" dirty="0"/>
          </a:p>
        </p:txBody>
      </p:sp>
      <p:sp>
        <p:nvSpPr>
          <p:cNvPr id="4" name="Shape 2"/>
          <p:cNvSpPr/>
          <p:nvPr/>
        </p:nvSpPr>
        <p:spPr>
          <a:xfrm>
            <a:off x="457200" y="1417320"/>
            <a:ext cx="1367942" cy="21854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Kernel</a:t>
            </a:r>
            <a:endParaRPr lang="en-US" sz="1300" dirty="0"/>
          </a:p>
        </p:txBody>
      </p:sp>
      <p:sp>
        <p:nvSpPr>
          <p:cNvPr id="8" name="Text 5"/>
          <p:cNvSpPr txBox="1"/>
          <p:nvPr/>
        </p:nvSpPr>
        <p:spPr>
          <a:xfrm>
            <a:off x="640080"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OpenAI connector and the chat service.</a:t>
            </a:r>
            <a:endParaRPr lang="en-US" sz="1200" dirty="0"/>
          </a:p>
        </p:txBody>
      </p:sp>
      <p:sp>
        <p:nvSpPr>
          <p:cNvPr id="9" name="Shape 6"/>
          <p:cNvSpPr/>
          <p:nvPr/>
        </p:nvSpPr>
        <p:spPr>
          <a:xfrm>
            <a:off x="1889150"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1854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Persona</a:t>
            </a:r>
            <a:endParaRPr lang="en-US" sz="1300" dirty="0"/>
          </a:p>
        </p:txBody>
      </p:sp>
      <p:sp>
        <p:nvSpPr>
          <p:cNvPr id="14" name="Text 10"/>
          <p:cNvSpPr txBox="1"/>
          <p:nvPr/>
        </p:nvSpPr>
        <p:spPr>
          <a:xfrm>
            <a:off x="2355494"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ChatHistory created with the system prompt.</a:t>
            </a:r>
            <a:endParaRPr lang="en-US" sz="1200" dirty="0"/>
          </a:p>
        </p:txBody>
      </p:sp>
      <p:sp>
        <p:nvSpPr>
          <p:cNvPr id="15" name="Shape 11"/>
          <p:cNvSpPr/>
          <p:nvPr/>
        </p:nvSpPr>
        <p:spPr>
          <a:xfrm>
            <a:off x="3604565"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1854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Kickoff</a:t>
            </a:r>
            <a:endParaRPr lang="en-US" sz="1300" dirty="0"/>
          </a:p>
        </p:txBody>
      </p:sp>
      <p:sp>
        <p:nvSpPr>
          <p:cNvPr id="20" name="Text 15"/>
          <p:cNvSpPr txBox="1"/>
          <p:nvPr/>
        </p:nvSpPr>
        <p:spPr>
          <a:xfrm>
            <a:off x="4070909"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scripted user line: I'm ready to begin.</a:t>
            </a:r>
            <a:endParaRPr lang="en-US" sz="1200" dirty="0"/>
          </a:p>
        </p:txBody>
      </p:sp>
      <p:sp>
        <p:nvSpPr>
          <p:cNvPr id="21" name="Shape 16"/>
          <p:cNvSpPr/>
          <p:nvPr/>
        </p:nvSpPr>
        <p:spPr>
          <a:xfrm>
            <a:off x="5319979"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185416"/>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Prime call</a:t>
            </a:r>
            <a:endParaRPr lang="en-US" sz="1300" dirty="0"/>
          </a:p>
        </p:txBody>
      </p:sp>
      <p:sp>
        <p:nvSpPr>
          <p:cNvPr id="26" name="Text 20"/>
          <p:cNvSpPr txBox="1"/>
          <p:nvPr/>
        </p:nvSpPr>
        <p:spPr>
          <a:xfrm>
            <a:off x="5786323" y="26060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Interviewer introduces itself and asks Q1.</a:t>
            </a:r>
            <a:endParaRPr lang="en-US" sz="1200" dirty="0"/>
          </a:p>
        </p:txBody>
      </p:sp>
      <p:sp>
        <p:nvSpPr>
          <p:cNvPr id="27" name="Shape 21"/>
          <p:cNvSpPr/>
          <p:nvPr/>
        </p:nvSpPr>
        <p:spPr>
          <a:xfrm>
            <a:off x="7035394" y="24003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185416"/>
          </a:xfrm>
          <a:prstGeom prst="roundRect">
            <a:avLst>
              <a:gd name="adj" fmla="val 5348"/>
            </a:avLst>
          </a:prstGeom>
          <a:solidFill>
            <a:srgbClr val="512BD4"/>
          </a:solidFill>
          <a:ln w="12700">
            <a:solidFill>
              <a:srgbClr val="512BD4"/>
            </a:solidFill>
            <a:prstDash val="solid"/>
          </a:ln>
        </p:spPr>
      </p:sp>
      <p:sp>
        <p:nvSpPr>
          <p:cNvPr id="29" name="Shape 23"/>
          <p:cNvSpPr/>
          <p:nvPr/>
        </p:nvSpPr>
        <p:spPr>
          <a:xfrm>
            <a:off x="7501738" y="1618488"/>
            <a:ext cx="457200" cy="457200"/>
          </a:xfrm>
          <a:prstGeom prst="ellipse">
            <a:avLst/>
          </a:prstGeom>
          <a:solidFill>
            <a:srgbClr val="FFFFFF"/>
          </a:solidFill>
          <a:ln w="12700">
            <a:solidFill>
              <a:srgbClr val="FFFFFF"/>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Loop</a:t>
            </a:r>
            <a:endParaRPr lang="en-US" sz="1300" dirty="0"/>
          </a:p>
        </p:txBody>
      </p:sp>
      <p:sp>
        <p:nvSpPr>
          <p:cNvPr id="32" name="Text 25"/>
          <p:cNvSpPr txBox="1"/>
          <p:nvPr/>
        </p:nvSpPr>
        <p:spPr>
          <a:xfrm>
            <a:off x="7501738" y="26060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Answer, next question, until exit.</a:t>
            </a:r>
            <a:endParaRPr lang="en-US" sz="1200" dirty="0"/>
          </a:p>
        </p:txBody>
      </p:sp>
      <p:sp>
        <p:nvSpPr>
          <p:cNvPr id="33" name="Text 26"/>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Temperature 0.7 is set once and reused on every call.</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ChatHistory is the interviewer's memory</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ChatHistory</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Sent in full on every call, so each question can build on every earlier answer.</a:t>
            </a:r>
            <a:endParaRPr lang="en-US" sz="13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System</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persona and rules, fixed at the top.</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Kickoff</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scripted ready-to-begin user message.</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Answers</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AddUserMessage for each candidate reply.</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46304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Questions</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AddAssistantMessage for each interviewer turn.</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ROBUSTNESS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failed call shouldn't end the interview</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Priming call fails</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Nothing to lose yet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Prints a message and exits</a:t>
            </a:r>
            <a:endParaRPr lang="en-US" sz="1300" dirty="0"/>
          </a:p>
        </p:txBody>
      </p:sp>
      <p:sp>
        <p:nvSpPr>
          <p:cNvPr id="9" name="Shape 6"/>
          <p:cNvSpPr/>
          <p:nvPr/>
        </p:nvSpPr>
        <p:spPr>
          <a:xfrm>
            <a:off x="685800" y="2907792"/>
            <a:ext cx="3474720" cy="868680"/>
          </a:xfrm>
          <a:prstGeom prst="roundRect">
            <a:avLst>
              <a:gd name="adj" fmla="val 8421"/>
            </a:avLst>
          </a:prstGeom>
          <a:solidFill>
            <a:srgbClr val="0F1420"/>
          </a:solidFill>
          <a:ln w="12700">
            <a:solidFill>
              <a:srgbClr val="0F1420"/>
            </a:solidFill>
            <a:prstDash val="solid"/>
          </a:ln>
        </p:spPr>
      </p:sp>
      <p:sp>
        <p:nvSpPr>
          <p:cNvPr id="10" name="Text 7"/>
          <p:cNvSpPr txBox="1"/>
          <p:nvPr/>
        </p:nvSpPr>
        <p:spPr>
          <a:xfrm>
            <a:off x="868680" y="3044952"/>
            <a:ext cx="3108960" cy="59436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The interviewer is unavailable</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right now: &lt;error&gt;</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Turn fails mid-interview</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Removes the unanswered answer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History stays intact; try again</a:t>
            </a:r>
            <a:endParaRPr lang="en-US" sz="1300" dirty="0"/>
          </a:p>
        </p:txBody>
      </p:sp>
      <p:sp>
        <p:nvSpPr>
          <p:cNvPr id="16" name="Shape 12"/>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7" name="Text 13"/>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The interviewer is momentarily</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unavailable (&lt;error&gt;). Please</a:t>
            </a:r>
            <a:endParaRPr lang="en-US" sz="1100" dirty="0"/>
          </a:p>
          <a:p>
            <a:pPr indent="0" marL="0">
              <a:buNone/>
            </a:pPr>
            <a:r>
              <a:rPr lang="en-US" sz="1100" dirty="0">
                <a:solidFill>
                  <a:srgbClr val="FF9B9B"/>
                </a:solidFill>
                <a:latin typeface="Courier New" pitchFamily="34" charset="0"/>
                <a:ea typeface="Courier New" pitchFamily="34" charset="-122"/>
                <a:cs typeface="Courier New" pitchFamily="34" charset="-120"/>
              </a:rPr>
              <a:t>try again.</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Null replies are skipped too: AddAssistantMessage needs a real string.</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Run it: the interviewer speaks first</a:t>
            </a:r>
            <a:endParaRPr lang="en-US" sz="2800" dirty="0"/>
          </a:p>
        </p:txBody>
      </p:sp>
      <p:sp>
        <p:nvSpPr>
          <p:cNvPr id="4" name="Shape 2"/>
          <p:cNvSpPr/>
          <p:nvPr/>
        </p:nvSpPr>
        <p:spPr>
          <a:xfrm>
            <a:off x="457200" y="1325880"/>
            <a:ext cx="5257800" cy="2194560"/>
          </a:xfrm>
          <a:prstGeom prst="roundRect">
            <a:avLst>
              <a:gd name="adj" fmla="val 3333"/>
            </a:avLst>
          </a:prstGeom>
          <a:solidFill>
            <a:srgbClr val="0F1420"/>
          </a:solidFill>
          <a:ln w="12700">
            <a:solidFill>
              <a:srgbClr val="0F1420"/>
            </a:solidFill>
            <a:prstDash val="solid"/>
          </a:ln>
        </p:spPr>
      </p:sp>
      <p:sp>
        <p:nvSpPr>
          <p:cNvPr id="5" name="Text 3"/>
          <p:cNvSpPr txBox="1"/>
          <p:nvPr/>
        </p:nvSpPr>
        <p:spPr>
          <a:xfrm>
            <a:off x="640080" y="1463040"/>
            <a:ext cx="4892040" cy="192024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Interview Mode started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Interviewer: Hello, I'm the senior .NET architect running today's interview. What is an AI agent, and how does it differ from a single LLM call?</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Candidate: It uses tools.</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Interviewer: Can you be more specific? How does the agent decide which tool to call?</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rgbClr val="F5A623"/>
                </a:solidFill>
                <a:latin typeface="Courier New" pitchFamily="34" charset="0"/>
                <a:ea typeface="Courier New" pitchFamily="34" charset="-122"/>
                <a:cs typeface="Courier New" pitchFamily="34" charset="-120"/>
              </a:rPr>
              <a:t>Candidate: exit</a:t>
            </a:r>
            <a:endParaRPr lang="en-US" sz="11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Illustrative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interviewer's wording changes on every run.</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Follow-up</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vague answer gets probed, as rule 2 asks.</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exit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Ends the session; blank lines are ignored.</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Give the interview an ending</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After five candidate answers, ask the interviewer to wrap up with a score out of 10 and one piece of feedback, print it, and end the session.</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Lesson09-Interviewer/</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Interviewer/Program.cs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session ends by itself after five answers</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final message includes a score out of 10</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Typing exit still ends the interview early</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Blank answers don't count toward the five</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 as a spec</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10  </a:t>
            </a:r>
            <a:pPr indent="0" marL="0">
              <a:buNone/>
            </a:pPr>
            <a:r>
              <a:rPr lang="en-US" sz="1250" dirty="0">
                <a:solidFill>
                  <a:srgbClr val="FFFFFF"/>
                </a:solidFill>
                <a:latin typeface="Calibri" pitchFamily="34" charset="0"/>
                <a:ea typeface="Calibri" pitchFamily="34" charset="-122"/>
                <a:cs typeface="Calibri" pitchFamily="34" charset="-120"/>
              </a:rPr>
              <a:t>Persona plus output-format rules for generated code</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Settings chosen per task</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11  </a:t>
            </a:r>
            <a:pPr indent="0" marL="0">
              <a:buNone/>
            </a:pPr>
            <a:r>
              <a:rPr lang="en-US" sz="1250" dirty="0">
                <a:solidFill>
                  <a:srgbClr val="FFFFFF"/>
                </a:solidFill>
                <a:latin typeface="Calibri" pitchFamily="34" charset="0"/>
                <a:ea typeface="Calibri" pitchFamily="34" charset="-122"/>
                <a:cs typeface="Calibri" pitchFamily="34" charset="-120"/>
              </a:rPr>
              <a:t>Temperature 0 for a critic that judges consistently</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System prompt in ChatHistory</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17  </a:t>
            </a:r>
            <a:pPr indent="0" marL="0">
              <a:buNone/>
            </a:pPr>
            <a:r>
              <a:rPr lang="en-US" sz="1250" dirty="0">
                <a:solidFill>
                  <a:srgbClr val="FFFFFF"/>
                </a:solidFill>
                <a:latin typeface="Calibri" pitchFamily="34" charset="0"/>
                <a:ea typeface="Calibri" pitchFamily="34" charset="-122"/>
                <a:cs typeface="Calibri" pitchFamily="34" charset="-120"/>
              </a:rPr>
              <a:t>ChatCompletionAgent bundles the persona as Instructions</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persona, one history</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18  </a:t>
            </a:r>
            <a:pPr indent="0" marL="0">
              <a:buNone/>
            </a:pPr>
            <a:r>
              <a:rPr lang="en-US" sz="1250" dirty="0">
                <a:solidFill>
                  <a:srgbClr val="FFFFFF"/>
                </a:solidFill>
                <a:latin typeface="Calibri" pitchFamily="34" charset="0"/>
                <a:ea typeface="Calibri" pitchFamily="34" charset="-122"/>
                <a:cs typeface="Calibri" pitchFamily="34" charset="-120"/>
              </a:rPr>
              <a:t>Two personas share one conversation</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Memory that lives in RAM</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25  </a:t>
            </a:r>
            <a:pPr indent="0" marL="0">
              <a:buNone/>
            </a:pPr>
            <a:r>
              <a:rPr lang="en-US" sz="1250" dirty="0">
                <a:solidFill>
                  <a:srgbClr val="FFFFFF"/>
                </a:solidFill>
                <a:latin typeface="Calibri" pitchFamily="34" charset="0"/>
                <a:ea typeface="Calibri" pitchFamily="34" charset="-122"/>
                <a:cs typeface="Calibri" pitchFamily="34" charset="-120"/>
              </a:rPr>
              <a:t>Facts about the user survive a restart</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1: Foundations &amp; Core Orchestration</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9 — The Interviewer</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 — The Interviewer</dc:title>
  <dc:subject>PptxGenJS Presentation</dc:subject>
  <dc:creator>Media Six LLC</dc:creator>
  <cp:lastModifiedBy>Media Six LLC</cp:lastModifiedBy>
  <cp:revision>1</cp:revision>
  <dcterms:created xsi:type="dcterms:W3CDTF">2026-10-21T23:06:57Z</dcterms:created>
  <dcterms:modified xsi:type="dcterms:W3CDTF">2026-10-21T23:06:57Z</dcterms:modified>
</cp:coreProperties>
</file>