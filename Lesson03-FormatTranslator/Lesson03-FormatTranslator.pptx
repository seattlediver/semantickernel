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1 and 2 produced text for a human to read. In this lesson the model becomes a Transformation Agent whose output is meant for another program. We hand it one messy, human-written sentence about a new hire, Sarah Connor, and ask it to turn that sentence into a JSON object with exactly five keys: FirstName, LastName, Age, JobTitle and Email. The program prints the raw JSON string the model returns. There is no parser yet; this lesson is about the transformation step itself. Two techniques make it work: aggressive negative prompting, which tells the model what not to do, and OpenAIPromptExecutionSettings, which turns the model's creativity down from 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used the one-shot InvokePromptAsync pattern to write a summary for a person, and a person doesn't mind if the wording changes between runs. Lesson 3 keeps the same one-shot call but points it at a much narrower, more mechanical job: emitting a payload that another piece of software will depend on. A program reading that output needs the same keys every time, with no markdown fences and no friendly sentence in front of the JSON. That shift from answering a question to producing a contract is the foundation for every later lesson where an agent hands structured data to another agent, a plugin or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first two lessons. You need the .NET 10 SDK and a console project, here called Translator. It references Microsoft.SemanticKernel and Microsoft.SemanticKernel.Connectors.OpenAI at version 1.78.0. The API key comes from the OPENAI_API_KEY environment variable and the program throws if it isn't set. The model is gpt-4.1-mini, registered with AddOpenAIChatCompletion. This time we also import the Microsoft.SemanticKernel.Connectors.OpenAI namespace in code, because that is where OpenAIPromptExecutionSettings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seven short steps. Step 1 builds the kernel with the OpenAI connector. Step 2 defines the unstructured input: we just hired Sarah Connor, she is 29, works as a Cybersecurity Analyst, her email is sarah.c@sky.net, and she starts on Monday. Step 3 defines the strict prompt template. Step 4 creates OpenAIPromptExecutionSettings with Temperature set to zero and TopP set to 0.1. Step 5 builds a KernelArguments object that carries both those settings and the input sentence. Step 6 calls InvokePromptAsync inside a try/catch, and Step 7 prints the JSON string between two divider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prompt template from Step 3, with the key list laid out in two columns to fit the slide. It opens by giving the model a narrow role: a strict data transformation agent whose only job is to convert natural language into a valid JSON object. The lines in red are negative prompting. Models love to wrap JSON in a markdown code fence or to add a friendly sentence like here is your JSON, and either one breaks a strict parser downstream. So the prompt bans markdown formatting, conversational text and explanations outright, and says to output raw JSON only. Then it lists the exact five keys with their types. The input sentence is injected through the input placeholder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tells the model what to produce; the execution settings control how it samples. OpenAIPromptExecutionSettings is a C# object, so these knobs live in code rather than in prompt text. Temperature set to zero removes randomness and pushes the model toward its single most probable next token. TopP set to 0.1 limits sampling to the small set of tokens that make up the top ten percent of probability. Together they trade creativity for repeatability, which is exactly what you want when the output feeds a parser. Finally, notice that the settings object is passed straight into the KernelArguments constructor. A single KernelArguments object carries both the per-call model settings and the input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worth being honest about what this lesson does not do. The five keys are requested in prompt prose, so nothing at the API level forces the model to obey; temperature zero and strong wording make it very likely, not guaranteed. The program prints the JSON as a string and never runs it through a deserializer to prove it is valid. The input is one hard-coded sentence. What it does handle is failure of the call itself: InvokePromptAsync is wrapped in a try/catch, so a bad key, rate limit or network blip prints Translation failed with a readable message. Lesson 7 picks up the first two gaps with ResponseFormat and typed deserialization.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echoes the input sentence, says it is transforming natural language to JSON, and prints the model's answer between divider lines. The JSON on this slide is illustrative: the model may lay it out on one line or several. What should stay stable is the content: Sarah, Connor, 29 as an integer, Cybersecurity Analyst and the email address. Notice that the start date, Monday, is dropped because it isn't one of the five keys. If you ever see the answer wrapped in a markdown code fence, that is the negative prompting failing, and it is exactly the kind of drift Lesson 7's ResponseFormat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Create an Employee class in its own file with FirstName, LastName, Age, JobTitle and Email properties. After the model returns, pass result.ToString() to JsonSerializer.Deserialize of Employee and print each property. Check that Age comes back as a number. Then deliberately break the prompt, for example by removing the no-markdown rule, and make sure a JsonException is caught and reported with a friendly message. This turns the lesson's printed string into data a program can actually use, and previews what Lesson 7 does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framed the model as a strict transformer, used negative prompting to ban markdown and chatter, set Temperature and TopP from C# with OpenAIPromptExecutionSettings, and passed those settings together with the input in a single KernelArguments. Lesson 7 replaces the prompt-only JSON with ResponseFormat and a typed schema. Lesson 4 uses the same execution settings object to switch on tool calling. Lesson 6 runs its file-handling tool chain at temperature zero. Lesson 8's RAG prompt uses negative prompting to forbid outside knowledge. And in Lesson 19 a Coordinator agent returns JSON routing decisions that the program parses to decide who acts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Format Translator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transformation agent: one messy sentence in, strict JSON out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sentence about a new hire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raw JSON string</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Frame the model as a strict data transformer</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negative prompting to ban chatter and markdown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Set Temperature and TopP from C# code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Pass settings and variables in one KernelArguments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Produce output a program, not a person, reads next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From a summary for people to a payload for code</a:t>
            </a:r>
            <a:endParaRPr lang="en-US" sz="2650" dirty="0"/>
          </a:p>
        </p:txBody>
      </p:sp>
      <p:sp>
        <p:nvSpPr>
          <p:cNvPr id="4" name="Shape 2"/>
          <p:cNvSpPr/>
          <p:nvPr/>
        </p:nvSpPr>
        <p:spPr>
          <a:xfrm>
            <a:off x="457200" y="1371600"/>
            <a:ext cx="3931920" cy="2286000"/>
          </a:xfrm>
          <a:prstGeom prst="roundRect">
            <a:avLst>
              <a:gd name="adj" fmla="val 32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 for a reader</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Three bullets a person skims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Wording can vary from run to run</a:t>
            </a:r>
            <a:endParaRPr lang="en-US" sz="1300" dirty="0"/>
          </a:p>
        </p:txBody>
      </p:sp>
      <p:sp>
        <p:nvSpPr>
          <p:cNvPr id="9" name="Shape 6"/>
          <p:cNvSpPr/>
          <p:nvPr/>
        </p:nvSpPr>
        <p:spPr>
          <a:xfrm>
            <a:off x="685800" y="2907792"/>
            <a:ext cx="3474720" cy="548640"/>
          </a:xfrm>
          <a:prstGeom prst="roundRect">
            <a:avLst>
              <a:gd name="adj" fmla="val 13333"/>
            </a:avLst>
          </a:prstGeom>
          <a:solidFill>
            <a:srgbClr val="0F1420"/>
          </a:solidFill>
          <a:ln w="12700">
            <a:solidFill>
              <a:srgbClr val="0F1420"/>
            </a:solidFill>
            <a:prstDash val="solid"/>
          </a:ln>
        </p:spPr>
      </p:sp>
      <p:sp>
        <p:nvSpPr>
          <p:cNvPr id="10" name="Text 7"/>
          <p:cNvSpPr txBox="1"/>
          <p:nvPr/>
        </p:nvSpPr>
        <p:spPr>
          <a:xfrm>
            <a:off x="86868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AI Summary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Quantum computers use qubits...</a:t>
            </a:r>
            <a:endParaRPr lang="en-US" sz="1100" dirty="0"/>
          </a:p>
        </p:txBody>
      </p:sp>
      <p:sp>
        <p:nvSpPr>
          <p:cNvPr id="11" name="Shape 8"/>
          <p:cNvSpPr/>
          <p:nvPr/>
        </p:nvSpPr>
        <p:spPr>
          <a:xfrm>
            <a:off x="4754880" y="1371600"/>
            <a:ext cx="3931920" cy="2286000"/>
          </a:xfrm>
          <a:prstGeom prst="roundRect">
            <a:avLst>
              <a:gd name="adj" fmla="val 3200"/>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 for a program</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Five fixed keys a parser expects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fences, no commentary, no drift</a:t>
            </a:r>
            <a:endParaRPr lang="en-US" sz="1300" dirty="0"/>
          </a:p>
        </p:txBody>
      </p:sp>
      <p:sp>
        <p:nvSpPr>
          <p:cNvPr id="16" name="Shape 12"/>
          <p:cNvSpPr/>
          <p:nvPr/>
        </p:nvSpPr>
        <p:spPr>
          <a:xfrm>
            <a:off x="4983480" y="2907792"/>
            <a:ext cx="3474720" cy="548640"/>
          </a:xfrm>
          <a:prstGeom prst="roundRect">
            <a:avLst>
              <a:gd name="adj" fmla="val 13333"/>
            </a:avLst>
          </a:prstGeom>
          <a:solidFill>
            <a:srgbClr val="0F1420"/>
          </a:solidFill>
          <a:ln w="12700">
            <a:solidFill>
              <a:srgbClr val="0F1420"/>
            </a:solidFill>
            <a:prstDash val="solid"/>
          </a:ln>
        </p:spPr>
      </p:sp>
      <p:sp>
        <p:nvSpPr>
          <p:cNvPr id="17" name="Text 13"/>
          <p:cNvSpPr txBox="1"/>
          <p:nvPr/>
        </p:nvSpPr>
        <p:spPr>
          <a:xfrm>
            <a:off x="516636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STRING JSON OUTPUT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"FirstName": "Sarah", ... }</a:t>
            </a:r>
            <a:endParaRPr lang="en-US" sz="1100" dirty="0"/>
          </a:p>
        </p:txBody>
      </p:sp>
      <p:sp>
        <p:nvSpPr>
          <p:cNvPr id="18"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one-shot InvokePromptAsync call; a much stricter contract on the output.</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from Translator.slnx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The Connectors.OpenAI namespace supplies the execution settings type.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7</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one sentence to raw JSON</a:t>
            </a:r>
            <a:endParaRPr lang="en-US" sz="280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Build kernel</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 connector with gpt-4.1-mini.</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Messy input</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hard-coded sentence about Sarah.</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Strict rules</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Role, bans and the five exact keys.</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Settings</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Temperature 0.0 and TopP 0.1.</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Invoke</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Arguments in, JSON string printed.</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Steps 5 to 7 bundle settings and input together, run the prompt, and print it.</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NEGATIVE PROMPTING</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prompt says what not to do</a:t>
            </a:r>
            <a:endParaRPr lang="en-US" sz="28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System: You are a strict data transformation agent.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Your ONLY job is to convert natural language text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into a valid JSON object.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You must NOT output any markdown formatting (like ```json),</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no conversational text, and no explanations.</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Output raw JSON only.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The JSON must have the exact following keys: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FirstName (string)    - LastName (string)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Age (integer)         - JobTitle (string)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Email (string)</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User: Translate this text into JSON:</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{{$input}}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narrow role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strict transformation agent, not a helpful assistant.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Explicit bans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```json fences, no chat, no explanations.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Exact keys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Five names and types a parser can rely on.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Execution settings turn creativity down from code</a:t>
            </a:r>
            <a:endParaRPr lang="en-US" sz="25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Execution settings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OpenAIPrompt</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ExecutionSettings configures the model from C#, not prompt text.</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Temperature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0.0 removes randomness, so the most likely token wins each time.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TopP</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0.1 samples only from the top 10% of probability mass.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Arguments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new KernelArguments(executionSettings) carries the settings and {{$input}}.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For a strict parser, repeatability beats creativity.</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Where prompt-only JSON stops</a:t>
            </a:r>
            <a:endParaRPr lang="en-US" sz="2800" dirty="0"/>
          </a:p>
        </p:txBody>
      </p:sp>
      <p:sp>
        <p:nvSpPr>
          <p:cNvPr id="4" name="Shape 2"/>
          <p:cNvSpPr/>
          <p:nvPr/>
        </p:nvSpPr>
        <p:spPr>
          <a:xfrm>
            <a:off x="457200" y="1371600"/>
            <a:ext cx="1851660" cy="1691640"/>
          </a:xfrm>
          <a:prstGeom prst="roundRect">
            <a:avLst>
              <a:gd name="adj" fmla="val 432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Prompt-only</a:t>
            </a:r>
            <a:endParaRPr lang="en-US" sz="1300" dirty="0"/>
          </a:p>
        </p:txBody>
      </p:sp>
      <p:sp>
        <p:nvSpPr>
          <p:cNvPr id="8" name="Text 5"/>
          <p:cNvSpPr txBox="1"/>
          <p:nvPr/>
        </p:nvSpPr>
        <p:spPr>
          <a:xfrm>
            <a:off x="64008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five keys are requested in prose, not enforced by a schema.</a:t>
            </a:r>
            <a:endParaRPr lang="en-US" sz="1200" dirty="0"/>
          </a:p>
        </p:txBody>
      </p:sp>
      <p:sp>
        <p:nvSpPr>
          <p:cNvPr id="9" name="Shape 6"/>
          <p:cNvSpPr/>
          <p:nvPr/>
        </p:nvSpPr>
        <p:spPr>
          <a:xfrm>
            <a:off x="2583180" y="1371600"/>
            <a:ext cx="1851660" cy="1691640"/>
          </a:xfrm>
          <a:prstGeom prst="roundRect">
            <a:avLst>
              <a:gd name="adj" fmla="val 4324"/>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No parsing</a:t>
            </a:r>
            <a:endParaRPr lang="en-US" sz="1300" dirty="0"/>
          </a:p>
        </p:txBody>
      </p:sp>
      <p:sp>
        <p:nvSpPr>
          <p:cNvPr id="13" name="Text 9"/>
          <p:cNvSpPr txBox="1"/>
          <p:nvPr/>
        </p:nvSpPr>
        <p:spPr>
          <a:xfrm>
            <a:off x="276606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JSON is printed as a string; nothing checks it is valid.</a:t>
            </a:r>
            <a:endParaRPr lang="en-US" sz="1200" dirty="0"/>
          </a:p>
        </p:txBody>
      </p:sp>
      <p:sp>
        <p:nvSpPr>
          <p:cNvPr id="14" name="Shape 10"/>
          <p:cNvSpPr/>
          <p:nvPr/>
        </p:nvSpPr>
        <p:spPr>
          <a:xfrm>
            <a:off x="4709160" y="1371600"/>
            <a:ext cx="1851660" cy="1691640"/>
          </a:xfrm>
          <a:prstGeom prst="roundRect">
            <a:avLst>
              <a:gd name="adj" fmla="val 4324"/>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Fixed input</a:t>
            </a:r>
            <a:endParaRPr lang="en-US" sz="1300" dirty="0"/>
          </a:p>
        </p:txBody>
      </p:sp>
      <p:sp>
        <p:nvSpPr>
          <p:cNvPr id="18" name="Text 13"/>
          <p:cNvSpPr txBox="1"/>
          <p:nvPr/>
        </p:nvSpPr>
        <p:spPr>
          <a:xfrm>
            <a:off x="4892040" y="2057400"/>
            <a:ext cx="1485900" cy="9144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hard-coded sentence; no file or console input.</a:t>
            </a:r>
            <a:endParaRPr lang="en-US" sz="1200" dirty="0"/>
          </a:p>
        </p:txBody>
      </p:sp>
      <p:sp>
        <p:nvSpPr>
          <p:cNvPr id="19" name="Shape 14"/>
          <p:cNvSpPr/>
          <p:nvPr/>
        </p:nvSpPr>
        <p:spPr>
          <a:xfrm>
            <a:off x="6835140" y="1371600"/>
            <a:ext cx="1851660" cy="1691640"/>
          </a:xfrm>
          <a:prstGeom prst="roundRect">
            <a:avLst>
              <a:gd name="adj" fmla="val 4324"/>
            </a:avLst>
          </a:prstGeom>
          <a:solidFill>
            <a:srgbClr val="512BD4"/>
          </a:solidFill>
          <a:ln w="12700">
            <a:solidFill>
              <a:srgbClr val="512BD4"/>
            </a:solidFill>
            <a:prstDash val="solid"/>
          </a:ln>
        </p:spPr>
      </p:sp>
      <p:sp>
        <p:nvSpPr>
          <p:cNvPr id="20" name="Shape 15"/>
          <p:cNvSpPr/>
          <p:nvPr/>
        </p:nvSpPr>
        <p:spPr>
          <a:xfrm>
            <a:off x="7018020" y="155448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Fails safely</a:t>
            </a:r>
            <a:endParaRPr lang="en-US" sz="1300" dirty="0"/>
          </a:p>
        </p:txBody>
      </p:sp>
      <p:sp>
        <p:nvSpPr>
          <p:cNvPr id="23" name="Text 17"/>
          <p:cNvSpPr txBox="1"/>
          <p:nvPr/>
        </p:nvSpPr>
        <p:spPr>
          <a:xfrm>
            <a:off x="7018020" y="2057400"/>
            <a:ext cx="148590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try/catch prints Translation failed instead of a stack trace.</a:t>
            </a:r>
            <a:endParaRPr lang="en-US" sz="1200" dirty="0"/>
          </a:p>
        </p:txBody>
      </p:sp>
      <p:sp>
        <p:nvSpPr>
          <p:cNvPr id="24" name="Text 18"/>
          <p:cNvSpPr txBox="1"/>
          <p:nvPr/>
        </p:nvSpPr>
        <p:spPr>
          <a:xfrm>
            <a:off x="457200" y="32918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Lesson 7 closes the first gap: ResponseFormat enforces the shape at the API level.</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Sarah Connor as JSON</a:t>
            </a:r>
            <a:endParaRPr lang="en-US" sz="2800" dirty="0"/>
          </a:p>
        </p:txBody>
      </p:sp>
      <p:sp>
        <p:nvSpPr>
          <p:cNvPr id="4" name="Shape 2"/>
          <p:cNvSpPr/>
          <p:nvPr/>
        </p:nvSpPr>
        <p:spPr>
          <a:xfrm>
            <a:off x="457200" y="1325880"/>
            <a:ext cx="5257800" cy="2606040"/>
          </a:xfrm>
          <a:prstGeom prst="roundRect">
            <a:avLst>
              <a:gd name="adj" fmla="val 2807"/>
            </a:avLst>
          </a:prstGeom>
          <a:solidFill>
            <a:srgbClr val="0F1420"/>
          </a:solidFill>
          <a:ln w="12700">
            <a:solidFill>
              <a:srgbClr val="0F1420"/>
            </a:solidFill>
            <a:prstDash val="solid"/>
          </a:ln>
        </p:spPr>
      </p:sp>
      <p:sp>
        <p:nvSpPr>
          <p:cNvPr id="5" name="Text 3"/>
          <p:cNvSpPr txBox="1"/>
          <p:nvPr/>
        </p:nvSpPr>
        <p:spPr>
          <a:xfrm>
            <a:off x="640080" y="1463040"/>
            <a:ext cx="4892040" cy="23317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Input Data:</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We just hired Sarah Connor. She is 29 years old, works as a Cybersecurity Analyst, and her email is sarah.c@sky.net. She starts on Monday.</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Transforming natural language to JSON...</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STRING JSON OUTPUT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"FirstName": "Sarah",</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"LastName": "Connor",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"Age": 29,</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"JobTitle": "Cybersecurity Analyst",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"Email": "sarah.c@sky.net"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Five keys only</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start date is dropped: it isn't in the key list.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 JSON</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Spacing may differ; the keys and values should not.</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fences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If you see ```json, the bans need tightening.</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Prove the JSON is real</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an Employee class with the five properties, then deserialize the model's output with JsonSerializer and print each field.</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Lesson03-FormatTranslator/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Translator/Program.cs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Employee lives in its own Employee.cs file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JsonSerializer.Deserialize&lt;Employee&gt; fills all five fields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Age arrives as an int, not a string</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Malformed JSON prints a clear message instead of crashing</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JSON requested in the prompt</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7  </a:t>
            </a:r>
            <a:pPr indent="0" marL="0">
              <a:buNone/>
            </a:pPr>
            <a:r>
              <a:rPr lang="en-US" sz="1250" dirty="0">
                <a:solidFill>
                  <a:srgbClr val="FFFFFF"/>
                </a:solidFill>
                <a:latin typeface="Calibri" pitchFamily="34" charset="0"/>
                <a:ea typeface="Calibri" pitchFamily="34" charset="-122"/>
                <a:cs typeface="Calibri" pitchFamily="34" charset="-120"/>
              </a:rPr>
              <a:t>ResponseFormat enforces a typed schema</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Settings set from C# code</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  </a:t>
            </a:r>
            <a:pPr indent="0" marL="0">
              <a:buNone/>
            </a:pPr>
            <a:r>
              <a:rPr lang="en-US" sz="1250" dirty="0">
                <a:solidFill>
                  <a:srgbClr val="FFFFFF"/>
                </a:solidFill>
                <a:latin typeface="Calibri" pitchFamily="34" charset="0"/>
                <a:ea typeface="Calibri" pitchFamily="34" charset="-122"/>
                <a:cs typeface="Calibri" pitchFamily="34" charset="-120"/>
              </a:rPr>
              <a:t>The same settings object turns on tool calling</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Temperature 0.0</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6  </a:t>
            </a:r>
            <a:pPr indent="0" marL="0">
              <a:buNone/>
            </a:pPr>
            <a:r>
              <a:rPr lang="en-US" sz="1250" dirty="0">
                <a:solidFill>
                  <a:srgbClr val="FFFFFF"/>
                </a:solidFill>
                <a:latin typeface="Calibri" pitchFamily="34" charset="0"/>
                <a:ea typeface="Calibri" pitchFamily="34" charset="-122"/>
                <a:cs typeface="Calibri" pitchFamily="34" charset="-120"/>
              </a:rPr>
              <a:t>A file-handling tool chain runs at zero</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Negative prompting</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8  </a:t>
            </a:r>
            <a:pPr indent="0" marL="0">
              <a:buNone/>
            </a:pPr>
            <a:r>
              <a:rPr lang="en-US" sz="1250" dirty="0">
                <a:solidFill>
                  <a:srgbClr val="FFFFFF"/>
                </a:solidFill>
                <a:latin typeface="Calibri" pitchFamily="34" charset="0"/>
                <a:ea typeface="Calibri" pitchFamily="34" charset="-122"/>
                <a:cs typeface="Calibri" pitchFamily="34" charset="-120"/>
              </a:rPr>
              <a:t>The RAG prompt bans outside knowledge</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Output a program consumes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A Coordinator returns JSON routing decisions</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 — The Format Translator</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 — The Format Translator</dc:title>
  <dc:subject>PptxGenJS Presentation</dc:subject>
  <dc:creator>Media Six LLC</dc:creator>
  <cp:lastModifiedBy>Media Six LLC</cp:lastModifiedBy>
  <cp:revision>1</cp:revision>
  <dcterms:created xsi:type="dcterms:W3CDTF">2026-10-21T23:07:12Z</dcterms:created>
  <dcterms:modified xsi:type="dcterms:W3CDTF">2026-10-21T23:07:12Z</dcterms:modified>
</cp:coreProperties>
</file>