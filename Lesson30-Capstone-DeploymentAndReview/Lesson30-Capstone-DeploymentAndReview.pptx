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closes the four-part Universal Project Manager capstone. It takes the exact workflow built through Lesson 29, GoalRefiner, Planner, Developer and Reviewer, looped by the ProjectOrchestrator, and deploys it two ways side by side. The UniversalProjectManager console app carries forward unchanged in behavior. Next to it, a new ASP.NET Core Web API project, UniversalProjectManager.Api, wraps the same agent classes behind a single endpoint, POST api/project/generate. Instead of building one kernel by hand in Main, the Web API registers the Kernel, every agent and the orchestrator with the dependency injection container, so the framework assembles a fresh agent team for every request. An interactive Scalar UI lets you try it from the browser.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capstone. Lesson 27 built the architecture, Lesson 28 added the Planner, the Developer and the CreateTask tool, and Lesson 29 added the orchestrator and the Reviewer's rework loop. Lesson 30, highlighted, is deployment. This is the pivot from agent code that runs in a console to agent code that is a deployable service. The agent logic carries over from Lesson 29, and the console and Web API projects share identical agent files apart from internal becoming public, so the Web API can register them. What changes is how those classes are constructed and how a client reaches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lesson folder holds two projects, each with its own solution file. The console app works exactly like Lesson 29's: Main builds one kernel, constructs the four agents by hand, and runs a single project per process. New in this lesson, the whole orchestration run is wrapped in a try/catch, so a failed OpenAI call prints Orchestration failed with the message instead of a stack trace. The Web API, emphasized here, lets the dependency injection container build the kernel and the agents, assembles a fresh team for every HTTP request, and turns the same kind of failure into an HTTP 502 response with a descriptive message rather than an opaque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console project is unchanged. The new UniversalProjectManager.Api project uses the Microsoft.NET.Sdk.Web SDK and is controller based rather than a Minimal API. It references the same two Semantic Kernel packages at version 1.78.0, plus Microsoft.AspNetCore.OpenApi 10.0.10 for the OpenAPI document and Scalar.AspNetCore 2.16.17 for the interactive UI. The OpenAI key still comes from OPENAI_API_KEY, but it is read inside the Kernel factory registration, so a missing key surfaces when a request first needs a kernel rather than at startup. One note from the lesson: dotnet build reports a NU1903 advisory on the transitive Microsoft.OpenApi 2.0.0 package. It predates this lesson and is left for a separate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Program.cs in the Web API replaces the console app's hand-built objects with registrations. The Kernel is registered with a factory that reads OPENAI_API_KEY and builds a gpt-4.1-mini kernel. The GoalRefiner, Planner, Developer and Reviewer are each registered against the same interface, IProjectAgent. Because ProjectOrchestrator's constructor asks for an IEnumerable of IProjectAgent, the container automatically hands it one of each, in registration order, with no manual list-building. ProjectController then receives the orchestrator through its constructor. Every registration is transient, so two concurrent requests never share a kernel, an agent or an orchestrator.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request end to end. A client posts the rough idea to api/project/generate; the action binds it with FromBody to a plain string, so the body is a JSON string in quotes. If it is empty or whitespace, the controller returns 400 Bad Request. Otherwise it creates a fresh, request-scoped ProjectState with the idea as OriginalRequest. Then, highlighted, it awaits the orchestrator's RunProjectAsync, the same loop as Lesson 29, with the same five-cycle cap. Finally it returns 200 OK with the whole ProjectState serialized as JSON, or, if anything in the run threw, a 502 with a 'Project generation failed' message. The controller is a thin adapter: it never touches OpenAI, prompts or tasks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is worth being clear about what deploying to a Web API does not change. The console and Web API projects share identical agent files, apart from internal becoming public so the Web API can register them, and the prompts, the five-cycle cap and the Reviewer's rework loop all carry over from Lesson 29. Two small differences from Lesson 29's copy are worth noticing. The agents no longer have their own try/catch blocks; instead one try/catch around the whole orchestration run, in Program.cs and in the controller, catches any agent's failure at the boundary. And a rejected task's description is replaced by the Reviewer's feedback rather than appended to, a choice the lesson deliberately left as-is. Moving to HTTP also adds new concerns. The highlighted one is that the request is long-running and synchronous: the connection stays open until every orchestration cycle finishes, with no background job and no cancellation. And the API isn't production-hardened: there is no authentication, CORS, API versioning or request DTO validation. Those are real enterprise-readiness gaps, but they are beyond this lesson's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OPENAI_API_KEY and run the UniversalProjectManager.Api project with the https profile. In the Development environment the root URL redirects to the Scalar UI at scalar slash v1. Choose the POST generate operation and send a body that is a JSON string, in quotes, because the action binds the whole body to a string. The request stays open while the orchestrator runs, and the server console shows the same agent log lines as the console app. The response is 200 OK with the ProjectState serialized as camel-case JSON: the original request, the refined goal, the tasks with their IDs, descriptions, assignments, code and completion flags, and the computed isFullyCompleted. The values on this slide are illustrative and some fields are trimmed; your goal, task IDs and code will differ. The console project still runs exactly like Lesson 29's.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this on your own. Create a ProjectRequest record with a Goal property in its own file, change GenerateProject to take it from the body, and keep the empty-goal check returning 400. Restart and check that Scalar now shows a request schema with a goal field. Finally, open UniversalProjectManager.Api.http: it still targets the weatherforecast route from the project template. Replace it with a POST to api/project/generate with a JSON body, so you can test the endpoint straight from Visual Studio.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recap: we deployed the Lesson 29 workflow as a Web API, registered the Kernel, the agents and the orchestrator as transient services, let the container hand the orchestrator every IProjectAgent, kept the controller a thin adapter, and tried it from Scalar. That completes Capstone I. Part 2 picks up the gaps this lesson names. The planned Lessons 40, 41 and 42 replace the long synchronous request with event-driven agents, add queued asynchronous human approvals in place of Lesson 20's blocking console gate, and checkpoint state so a run survives a restart. Lesson 37 adds guardrail middleware that redacts PII and rejects unsafe output. And the planned Lesson 43, Capstone II, combines hierarchical delegation, events, checkpointing and guardrails into one deployable system, the Part 2 counterpart to what we just finished.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502920"/>
            <a:ext cx="4206240" cy="4572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LESSON 30  ·  PART 1</a:t>
            </a:r>
            <a:endParaRPr lang="en-US" sz="1100" dirty="0"/>
          </a:p>
        </p:txBody>
      </p:sp>
      <p:sp>
        <p:nvSpPr>
          <p:cNvPr id="3" name="Text 1"/>
          <p:cNvSpPr txBox="1"/>
          <p:nvPr/>
        </p:nvSpPr>
        <p:spPr>
          <a:xfrm>
            <a:off x="457200" y="1005840"/>
            <a:ext cx="4206240" cy="1371600"/>
          </a:xfrm>
          <a:prstGeom prst="rect">
            <a:avLst/>
          </a:prstGeom>
          <a:noFill/>
          <a:ln/>
        </p:spPr>
        <p:txBody>
          <a:bodyPr wrap="square" lIns="0" tIns="0" rIns="0" bIns="0" rtlCol="0" anchor="b"/>
          <a:lstStyle/>
          <a:p>
            <a:pPr indent="0" marL="0">
              <a:buNone/>
            </a:pPr>
            <a:r>
              <a:rPr lang="en-US" sz="3200" b="1" dirty="0">
                <a:solidFill>
                  <a:srgbClr val="FFFFFF"/>
                </a:solidFill>
                <a:latin typeface="Cambria" pitchFamily="34" charset="0"/>
                <a:ea typeface="Cambria" pitchFamily="34" charset="-122"/>
                <a:cs typeface="Cambria" pitchFamily="34" charset="-120"/>
              </a:rPr>
              <a:t>Capstone I: Deployment &amp; Review</a:t>
            </a:r>
            <a:endParaRPr lang="en-US" sz="3200" dirty="0"/>
          </a:p>
        </p:txBody>
      </p:sp>
      <p:sp>
        <p:nvSpPr>
          <p:cNvPr id="4" name="Text 2"/>
          <p:cNvSpPr txBox="1"/>
          <p:nvPr/>
        </p:nvSpPr>
        <p:spPr>
          <a:xfrm>
            <a:off x="457200" y="2468880"/>
            <a:ext cx="4206240" cy="640080"/>
          </a:xfrm>
          <a:prstGeom prst="rect">
            <a:avLst/>
          </a:prstGeom>
          <a:noFill/>
          <a:ln/>
        </p:spPr>
        <p:txBody>
          <a:bodyPr wrap="square" lIns="0" tIns="0" rIns="0" bIns="0" rtlCol="0" anchor="t"/>
          <a:lstStyle/>
          <a:p>
            <a:pPr indent="0" marL="0">
              <a:buNone/>
            </a:pPr>
            <a:r>
              <a:rPr lang="en-US" sz="1600" dirty="0">
                <a:solidFill>
                  <a:srgbClr val="B8B2E6"/>
                </a:solidFill>
                <a:latin typeface="Calibri" pitchFamily="34" charset="0"/>
                <a:ea typeface="Calibri" pitchFamily="34" charset="-122"/>
                <a:cs typeface="Calibri" pitchFamily="34" charset="-120"/>
              </a:rPr>
              <a:t>The same four-agent workflow, shipped as a console app and an ASP.NET Core Web API</a:t>
            </a:r>
            <a:endParaRPr lang="en-US" sz="1600" dirty="0"/>
          </a:p>
        </p:txBody>
      </p:sp>
      <p:sp>
        <p:nvSpPr>
          <p:cNvPr id="5" name="Text 3"/>
          <p:cNvSpPr txBox="1"/>
          <p:nvPr/>
        </p:nvSpPr>
        <p:spPr>
          <a:xfrm>
            <a:off x="457200" y="33467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STARTS FROM</a:t>
            </a:r>
            <a:endParaRPr lang="en-US" sz="900" dirty="0"/>
          </a:p>
        </p:txBody>
      </p:sp>
      <p:sp>
        <p:nvSpPr>
          <p:cNvPr id="6" name="Text 4"/>
          <p:cNvSpPr txBox="1"/>
          <p:nvPr/>
        </p:nvSpPr>
        <p:spPr>
          <a:xfrm>
            <a:off x="1554480" y="32918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Lesson 29's orchestrator</a:t>
            </a:r>
            <a:endParaRPr lang="en-US" sz="1100" dirty="0"/>
          </a:p>
        </p:txBody>
      </p:sp>
      <p:sp>
        <p:nvSpPr>
          <p:cNvPr id="7" name="Text 5"/>
          <p:cNvSpPr txBox="1"/>
          <p:nvPr/>
        </p:nvSpPr>
        <p:spPr>
          <a:xfrm>
            <a:off x="457200" y="3803904"/>
            <a:ext cx="1097280" cy="274320"/>
          </a:xfrm>
          <a:prstGeom prst="rect">
            <a:avLst/>
          </a:prstGeom>
          <a:noFill/>
          <a:ln/>
        </p:spPr>
        <p:txBody>
          <a:bodyPr wrap="square" lIns="0" tIns="0" rIns="0" bIns="0" rtlCol="0" anchor="t"/>
          <a:lstStyle/>
          <a:p>
            <a:pPr indent="0" marL="0">
              <a:buNone/>
            </a:pPr>
            <a:r>
              <a:rPr lang="en-US" sz="900" b="1" spc="100" kern="0" dirty="0">
                <a:solidFill>
                  <a:srgbClr val="B8B2E6"/>
                </a:solidFill>
                <a:latin typeface="Calibri" pitchFamily="34" charset="0"/>
                <a:ea typeface="Calibri" pitchFamily="34" charset="-122"/>
                <a:cs typeface="Calibri" pitchFamily="34" charset="-120"/>
              </a:rPr>
              <a:t>FINISHES AS</a:t>
            </a:r>
            <a:endParaRPr lang="en-US" sz="900" dirty="0"/>
          </a:p>
        </p:txBody>
      </p:sp>
      <p:sp>
        <p:nvSpPr>
          <p:cNvPr id="8" name="Text 6"/>
          <p:cNvSpPr txBox="1"/>
          <p:nvPr/>
        </p:nvSpPr>
        <p:spPr>
          <a:xfrm>
            <a:off x="1554480" y="3749040"/>
            <a:ext cx="3291840" cy="365760"/>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POST /api/project/generate</a:t>
            </a:r>
            <a:endParaRPr lang="en-US" sz="1100" dirty="0"/>
          </a:p>
        </p:txBody>
      </p:sp>
      <p:sp>
        <p:nvSpPr>
          <p:cNvPr id="9" name="Shape 7"/>
          <p:cNvSpPr/>
          <p:nvPr/>
        </p:nvSpPr>
        <p:spPr>
          <a:xfrm>
            <a:off x="4983480" y="502920"/>
            <a:ext cx="3703320" cy="4069080"/>
          </a:xfrm>
          <a:prstGeom prst="roundRect">
            <a:avLst>
              <a:gd name="adj" fmla="val 1975"/>
            </a:avLst>
          </a:prstGeom>
          <a:solidFill>
            <a:srgbClr val="1F2943"/>
          </a:solidFill>
          <a:ln w="12700">
            <a:solidFill>
              <a:srgbClr val="1F2943"/>
            </a:solidFill>
            <a:prstDash val="solid"/>
          </a:ln>
        </p:spPr>
      </p:sp>
      <p:sp>
        <p:nvSpPr>
          <p:cNvPr id="10" name="Text 8"/>
          <p:cNvSpPr txBox="1"/>
          <p:nvPr/>
        </p:nvSpPr>
        <p:spPr>
          <a:xfrm>
            <a:off x="5257800" y="731520"/>
            <a:ext cx="3200400" cy="365760"/>
          </a:xfrm>
          <a:prstGeom prst="rect">
            <a:avLst/>
          </a:prstGeom>
          <a:noFill/>
          <a:ln/>
        </p:spPr>
        <p:txBody>
          <a:bodyPr wrap="square" lIns="0" tIns="0" rIns="0" bIns="0" rtlCol="0" anchor="t"/>
          <a:lstStyle/>
          <a:p>
            <a:pPr indent="0" marL="0">
              <a:buNone/>
            </a:pPr>
            <a:r>
              <a:rPr lang="en-US" sz="1600" b="1" dirty="0">
                <a:solidFill>
                  <a:srgbClr val="FFFFFF"/>
                </a:solidFill>
                <a:latin typeface="Cambria" pitchFamily="34" charset="0"/>
                <a:ea typeface="Cambria" pitchFamily="34" charset="-122"/>
                <a:cs typeface="Cambria" pitchFamily="34" charset="-120"/>
              </a:rPr>
              <a:t>In this lesson you'll learn</a:t>
            </a:r>
            <a:endParaRPr lang="en-US" sz="1600" dirty="0"/>
          </a:p>
        </p:txBody>
      </p:sp>
      <p:sp>
        <p:nvSpPr>
          <p:cNvPr id="11" name="Shape 9"/>
          <p:cNvSpPr/>
          <p:nvPr/>
        </p:nvSpPr>
        <p:spPr>
          <a:xfrm>
            <a:off x="5257800" y="1252728"/>
            <a:ext cx="310896" cy="310896"/>
          </a:xfrm>
          <a:prstGeom prst="ellipse">
            <a:avLst/>
          </a:prstGeom>
          <a:solidFill>
            <a:srgbClr val="512BD4"/>
          </a:solidFill>
          <a:ln w="12700">
            <a:solidFill>
              <a:srgbClr val="512BD4"/>
            </a:solidFill>
            <a:prstDash val="solid"/>
          </a:ln>
        </p:spPr>
      </p:sp>
      <p:pic>
        <p:nvPicPr>
          <p:cNvPr id="12" name="Image 0" descr="preencoded.png">    </p:cNvPr>
          <p:cNvPicPr>
            <a:picLocks noChangeAspect="1"/>
          </p:cNvPicPr>
          <p:nvPr/>
        </p:nvPicPr>
        <p:blipFill>
          <a:blip r:embed="rId1"/>
          <a:stretch>
            <a:fillRect/>
          </a:stretch>
        </p:blipFill>
        <p:spPr>
          <a:xfrm>
            <a:off x="5338633" y="1333561"/>
            <a:ext cx="149230" cy="149230"/>
          </a:xfrm>
          <a:prstGeom prst="rect">
            <a:avLst/>
          </a:prstGeom>
        </p:spPr>
      </p:pic>
      <p:sp>
        <p:nvSpPr>
          <p:cNvPr id="13" name="Text 10"/>
          <p:cNvSpPr txBox="1"/>
          <p:nvPr/>
        </p:nvSpPr>
        <p:spPr>
          <a:xfrm>
            <a:off x="5715000" y="123444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Register the Kernel and agents for dependency injection</a:t>
            </a:r>
            <a:endParaRPr lang="en-US" sz="1300" dirty="0"/>
          </a:p>
        </p:txBody>
      </p:sp>
      <p:sp>
        <p:nvSpPr>
          <p:cNvPr id="14" name="Shape 11"/>
          <p:cNvSpPr/>
          <p:nvPr/>
        </p:nvSpPr>
        <p:spPr>
          <a:xfrm>
            <a:off x="5257800" y="1892808"/>
            <a:ext cx="310896" cy="310896"/>
          </a:xfrm>
          <a:prstGeom prst="ellipse">
            <a:avLst/>
          </a:prstGeom>
          <a:solidFill>
            <a:srgbClr val="512BD4"/>
          </a:solidFill>
          <a:ln w="12700">
            <a:solidFill>
              <a:srgbClr val="512BD4"/>
            </a:solidFill>
            <a:prstDash val="solid"/>
          </a:ln>
        </p:spPr>
      </p:sp>
      <p:pic>
        <p:nvPicPr>
          <p:cNvPr id="15" name="Image 1" descr="preencoded.png">    </p:cNvPr>
          <p:cNvPicPr>
            <a:picLocks noChangeAspect="1"/>
          </p:cNvPicPr>
          <p:nvPr/>
        </p:nvPicPr>
        <p:blipFill>
          <a:blip r:embed="rId2"/>
          <a:stretch>
            <a:fillRect/>
          </a:stretch>
        </p:blipFill>
        <p:spPr>
          <a:xfrm>
            <a:off x="5338633" y="1973641"/>
            <a:ext cx="149230" cy="149230"/>
          </a:xfrm>
          <a:prstGeom prst="rect">
            <a:avLst/>
          </a:prstGeom>
        </p:spPr>
      </p:pic>
      <p:sp>
        <p:nvSpPr>
          <p:cNvPr id="16" name="Text 12"/>
          <p:cNvSpPr txBox="1"/>
          <p:nvPr/>
        </p:nvSpPr>
        <p:spPr>
          <a:xfrm>
            <a:off x="5715000" y="187452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Use transient lifetimes to isolate each request</a:t>
            </a:r>
            <a:endParaRPr lang="en-US" sz="1300" dirty="0"/>
          </a:p>
        </p:txBody>
      </p:sp>
      <p:sp>
        <p:nvSpPr>
          <p:cNvPr id="17" name="Shape 13"/>
          <p:cNvSpPr/>
          <p:nvPr/>
        </p:nvSpPr>
        <p:spPr>
          <a:xfrm>
            <a:off x="5257800" y="2532888"/>
            <a:ext cx="310896" cy="310896"/>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338633" y="2613721"/>
            <a:ext cx="149230" cy="149230"/>
          </a:xfrm>
          <a:prstGeom prst="rect">
            <a:avLst/>
          </a:prstGeom>
        </p:spPr>
      </p:pic>
      <p:sp>
        <p:nvSpPr>
          <p:cNvPr id="19" name="Text 14"/>
          <p:cNvSpPr txBox="1"/>
          <p:nvPr/>
        </p:nvSpPr>
        <p:spPr>
          <a:xfrm>
            <a:off x="5715000" y="251460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Let DI hand the orchestrator every IProjectAgent</a:t>
            </a:r>
            <a:endParaRPr lang="en-US" sz="1300" dirty="0"/>
          </a:p>
        </p:txBody>
      </p:sp>
      <p:sp>
        <p:nvSpPr>
          <p:cNvPr id="20" name="Shape 15"/>
          <p:cNvSpPr/>
          <p:nvPr/>
        </p:nvSpPr>
        <p:spPr>
          <a:xfrm>
            <a:off x="5257800" y="3172968"/>
            <a:ext cx="310896" cy="310896"/>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5338633" y="3253801"/>
            <a:ext cx="149230" cy="149230"/>
          </a:xfrm>
          <a:prstGeom prst="rect">
            <a:avLst/>
          </a:prstGeom>
        </p:spPr>
      </p:pic>
      <p:sp>
        <p:nvSpPr>
          <p:cNvPr id="22" name="Text 16"/>
          <p:cNvSpPr txBox="1"/>
          <p:nvPr/>
        </p:nvSpPr>
        <p:spPr>
          <a:xfrm>
            <a:off x="5715000" y="315468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Keep the controller a thin adapter over the agents</a:t>
            </a:r>
            <a:endParaRPr lang="en-US" sz="1300" dirty="0"/>
          </a:p>
        </p:txBody>
      </p:sp>
      <p:sp>
        <p:nvSpPr>
          <p:cNvPr id="23" name="Shape 17"/>
          <p:cNvSpPr/>
          <p:nvPr/>
        </p:nvSpPr>
        <p:spPr>
          <a:xfrm>
            <a:off x="5257800" y="3813048"/>
            <a:ext cx="310896" cy="310896"/>
          </a:xfrm>
          <a:prstGeom prst="ellipse">
            <a:avLst/>
          </a:prstGeom>
          <a:solidFill>
            <a:srgbClr val="512BD4"/>
          </a:solidFill>
          <a:ln w="12700">
            <a:solidFill>
              <a:srgbClr val="512BD4"/>
            </a:solidFill>
            <a:prstDash val="solid"/>
          </a:ln>
        </p:spPr>
      </p:sp>
      <p:pic>
        <p:nvPicPr>
          <p:cNvPr id="24" name="Image 4" descr="preencoded.png">    </p:cNvPr>
          <p:cNvPicPr>
            <a:picLocks noChangeAspect="1"/>
          </p:cNvPicPr>
          <p:nvPr/>
        </p:nvPicPr>
        <p:blipFill>
          <a:blip r:embed="rId5"/>
          <a:stretch>
            <a:fillRect/>
          </a:stretch>
        </p:blipFill>
        <p:spPr>
          <a:xfrm>
            <a:off x="5338633" y="3893881"/>
            <a:ext cx="149230" cy="149230"/>
          </a:xfrm>
          <a:prstGeom prst="rect">
            <a:avLst/>
          </a:prstGeom>
        </p:spPr>
      </p:pic>
      <p:sp>
        <p:nvSpPr>
          <p:cNvPr id="25" name="Text 18"/>
          <p:cNvSpPr txBox="1"/>
          <p:nvPr/>
        </p:nvSpPr>
        <p:spPr>
          <a:xfrm>
            <a:off x="5715000" y="3794760"/>
            <a:ext cx="2743200" cy="59436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Try the API from a Scalar UI</a:t>
            </a:r>
            <a:endParaRPr lang="en-US" sz="1300" dirty="0"/>
          </a:p>
        </p:txBody>
      </p:sp>
      <p:sp>
        <p:nvSpPr>
          <p:cNvPr id="26" name="Text 19"/>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27" name="Text 20"/>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CAPSTONE ARC</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Part 4 of 4: from console app to service</a:t>
            </a:r>
            <a:endParaRPr lang="en-US" sz="2800" dirty="0"/>
          </a:p>
        </p:txBody>
      </p:sp>
      <p:sp>
        <p:nvSpPr>
          <p:cNvPr id="4" name="Shape 2"/>
          <p:cNvSpPr/>
          <p:nvPr/>
        </p:nvSpPr>
        <p:spPr>
          <a:xfrm>
            <a:off x="457200" y="1417320"/>
            <a:ext cx="1796796" cy="1993392"/>
          </a:xfrm>
          <a:prstGeom prst="roundRect">
            <a:avLst>
              <a:gd name="adj" fmla="val 4071"/>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Architecture</a:t>
            </a:r>
            <a:endParaRPr lang="en-US" sz="1500" dirty="0"/>
          </a:p>
        </p:txBody>
      </p:sp>
      <p:sp>
        <p:nvSpPr>
          <p:cNvPr id="8" name="Text 5"/>
          <p:cNvSpPr txBox="1"/>
          <p:nvPr/>
        </p:nvSpPr>
        <p:spPr>
          <a:xfrm>
            <a:off x="640080"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Lesson 27: ProjectState, a contract, GoalRefiner</a:t>
            </a:r>
            <a:endParaRPr lang="en-US" sz="1200" dirty="0"/>
          </a:p>
        </p:txBody>
      </p:sp>
      <p:sp>
        <p:nvSpPr>
          <p:cNvPr id="9" name="Shape 6"/>
          <p:cNvSpPr/>
          <p:nvPr/>
        </p:nvSpPr>
        <p:spPr>
          <a:xfrm>
            <a:off x="2318004"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601468" y="1417320"/>
            <a:ext cx="1796796" cy="1993392"/>
          </a:xfrm>
          <a:prstGeom prst="roundRect">
            <a:avLst>
              <a:gd name="adj" fmla="val 4071"/>
            </a:avLst>
          </a:prstGeom>
          <a:solidFill>
            <a:srgbClr val="EFEBFC"/>
          </a:solidFill>
          <a:ln w="12700">
            <a:solidFill>
              <a:srgbClr val="EFEBFC"/>
            </a:solidFill>
            <a:prstDash val="solid"/>
          </a:ln>
        </p:spPr>
      </p:sp>
      <p:sp>
        <p:nvSpPr>
          <p:cNvPr id="11" name="Shape 8"/>
          <p:cNvSpPr/>
          <p:nvPr/>
        </p:nvSpPr>
        <p:spPr>
          <a:xfrm>
            <a:off x="2784348"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903220" y="1737360"/>
            <a:ext cx="219456" cy="219456"/>
          </a:xfrm>
          <a:prstGeom prst="rect">
            <a:avLst/>
          </a:prstGeom>
        </p:spPr>
      </p:pic>
      <p:sp>
        <p:nvSpPr>
          <p:cNvPr id="13" name="Text 9"/>
          <p:cNvSpPr txBox="1"/>
          <p:nvPr/>
        </p:nvSpPr>
        <p:spPr>
          <a:xfrm>
            <a:off x="2784348"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Plugins</a:t>
            </a:r>
            <a:endParaRPr lang="en-US" sz="1500" dirty="0"/>
          </a:p>
        </p:txBody>
      </p:sp>
      <p:sp>
        <p:nvSpPr>
          <p:cNvPr id="14" name="Text 10"/>
          <p:cNvSpPr txBox="1"/>
          <p:nvPr/>
        </p:nvSpPr>
        <p:spPr>
          <a:xfrm>
            <a:off x="2784348"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Lesson 28: Planner, Developer and a CreateTask tool</a:t>
            </a:r>
            <a:endParaRPr lang="en-US" sz="1200" dirty="0"/>
          </a:p>
        </p:txBody>
      </p:sp>
      <p:sp>
        <p:nvSpPr>
          <p:cNvPr id="15" name="Shape 11"/>
          <p:cNvSpPr/>
          <p:nvPr/>
        </p:nvSpPr>
        <p:spPr>
          <a:xfrm>
            <a:off x="4462272"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4745736" y="1417320"/>
            <a:ext cx="1796796" cy="1993392"/>
          </a:xfrm>
          <a:prstGeom prst="roundRect">
            <a:avLst>
              <a:gd name="adj" fmla="val 4071"/>
            </a:avLst>
          </a:prstGeom>
          <a:solidFill>
            <a:srgbClr val="EFEBFC"/>
          </a:solidFill>
          <a:ln w="12700">
            <a:solidFill>
              <a:srgbClr val="EFEBFC"/>
            </a:solidFill>
            <a:prstDash val="solid"/>
          </a:ln>
        </p:spPr>
      </p:sp>
      <p:sp>
        <p:nvSpPr>
          <p:cNvPr id="17" name="Shape 13"/>
          <p:cNvSpPr/>
          <p:nvPr/>
        </p:nvSpPr>
        <p:spPr>
          <a:xfrm>
            <a:off x="4928616"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5047488" y="1737360"/>
            <a:ext cx="219456" cy="219456"/>
          </a:xfrm>
          <a:prstGeom prst="rect">
            <a:avLst/>
          </a:prstGeom>
        </p:spPr>
      </p:pic>
      <p:sp>
        <p:nvSpPr>
          <p:cNvPr id="19" name="Text 14"/>
          <p:cNvSpPr txBox="1"/>
          <p:nvPr/>
        </p:nvSpPr>
        <p:spPr>
          <a:xfrm>
            <a:off x="4928616" y="2194560"/>
            <a:ext cx="1476756" cy="411480"/>
          </a:xfrm>
          <a:prstGeom prst="rect">
            <a:avLst/>
          </a:prstGeom>
          <a:noFill/>
          <a:ln/>
        </p:spPr>
        <p:txBody>
          <a:bodyPr wrap="square" lIns="0" tIns="0" rIns="0" bIns="0" rtlCol="0" anchor="t"/>
          <a:lstStyle/>
          <a:p>
            <a:pPr indent="0" marL="0">
              <a:buNone/>
            </a:pPr>
            <a:r>
              <a:rPr lang="en-US" sz="1500" b="1" dirty="0">
                <a:solidFill>
                  <a:srgbClr val="1F2937"/>
                </a:solidFill>
                <a:latin typeface="Calibri" pitchFamily="34" charset="0"/>
                <a:ea typeface="Calibri" pitchFamily="34" charset="-122"/>
                <a:cs typeface="Calibri" pitchFamily="34" charset="-120"/>
              </a:rPr>
              <a:t>Orchestration</a:t>
            </a:r>
            <a:endParaRPr lang="en-US" sz="1500" dirty="0"/>
          </a:p>
        </p:txBody>
      </p:sp>
      <p:sp>
        <p:nvSpPr>
          <p:cNvPr id="20" name="Text 15"/>
          <p:cNvSpPr txBox="1"/>
          <p:nvPr/>
        </p:nvSpPr>
        <p:spPr>
          <a:xfrm>
            <a:off x="4928616" y="2606040"/>
            <a:ext cx="1476756"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Lesson 29: an orchestrator and a Reviewer loop</a:t>
            </a:r>
            <a:endParaRPr lang="en-US" sz="1200" dirty="0"/>
          </a:p>
        </p:txBody>
      </p:sp>
      <p:sp>
        <p:nvSpPr>
          <p:cNvPr id="21" name="Shape 16"/>
          <p:cNvSpPr/>
          <p:nvPr/>
        </p:nvSpPr>
        <p:spPr>
          <a:xfrm>
            <a:off x="6606540"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6890004" y="1417320"/>
            <a:ext cx="1796796" cy="1993392"/>
          </a:xfrm>
          <a:prstGeom prst="roundRect">
            <a:avLst>
              <a:gd name="adj" fmla="val 4071"/>
            </a:avLst>
          </a:prstGeom>
          <a:solidFill>
            <a:srgbClr val="512BD4"/>
          </a:solidFill>
          <a:ln w="12700">
            <a:solidFill>
              <a:srgbClr val="512BD4"/>
            </a:solidFill>
            <a:prstDash val="solid"/>
          </a:ln>
        </p:spPr>
      </p:sp>
      <p:sp>
        <p:nvSpPr>
          <p:cNvPr id="23" name="Shape 18"/>
          <p:cNvSpPr/>
          <p:nvPr/>
        </p:nvSpPr>
        <p:spPr>
          <a:xfrm>
            <a:off x="7072884"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7191756" y="1737360"/>
            <a:ext cx="219456" cy="219456"/>
          </a:xfrm>
          <a:prstGeom prst="rect">
            <a:avLst/>
          </a:prstGeom>
        </p:spPr>
      </p:pic>
      <p:sp>
        <p:nvSpPr>
          <p:cNvPr id="25" name="Text 19"/>
          <p:cNvSpPr txBox="1"/>
          <p:nvPr/>
        </p:nvSpPr>
        <p:spPr>
          <a:xfrm>
            <a:off x="7072884" y="2194560"/>
            <a:ext cx="1476756" cy="41148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ea typeface="Calibri" pitchFamily="34" charset="-122"/>
                <a:cs typeface="Calibri" pitchFamily="34" charset="-120"/>
              </a:rPr>
              <a:t>Deployment</a:t>
            </a:r>
            <a:endParaRPr lang="en-US" sz="1500" dirty="0"/>
          </a:p>
        </p:txBody>
      </p:sp>
      <p:sp>
        <p:nvSpPr>
          <p:cNvPr id="26" name="Text 20"/>
          <p:cNvSpPr txBox="1"/>
          <p:nvPr/>
        </p:nvSpPr>
        <p:spPr>
          <a:xfrm>
            <a:off x="7072884" y="2606040"/>
            <a:ext cx="1476756"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Lesson 30: console app plus a Web API with Scalar</a:t>
            </a:r>
            <a:endParaRPr lang="en-US" sz="1200" dirty="0"/>
          </a:p>
        </p:txBody>
      </p:sp>
      <p:sp>
        <p:nvSpPr>
          <p:cNvPr id="27" name="Text 21"/>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agent logic carries over; what changes is how it is built and called.</a:t>
            </a:r>
            <a:endParaRPr lang="en-US" sz="1400" dirty="0"/>
          </a:p>
        </p:txBody>
      </p:sp>
      <p:sp>
        <p:nvSpPr>
          <p:cNvPr id="28" name="Text 22"/>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29" name="Text 23"/>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TWO HOSTS</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One agent team, two ways to run it</a:t>
            </a:r>
            <a:endParaRPr lang="en-US" sz="2800" dirty="0"/>
          </a:p>
        </p:txBody>
      </p:sp>
      <p:sp>
        <p:nvSpPr>
          <p:cNvPr id="4" name="Shape 2"/>
          <p:cNvSpPr/>
          <p:nvPr/>
        </p:nvSpPr>
        <p:spPr>
          <a:xfrm>
            <a:off x="457200" y="1371600"/>
            <a:ext cx="3931920" cy="1783080"/>
          </a:xfrm>
          <a:prstGeom prst="roundRect">
            <a:avLst>
              <a:gd name="adj" fmla="val 4103"/>
            </a:avLst>
          </a:prstGeom>
          <a:solidFill>
            <a:srgbClr val="F6F4FE"/>
          </a:solidFill>
          <a:ln w="12700">
            <a:solidFill>
              <a:srgbClr val="F6F4FE"/>
            </a:solidFill>
            <a:prstDash val="solid"/>
          </a:ln>
        </p:spPr>
      </p:sp>
      <p:sp>
        <p:nvSpPr>
          <p:cNvPr id="5" name="Shape 3"/>
          <p:cNvSpPr/>
          <p:nvPr/>
        </p:nvSpPr>
        <p:spPr>
          <a:xfrm>
            <a:off x="685800" y="1600200"/>
            <a:ext cx="438912" cy="438912"/>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99917" y="1714317"/>
            <a:ext cx="210678" cy="210678"/>
          </a:xfrm>
          <a:prstGeom prst="rect">
            <a:avLst/>
          </a:prstGeom>
        </p:spPr>
      </p:pic>
      <p:sp>
        <p:nvSpPr>
          <p:cNvPr id="7" name="Text 4"/>
          <p:cNvSpPr txBox="1"/>
          <p:nvPr/>
        </p:nvSpPr>
        <p:spPr>
          <a:xfrm>
            <a:off x="126187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UniversalProjectManager</a:t>
            </a:r>
            <a:endParaRPr lang="en-US" sz="1700" dirty="0"/>
          </a:p>
        </p:txBody>
      </p:sp>
      <p:sp>
        <p:nvSpPr>
          <p:cNvPr id="8" name="Text 5"/>
          <p:cNvSpPr txBox="1"/>
          <p:nvPr/>
        </p:nvSpPr>
        <p:spPr>
          <a:xfrm>
            <a:off x="685800" y="2194560"/>
            <a:ext cx="3474720" cy="1097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Main builds one Kernel and four agents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One project per process run</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failure prints Orchestration failed</a:t>
            </a:r>
            <a:endParaRPr lang="en-US" sz="1300" dirty="0"/>
          </a:p>
        </p:txBody>
      </p:sp>
      <p:sp>
        <p:nvSpPr>
          <p:cNvPr id="9" name="Shape 6"/>
          <p:cNvSpPr/>
          <p:nvPr/>
        </p:nvSpPr>
        <p:spPr>
          <a:xfrm>
            <a:off x="4754880" y="1371600"/>
            <a:ext cx="3931920" cy="1783080"/>
          </a:xfrm>
          <a:prstGeom prst="roundRect">
            <a:avLst>
              <a:gd name="adj" fmla="val 4103"/>
            </a:avLst>
          </a:prstGeom>
          <a:solidFill>
            <a:srgbClr val="EFEBFC"/>
          </a:solidFill>
          <a:ln w="12700">
            <a:solidFill>
              <a:srgbClr val="EFEBFC"/>
            </a:solidFill>
            <a:prstDash val="solid"/>
          </a:ln>
        </p:spPr>
      </p:sp>
      <p:sp>
        <p:nvSpPr>
          <p:cNvPr id="10" name="Shape 7"/>
          <p:cNvSpPr/>
          <p:nvPr/>
        </p:nvSpPr>
        <p:spPr>
          <a:xfrm>
            <a:off x="4983480" y="1600200"/>
            <a:ext cx="438912" cy="438912"/>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5097597" y="1714317"/>
            <a:ext cx="210678" cy="210678"/>
          </a:xfrm>
          <a:prstGeom prst="rect">
            <a:avLst/>
          </a:prstGeom>
        </p:spPr>
      </p:pic>
      <p:sp>
        <p:nvSpPr>
          <p:cNvPr id="12" name="Text 8"/>
          <p:cNvSpPr txBox="1"/>
          <p:nvPr/>
        </p:nvSpPr>
        <p:spPr>
          <a:xfrm>
            <a:off x="5559552" y="1600200"/>
            <a:ext cx="2926080" cy="438912"/>
          </a:xfrm>
          <a:prstGeom prst="rect">
            <a:avLst/>
          </a:prstGeom>
          <a:noFill/>
          <a:ln/>
        </p:spPr>
        <p:txBody>
          <a:bodyPr wrap="square" lIns="0" tIns="0" rIns="0" bIns="0"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UniversalProjectManager.Api</a:t>
            </a:r>
            <a:endParaRPr lang="en-US" sz="1700" dirty="0"/>
          </a:p>
        </p:txBody>
      </p:sp>
      <p:sp>
        <p:nvSpPr>
          <p:cNvPr id="13" name="Text 9"/>
          <p:cNvSpPr txBox="1"/>
          <p:nvPr/>
        </p:nvSpPr>
        <p:spPr>
          <a:xfrm>
            <a:off x="4983480" y="2194560"/>
            <a:ext cx="3474720" cy="1097280"/>
          </a:xfrm>
          <a:prstGeom prst="rect">
            <a:avLst/>
          </a:prstGeom>
          <a:noFill/>
          <a:ln/>
        </p:spPr>
        <p:txBody>
          <a:bodyPr wrap="square" lIns="0" tIns="0" rIns="0" bIns="0" rtlCol="0" anchor="t"/>
          <a:lstStyle/>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DI builds the Kernel and agents</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fresh agent team per HTTP request</a:t>
            </a:r>
            <a:endParaRPr lang="en-US" sz="1300" dirty="0"/>
          </a:p>
          <a:p>
            <a:pPr marL="177800" indent="-177800">
              <a:spcAft>
                <a:spcPts val="400"/>
              </a:spcAft>
              <a:buSzPct val="100000"/>
              <a:buChar char="•"/>
            </a:pPr>
            <a:r>
              <a:rPr lang="en-US" sz="1300" dirty="0">
                <a:solidFill>
                  <a:srgbClr val="1F2937"/>
                </a:solidFill>
                <a:latin typeface="Calibri" pitchFamily="34" charset="0"/>
                <a:ea typeface="Calibri" pitchFamily="34" charset="-122"/>
                <a:cs typeface="Calibri" pitchFamily="34" charset="-120"/>
              </a:rPr>
              <a:t>A failure returns HTTP 502</a:t>
            </a:r>
            <a:endParaRPr lang="en-US" sz="1300" dirty="0"/>
          </a:p>
        </p:txBody>
      </p:sp>
      <p:sp>
        <p:nvSpPr>
          <p:cNvPr id="14" name="Text 10"/>
          <p:cNvSpPr txBox="1"/>
          <p:nvPr/>
        </p:nvSpPr>
        <p:spPr>
          <a:xfrm>
            <a:off x="457200" y="3429000"/>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Each host has its own .slnx; the agent files are copied into both.</a:t>
            </a:r>
            <a:endParaRPr lang="en-US" sz="1400" dirty="0"/>
          </a:p>
        </p:txBody>
      </p:sp>
      <p:sp>
        <p:nvSpPr>
          <p:cNvPr id="15" name="Text 11"/>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16" name="Text 12"/>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SETUP</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the Web API project adds</a:t>
            </a:r>
            <a:endParaRPr lang="en-US" sz="2800" dirty="0"/>
          </a:p>
        </p:txBody>
      </p:sp>
      <p:sp>
        <p:nvSpPr>
          <p:cNvPr id="4" name="Shape 2"/>
          <p:cNvSpPr/>
          <p:nvPr/>
        </p:nvSpPr>
        <p:spPr>
          <a:xfrm>
            <a:off x="457200" y="1371600"/>
            <a:ext cx="3977640" cy="1394460"/>
          </a:xfrm>
          <a:prstGeom prst="roundRect">
            <a:avLst>
              <a:gd name="adj" fmla="val 5246"/>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Microsoft.NET.Sdk.Web</a:t>
            </a:r>
            <a:endParaRPr lang="en-US" sz="1500" dirty="0"/>
          </a:p>
        </p:txBody>
      </p:sp>
      <p:sp>
        <p:nvSpPr>
          <p:cNvPr id="8" name="Text 5"/>
          <p:cNvSpPr txBox="1"/>
          <p:nvPr/>
        </p:nvSpPr>
        <p:spPr>
          <a:xfrm>
            <a:off x="64008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controller-based ASP.NET Core project on net10.0, next to the console app.</a:t>
            </a:r>
            <a:endParaRPr lang="en-US" sz="1200" dirty="0"/>
          </a:p>
        </p:txBody>
      </p:sp>
      <p:sp>
        <p:nvSpPr>
          <p:cNvPr id="9" name="Shape 6"/>
          <p:cNvSpPr/>
          <p:nvPr/>
        </p:nvSpPr>
        <p:spPr>
          <a:xfrm>
            <a:off x="4709160" y="1371600"/>
            <a:ext cx="3977640" cy="1394460"/>
          </a:xfrm>
          <a:prstGeom prst="roundRect">
            <a:avLst>
              <a:gd name="adj" fmla="val 5246"/>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SK packages</a:t>
            </a:r>
            <a:endParaRPr lang="en-US" sz="1500" dirty="0"/>
          </a:p>
        </p:txBody>
      </p:sp>
      <p:sp>
        <p:nvSpPr>
          <p:cNvPr id="13" name="Text 9"/>
          <p:cNvSpPr txBox="1"/>
          <p:nvPr/>
        </p:nvSpPr>
        <p:spPr>
          <a:xfrm>
            <a:off x="4892040" y="205740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Microsoft.SemanticKernel and Connectors.OpenAI 1.78.0, as in the console app.</a:t>
            </a:r>
            <a:endParaRPr lang="en-US" sz="1200" dirty="0"/>
          </a:p>
        </p:txBody>
      </p:sp>
      <p:sp>
        <p:nvSpPr>
          <p:cNvPr id="14" name="Shape 10"/>
          <p:cNvSpPr/>
          <p:nvPr/>
        </p:nvSpPr>
        <p:spPr>
          <a:xfrm>
            <a:off x="457200" y="2994660"/>
            <a:ext cx="3977640" cy="1394460"/>
          </a:xfrm>
          <a:prstGeom prst="roundRect">
            <a:avLst>
              <a:gd name="adj" fmla="val 5246"/>
            </a:avLst>
          </a:prstGeom>
          <a:solidFill>
            <a:srgbClr val="EFEBFC"/>
          </a:solidFill>
          <a:ln w="12700">
            <a:solidFill>
              <a:srgbClr val="EFEBFC"/>
            </a:solidFill>
            <a:prstDash val="solid"/>
          </a:ln>
        </p:spPr>
      </p:sp>
      <p:sp>
        <p:nvSpPr>
          <p:cNvPr id="15" name="Shape 11"/>
          <p:cNvSpPr/>
          <p:nvPr/>
        </p:nvSpPr>
        <p:spPr>
          <a:xfrm>
            <a:off x="640080" y="3177540"/>
            <a:ext cx="384048" cy="384048"/>
          </a:xfrm>
          <a:prstGeom prst="ellipse">
            <a:avLst/>
          </a:prstGeom>
          <a:solidFill>
            <a:srgbClr val="512BD4"/>
          </a:solidFill>
          <a:ln w="12700">
            <a:solidFill>
              <a:srgbClr val="512BD4"/>
            </a:solidFill>
            <a:prstDash val="solid"/>
          </a:ln>
        </p:spPr>
      </p:sp>
      <p:pic>
        <p:nvPicPr>
          <p:cNvPr id="16" name="Image 2" descr="preencoded.png">    </p:cNvPr>
          <p:cNvPicPr>
            <a:picLocks noChangeAspect="1"/>
          </p:cNvPicPr>
          <p:nvPr/>
        </p:nvPicPr>
        <p:blipFill>
          <a:blip r:embed="rId3"/>
          <a:stretch>
            <a:fillRect/>
          </a:stretch>
        </p:blipFill>
        <p:spPr>
          <a:xfrm>
            <a:off x="739932" y="3277392"/>
            <a:ext cx="184343" cy="184343"/>
          </a:xfrm>
          <a:prstGeom prst="rect">
            <a:avLst/>
          </a:prstGeom>
        </p:spPr>
      </p:pic>
      <p:sp>
        <p:nvSpPr>
          <p:cNvPr id="17" name="Text 12"/>
          <p:cNvSpPr txBox="1"/>
          <p:nvPr/>
        </p:nvSpPr>
        <p:spPr>
          <a:xfrm>
            <a:off x="114300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OpenAPI + Scalar</a:t>
            </a:r>
            <a:endParaRPr lang="en-US" sz="1500" dirty="0"/>
          </a:p>
        </p:txBody>
      </p:sp>
      <p:sp>
        <p:nvSpPr>
          <p:cNvPr id="18" name="Text 13"/>
          <p:cNvSpPr txBox="1"/>
          <p:nvPr/>
        </p:nvSpPr>
        <p:spPr>
          <a:xfrm>
            <a:off x="64008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Microsoft.AspNetCore.OpenApi 10.0.10 and Scalar.AspNetCore 2.16.17.</a:t>
            </a:r>
            <a:endParaRPr lang="en-US" sz="1200" dirty="0"/>
          </a:p>
        </p:txBody>
      </p:sp>
      <p:sp>
        <p:nvSpPr>
          <p:cNvPr id="19" name="Shape 14"/>
          <p:cNvSpPr/>
          <p:nvPr/>
        </p:nvSpPr>
        <p:spPr>
          <a:xfrm>
            <a:off x="4709160" y="2994660"/>
            <a:ext cx="3977640" cy="1394460"/>
          </a:xfrm>
          <a:prstGeom prst="roundRect">
            <a:avLst>
              <a:gd name="adj" fmla="val 5246"/>
            </a:avLst>
          </a:prstGeom>
          <a:solidFill>
            <a:srgbClr val="EFEBFC"/>
          </a:solidFill>
          <a:ln w="12700">
            <a:solidFill>
              <a:srgbClr val="EFEBFC"/>
            </a:solidFill>
            <a:prstDash val="solid"/>
          </a:ln>
        </p:spPr>
      </p:sp>
      <p:sp>
        <p:nvSpPr>
          <p:cNvPr id="20" name="Shape 15"/>
          <p:cNvSpPr/>
          <p:nvPr/>
        </p:nvSpPr>
        <p:spPr>
          <a:xfrm>
            <a:off x="4892040" y="317754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277392"/>
            <a:ext cx="184343" cy="184343"/>
          </a:xfrm>
          <a:prstGeom prst="rect">
            <a:avLst/>
          </a:prstGeom>
        </p:spPr>
      </p:pic>
      <p:sp>
        <p:nvSpPr>
          <p:cNvPr id="22" name="Text 16"/>
          <p:cNvSpPr txBox="1"/>
          <p:nvPr/>
        </p:nvSpPr>
        <p:spPr>
          <a:xfrm>
            <a:off x="5394960" y="317754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ourier New" pitchFamily="34" charset="0"/>
                <a:ea typeface="Courier New" pitchFamily="34" charset="-122"/>
                <a:cs typeface="Courier New" pitchFamily="34" charset="-120"/>
              </a:rPr>
              <a:t>OPENAI_API_KEY</a:t>
            </a:r>
            <a:endParaRPr lang="en-US" sz="1500" dirty="0"/>
          </a:p>
        </p:txBody>
      </p:sp>
      <p:sp>
        <p:nvSpPr>
          <p:cNvPr id="23" name="Text 17"/>
          <p:cNvSpPr txBox="1"/>
          <p:nvPr/>
        </p:nvSpPr>
        <p:spPr>
          <a:xfrm>
            <a:off x="4892040" y="3680460"/>
            <a:ext cx="3611880" cy="61722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Read inside the Kernel factory, so a missing key fails the request that needs it.</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DEPENDENCY INJECTION</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The container builds the whole agent team</a:t>
            </a:r>
            <a:endParaRPr lang="en-US" sz="2800" dirty="0"/>
          </a:p>
        </p:txBody>
      </p:sp>
      <p:sp>
        <p:nvSpPr>
          <p:cNvPr id="4" name="Shape 2"/>
          <p:cNvSpPr/>
          <p:nvPr/>
        </p:nvSpPr>
        <p:spPr>
          <a:xfrm>
            <a:off x="457200" y="1417320"/>
            <a:ext cx="2468880" cy="2377440"/>
          </a:xfrm>
          <a:prstGeom prst="roundRect">
            <a:avLst>
              <a:gd name="adj" fmla="val 3077"/>
            </a:avLst>
          </a:prstGeom>
          <a:solidFill>
            <a:srgbClr val="512BD4"/>
          </a:solidFill>
          <a:ln w="12700">
            <a:solidFill>
              <a:srgbClr val="512BD4"/>
            </a:solidFill>
            <a:prstDash val="solid"/>
          </a:ln>
        </p:spPr>
      </p:sp>
      <p:sp>
        <p:nvSpPr>
          <p:cNvPr id="5" name="Shape 3"/>
          <p:cNvSpPr/>
          <p:nvPr/>
        </p:nvSpPr>
        <p:spPr>
          <a:xfrm>
            <a:off x="685800" y="1645920"/>
            <a:ext cx="502920" cy="50292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16559" y="1776679"/>
            <a:ext cx="241402" cy="241402"/>
          </a:xfrm>
          <a:prstGeom prst="rect">
            <a:avLst/>
          </a:prstGeom>
        </p:spPr>
      </p:pic>
      <p:sp>
        <p:nvSpPr>
          <p:cNvPr id="7" name="Text 4"/>
          <p:cNvSpPr txBox="1"/>
          <p:nvPr/>
        </p:nvSpPr>
        <p:spPr>
          <a:xfrm>
            <a:off x="685800" y="2286000"/>
            <a:ext cx="2057400" cy="45720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Service container</a:t>
            </a:r>
            <a:endParaRPr lang="en-US" sz="1800" dirty="0"/>
          </a:p>
        </p:txBody>
      </p:sp>
      <p:sp>
        <p:nvSpPr>
          <p:cNvPr id="8" name="Text 5"/>
          <p:cNvSpPr txBox="1"/>
          <p:nvPr/>
        </p:nvSpPr>
        <p:spPr>
          <a:xfrm>
            <a:off x="685800" y="2743200"/>
            <a:ext cx="2057400" cy="960120"/>
          </a:xfrm>
          <a:prstGeom prst="rect">
            <a:avLst/>
          </a:prstGeom>
          <a:noFill/>
          <a:ln/>
        </p:spPr>
        <p:txBody>
          <a:bodyPr wrap="square" lIns="0" tIns="0" rIns="0" bIns="0" rtlCol="0" anchor="t"/>
          <a:lstStyle/>
          <a:p>
            <a:pPr indent="0" marL="0">
              <a:buNone/>
            </a:pPr>
            <a:r>
              <a:rPr lang="en-US" sz="1300" dirty="0">
                <a:solidFill>
                  <a:srgbClr val="FFFFFF"/>
                </a:solidFill>
                <a:latin typeface="Calibri" pitchFamily="34" charset="0"/>
                <a:ea typeface="Calibri" pitchFamily="34" charset="-122"/>
                <a:cs typeface="Calibri" pitchFamily="34" charset="-120"/>
              </a:rPr>
              <a:t>Every registration is AddTransient: a new instance each time it's resolved.</a:t>
            </a:r>
            <a:endParaRPr lang="en-US" sz="1300" dirty="0"/>
          </a:p>
        </p:txBody>
      </p:sp>
      <p:sp>
        <p:nvSpPr>
          <p:cNvPr id="9" name="Shape 6"/>
          <p:cNvSpPr/>
          <p:nvPr/>
        </p:nvSpPr>
        <p:spPr>
          <a:xfrm>
            <a:off x="2926080" y="1645920"/>
            <a:ext cx="502920" cy="0"/>
          </a:xfrm>
          <a:prstGeom prst="line">
            <a:avLst/>
          </a:prstGeom>
          <a:noFill/>
          <a:ln w="25400">
            <a:solidFill>
              <a:srgbClr val="F5A623"/>
            </a:solidFill>
            <a:prstDash val="solid"/>
          </a:ln>
        </p:spPr>
      </p:sp>
      <p:sp>
        <p:nvSpPr>
          <p:cNvPr id="10" name="Shape 7"/>
          <p:cNvSpPr/>
          <p:nvPr/>
        </p:nvSpPr>
        <p:spPr>
          <a:xfrm>
            <a:off x="3429000" y="1417320"/>
            <a:ext cx="5257800" cy="457200"/>
          </a:xfrm>
          <a:prstGeom prst="roundRect">
            <a:avLst>
              <a:gd name="adj" fmla="val 16000"/>
            </a:avLst>
          </a:prstGeom>
          <a:solidFill>
            <a:srgbClr val="EFEBFC"/>
          </a:solidFill>
          <a:ln w="12700">
            <a:solidFill>
              <a:srgbClr val="EFEBFC"/>
            </a:solidFill>
            <a:prstDash val="solid"/>
          </a:ln>
        </p:spPr>
      </p:sp>
      <p:sp>
        <p:nvSpPr>
          <p:cNvPr id="11" name="Shape 8"/>
          <p:cNvSpPr/>
          <p:nvPr/>
        </p:nvSpPr>
        <p:spPr>
          <a:xfrm>
            <a:off x="3593592" y="1453896"/>
            <a:ext cx="384048" cy="384048"/>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3693444" y="1553748"/>
            <a:ext cx="184343" cy="184343"/>
          </a:xfrm>
          <a:prstGeom prst="rect">
            <a:avLst/>
          </a:prstGeom>
        </p:spPr>
      </p:pic>
      <p:sp>
        <p:nvSpPr>
          <p:cNvPr id="13" name="Text 9"/>
          <p:cNvSpPr txBox="1"/>
          <p:nvPr/>
        </p:nvSpPr>
        <p:spPr>
          <a:xfrm>
            <a:off x="4142232" y="150876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Kernel</a:t>
            </a:r>
            <a:endParaRPr lang="en-US" sz="1500" dirty="0"/>
          </a:p>
        </p:txBody>
      </p:sp>
      <p:sp>
        <p:nvSpPr>
          <p:cNvPr id="14" name="Text 10"/>
          <p:cNvSpPr txBox="1"/>
          <p:nvPr/>
        </p:nvSpPr>
        <p:spPr>
          <a:xfrm>
            <a:off x="5577840" y="150876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A factory reads the key and builds the kernel.</a:t>
            </a:r>
            <a:endParaRPr lang="en-US" sz="1200" dirty="0"/>
          </a:p>
        </p:txBody>
      </p:sp>
      <p:sp>
        <p:nvSpPr>
          <p:cNvPr id="15" name="Shape 11"/>
          <p:cNvSpPr/>
          <p:nvPr/>
        </p:nvSpPr>
        <p:spPr>
          <a:xfrm>
            <a:off x="2926080" y="2286000"/>
            <a:ext cx="502920" cy="0"/>
          </a:xfrm>
          <a:prstGeom prst="line">
            <a:avLst/>
          </a:prstGeom>
          <a:noFill/>
          <a:ln w="25400">
            <a:solidFill>
              <a:srgbClr val="F5A623"/>
            </a:solidFill>
            <a:prstDash val="solid"/>
          </a:ln>
        </p:spPr>
      </p:sp>
      <p:sp>
        <p:nvSpPr>
          <p:cNvPr id="16" name="Shape 12"/>
          <p:cNvSpPr/>
          <p:nvPr/>
        </p:nvSpPr>
        <p:spPr>
          <a:xfrm>
            <a:off x="3429000" y="2057400"/>
            <a:ext cx="5257800" cy="457200"/>
          </a:xfrm>
          <a:prstGeom prst="roundRect">
            <a:avLst>
              <a:gd name="adj" fmla="val 16000"/>
            </a:avLst>
          </a:prstGeom>
          <a:solidFill>
            <a:srgbClr val="EFEBFC"/>
          </a:solidFill>
          <a:ln w="12700">
            <a:solidFill>
              <a:srgbClr val="EFEBFC"/>
            </a:solidFill>
            <a:prstDash val="solid"/>
          </a:ln>
        </p:spPr>
      </p:sp>
      <p:sp>
        <p:nvSpPr>
          <p:cNvPr id="17" name="Shape 13"/>
          <p:cNvSpPr/>
          <p:nvPr/>
        </p:nvSpPr>
        <p:spPr>
          <a:xfrm>
            <a:off x="3593592" y="2093976"/>
            <a:ext cx="384048" cy="384048"/>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3693444" y="2193828"/>
            <a:ext cx="184343" cy="184343"/>
          </a:xfrm>
          <a:prstGeom prst="rect">
            <a:avLst/>
          </a:prstGeom>
        </p:spPr>
      </p:pic>
      <p:sp>
        <p:nvSpPr>
          <p:cNvPr id="19" name="Text 14"/>
          <p:cNvSpPr txBox="1"/>
          <p:nvPr/>
        </p:nvSpPr>
        <p:spPr>
          <a:xfrm>
            <a:off x="4142232" y="214884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Four agents</a:t>
            </a:r>
            <a:endParaRPr lang="en-US" sz="1500" dirty="0"/>
          </a:p>
        </p:txBody>
      </p:sp>
      <p:sp>
        <p:nvSpPr>
          <p:cNvPr id="20" name="Text 15"/>
          <p:cNvSpPr txBox="1"/>
          <p:nvPr/>
        </p:nvSpPr>
        <p:spPr>
          <a:xfrm>
            <a:off x="5577840" y="214884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Each registered against IProjectAgent, in workflow order.</a:t>
            </a:r>
            <a:endParaRPr lang="en-US" sz="1200" dirty="0"/>
          </a:p>
        </p:txBody>
      </p:sp>
      <p:sp>
        <p:nvSpPr>
          <p:cNvPr id="21" name="Shape 16"/>
          <p:cNvSpPr/>
          <p:nvPr/>
        </p:nvSpPr>
        <p:spPr>
          <a:xfrm>
            <a:off x="2926080" y="2926080"/>
            <a:ext cx="502920" cy="0"/>
          </a:xfrm>
          <a:prstGeom prst="line">
            <a:avLst/>
          </a:prstGeom>
          <a:noFill/>
          <a:ln w="25400">
            <a:solidFill>
              <a:srgbClr val="F5A623"/>
            </a:solidFill>
            <a:prstDash val="solid"/>
          </a:ln>
        </p:spPr>
      </p:sp>
      <p:sp>
        <p:nvSpPr>
          <p:cNvPr id="22" name="Shape 17"/>
          <p:cNvSpPr/>
          <p:nvPr/>
        </p:nvSpPr>
        <p:spPr>
          <a:xfrm>
            <a:off x="3429000" y="2697480"/>
            <a:ext cx="5257800" cy="457200"/>
          </a:xfrm>
          <a:prstGeom prst="roundRect">
            <a:avLst>
              <a:gd name="adj" fmla="val 16000"/>
            </a:avLst>
          </a:prstGeom>
          <a:solidFill>
            <a:srgbClr val="EFEBFC"/>
          </a:solidFill>
          <a:ln w="12700">
            <a:solidFill>
              <a:srgbClr val="EFEBFC"/>
            </a:solidFill>
            <a:prstDash val="solid"/>
          </a:ln>
        </p:spPr>
      </p:sp>
      <p:sp>
        <p:nvSpPr>
          <p:cNvPr id="23" name="Shape 18"/>
          <p:cNvSpPr/>
          <p:nvPr/>
        </p:nvSpPr>
        <p:spPr>
          <a:xfrm>
            <a:off x="3593592" y="2734056"/>
            <a:ext cx="384048" cy="384048"/>
          </a:xfrm>
          <a:prstGeom prst="ellipse">
            <a:avLst/>
          </a:prstGeom>
          <a:solidFill>
            <a:srgbClr val="512BD4"/>
          </a:solidFill>
          <a:ln w="12700">
            <a:solidFill>
              <a:srgbClr val="512BD4"/>
            </a:solidFill>
            <a:prstDash val="solid"/>
          </a:ln>
        </p:spPr>
      </p:sp>
      <p:pic>
        <p:nvPicPr>
          <p:cNvPr id="24" name="Image 3" descr="preencoded.png">    </p:cNvPr>
          <p:cNvPicPr>
            <a:picLocks noChangeAspect="1"/>
          </p:cNvPicPr>
          <p:nvPr/>
        </p:nvPicPr>
        <p:blipFill>
          <a:blip r:embed="rId4"/>
          <a:stretch>
            <a:fillRect/>
          </a:stretch>
        </p:blipFill>
        <p:spPr>
          <a:xfrm>
            <a:off x="3693444" y="2833908"/>
            <a:ext cx="184343" cy="184343"/>
          </a:xfrm>
          <a:prstGeom prst="rect">
            <a:avLst/>
          </a:prstGeom>
        </p:spPr>
      </p:pic>
      <p:sp>
        <p:nvSpPr>
          <p:cNvPr id="25" name="Text 19"/>
          <p:cNvSpPr txBox="1"/>
          <p:nvPr/>
        </p:nvSpPr>
        <p:spPr>
          <a:xfrm>
            <a:off x="4142232" y="278892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Orchestrator</a:t>
            </a:r>
            <a:endParaRPr lang="en-US" sz="1500" dirty="0"/>
          </a:p>
        </p:txBody>
      </p:sp>
      <p:sp>
        <p:nvSpPr>
          <p:cNvPr id="26" name="Text 20"/>
          <p:cNvSpPr txBox="1"/>
          <p:nvPr/>
        </p:nvSpPr>
        <p:spPr>
          <a:xfrm>
            <a:off x="5577840" y="278892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Receives IEnumerable&lt;IProjectAgent&gt;: one of each agent.</a:t>
            </a:r>
            <a:endParaRPr lang="en-US" sz="1200" dirty="0"/>
          </a:p>
        </p:txBody>
      </p:sp>
      <p:sp>
        <p:nvSpPr>
          <p:cNvPr id="27" name="Shape 21"/>
          <p:cNvSpPr/>
          <p:nvPr/>
        </p:nvSpPr>
        <p:spPr>
          <a:xfrm>
            <a:off x="2926080" y="3566160"/>
            <a:ext cx="502920" cy="0"/>
          </a:xfrm>
          <a:prstGeom prst="line">
            <a:avLst/>
          </a:prstGeom>
          <a:noFill/>
          <a:ln w="25400">
            <a:solidFill>
              <a:srgbClr val="F5A623"/>
            </a:solidFill>
            <a:prstDash val="solid"/>
          </a:ln>
        </p:spPr>
      </p:sp>
      <p:sp>
        <p:nvSpPr>
          <p:cNvPr id="28" name="Shape 22"/>
          <p:cNvSpPr/>
          <p:nvPr/>
        </p:nvSpPr>
        <p:spPr>
          <a:xfrm>
            <a:off x="3429000" y="3337560"/>
            <a:ext cx="5257800" cy="457200"/>
          </a:xfrm>
          <a:prstGeom prst="roundRect">
            <a:avLst>
              <a:gd name="adj" fmla="val 16000"/>
            </a:avLst>
          </a:prstGeom>
          <a:solidFill>
            <a:srgbClr val="EFEBFC"/>
          </a:solidFill>
          <a:ln w="12700">
            <a:solidFill>
              <a:srgbClr val="EFEBFC"/>
            </a:solidFill>
            <a:prstDash val="solid"/>
          </a:ln>
        </p:spPr>
      </p:sp>
      <p:sp>
        <p:nvSpPr>
          <p:cNvPr id="29" name="Shape 23"/>
          <p:cNvSpPr/>
          <p:nvPr/>
        </p:nvSpPr>
        <p:spPr>
          <a:xfrm>
            <a:off x="3593592" y="3374136"/>
            <a:ext cx="384048" cy="384048"/>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3693444" y="3473988"/>
            <a:ext cx="184343" cy="184343"/>
          </a:xfrm>
          <a:prstGeom prst="rect">
            <a:avLst/>
          </a:prstGeom>
        </p:spPr>
      </p:pic>
      <p:sp>
        <p:nvSpPr>
          <p:cNvPr id="31" name="Text 24"/>
          <p:cNvSpPr txBox="1"/>
          <p:nvPr/>
        </p:nvSpPr>
        <p:spPr>
          <a:xfrm>
            <a:off x="4142232" y="3429000"/>
            <a:ext cx="1463040" cy="274320"/>
          </a:xfrm>
          <a:prstGeom prst="rect">
            <a:avLst/>
          </a:prstGeom>
          <a:noFill/>
          <a:ln/>
        </p:spPr>
        <p:txBody>
          <a:bodyPr wrap="square" lIns="0" tIns="0" rIns="0" bIns="0" rtlCol="0" anchor="ctr"/>
          <a:lstStyle/>
          <a:p>
            <a:pPr indent="0" marL="0">
              <a:buNone/>
            </a:pPr>
            <a:r>
              <a:rPr lang="en-US" sz="1500" b="1" dirty="0">
                <a:solidFill>
                  <a:srgbClr val="1F2937"/>
                </a:solidFill>
                <a:latin typeface="Calibri" pitchFamily="34" charset="0"/>
                <a:ea typeface="Calibri" pitchFamily="34" charset="-122"/>
                <a:cs typeface="Calibri" pitchFamily="34" charset="-120"/>
              </a:rPr>
              <a:t>Controller</a:t>
            </a:r>
            <a:endParaRPr lang="en-US" sz="1500" dirty="0"/>
          </a:p>
        </p:txBody>
      </p:sp>
      <p:sp>
        <p:nvSpPr>
          <p:cNvPr id="32" name="Text 25"/>
          <p:cNvSpPr txBox="1"/>
          <p:nvPr/>
        </p:nvSpPr>
        <p:spPr>
          <a:xfrm>
            <a:off x="5577840" y="3429000"/>
            <a:ext cx="2971800" cy="274320"/>
          </a:xfrm>
          <a:prstGeom prst="rect">
            <a:avLst/>
          </a:prstGeom>
          <a:noFill/>
          <a:ln/>
        </p:spPr>
        <p:txBody>
          <a:bodyPr wrap="square" lIns="0" tIns="0" rIns="0" bIns="0" rtlCol="0" anchor="ctr"/>
          <a:lstStyle/>
          <a:p>
            <a:pPr indent="0" marL="0">
              <a:buNone/>
            </a:pPr>
            <a:r>
              <a:rPr lang="en-US" sz="1200" dirty="0">
                <a:solidFill>
                  <a:srgbClr val="6B7280"/>
                </a:solidFill>
                <a:latin typeface="Calibri" pitchFamily="34" charset="0"/>
                <a:ea typeface="Calibri" pitchFamily="34" charset="-122"/>
                <a:cs typeface="Calibri" pitchFamily="34" charset="-120"/>
              </a:rPr>
              <a:t>ProjectController gets the orchestrator injected.</a:t>
            </a:r>
            <a:endParaRPr lang="en-US" sz="1200" dirty="0"/>
          </a:p>
        </p:txBody>
      </p:sp>
      <p:sp>
        <p:nvSpPr>
          <p:cNvPr id="33" name="Text 26"/>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34" name="Text 27"/>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REQUEST LIFECYCLE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What happens on POST /api/project/generate</a:t>
            </a:r>
            <a:endParaRPr lang="en-US" sz="2800" dirty="0"/>
          </a:p>
        </p:txBody>
      </p:sp>
      <p:sp>
        <p:nvSpPr>
          <p:cNvPr id="4" name="Shape 2"/>
          <p:cNvSpPr/>
          <p:nvPr/>
        </p:nvSpPr>
        <p:spPr>
          <a:xfrm>
            <a:off x="457200" y="1417320"/>
            <a:ext cx="1367942" cy="1993392"/>
          </a:xfrm>
          <a:prstGeom prst="roundRect">
            <a:avLst>
              <a:gd name="adj" fmla="val 5348"/>
            </a:avLst>
          </a:prstGeom>
          <a:solidFill>
            <a:srgbClr val="EFEBFC"/>
          </a:solidFill>
          <a:ln w="12700">
            <a:solidFill>
              <a:srgbClr val="EFEBFC"/>
            </a:solidFill>
            <a:prstDash val="solid"/>
          </a:ln>
        </p:spPr>
      </p:sp>
      <p:sp>
        <p:nvSpPr>
          <p:cNvPr id="5" name="Shape 3"/>
          <p:cNvSpPr/>
          <p:nvPr/>
        </p:nvSpPr>
        <p:spPr>
          <a:xfrm>
            <a:off x="640080" y="1618488"/>
            <a:ext cx="457200" cy="457200"/>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58952" y="1737360"/>
            <a:ext cx="219456" cy="219456"/>
          </a:xfrm>
          <a:prstGeom prst="rect">
            <a:avLst/>
          </a:prstGeom>
        </p:spPr>
      </p:pic>
      <p:sp>
        <p:nvSpPr>
          <p:cNvPr id="7" name="Text 4"/>
          <p:cNvSpPr txBox="1"/>
          <p:nvPr/>
        </p:nvSpPr>
        <p:spPr>
          <a:xfrm>
            <a:off x="640080"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POST</a:t>
            </a:r>
            <a:endParaRPr lang="en-US" sz="1300" dirty="0"/>
          </a:p>
        </p:txBody>
      </p:sp>
      <p:sp>
        <p:nvSpPr>
          <p:cNvPr id="8" name="Text 5"/>
          <p:cNvSpPr txBox="1"/>
          <p:nvPr/>
        </p:nvSpPr>
        <p:spPr>
          <a:xfrm>
            <a:off x="640080"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body is the idea as a JSON string.</a:t>
            </a:r>
            <a:endParaRPr lang="en-US" sz="1200" dirty="0"/>
          </a:p>
        </p:txBody>
      </p:sp>
      <p:sp>
        <p:nvSpPr>
          <p:cNvPr id="9" name="Shape 6"/>
          <p:cNvSpPr/>
          <p:nvPr/>
        </p:nvSpPr>
        <p:spPr>
          <a:xfrm>
            <a:off x="1889150" y="2304288"/>
            <a:ext cx="219456" cy="219456"/>
          </a:xfrm>
          <a:prstGeom prst="rightArrow">
            <a:avLst/>
          </a:prstGeom>
          <a:solidFill>
            <a:srgbClr val="F5A623"/>
          </a:solidFill>
          <a:ln w="12700">
            <a:solidFill>
              <a:srgbClr val="F5A623"/>
            </a:solidFill>
            <a:prstDash val="solid"/>
          </a:ln>
        </p:spPr>
      </p:sp>
      <p:sp>
        <p:nvSpPr>
          <p:cNvPr id="10" name="Shape 7"/>
          <p:cNvSpPr/>
          <p:nvPr/>
        </p:nvSpPr>
        <p:spPr>
          <a:xfrm>
            <a:off x="2172614" y="1417320"/>
            <a:ext cx="1367942" cy="1993392"/>
          </a:xfrm>
          <a:prstGeom prst="roundRect">
            <a:avLst>
              <a:gd name="adj" fmla="val 5348"/>
            </a:avLst>
          </a:prstGeom>
          <a:solidFill>
            <a:srgbClr val="EFEBFC"/>
          </a:solidFill>
          <a:ln w="12700">
            <a:solidFill>
              <a:srgbClr val="EFEBFC"/>
            </a:solidFill>
            <a:prstDash val="solid"/>
          </a:ln>
        </p:spPr>
      </p:sp>
      <p:sp>
        <p:nvSpPr>
          <p:cNvPr id="11" name="Shape 8"/>
          <p:cNvSpPr/>
          <p:nvPr/>
        </p:nvSpPr>
        <p:spPr>
          <a:xfrm>
            <a:off x="2355494" y="1618488"/>
            <a:ext cx="457200" cy="457200"/>
          </a:xfrm>
          <a:prstGeom prst="ellipse">
            <a:avLst/>
          </a:prstGeom>
          <a:solidFill>
            <a:srgbClr val="512BD4"/>
          </a:solidFill>
          <a:ln w="12700">
            <a:solidFill>
              <a:srgbClr val="512BD4"/>
            </a:solidFill>
            <a:prstDash val="solid"/>
          </a:ln>
        </p:spPr>
      </p:sp>
      <p:pic>
        <p:nvPicPr>
          <p:cNvPr id="12" name="Image 1" descr="preencoded.png">    </p:cNvPr>
          <p:cNvPicPr>
            <a:picLocks noChangeAspect="1"/>
          </p:cNvPicPr>
          <p:nvPr/>
        </p:nvPicPr>
        <p:blipFill>
          <a:blip r:embed="rId2"/>
          <a:stretch>
            <a:fillRect/>
          </a:stretch>
        </p:blipFill>
        <p:spPr>
          <a:xfrm>
            <a:off x="2474366" y="1737360"/>
            <a:ext cx="219456" cy="219456"/>
          </a:xfrm>
          <a:prstGeom prst="rect">
            <a:avLst/>
          </a:prstGeom>
        </p:spPr>
      </p:pic>
      <p:sp>
        <p:nvSpPr>
          <p:cNvPr id="13" name="Text 9"/>
          <p:cNvSpPr txBox="1"/>
          <p:nvPr/>
        </p:nvSpPr>
        <p:spPr>
          <a:xfrm>
            <a:off x="2355494"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Validate</a:t>
            </a:r>
            <a:endParaRPr lang="en-US" sz="1300" dirty="0"/>
          </a:p>
        </p:txBody>
      </p:sp>
      <p:sp>
        <p:nvSpPr>
          <p:cNvPr id="14" name="Text 10"/>
          <p:cNvSpPr txBox="1"/>
          <p:nvPr/>
        </p:nvSpPr>
        <p:spPr>
          <a:xfrm>
            <a:off x="2355494"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An empty goal returns 400.</a:t>
            </a:r>
            <a:endParaRPr lang="en-US" sz="1200" dirty="0"/>
          </a:p>
        </p:txBody>
      </p:sp>
      <p:sp>
        <p:nvSpPr>
          <p:cNvPr id="15" name="Shape 11"/>
          <p:cNvSpPr/>
          <p:nvPr/>
        </p:nvSpPr>
        <p:spPr>
          <a:xfrm>
            <a:off x="3604565" y="2304288"/>
            <a:ext cx="219456" cy="219456"/>
          </a:xfrm>
          <a:prstGeom prst="rightArrow">
            <a:avLst/>
          </a:prstGeom>
          <a:solidFill>
            <a:srgbClr val="F5A623"/>
          </a:solidFill>
          <a:ln w="12700">
            <a:solidFill>
              <a:srgbClr val="F5A623"/>
            </a:solidFill>
            <a:prstDash val="solid"/>
          </a:ln>
        </p:spPr>
      </p:sp>
      <p:sp>
        <p:nvSpPr>
          <p:cNvPr id="16" name="Shape 12"/>
          <p:cNvSpPr/>
          <p:nvPr/>
        </p:nvSpPr>
        <p:spPr>
          <a:xfrm>
            <a:off x="3888029" y="1417320"/>
            <a:ext cx="1367942" cy="1993392"/>
          </a:xfrm>
          <a:prstGeom prst="roundRect">
            <a:avLst>
              <a:gd name="adj" fmla="val 5348"/>
            </a:avLst>
          </a:prstGeom>
          <a:solidFill>
            <a:srgbClr val="EFEBFC"/>
          </a:solidFill>
          <a:ln w="12700">
            <a:solidFill>
              <a:srgbClr val="EFEBFC"/>
            </a:solidFill>
            <a:prstDash val="solid"/>
          </a:ln>
        </p:spPr>
      </p:sp>
      <p:sp>
        <p:nvSpPr>
          <p:cNvPr id="17" name="Shape 13"/>
          <p:cNvSpPr/>
          <p:nvPr/>
        </p:nvSpPr>
        <p:spPr>
          <a:xfrm>
            <a:off x="4070909" y="1618488"/>
            <a:ext cx="457200" cy="457200"/>
          </a:xfrm>
          <a:prstGeom prst="ellipse">
            <a:avLst/>
          </a:prstGeom>
          <a:solidFill>
            <a:srgbClr val="512BD4"/>
          </a:solidFill>
          <a:ln w="12700">
            <a:solidFill>
              <a:srgbClr val="512BD4"/>
            </a:solidFill>
            <a:prstDash val="solid"/>
          </a:ln>
        </p:spPr>
      </p:sp>
      <p:pic>
        <p:nvPicPr>
          <p:cNvPr id="18" name="Image 2" descr="preencoded.png">    </p:cNvPr>
          <p:cNvPicPr>
            <a:picLocks noChangeAspect="1"/>
          </p:cNvPicPr>
          <p:nvPr/>
        </p:nvPicPr>
        <p:blipFill>
          <a:blip r:embed="rId3"/>
          <a:stretch>
            <a:fillRect/>
          </a:stretch>
        </p:blipFill>
        <p:spPr>
          <a:xfrm>
            <a:off x="4189781" y="1737360"/>
            <a:ext cx="219456" cy="219456"/>
          </a:xfrm>
          <a:prstGeom prst="rect">
            <a:avLst/>
          </a:prstGeom>
        </p:spPr>
      </p:pic>
      <p:sp>
        <p:nvSpPr>
          <p:cNvPr id="19" name="Text 14"/>
          <p:cNvSpPr txBox="1"/>
          <p:nvPr/>
        </p:nvSpPr>
        <p:spPr>
          <a:xfrm>
            <a:off x="4070909"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New state</a:t>
            </a:r>
            <a:endParaRPr lang="en-US" sz="1300" dirty="0"/>
          </a:p>
        </p:txBody>
      </p:sp>
      <p:sp>
        <p:nvSpPr>
          <p:cNvPr id="20" name="Text 15"/>
          <p:cNvSpPr txBox="1"/>
          <p:nvPr/>
        </p:nvSpPr>
        <p:spPr>
          <a:xfrm>
            <a:off x="4070909"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A fresh ProjectState per request.</a:t>
            </a:r>
            <a:endParaRPr lang="en-US" sz="1200" dirty="0"/>
          </a:p>
        </p:txBody>
      </p:sp>
      <p:sp>
        <p:nvSpPr>
          <p:cNvPr id="21" name="Shape 16"/>
          <p:cNvSpPr/>
          <p:nvPr/>
        </p:nvSpPr>
        <p:spPr>
          <a:xfrm>
            <a:off x="5319979" y="2304288"/>
            <a:ext cx="219456" cy="219456"/>
          </a:xfrm>
          <a:prstGeom prst="rightArrow">
            <a:avLst/>
          </a:prstGeom>
          <a:solidFill>
            <a:srgbClr val="F5A623"/>
          </a:solidFill>
          <a:ln w="12700">
            <a:solidFill>
              <a:srgbClr val="F5A623"/>
            </a:solidFill>
            <a:prstDash val="solid"/>
          </a:ln>
        </p:spPr>
      </p:sp>
      <p:sp>
        <p:nvSpPr>
          <p:cNvPr id="22" name="Shape 17"/>
          <p:cNvSpPr/>
          <p:nvPr/>
        </p:nvSpPr>
        <p:spPr>
          <a:xfrm>
            <a:off x="5603443" y="1417320"/>
            <a:ext cx="1367942" cy="1993392"/>
          </a:xfrm>
          <a:prstGeom prst="roundRect">
            <a:avLst>
              <a:gd name="adj" fmla="val 5348"/>
            </a:avLst>
          </a:prstGeom>
          <a:solidFill>
            <a:srgbClr val="512BD4"/>
          </a:solidFill>
          <a:ln w="12700">
            <a:solidFill>
              <a:srgbClr val="512BD4"/>
            </a:solidFill>
            <a:prstDash val="solid"/>
          </a:ln>
        </p:spPr>
      </p:sp>
      <p:sp>
        <p:nvSpPr>
          <p:cNvPr id="23" name="Shape 18"/>
          <p:cNvSpPr/>
          <p:nvPr/>
        </p:nvSpPr>
        <p:spPr>
          <a:xfrm>
            <a:off x="5786323" y="1618488"/>
            <a:ext cx="457200" cy="457200"/>
          </a:xfrm>
          <a:prstGeom prst="ellipse">
            <a:avLst/>
          </a:prstGeom>
          <a:solidFill>
            <a:srgbClr val="FFFFFF"/>
          </a:solidFill>
          <a:ln w="12700">
            <a:solidFill>
              <a:srgbClr val="FFFFFF"/>
            </a:solidFill>
            <a:prstDash val="solid"/>
          </a:ln>
        </p:spPr>
      </p:sp>
      <p:pic>
        <p:nvPicPr>
          <p:cNvPr id="24" name="Image 3" descr="preencoded.png">    </p:cNvPr>
          <p:cNvPicPr>
            <a:picLocks noChangeAspect="1"/>
          </p:cNvPicPr>
          <p:nvPr/>
        </p:nvPicPr>
        <p:blipFill>
          <a:blip r:embed="rId4"/>
          <a:stretch>
            <a:fillRect/>
          </a:stretch>
        </p:blipFill>
        <p:spPr>
          <a:xfrm>
            <a:off x="5905195" y="1737360"/>
            <a:ext cx="219456" cy="219456"/>
          </a:xfrm>
          <a:prstGeom prst="rect">
            <a:avLst/>
          </a:prstGeom>
        </p:spPr>
      </p:pic>
      <p:sp>
        <p:nvSpPr>
          <p:cNvPr id="25" name="Text 19"/>
          <p:cNvSpPr txBox="1"/>
          <p:nvPr/>
        </p:nvSpPr>
        <p:spPr>
          <a:xfrm>
            <a:off x="5786323" y="2194560"/>
            <a:ext cx="1047902" cy="41148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Orchestrate</a:t>
            </a:r>
            <a:endParaRPr lang="en-US" sz="1300" dirty="0"/>
          </a:p>
        </p:txBody>
      </p:sp>
      <p:sp>
        <p:nvSpPr>
          <p:cNvPr id="26" name="Text 20"/>
          <p:cNvSpPr txBox="1"/>
          <p:nvPr/>
        </p:nvSpPr>
        <p:spPr>
          <a:xfrm>
            <a:off x="5786323" y="2606040"/>
            <a:ext cx="1047902" cy="713232"/>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Lesson 29 loop, up to five cycles.</a:t>
            </a:r>
            <a:endParaRPr lang="en-US" sz="1200" dirty="0"/>
          </a:p>
        </p:txBody>
      </p:sp>
      <p:sp>
        <p:nvSpPr>
          <p:cNvPr id="27" name="Shape 21"/>
          <p:cNvSpPr/>
          <p:nvPr/>
        </p:nvSpPr>
        <p:spPr>
          <a:xfrm>
            <a:off x="7035394" y="2304288"/>
            <a:ext cx="219456" cy="219456"/>
          </a:xfrm>
          <a:prstGeom prst="rightArrow">
            <a:avLst/>
          </a:prstGeom>
          <a:solidFill>
            <a:srgbClr val="F5A623"/>
          </a:solidFill>
          <a:ln w="12700">
            <a:solidFill>
              <a:srgbClr val="F5A623"/>
            </a:solidFill>
            <a:prstDash val="solid"/>
          </a:ln>
        </p:spPr>
      </p:sp>
      <p:sp>
        <p:nvSpPr>
          <p:cNvPr id="28" name="Shape 22"/>
          <p:cNvSpPr/>
          <p:nvPr/>
        </p:nvSpPr>
        <p:spPr>
          <a:xfrm>
            <a:off x="7318858" y="1417320"/>
            <a:ext cx="1367942" cy="1993392"/>
          </a:xfrm>
          <a:prstGeom prst="roundRect">
            <a:avLst>
              <a:gd name="adj" fmla="val 5348"/>
            </a:avLst>
          </a:prstGeom>
          <a:solidFill>
            <a:srgbClr val="EFEBFC"/>
          </a:solidFill>
          <a:ln w="12700">
            <a:solidFill>
              <a:srgbClr val="EFEBFC"/>
            </a:solidFill>
            <a:prstDash val="solid"/>
          </a:ln>
        </p:spPr>
      </p:sp>
      <p:sp>
        <p:nvSpPr>
          <p:cNvPr id="29" name="Shape 23"/>
          <p:cNvSpPr/>
          <p:nvPr/>
        </p:nvSpPr>
        <p:spPr>
          <a:xfrm>
            <a:off x="7501738" y="1618488"/>
            <a:ext cx="457200" cy="457200"/>
          </a:xfrm>
          <a:prstGeom prst="ellipse">
            <a:avLst/>
          </a:prstGeom>
          <a:solidFill>
            <a:srgbClr val="512BD4"/>
          </a:solidFill>
          <a:ln w="12700">
            <a:solidFill>
              <a:srgbClr val="512BD4"/>
            </a:solidFill>
            <a:prstDash val="solid"/>
          </a:ln>
        </p:spPr>
      </p:sp>
      <p:pic>
        <p:nvPicPr>
          <p:cNvPr id="30" name="Image 4" descr="preencoded.png">    </p:cNvPr>
          <p:cNvPicPr>
            <a:picLocks noChangeAspect="1"/>
          </p:cNvPicPr>
          <p:nvPr/>
        </p:nvPicPr>
        <p:blipFill>
          <a:blip r:embed="rId5"/>
          <a:stretch>
            <a:fillRect/>
          </a:stretch>
        </p:blipFill>
        <p:spPr>
          <a:xfrm>
            <a:off x="7620610" y="1737360"/>
            <a:ext cx="219456" cy="219456"/>
          </a:xfrm>
          <a:prstGeom prst="rect">
            <a:avLst/>
          </a:prstGeom>
        </p:spPr>
      </p:pic>
      <p:sp>
        <p:nvSpPr>
          <p:cNvPr id="31" name="Text 24"/>
          <p:cNvSpPr txBox="1"/>
          <p:nvPr/>
        </p:nvSpPr>
        <p:spPr>
          <a:xfrm>
            <a:off x="7501738" y="2194560"/>
            <a:ext cx="1047902" cy="41148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Respond</a:t>
            </a:r>
            <a:endParaRPr lang="en-US" sz="1300" dirty="0"/>
          </a:p>
        </p:txBody>
      </p:sp>
      <p:sp>
        <p:nvSpPr>
          <p:cNvPr id="32" name="Text 25"/>
          <p:cNvSpPr txBox="1"/>
          <p:nvPr/>
        </p:nvSpPr>
        <p:spPr>
          <a:xfrm>
            <a:off x="7501738" y="2606040"/>
            <a:ext cx="1047902" cy="713232"/>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200 with the state, or 502 on failure.</a:t>
            </a:r>
            <a:endParaRPr lang="en-US" sz="1200" dirty="0"/>
          </a:p>
        </p:txBody>
      </p:sp>
      <p:sp>
        <p:nvSpPr>
          <p:cNvPr id="33" name="Text 26"/>
          <p:cNvSpPr txBox="1"/>
          <p:nvPr/>
        </p:nvSpPr>
        <p:spPr>
          <a:xfrm>
            <a:off x="457200" y="3730752"/>
            <a:ext cx="8229600" cy="365760"/>
          </a:xfrm>
          <a:prstGeom prst="rect">
            <a:avLst/>
          </a:prstGeom>
          <a:noFill/>
          <a:ln/>
        </p:spPr>
        <p:txBody>
          <a:bodyPr wrap="square" lIns="0" tIns="0" rIns="0" bIns="0" rtlCol="0" anchor="t"/>
          <a:lstStyle/>
          <a:p>
            <a:pPr indent="0" marL="0">
              <a:buNone/>
            </a:pPr>
            <a:r>
              <a:rPr lang="en-US" sz="1400" i="1" dirty="0">
                <a:solidFill>
                  <a:srgbClr val="512BD4"/>
                </a:solidFill>
                <a:latin typeface="Calibri" pitchFamily="34" charset="0"/>
                <a:ea typeface="Calibri" pitchFamily="34" charset="-122"/>
                <a:cs typeface="Calibri" pitchFamily="34" charset="-120"/>
              </a:rPr>
              <a:t>The controller knows nothing about OpenAI, prompts or task lists.</a:t>
            </a:r>
            <a:endParaRPr lang="en-US" sz="1400" dirty="0"/>
          </a:p>
        </p:txBody>
      </p:sp>
      <p:sp>
        <p:nvSpPr>
          <p:cNvPr id="34" name="Text 27"/>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35" name="Text 28"/>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WHAT STAYS THE SAME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750" b="1" dirty="0">
                <a:solidFill>
                  <a:srgbClr val="1F2937"/>
                </a:solidFill>
                <a:latin typeface="Cambria" pitchFamily="34" charset="0"/>
                <a:ea typeface="Cambria" pitchFamily="34" charset="-122"/>
                <a:cs typeface="Cambria" pitchFamily="34" charset="-120"/>
              </a:rPr>
              <a:t>Deploying changes the doorway, not the agents</a:t>
            </a:r>
            <a:endParaRPr lang="en-US" sz="2750" dirty="0"/>
          </a:p>
        </p:txBody>
      </p:sp>
      <p:sp>
        <p:nvSpPr>
          <p:cNvPr id="4" name="Shape 2"/>
          <p:cNvSpPr/>
          <p:nvPr/>
        </p:nvSpPr>
        <p:spPr>
          <a:xfrm>
            <a:off x="457200" y="1371600"/>
            <a:ext cx="3977640" cy="1257300"/>
          </a:xfrm>
          <a:prstGeom prst="roundRect">
            <a:avLst>
              <a:gd name="adj" fmla="val 5818"/>
            </a:avLst>
          </a:prstGeom>
          <a:solidFill>
            <a:srgbClr val="EFEBFC"/>
          </a:solidFill>
          <a:ln w="12700">
            <a:solidFill>
              <a:srgbClr val="EFEBFC"/>
            </a:solidFill>
            <a:prstDash val="solid"/>
          </a:ln>
        </p:spPr>
      </p:sp>
      <p:sp>
        <p:nvSpPr>
          <p:cNvPr id="5" name="Shape 3"/>
          <p:cNvSpPr/>
          <p:nvPr/>
        </p:nvSpPr>
        <p:spPr>
          <a:xfrm>
            <a:off x="640080" y="1554480"/>
            <a:ext cx="384048" cy="384048"/>
          </a:xfrm>
          <a:prstGeom prst="ellipse">
            <a:avLst/>
          </a:prstGeom>
          <a:solidFill>
            <a:srgbClr val="512BD4"/>
          </a:solidFill>
          <a:ln w="12700">
            <a:solidFill>
              <a:srgbClr val="512BD4"/>
            </a:solidFill>
            <a:prstDash val="solid"/>
          </a:ln>
        </p:spPr>
      </p:sp>
      <p:pic>
        <p:nvPicPr>
          <p:cNvPr id="6" name="Image 0" descr="preencoded.png">    </p:cNvPr>
          <p:cNvPicPr>
            <a:picLocks noChangeAspect="1"/>
          </p:cNvPicPr>
          <p:nvPr/>
        </p:nvPicPr>
        <p:blipFill>
          <a:blip r:embed="rId1"/>
          <a:stretch>
            <a:fillRect/>
          </a:stretch>
        </p:blipFill>
        <p:spPr>
          <a:xfrm>
            <a:off x="739932" y="1654332"/>
            <a:ext cx="184343" cy="184343"/>
          </a:xfrm>
          <a:prstGeom prst="rect">
            <a:avLst/>
          </a:prstGeom>
        </p:spPr>
      </p:pic>
      <p:sp>
        <p:nvSpPr>
          <p:cNvPr id="7" name="Text 4"/>
          <p:cNvSpPr txBox="1"/>
          <p:nvPr/>
        </p:nvSpPr>
        <p:spPr>
          <a:xfrm>
            <a:off x="114300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Same agents</a:t>
            </a:r>
            <a:endParaRPr lang="en-US" sz="1500" dirty="0"/>
          </a:p>
        </p:txBody>
      </p:sp>
      <p:sp>
        <p:nvSpPr>
          <p:cNvPr id="8" name="Text 5"/>
          <p:cNvSpPr txBox="1"/>
          <p:nvPr/>
        </p:nvSpPr>
        <p:spPr>
          <a:xfrm>
            <a:off x="640080" y="2057400"/>
            <a:ext cx="3611880" cy="4800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Both projects share identical agent files, apart from internal becoming public.</a:t>
            </a:r>
            <a:endParaRPr lang="en-US" sz="1200" dirty="0"/>
          </a:p>
        </p:txBody>
      </p:sp>
      <p:sp>
        <p:nvSpPr>
          <p:cNvPr id="9" name="Shape 6"/>
          <p:cNvSpPr/>
          <p:nvPr/>
        </p:nvSpPr>
        <p:spPr>
          <a:xfrm>
            <a:off x="4709160" y="1371600"/>
            <a:ext cx="3977640" cy="1257300"/>
          </a:xfrm>
          <a:prstGeom prst="roundRect">
            <a:avLst>
              <a:gd name="adj" fmla="val 5818"/>
            </a:avLst>
          </a:prstGeom>
          <a:solidFill>
            <a:srgbClr val="EFEBFC"/>
          </a:solidFill>
          <a:ln w="12700">
            <a:solidFill>
              <a:srgbClr val="EFEBFC"/>
            </a:solidFill>
            <a:prstDash val="solid"/>
          </a:ln>
        </p:spPr>
      </p:sp>
      <p:sp>
        <p:nvSpPr>
          <p:cNvPr id="10" name="Shape 7"/>
          <p:cNvSpPr/>
          <p:nvPr/>
        </p:nvSpPr>
        <p:spPr>
          <a:xfrm>
            <a:off x="4892040" y="155448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4991892" y="1654332"/>
            <a:ext cx="184343" cy="184343"/>
          </a:xfrm>
          <a:prstGeom prst="rect">
            <a:avLst/>
          </a:prstGeom>
        </p:spPr>
      </p:pic>
      <p:sp>
        <p:nvSpPr>
          <p:cNvPr id="12" name="Text 8"/>
          <p:cNvSpPr txBox="1"/>
          <p:nvPr/>
        </p:nvSpPr>
        <p:spPr>
          <a:xfrm>
            <a:off x="5394960" y="15544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Same loop</a:t>
            </a:r>
            <a:endParaRPr lang="en-US" sz="1500" dirty="0"/>
          </a:p>
        </p:txBody>
      </p:sp>
      <p:sp>
        <p:nvSpPr>
          <p:cNvPr id="13" name="Text 9"/>
          <p:cNvSpPr txBox="1"/>
          <p:nvPr/>
        </p:nvSpPr>
        <p:spPr>
          <a:xfrm>
            <a:off x="4892040" y="2057400"/>
            <a:ext cx="3611880" cy="4800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five-cycle cap and the Reviewer's rework loop are untouched.</a:t>
            </a:r>
            <a:endParaRPr lang="en-US" sz="1200" dirty="0"/>
          </a:p>
        </p:txBody>
      </p:sp>
      <p:sp>
        <p:nvSpPr>
          <p:cNvPr id="14" name="Shape 10"/>
          <p:cNvSpPr/>
          <p:nvPr/>
        </p:nvSpPr>
        <p:spPr>
          <a:xfrm>
            <a:off x="457200" y="2857500"/>
            <a:ext cx="3977640" cy="1257300"/>
          </a:xfrm>
          <a:prstGeom prst="roundRect">
            <a:avLst>
              <a:gd name="adj" fmla="val 5818"/>
            </a:avLst>
          </a:prstGeom>
          <a:solidFill>
            <a:srgbClr val="512BD4"/>
          </a:solidFill>
          <a:ln w="12700">
            <a:solidFill>
              <a:srgbClr val="512BD4"/>
            </a:solidFill>
            <a:prstDash val="solid"/>
          </a:ln>
        </p:spPr>
      </p:sp>
      <p:sp>
        <p:nvSpPr>
          <p:cNvPr id="15" name="Shape 11"/>
          <p:cNvSpPr/>
          <p:nvPr/>
        </p:nvSpPr>
        <p:spPr>
          <a:xfrm>
            <a:off x="640080" y="3040380"/>
            <a:ext cx="384048" cy="384048"/>
          </a:xfrm>
          <a:prstGeom prst="ellipse">
            <a:avLst/>
          </a:prstGeom>
          <a:solidFill>
            <a:srgbClr val="FFFFFF"/>
          </a:solidFill>
          <a:ln w="12700">
            <a:solidFill>
              <a:srgbClr val="FFFFFF"/>
            </a:solidFill>
            <a:prstDash val="solid"/>
          </a:ln>
        </p:spPr>
      </p:sp>
      <p:pic>
        <p:nvPicPr>
          <p:cNvPr id="16" name="Image 2" descr="preencoded.png">    </p:cNvPr>
          <p:cNvPicPr>
            <a:picLocks noChangeAspect="1"/>
          </p:cNvPicPr>
          <p:nvPr/>
        </p:nvPicPr>
        <p:blipFill>
          <a:blip r:embed="rId3"/>
          <a:stretch>
            <a:fillRect/>
          </a:stretch>
        </p:blipFill>
        <p:spPr>
          <a:xfrm>
            <a:off x="739932" y="3140232"/>
            <a:ext cx="184343" cy="184343"/>
          </a:xfrm>
          <a:prstGeom prst="rect">
            <a:avLst/>
          </a:prstGeom>
        </p:spPr>
      </p:pic>
      <p:sp>
        <p:nvSpPr>
          <p:cNvPr id="17" name="Text 12"/>
          <p:cNvSpPr txBox="1"/>
          <p:nvPr/>
        </p:nvSpPr>
        <p:spPr>
          <a:xfrm>
            <a:off x="1143000" y="3040380"/>
            <a:ext cx="3154680" cy="384048"/>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Calibri" pitchFamily="34" charset="0"/>
                <a:ea typeface="Calibri" pitchFamily="34" charset="-122"/>
                <a:cs typeface="Calibri" pitchFamily="34" charset="-120"/>
              </a:rPr>
              <a:t>Long requests</a:t>
            </a:r>
            <a:endParaRPr lang="en-US" sz="1500" dirty="0"/>
          </a:p>
        </p:txBody>
      </p:sp>
      <p:sp>
        <p:nvSpPr>
          <p:cNvPr id="18" name="Text 13"/>
          <p:cNvSpPr txBox="1"/>
          <p:nvPr/>
        </p:nvSpPr>
        <p:spPr>
          <a:xfrm>
            <a:off x="640080" y="3543300"/>
            <a:ext cx="3611880" cy="4800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The HTTP call stays open until every cycle finishes. No job or cancel.</a:t>
            </a:r>
            <a:endParaRPr lang="en-US" sz="1200" dirty="0"/>
          </a:p>
        </p:txBody>
      </p:sp>
      <p:sp>
        <p:nvSpPr>
          <p:cNvPr id="19" name="Shape 14"/>
          <p:cNvSpPr/>
          <p:nvPr/>
        </p:nvSpPr>
        <p:spPr>
          <a:xfrm>
            <a:off x="4709160" y="2857500"/>
            <a:ext cx="3977640" cy="1257300"/>
          </a:xfrm>
          <a:prstGeom prst="roundRect">
            <a:avLst>
              <a:gd name="adj" fmla="val 5818"/>
            </a:avLst>
          </a:prstGeom>
          <a:solidFill>
            <a:srgbClr val="EFEBFC"/>
          </a:solidFill>
          <a:ln w="12700">
            <a:solidFill>
              <a:srgbClr val="EFEBFC"/>
            </a:solidFill>
            <a:prstDash val="solid"/>
          </a:ln>
        </p:spPr>
      </p:sp>
      <p:sp>
        <p:nvSpPr>
          <p:cNvPr id="20" name="Shape 15"/>
          <p:cNvSpPr/>
          <p:nvPr/>
        </p:nvSpPr>
        <p:spPr>
          <a:xfrm>
            <a:off x="4892040" y="3040380"/>
            <a:ext cx="384048" cy="384048"/>
          </a:xfrm>
          <a:prstGeom prst="ellipse">
            <a:avLst/>
          </a:prstGeom>
          <a:solidFill>
            <a:srgbClr val="512BD4"/>
          </a:solidFill>
          <a:ln w="12700">
            <a:solidFill>
              <a:srgbClr val="512BD4"/>
            </a:solidFill>
            <a:prstDash val="solid"/>
          </a:ln>
        </p:spPr>
      </p:sp>
      <p:pic>
        <p:nvPicPr>
          <p:cNvPr id="21" name="Image 3" descr="preencoded.png">    </p:cNvPr>
          <p:cNvPicPr>
            <a:picLocks noChangeAspect="1"/>
          </p:cNvPicPr>
          <p:nvPr/>
        </p:nvPicPr>
        <p:blipFill>
          <a:blip r:embed="rId4"/>
          <a:stretch>
            <a:fillRect/>
          </a:stretch>
        </p:blipFill>
        <p:spPr>
          <a:xfrm>
            <a:off x="4991892" y="3140232"/>
            <a:ext cx="184343" cy="184343"/>
          </a:xfrm>
          <a:prstGeom prst="rect">
            <a:avLst/>
          </a:prstGeom>
        </p:spPr>
      </p:pic>
      <p:sp>
        <p:nvSpPr>
          <p:cNvPr id="22" name="Text 16"/>
          <p:cNvSpPr txBox="1"/>
          <p:nvPr/>
        </p:nvSpPr>
        <p:spPr>
          <a:xfrm>
            <a:off x="5394960" y="3040380"/>
            <a:ext cx="3154680" cy="384048"/>
          </a:xfrm>
          <a:prstGeom prst="rect">
            <a:avLst/>
          </a:prstGeom>
          <a:noFill/>
          <a:ln/>
        </p:spPr>
        <p:txBody>
          <a:bodyPr wrap="square" lIns="0" tIns="0" rIns="0" bIns="0" rtlCol="0" anchor="ctr">
            <a:normAutofit/>
          </a:bodyPr>
          <a:lstStyle/>
          <a:p>
            <a:pPr indent="0" marL="0">
              <a:buNone/>
            </a:pPr>
            <a:r>
              <a:rPr lang="en-US" sz="1500" b="1" dirty="0">
                <a:solidFill>
                  <a:srgbClr val="1F2937"/>
                </a:solidFill>
                <a:latin typeface="Calibri" pitchFamily="34" charset="0"/>
                <a:ea typeface="Calibri" pitchFamily="34" charset="-122"/>
                <a:cs typeface="Calibri" pitchFamily="34" charset="-120"/>
              </a:rPr>
              <a:t>Not hardened</a:t>
            </a:r>
            <a:endParaRPr lang="en-US" sz="1500" dirty="0"/>
          </a:p>
        </p:txBody>
      </p:sp>
      <p:sp>
        <p:nvSpPr>
          <p:cNvPr id="23" name="Text 17"/>
          <p:cNvSpPr txBox="1"/>
          <p:nvPr/>
        </p:nvSpPr>
        <p:spPr>
          <a:xfrm>
            <a:off x="4892040" y="3543300"/>
            <a:ext cx="3611880" cy="48006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No authentication, CORS, versioning or request DTO yet.</a:t>
            </a:r>
            <a:endParaRPr lang="en-US" sz="1200" dirty="0"/>
          </a:p>
        </p:txBody>
      </p:sp>
      <p:sp>
        <p:nvSpPr>
          <p:cNvPr id="24" name="Text 18"/>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25" name="Text 19"/>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EXPECTED RESULT</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Run it: try the endpoint from Scalar</a:t>
            </a:r>
            <a:endParaRPr lang="en-US" sz="2800" dirty="0"/>
          </a:p>
        </p:txBody>
      </p:sp>
      <p:sp>
        <p:nvSpPr>
          <p:cNvPr id="4" name="Shape 2"/>
          <p:cNvSpPr/>
          <p:nvPr/>
        </p:nvSpPr>
        <p:spPr>
          <a:xfrm>
            <a:off x="457200" y="1325880"/>
            <a:ext cx="5257800" cy="2606040"/>
          </a:xfrm>
          <a:prstGeom prst="roundRect">
            <a:avLst>
              <a:gd name="adj" fmla="val 2807"/>
            </a:avLst>
          </a:prstGeom>
          <a:solidFill>
            <a:srgbClr val="0F1420"/>
          </a:solidFill>
          <a:ln w="12700">
            <a:solidFill>
              <a:srgbClr val="0F1420"/>
            </a:solidFill>
            <a:prstDash val="solid"/>
          </a:ln>
        </p:spPr>
      </p:sp>
      <p:sp>
        <p:nvSpPr>
          <p:cNvPr id="5" name="Text 3"/>
          <p:cNvSpPr txBox="1"/>
          <p:nvPr/>
        </p:nvSpPr>
        <p:spPr>
          <a:xfrm>
            <a:off x="640080" y="1463040"/>
            <a:ext cx="4892040" cy="2331720"/>
          </a:xfrm>
          <a:prstGeom prst="rect">
            <a:avLst/>
          </a:prstGeom>
          <a:noFill/>
          <a:ln/>
        </p:spPr>
        <p:txBody>
          <a:bodyPr wrap="square" lIns="0" tIns="0" rIns="0" bIns="0" rtlCol="0" anchor="t"/>
          <a:lstStyle/>
          <a:p>
            <a:pPr indent="0" marL="0">
              <a:buNone/>
            </a:pPr>
            <a:r>
              <a:rPr lang="en-US" sz="1050" b="1" dirty="0">
                <a:solidFill>
                  <a:srgbClr val="F5A623"/>
                </a:solidFill>
                <a:latin typeface="Courier New" pitchFamily="34" charset="0"/>
                <a:ea typeface="Courier New" pitchFamily="34" charset="-122"/>
                <a:cs typeface="Courier New" pitchFamily="34" charset="-120"/>
              </a:rPr>
              <a:t>POST https://localhost:7089/api/project/generate</a:t>
            </a:r>
            <a:endParaRPr lang="en-US" sz="1050" dirty="0"/>
          </a:p>
          <a:p>
            <a:pPr indent="0" marL="0">
              <a:buNone/>
            </a:pPr>
            <a:r>
              <a:rPr lang="en-US" sz="1050" b="1" dirty="0">
                <a:solidFill>
                  <a:srgbClr val="F5A623"/>
                </a:solidFill>
                <a:latin typeface="Courier New" pitchFamily="34" charset="0"/>
                <a:ea typeface="Courier New" pitchFamily="34" charset="-122"/>
                <a:cs typeface="Courier New" pitchFamily="34" charset="-120"/>
              </a:rPr>
              <a:t>"Build a REST API for a todo list"</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 </a:t>
            </a:r>
            <a:endParaRPr lang="en-US" sz="1050" dirty="0"/>
          </a:p>
          <a:p>
            <a:pPr indent="0" marL="0">
              <a:buNone/>
            </a:pPr>
            <a:r>
              <a:rPr lang="en-US" sz="1050" dirty="0">
                <a:solidFill>
                  <a:srgbClr val="D7E3F4"/>
                </a:solidFill>
                <a:latin typeface="Courier New" pitchFamily="34" charset="0"/>
                <a:ea typeface="Courier New" pitchFamily="34" charset="-122"/>
                <a:cs typeface="Courier New" pitchFamily="34" charset="-120"/>
              </a:rPr>
              <a:t>200 OK</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"originalRequest": "Build a REST API for a todo list",</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"refinedGoal": "Develop a RESTful API to manage ...",</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"tasks": [ { "id": "4d1f0c7a",</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"assignedTo": "Developer",</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"result": "public class TodoItem ...",</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"isCompleted": true }, ... ],</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  "isFullyCompleted": true</a:t>
            </a:r>
            <a:endParaRPr lang="en-US" sz="1050" dirty="0"/>
          </a:p>
          <a:p>
            <a:pPr indent="0" marL="0">
              <a:buNone/>
            </a:pPr>
            <a:r>
              <a:rPr lang="en-US" sz="1050" dirty="0">
                <a:solidFill>
                  <a:srgbClr val="9FE6B8"/>
                </a:solidFill>
                <a:latin typeface="Courier New" pitchFamily="34" charset="0"/>
                <a:ea typeface="Courier New" pitchFamily="34" charset="-122"/>
                <a:cs typeface="Courier New" pitchFamily="34" charset="-120"/>
              </a:rPr>
              <a:t>}</a:t>
            </a:r>
            <a:endParaRPr lang="en-US" sz="1050" dirty="0"/>
          </a:p>
        </p:txBody>
      </p:sp>
      <p:sp>
        <p:nvSpPr>
          <p:cNvPr id="6" name="Shape 4"/>
          <p:cNvSpPr/>
          <p:nvPr/>
        </p:nvSpPr>
        <p:spPr>
          <a:xfrm>
            <a:off x="6035040" y="1325880"/>
            <a:ext cx="384048" cy="384048"/>
          </a:xfrm>
          <a:prstGeom prst="ellipse">
            <a:avLst/>
          </a:prstGeom>
          <a:solidFill>
            <a:srgbClr val="512BD4"/>
          </a:solidFill>
          <a:ln w="12700">
            <a:solidFill>
              <a:srgbClr val="512BD4"/>
            </a:solidFill>
            <a:prstDash val="solid"/>
          </a:ln>
        </p:spPr>
      </p:sp>
      <p:pic>
        <p:nvPicPr>
          <p:cNvPr id="7" name="Image 0" descr="preencoded.png">    </p:cNvPr>
          <p:cNvPicPr>
            <a:picLocks noChangeAspect="1"/>
          </p:cNvPicPr>
          <p:nvPr/>
        </p:nvPicPr>
        <p:blipFill>
          <a:blip r:embed="rId1"/>
          <a:stretch>
            <a:fillRect/>
          </a:stretch>
        </p:blipFill>
        <p:spPr>
          <a:xfrm>
            <a:off x="6134892" y="1425732"/>
            <a:ext cx="184343" cy="184343"/>
          </a:xfrm>
          <a:prstGeom prst="rect">
            <a:avLst/>
          </a:prstGeom>
        </p:spPr>
      </p:pic>
      <p:sp>
        <p:nvSpPr>
          <p:cNvPr id="8" name="Text 5"/>
          <p:cNvSpPr txBox="1"/>
          <p:nvPr/>
        </p:nvSpPr>
        <p:spPr>
          <a:xfrm>
            <a:off x="6537960" y="132588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/scalar/v1</a:t>
            </a:r>
            <a:endParaRPr lang="en-US" sz="1400" dirty="0"/>
          </a:p>
        </p:txBody>
      </p:sp>
      <p:sp>
        <p:nvSpPr>
          <p:cNvPr id="9" name="Text 6"/>
          <p:cNvSpPr txBox="1"/>
          <p:nvPr/>
        </p:nvSpPr>
        <p:spPr>
          <a:xfrm>
            <a:off x="6537960" y="170992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In Development, / redirects here. Pick generate and send.</a:t>
            </a:r>
            <a:endParaRPr lang="en-US" sz="1200" dirty="0"/>
          </a:p>
        </p:txBody>
      </p:sp>
      <p:sp>
        <p:nvSpPr>
          <p:cNvPr id="10" name="Shape 7"/>
          <p:cNvSpPr/>
          <p:nvPr/>
        </p:nvSpPr>
        <p:spPr>
          <a:xfrm>
            <a:off x="6035040" y="2423160"/>
            <a:ext cx="384048" cy="384048"/>
          </a:xfrm>
          <a:prstGeom prst="ellipse">
            <a:avLst/>
          </a:prstGeom>
          <a:solidFill>
            <a:srgbClr val="512BD4"/>
          </a:solidFill>
          <a:ln w="12700">
            <a:solidFill>
              <a:srgbClr val="512BD4"/>
            </a:solidFill>
            <a:prstDash val="solid"/>
          </a:ln>
        </p:spPr>
      </p:sp>
      <p:pic>
        <p:nvPicPr>
          <p:cNvPr id="11" name="Image 1" descr="preencoded.png">    </p:cNvPr>
          <p:cNvPicPr>
            <a:picLocks noChangeAspect="1"/>
          </p:cNvPicPr>
          <p:nvPr/>
        </p:nvPicPr>
        <p:blipFill>
          <a:blip r:embed="rId2"/>
          <a:stretch>
            <a:fillRect/>
          </a:stretch>
        </p:blipFill>
        <p:spPr>
          <a:xfrm>
            <a:off x="6134892" y="2523012"/>
            <a:ext cx="184343" cy="184343"/>
          </a:xfrm>
          <a:prstGeom prst="rect">
            <a:avLst/>
          </a:prstGeom>
        </p:spPr>
      </p:pic>
      <p:sp>
        <p:nvSpPr>
          <p:cNvPr id="12" name="Text 8"/>
          <p:cNvSpPr txBox="1"/>
          <p:nvPr/>
        </p:nvSpPr>
        <p:spPr>
          <a:xfrm>
            <a:off x="6537960" y="242316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JSON string body</a:t>
            </a:r>
            <a:endParaRPr lang="en-US" sz="1400" dirty="0"/>
          </a:p>
        </p:txBody>
      </p:sp>
      <p:sp>
        <p:nvSpPr>
          <p:cNvPr id="13" name="Text 9"/>
          <p:cNvSpPr txBox="1"/>
          <p:nvPr/>
        </p:nvSpPr>
        <p:spPr>
          <a:xfrm>
            <a:off x="6537960" y="280720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The idea goes in quotes; [FromBody] binds a string.</a:t>
            </a:r>
            <a:endParaRPr lang="en-US" sz="1200" dirty="0"/>
          </a:p>
        </p:txBody>
      </p:sp>
      <p:sp>
        <p:nvSpPr>
          <p:cNvPr id="14" name="Shape 10"/>
          <p:cNvSpPr/>
          <p:nvPr/>
        </p:nvSpPr>
        <p:spPr>
          <a:xfrm>
            <a:off x="6035040" y="3520440"/>
            <a:ext cx="384048" cy="384048"/>
          </a:xfrm>
          <a:prstGeom prst="ellipse">
            <a:avLst/>
          </a:prstGeom>
          <a:solidFill>
            <a:srgbClr val="512BD4"/>
          </a:solidFill>
          <a:ln w="12700">
            <a:solidFill>
              <a:srgbClr val="512BD4"/>
            </a:solidFill>
            <a:prstDash val="solid"/>
          </a:ln>
        </p:spPr>
      </p:sp>
      <p:pic>
        <p:nvPicPr>
          <p:cNvPr id="15" name="Image 2" descr="preencoded.png">    </p:cNvPr>
          <p:cNvPicPr>
            <a:picLocks noChangeAspect="1"/>
          </p:cNvPicPr>
          <p:nvPr/>
        </p:nvPicPr>
        <p:blipFill>
          <a:blip r:embed="rId3"/>
          <a:stretch>
            <a:fillRect/>
          </a:stretch>
        </p:blipFill>
        <p:spPr>
          <a:xfrm>
            <a:off x="6134892" y="3620292"/>
            <a:ext cx="184343" cy="184343"/>
          </a:xfrm>
          <a:prstGeom prst="rect">
            <a:avLst/>
          </a:prstGeom>
        </p:spPr>
      </p:pic>
      <p:sp>
        <p:nvSpPr>
          <p:cNvPr id="16" name="Text 11"/>
          <p:cNvSpPr txBox="1"/>
          <p:nvPr/>
        </p:nvSpPr>
        <p:spPr>
          <a:xfrm>
            <a:off x="6537960" y="3520440"/>
            <a:ext cx="2148840" cy="384048"/>
          </a:xfrm>
          <a:prstGeom prst="rect">
            <a:avLst/>
          </a:prstGeom>
          <a:noFill/>
          <a:ln/>
        </p:spPr>
        <p:txBody>
          <a:bodyPr wrap="square" lIns="0" tIns="0" rIns="0" bIns="0"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Illustrative</a:t>
            </a:r>
            <a:endParaRPr lang="en-US" sz="1400" dirty="0"/>
          </a:p>
        </p:txBody>
      </p:sp>
      <p:sp>
        <p:nvSpPr>
          <p:cNvPr id="17" name="Text 12"/>
          <p:cNvSpPr txBox="1"/>
          <p:nvPr/>
        </p:nvSpPr>
        <p:spPr>
          <a:xfrm>
            <a:off x="6537960" y="3904488"/>
            <a:ext cx="2148840" cy="640080"/>
          </a:xfrm>
          <a:prstGeom prst="rect">
            <a:avLst/>
          </a:prstGeom>
          <a:noFill/>
          <a:ln/>
        </p:spPr>
        <p:txBody>
          <a:bodyPr wrap="square" lIns="0" tIns="0" rIns="0" bIns="0" rtlCol="0" anchor="t"/>
          <a:lstStyle/>
          <a:p>
            <a:pPr indent="0" marL="0">
              <a:buNone/>
            </a:pPr>
            <a:r>
              <a:rPr lang="en-US" sz="1200" dirty="0">
                <a:solidFill>
                  <a:srgbClr val="6B7280"/>
                </a:solidFill>
                <a:latin typeface="Calibri" pitchFamily="34" charset="0"/>
                <a:ea typeface="Calibri" pitchFamily="34" charset="-122"/>
                <a:cs typeface="Calibri" pitchFamily="34" charset="-120"/>
              </a:rPr>
              <a:t>Goal, IDs, code and the trimmed fields are examples.</a:t>
            </a:r>
            <a:endParaRPr lang="en-US" sz="1200" dirty="0"/>
          </a:p>
        </p:txBody>
      </p:sp>
      <p:sp>
        <p:nvSpPr>
          <p:cNvPr id="18" name="Text 1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19" name="Text 1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47472"/>
            <a:ext cx="8229600" cy="228600"/>
          </a:xfrm>
          <a:prstGeom prst="rect">
            <a:avLst/>
          </a:prstGeom>
          <a:noFill/>
          <a:ln/>
        </p:spPr>
        <p:txBody>
          <a:bodyPr wrap="square" lIns="0" tIns="0" rIns="0" bIns="0" rtlCol="0" anchor="t"/>
          <a:lstStyle/>
          <a:p>
            <a:pPr indent="0" marL="0">
              <a:buNone/>
            </a:pPr>
            <a:r>
              <a:rPr lang="en-US" sz="1100" b="1" spc="200" kern="0" dirty="0">
                <a:solidFill>
                  <a:srgbClr val="512BD4"/>
                </a:solidFill>
                <a:latin typeface="Calibri" pitchFamily="34" charset="0"/>
                <a:ea typeface="Calibri" pitchFamily="34" charset="-122"/>
                <a:cs typeface="Calibri" pitchFamily="34" charset="-120"/>
              </a:rPr>
              <a:t>EXERCISE</a:t>
            </a:r>
            <a:endParaRPr lang="en-US" sz="1100" dirty="0"/>
          </a:p>
        </p:txBody>
      </p:sp>
      <p:sp>
        <p:nvSpPr>
          <p:cNvPr id="3" name="Text 1"/>
          <p:cNvSpPr txBox="1"/>
          <p:nvPr/>
        </p:nvSpPr>
        <p:spPr>
          <a:xfrm>
            <a:off x="457200" y="566928"/>
            <a:ext cx="8229600" cy="54864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Replace the raw string with a request DTO</a:t>
            </a:r>
            <a:endParaRPr lang="en-US" sz="2800" dirty="0"/>
          </a:p>
        </p:txBody>
      </p:sp>
      <p:sp>
        <p:nvSpPr>
          <p:cNvPr id="4" name="Shape 2"/>
          <p:cNvSpPr/>
          <p:nvPr/>
        </p:nvSpPr>
        <p:spPr>
          <a:xfrm>
            <a:off x="457200" y="1371600"/>
            <a:ext cx="3108960" cy="3017520"/>
          </a:xfrm>
          <a:prstGeom prst="roundRect">
            <a:avLst>
              <a:gd name="adj" fmla="val 2424"/>
            </a:avLst>
          </a:prstGeom>
          <a:solidFill>
            <a:srgbClr val="512BD4"/>
          </a:solidFill>
          <a:ln w="12700">
            <a:solidFill>
              <a:srgbClr val="512BD4"/>
            </a:solidFill>
            <a:prstDash val="solid"/>
          </a:ln>
        </p:spPr>
      </p:sp>
      <p:sp>
        <p:nvSpPr>
          <p:cNvPr id="5" name="Shape 3"/>
          <p:cNvSpPr/>
          <p:nvPr/>
        </p:nvSpPr>
        <p:spPr>
          <a:xfrm>
            <a:off x="685800" y="1600200"/>
            <a:ext cx="457200" cy="457200"/>
          </a:xfrm>
          <a:prstGeom prst="ellipse">
            <a:avLst/>
          </a:prstGeom>
          <a:solidFill>
            <a:srgbClr val="FFFFFF"/>
          </a:solidFill>
          <a:ln w="12700">
            <a:solidFill>
              <a:srgbClr val="FFFFFF"/>
            </a:solidFill>
            <a:prstDash val="solid"/>
          </a:ln>
        </p:spPr>
      </p:sp>
      <p:pic>
        <p:nvPicPr>
          <p:cNvPr id="6" name="Image 0" descr="preencoded.png">    </p:cNvPr>
          <p:cNvPicPr>
            <a:picLocks noChangeAspect="1"/>
          </p:cNvPicPr>
          <p:nvPr/>
        </p:nvPicPr>
        <p:blipFill>
          <a:blip r:embed="rId1"/>
          <a:stretch>
            <a:fillRect/>
          </a:stretch>
        </p:blipFill>
        <p:spPr>
          <a:xfrm>
            <a:off x="804672" y="1719072"/>
            <a:ext cx="219456" cy="219456"/>
          </a:xfrm>
          <a:prstGeom prst="rect">
            <a:avLst/>
          </a:prstGeom>
        </p:spPr>
      </p:pic>
      <p:sp>
        <p:nvSpPr>
          <p:cNvPr id="7" name="Text 4"/>
          <p:cNvSpPr txBox="1"/>
          <p:nvPr/>
        </p:nvSpPr>
        <p:spPr>
          <a:xfrm>
            <a:off x="685800" y="2194560"/>
            <a:ext cx="2651760" cy="137160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Accept { "goal": "..." } through a ProjectRequest record in its own file, and point the .http file at the real endpoint.</a:t>
            </a:r>
            <a:endParaRPr lang="en-US" sz="1400" dirty="0"/>
          </a:p>
        </p:txBody>
      </p:sp>
      <p:sp>
        <p:nvSpPr>
          <p:cNvPr id="8" name="Text 5"/>
          <p:cNvSpPr txBox="1"/>
          <p:nvPr/>
        </p:nvSpPr>
        <p:spPr>
          <a:xfrm>
            <a:off x="685800" y="3611880"/>
            <a:ext cx="2743200" cy="640080"/>
          </a:xfrm>
          <a:prstGeom prst="rect">
            <a:avLst/>
          </a:prstGeom>
          <a:noFill/>
          <a:ln/>
        </p:spPr>
        <p:txBody>
          <a:bodyPr wrap="square" lIns="0" tIns="0" rIns="0" bIns="0" rtlCol="0" anchor="b"/>
          <a:lstStyle/>
          <a:p>
            <a:pPr indent="0" marL="0">
              <a:buNone/>
            </a:pPr>
            <a:r>
              <a:rPr lang="en-US" sz="850" dirty="0">
                <a:solidFill>
                  <a:srgbClr val="B8B2E6"/>
                </a:solidFill>
                <a:latin typeface="Courier New" pitchFamily="34" charset="0"/>
                <a:ea typeface="Courier New" pitchFamily="34" charset="-122"/>
                <a:cs typeface="Courier New" pitchFamily="34" charset="-120"/>
              </a:rPr>
              <a:t>Lesson30-Capstone-DeploymentAndReview/</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UniversalProjectManager.Api/</a:t>
            </a:r>
            <a:endParaRPr lang="en-US" sz="850" dirty="0"/>
          </a:p>
          <a:p>
            <a:pPr indent="0" marL="0">
              <a:buNone/>
            </a:pPr>
            <a:r>
              <a:rPr lang="en-US" sz="850" dirty="0">
                <a:solidFill>
                  <a:srgbClr val="B8B2E6"/>
                </a:solidFill>
                <a:latin typeface="Courier New" pitchFamily="34" charset="0"/>
                <a:ea typeface="Courier New" pitchFamily="34" charset="-122"/>
                <a:cs typeface="Courier New" pitchFamily="34" charset="-120"/>
              </a:rPr>
              <a:t>ProjectController.cs</a:t>
            </a:r>
            <a:endParaRPr lang="en-US" sz="850" dirty="0"/>
          </a:p>
        </p:txBody>
      </p:sp>
      <p:sp>
        <p:nvSpPr>
          <p:cNvPr id="9" name="Text 6"/>
          <p:cNvSpPr txBox="1"/>
          <p:nvPr/>
        </p:nvSpPr>
        <p:spPr>
          <a:xfrm>
            <a:off x="3931920" y="1371600"/>
            <a:ext cx="4754880" cy="320040"/>
          </a:xfrm>
          <a:prstGeom prst="rect">
            <a:avLst/>
          </a:prstGeom>
          <a:noFill/>
          <a:ln/>
        </p:spPr>
        <p:txBody>
          <a:bodyPr wrap="square" lIns="0" tIns="0" rIns="0" bIns="0" rtlCol="0" anchor="t"/>
          <a:lstStyle/>
          <a:p>
            <a:pPr indent="0" marL="0">
              <a:buNone/>
            </a:pPr>
            <a:r>
              <a:rPr lang="en-US" sz="1600" b="1" dirty="0">
                <a:solidFill>
                  <a:srgbClr val="1F2937"/>
                </a:solidFill>
                <a:latin typeface="Cambria" pitchFamily="34" charset="0"/>
                <a:ea typeface="Cambria" pitchFamily="34" charset="-122"/>
                <a:cs typeface="Cambria" pitchFamily="34" charset="-120"/>
              </a:rPr>
              <a:t>Done when</a:t>
            </a:r>
            <a:endParaRPr lang="en-US" sz="1600" dirty="0"/>
          </a:p>
        </p:txBody>
      </p:sp>
      <p:sp>
        <p:nvSpPr>
          <p:cNvPr id="10" name="Shape 7"/>
          <p:cNvSpPr/>
          <p:nvPr/>
        </p:nvSpPr>
        <p:spPr>
          <a:xfrm>
            <a:off x="3931920" y="1801368"/>
            <a:ext cx="292608" cy="292608"/>
          </a:xfrm>
          <a:prstGeom prst="ellipse">
            <a:avLst/>
          </a:prstGeom>
          <a:solidFill>
            <a:srgbClr val="F5A623"/>
          </a:solidFill>
          <a:ln w="12700">
            <a:solidFill>
              <a:srgbClr val="F5A623"/>
            </a:solidFill>
            <a:prstDash val="solid"/>
          </a:ln>
        </p:spPr>
      </p:sp>
      <p:pic>
        <p:nvPicPr>
          <p:cNvPr id="11" name="Image 1" descr="preencoded.png">    </p:cNvPr>
          <p:cNvPicPr>
            <a:picLocks noChangeAspect="1"/>
          </p:cNvPicPr>
          <p:nvPr/>
        </p:nvPicPr>
        <p:blipFill>
          <a:blip r:embed="rId2"/>
          <a:stretch>
            <a:fillRect/>
          </a:stretch>
        </p:blipFill>
        <p:spPr>
          <a:xfrm>
            <a:off x="4007998" y="1877446"/>
            <a:ext cx="140452" cy="140452"/>
          </a:xfrm>
          <a:prstGeom prst="rect">
            <a:avLst/>
          </a:prstGeom>
        </p:spPr>
      </p:pic>
      <p:sp>
        <p:nvSpPr>
          <p:cNvPr id="12" name="Text 8"/>
          <p:cNvSpPr txBox="1"/>
          <p:nvPr/>
        </p:nvSpPr>
        <p:spPr>
          <a:xfrm>
            <a:off x="4361688" y="178308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The body is a JSON object with a goal field, not a bare string</a:t>
            </a:r>
            <a:endParaRPr lang="en-US" sz="1300" dirty="0"/>
          </a:p>
        </p:txBody>
      </p:sp>
      <p:sp>
        <p:nvSpPr>
          <p:cNvPr id="13" name="Shape 9"/>
          <p:cNvSpPr/>
          <p:nvPr/>
        </p:nvSpPr>
        <p:spPr>
          <a:xfrm>
            <a:off x="3931920" y="2441448"/>
            <a:ext cx="292608" cy="292608"/>
          </a:xfrm>
          <a:prstGeom prst="ellipse">
            <a:avLst/>
          </a:prstGeom>
          <a:solidFill>
            <a:srgbClr val="F5A623"/>
          </a:solidFill>
          <a:ln w="12700">
            <a:solidFill>
              <a:srgbClr val="F5A623"/>
            </a:solidFill>
            <a:prstDash val="solid"/>
          </a:ln>
        </p:spPr>
      </p:sp>
      <p:pic>
        <p:nvPicPr>
          <p:cNvPr id="14" name="Image 2" descr="preencoded.png">    </p:cNvPr>
          <p:cNvPicPr>
            <a:picLocks noChangeAspect="1"/>
          </p:cNvPicPr>
          <p:nvPr/>
        </p:nvPicPr>
        <p:blipFill>
          <a:blip r:embed="rId3"/>
          <a:stretch>
            <a:fillRect/>
          </a:stretch>
        </p:blipFill>
        <p:spPr>
          <a:xfrm>
            <a:off x="4007998" y="2517526"/>
            <a:ext cx="140452" cy="140452"/>
          </a:xfrm>
          <a:prstGeom prst="rect">
            <a:avLst/>
          </a:prstGeom>
        </p:spPr>
      </p:pic>
      <p:sp>
        <p:nvSpPr>
          <p:cNvPr id="15" name="Text 10"/>
          <p:cNvSpPr txBox="1"/>
          <p:nvPr/>
        </p:nvSpPr>
        <p:spPr>
          <a:xfrm>
            <a:off x="4361688" y="242316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An empty goal still returns 400 Bad Request</a:t>
            </a:r>
            <a:endParaRPr lang="en-US" sz="1300" dirty="0"/>
          </a:p>
        </p:txBody>
      </p:sp>
      <p:sp>
        <p:nvSpPr>
          <p:cNvPr id="16" name="Shape 11"/>
          <p:cNvSpPr/>
          <p:nvPr/>
        </p:nvSpPr>
        <p:spPr>
          <a:xfrm>
            <a:off x="3931920" y="3081528"/>
            <a:ext cx="292608" cy="292608"/>
          </a:xfrm>
          <a:prstGeom prst="ellipse">
            <a:avLst/>
          </a:prstGeom>
          <a:solidFill>
            <a:srgbClr val="F5A623"/>
          </a:solidFill>
          <a:ln w="12700">
            <a:solidFill>
              <a:srgbClr val="F5A623"/>
            </a:solidFill>
            <a:prstDash val="solid"/>
          </a:ln>
        </p:spPr>
      </p:sp>
      <p:pic>
        <p:nvPicPr>
          <p:cNvPr id="17" name="Image 3" descr="preencoded.png">    </p:cNvPr>
          <p:cNvPicPr>
            <a:picLocks noChangeAspect="1"/>
          </p:cNvPicPr>
          <p:nvPr/>
        </p:nvPicPr>
        <p:blipFill>
          <a:blip r:embed="rId4"/>
          <a:stretch>
            <a:fillRect/>
          </a:stretch>
        </p:blipFill>
        <p:spPr>
          <a:xfrm>
            <a:off x="4007998" y="3157606"/>
            <a:ext cx="140452" cy="140452"/>
          </a:xfrm>
          <a:prstGeom prst="rect">
            <a:avLst/>
          </a:prstGeom>
        </p:spPr>
      </p:pic>
      <p:sp>
        <p:nvSpPr>
          <p:cNvPr id="18" name="Text 12"/>
          <p:cNvSpPr txBox="1"/>
          <p:nvPr/>
        </p:nvSpPr>
        <p:spPr>
          <a:xfrm>
            <a:off x="4361688" y="306324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Scalar shows the new request schema</a:t>
            </a:r>
            <a:endParaRPr lang="en-US" sz="1300" dirty="0"/>
          </a:p>
        </p:txBody>
      </p:sp>
      <p:sp>
        <p:nvSpPr>
          <p:cNvPr id="19" name="Shape 13"/>
          <p:cNvSpPr/>
          <p:nvPr/>
        </p:nvSpPr>
        <p:spPr>
          <a:xfrm>
            <a:off x="3931920" y="3721608"/>
            <a:ext cx="292608" cy="292608"/>
          </a:xfrm>
          <a:prstGeom prst="ellipse">
            <a:avLst/>
          </a:prstGeom>
          <a:solidFill>
            <a:srgbClr val="F5A623"/>
          </a:solidFill>
          <a:ln w="12700">
            <a:solidFill>
              <a:srgbClr val="F5A623"/>
            </a:solidFill>
            <a:prstDash val="solid"/>
          </a:ln>
        </p:spPr>
      </p:sp>
      <p:pic>
        <p:nvPicPr>
          <p:cNvPr id="20" name="Image 4" descr="preencoded.png">    </p:cNvPr>
          <p:cNvPicPr>
            <a:picLocks noChangeAspect="1"/>
          </p:cNvPicPr>
          <p:nvPr/>
        </p:nvPicPr>
        <p:blipFill>
          <a:blip r:embed="rId5"/>
          <a:stretch>
            <a:fillRect/>
          </a:stretch>
        </p:blipFill>
        <p:spPr>
          <a:xfrm>
            <a:off x="4007998" y="3797686"/>
            <a:ext cx="140452" cy="140452"/>
          </a:xfrm>
          <a:prstGeom prst="rect">
            <a:avLst/>
          </a:prstGeom>
        </p:spPr>
      </p:pic>
      <p:sp>
        <p:nvSpPr>
          <p:cNvPr id="21" name="Text 14"/>
          <p:cNvSpPr txBox="1"/>
          <p:nvPr/>
        </p:nvSpPr>
        <p:spPr>
          <a:xfrm>
            <a:off x="4361688" y="3703320"/>
            <a:ext cx="4325112" cy="5943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UniversalProjectManager.Api.http posts to /api/project/generate</a:t>
            </a:r>
            <a:endParaRPr lang="en-US" sz="1300" dirty="0"/>
          </a:p>
        </p:txBody>
      </p:sp>
      <p:sp>
        <p:nvSpPr>
          <p:cNvPr id="22" name="Text 15"/>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9CA3AF"/>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23" name="Text 16"/>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9CA3A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B2D"/>
        </a:solidFill>
      </p:bgPr>
    </p:bg>
    <p:spTree>
      <p:nvGrpSpPr>
        <p:cNvPr id="1" name=""/>
        <p:cNvGrpSpPr/>
        <p:nvPr/>
      </p:nvGrpSpPr>
      <p:grpSpPr>
        <a:xfrm>
          <a:off x="0" y="0"/>
          <a:ext cx="0" cy="0"/>
          <a:chOff x="0" y="0"/>
          <a:chExt cx="0" cy="0"/>
        </a:xfrm>
      </p:grpSpPr>
      <p:sp>
        <p:nvSpPr>
          <p:cNvPr id="2" name="Text 0"/>
          <p:cNvSpPr txBox="1"/>
          <p:nvPr/>
        </p:nvSpPr>
        <p:spPr>
          <a:xfrm>
            <a:off x="457200" y="347472"/>
            <a:ext cx="4572000" cy="228600"/>
          </a:xfrm>
          <a:prstGeom prst="rect">
            <a:avLst/>
          </a:prstGeom>
          <a:noFill/>
          <a:ln/>
        </p:spPr>
        <p:txBody>
          <a:bodyPr wrap="square" lIns="0" tIns="0" rIns="0" bIns="0" rtlCol="0" anchor="t"/>
          <a:lstStyle/>
          <a:p>
            <a:pPr indent="0" marL="0">
              <a:buNone/>
            </a:pPr>
            <a:r>
              <a:rPr lang="en-US" sz="1100" b="1" spc="200" kern="0" dirty="0">
                <a:solidFill>
                  <a:srgbClr val="F5A623"/>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457200" y="566928"/>
            <a:ext cx="8229600" cy="50292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What we learned, and where it goes</a:t>
            </a:r>
            <a:endParaRPr lang="en-US" sz="2600" dirty="0"/>
          </a:p>
        </p:txBody>
      </p:sp>
      <p:sp>
        <p:nvSpPr>
          <p:cNvPr id="4" name="Shape 2"/>
          <p:cNvSpPr/>
          <p:nvPr/>
        </p:nvSpPr>
        <p:spPr>
          <a:xfrm>
            <a:off x="457200" y="1234440"/>
            <a:ext cx="2926080" cy="448056"/>
          </a:xfrm>
          <a:prstGeom prst="roundRect">
            <a:avLst>
              <a:gd name="adj" fmla="val 16327"/>
            </a:avLst>
          </a:prstGeom>
          <a:solidFill>
            <a:srgbClr val="1F2943"/>
          </a:solidFill>
          <a:ln w="12700">
            <a:solidFill>
              <a:srgbClr val="1F2943"/>
            </a:solidFill>
            <a:prstDash val="solid"/>
          </a:ln>
        </p:spPr>
      </p:sp>
      <p:sp>
        <p:nvSpPr>
          <p:cNvPr id="5" name="Text 3"/>
          <p:cNvSpPr txBox="1"/>
          <p:nvPr/>
        </p:nvSpPr>
        <p:spPr>
          <a:xfrm>
            <a:off x="621792" y="1234440"/>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long synchronous request</a:t>
            </a:r>
            <a:endParaRPr lang="en-US" sz="1300" dirty="0"/>
          </a:p>
        </p:txBody>
      </p:sp>
      <p:sp>
        <p:nvSpPr>
          <p:cNvPr id="6" name="Shape 4"/>
          <p:cNvSpPr/>
          <p:nvPr/>
        </p:nvSpPr>
        <p:spPr>
          <a:xfrm>
            <a:off x="3493008" y="1367028"/>
            <a:ext cx="329184" cy="182880"/>
          </a:xfrm>
          <a:prstGeom prst="rightArrow">
            <a:avLst/>
          </a:prstGeom>
          <a:solidFill>
            <a:srgbClr val="F5A623"/>
          </a:solidFill>
          <a:ln w="12700">
            <a:solidFill>
              <a:srgbClr val="F5A623"/>
            </a:solidFill>
            <a:prstDash val="solid"/>
          </a:ln>
        </p:spPr>
      </p:sp>
      <p:sp>
        <p:nvSpPr>
          <p:cNvPr id="7" name="Text 5"/>
          <p:cNvSpPr txBox="1"/>
          <p:nvPr/>
        </p:nvSpPr>
        <p:spPr>
          <a:xfrm>
            <a:off x="3977640" y="1234440"/>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40  </a:t>
            </a:r>
            <a:pPr indent="0" marL="0">
              <a:buNone/>
            </a:pPr>
            <a:r>
              <a:rPr lang="en-US" sz="1250" dirty="0">
                <a:solidFill>
                  <a:srgbClr val="FFFFFF"/>
                </a:solidFill>
                <a:latin typeface="Calibri" pitchFamily="34" charset="0"/>
                <a:ea typeface="Calibri" pitchFamily="34" charset="-122"/>
                <a:cs typeface="Calibri" pitchFamily="34" charset="-120"/>
              </a:rPr>
              <a:t>Agents coordinate through pub-sub events (planned)</a:t>
            </a:r>
            <a:endParaRPr lang="en-US" sz="1250" dirty="0"/>
          </a:p>
        </p:txBody>
      </p:sp>
      <p:sp>
        <p:nvSpPr>
          <p:cNvPr id="8" name="Shape 6"/>
          <p:cNvSpPr/>
          <p:nvPr/>
        </p:nvSpPr>
        <p:spPr>
          <a:xfrm>
            <a:off x="457200" y="1792224"/>
            <a:ext cx="2926080" cy="448056"/>
          </a:xfrm>
          <a:prstGeom prst="roundRect">
            <a:avLst>
              <a:gd name="adj" fmla="val 16327"/>
            </a:avLst>
          </a:prstGeom>
          <a:solidFill>
            <a:srgbClr val="1F2943"/>
          </a:solidFill>
          <a:ln w="12700">
            <a:solidFill>
              <a:srgbClr val="1F2943"/>
            </a:solidFill>
            <a:prstDash val="solid"/>
          </a:ln>
        </p:spPr>
      </p:sp>
      <p:sp>
        <p:nvSpPr>
          <p:cNvPr id="9" name="Text 7"/>
          <p:cNvSpPr txBox="1"/>
          <p:nvPr/>
        </p:nvSpPr>
        <p:spPr>
          <a:xfrm>
            <a:off x="621792" y="1792224"/>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human in the loop</a:t>
            </a:r>
            <a:endParaRPr lang="en-US" sz="1300" dirty="0"/>
          </a:p>
        </p:txBody>
      </p:sp>
      <p:sp>
        <p:nvSpPr>
          <p:cNvPr id="10" name="Shape 8"/>
          <p:cNvSpPr/>
          <p:nvPr/>
        </p:nvSpPr>
        <p:spPr>
          <a:xfrm>
            <a:off x="3493008" y="1924812"/>
            <a:ext cx="329184" cy="182880"/>
          </a:xfrm>
          <a:prstGeom prst="rightArrow">
            <a:avLst/>
          </a:prstGeom>
          <a:solidFill>
            <a:srgbClr val="F5A623"/>
          </a:solidFill>
          <a:ln w="12700">
            <a:solidFill>
              <a:srgbClr val="F5A623"/>
            </a:solidFill>
            <a:prstDash val="solid"/>
          </a:ln>
        </p:spPr>
      </p:sp>
      <p:sp>
        <p:nvSpPr>
          <p:cNvPr id="11" name="Text 9"/>
          <p:cNvSpPr txBox="1"/>
          <p:nvPr/>
        </p:nvSpPr>
        <p:spPr>
          <a:xfrm>
            <a:off x="3977640" y="1792224"/>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41  </a:t>
            </a:r>
            <a:pPr indent="0" marL="0">
              <a:buNone/>
            </a:pPr>
            <a:r>
              <a:rPr lang="en-US" sz="1250" dirty="0">
                <a:solidFill>
                  <a:srgbClr val="FFFFFF"/>
                </a:solidFill>
                <a:latin typeface="Calibri" pitchFamily="34" charset="0"/>
                <a:ea typeface="Calibri" pitchFamily="34" charset="-122"/>
                <a:cs typeface="Calibri" pitchFamily="34" charset="-120"/>
              </a:rPr>
              <a:t>Queued, async approvals on the event bus (planned)</a:t>
            </a:r>
            <a:endParaRPr lang="en-US" sz="1250" dirty="0"/>
          </a:p>
        </p:txBody>
      </p:sp>
      <p:sp>
        <p:nvSpPr>
          <p:cNvPr id="12" name="Shape 10"/>
          <p:cNvSpPr/>
          <p:nvPr/>
        </p:nvSpPr>
        <p:spPr>
          <a:xfrm>
            <a:off x="457200" y="2350008"/>
            <a:ext cx="2926080" cy="448056"/>
          </a:xfrm>
          <a:prstGeom prst="roundRect">
            <a:avLst>
              <a:gd name="adj" fmla="val 16327"/>
            </a:avLst>
          </a:prstGeom>
          <a:solidFill>
            <a:srgbClr val="1F2943"/>
          </a:solidFill>
          <a:ln w="12700">
            <a:solidFill>
              <a:srgbClr val="1F2943"/>
            </a:solidFill>
            <a:prstDash val="solid"/>
          </a:ln>
        </p:spPr>
      </p:sp>
      <p:sp>
        <p:nvSpPr>
          <p:cNvPr id="13" name="Text 11"/>
          <p:cNvSpPr txBox="1"/>
          <p:nvPr/>
        </p:nvSpPr>
        <p:spPr>
          <a:xfrm>
            <a:off x="621792" y="2350008"/>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State lost when the run ends</a:t>
            </a:r>
            <a:endParaRPr lang="en-US" sz="1300" dirty="0"/>
          </a:p>
        </p:txBody>
      </p:sp>
      <p:sp>
        <p:nvSpPr>
          <p:cNvPr id="14" name="Shape 12"/>
          <p:cNvSpPr/>
          <p:nvPr/>
        </p:nvSpPr>
        <p:spPr>
          <a:xfrm>
            <a:off x="3493008" y="2482596"/>
            <a:ext cx="329184" cy="182880"/>
          </a:xfrm>
          <a:prstGeom prst="rightArrow">
            <a:avLst/>
          </a:prstGeom>
          <a:solidFill>
            <a:srgbClr val="F5A623"/>
          </a:solidFill>
          <a:ln w="12700">
            <a:solidFill>
              <a:srgbClr val="F5A623"/>
            </a:solidFill>
            <a:prstDash val="solid"/>
          </a:ln>
        </p:spPr>
      </p:sp>
      <p:sp>
        <p:nvSpPr>
          <p:cNvPr id="15" name="Text 13"/>
          <p:cNvSpPr txBox="1"/>
          <p:nvPr/>
        </p:nvSpPr>
        <p:spPr>
          <a:xfrm>
            <a:off x="3977640" y="2350008"/>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42  </a:t>
            </a:r>
            <a:pPr indent="0" marL="0">
              <a:buNone/>
            </a:pPr>
            <a:r>
              <a:rPr lang="en-US" sz="1250" dirty="0">
                <a:solidFill>
                  <a:srgbClr val="FFFFFF"/>
                </a:solidFill>
                <a:latin typeface="Calibri" pitchFamily="34" charset="0"/>
                <a:ea typeface="Calibri" pitchFamily="34" charset="-122"/>
                <a:cs typeface="Calibri" pitchFamily="34" charset="-120"/>
              </a:rPr>
              <a:t>Checkpoints make a run resumable (planned)</a:t>
            </a:r>
            <a:endParaRPr lang="en-US" sz="1250" dirty="0"/>
          </a:p>
        </p:txBody>
      </p:sp>
      <p:sp>
        <p:nvSpPr>
          <p:cNvPr id="16" name="Shape 14"/>
          <p:cNvSpPr/>
          <p:nvPr/>
        </p:nvSpPr>
        <p:spPr>
          <a:xfrm>
            <a:off x="457200" y="2907792"/>
            <a:ext cx="2926080" cy="448056"/>
          </a:xfrm>
          <a:prstGeom prst="roundRect">
            <a:avLst>
              <a:gd name="adj" fmla="val 16327"/>
            </a:avLst>
          </a:prstGeom>
          <a:solidFill>
            <a:srgbClr val="1F2943"/>
          </a:solidFill>
          <a:ln w="12700">
            <a:solidFill>
              <a:srgbClr val="1F2943"/>
            </a:solidFill>
            <a:prstDash val="solid"/>
          </a:ln>
        </p:spPr>
      </p:sp>
      <p:sp>
        <p:nvSpPr>
          <p:cNvPr id="17" name="Text 15"/>
          <p:cNvSpPr txBox="1"/>
          <p:nvPr/>
        </p:nvSpPr>
        <p:spPr>
          <a:xfrm>
            <a:off x="621792" y="2907792"/>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No input or output checks</a:t>
            </a:r>
            <a:endParaRPr lang="en-US" sz="1300" dirty="0"/>
          </a:p>
        </p:txBody>
      </p:sp>
      <p:sp>
        <p:nvSpPr>
          <p:cNvPr id="18" name="Shape 16"/>
          <p:cNvSpPr/>
          <p:nvPr/>
        </p:nvSpPr>
        <p:spPr>
          <a:xfrm>
            <a:off x="3493008" y="3040380"/>
            <a:ext cx="329184" cy="182880"/>
          </a:xfrm>
          <a:prstGeom prst="rightArrow">
            <a:avLst/>
          </a:prstGeom>
          <a:solidFill>
            <a:srgbClr val="F5A623"/>
          </a:solidFill>
          <a:ln w="12700">
            <a:solidFill>
              <a:srgbClr val="F5A623"/>
            </a:solidFill>
            <a:prstDash val="solid"/>
          </a:ln>
        </p:spPr>
      </p:sp>
      <p:sp>
        <p:nvSpPr>
          <p:cNvPr id="19" name="Text 17"/>
          <p:cNvSpPr txBox="1"/>
          <p:nvPr/>
        </p:nvSpPr>
        <p:spPr>
          <a:xfrm>
            <a:off x="3977640" y="2907792"/>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37  </a:t>
            </a:r>
            <a:pPr indent="0" marL="0">
              <a:buNone/>
            </a:pPr>
            <a:r>
              <a:rPr lang="en-US" sz="1250" dirty="0">
                <a:solidFill>
                  <a:srgbClr val="FFFFFF"/>
                </a:solidFill>
                <a:latin typeface="Calibri" pitchFamily="34" charset="0"/>
                <a:ea typeface="Calibri" pitchFamily="34" charset="-122"/>
                <a:cs typeface="Calibri" pitchFamily="34" charset="-120"/>
              </a:rPr>
              <a:t>Guardrail filters redact PII and block bad output</a:t>
            </a:r>
            <a:endParaRPr lang="en-US" sz="1250" dirty="0"/>
          </a:p>
        </p:txBody>
      </p:sp>
      <p:sp>
        <p:nvSpPr>
          <p:cNvPr id="20" name="Shape 18"/>
          <p:cNvSpPr/>
          <p:nvPr/>
        </p:nvSpPr>
        <p:spPr>
          <a:xfrm>
            <a:off x="457200" y="3465576"/>
            <a:ext cx="2926080" cy="448056"/>
          </a:xfrm>
          <a:prstGeom prst="roundRect">
            <a:avLst>
              <a:gd name="adj" fmla="val 16327"/>
            </a:avLst>
          </a:prstGeom>
          <a:solidFill>
            <a:srgbClr val="1F2943"/>
          </a:solidFill>
          <a:ln w="12700">
            <a:solidFill>
              <a:srgbClr val="1F2943"/>
            </a:solidFill>
            <a:prstDash val="solid"/>
          </a:ln>
        </p:spPr>
      </p:sp>
      <p:sp>
        <p:nvSpPr>
          <p:cNvPr id="21" name="Text 19"/>
          <p:cNvSpPr txBox="1"/>
          <p:nvPr/>
        </p:nvSpPr>
        <p:spPr>
          <a:xfrm>
            <a:off x="621792" y="3465576"/>
            <a:ext cx="2651760" cy="448056"/>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 deployable agent system</a:t>
            </a:r>
            <a:endParaRPr lang="en-US" sz="1300" dirty="0"/>
          </a:p>
        </p:txBody>
      </p:sp>
      <p:sp>
        <p:nvSpPr>
          <p:cNvPr id="22" name="Shape 20"/>
          <p:cNvSpPr/>
          <p:nvPr/>
        </p:nvSpPr>
        <p:spPr>
          <a:xfrm>
            <a:off x="3493008" y="3598164"/>
            <a:ext cx="329184" cy="182880"/>
          </a:xfrm>
          <a:prstGeom prst="rightArrow">
            <a:avLst/>
          </a:prstGeom>
          <a:solidFill>
            <a:srgbClr val="F5A623"/>
          </a:solidFill>
          <a:ln w="12700">
            <a:solidFill>
              <a:srgbClr val="F5A623"/>
            </a:solidFill>
            <a:prstDash val="solid"/>
          </a:ln>
        </p:spPr>
      </p:sp>
      <p:sp>
        <p:nvSpPr>
          <p:cNvPr id="23" name="Text 21"/>
          <p:cNvSpPr txBox="1"/>
          <p:nvPr/>
        </p:nvSpPr>
        <p:spPr>
          <a:xfrm>
            <a:off x="3977640" y="3465576"/>
            <a:ext cx="4709160" cy="448056"/>
          </a:xfrm>
          <a:prstGeom prst="rect">
            <a:avLst/>
          </a:prstGeom>
          <a:noFill/>
          <a:ln/>
        </p:spPr>
        <p:txBody>
          <a:bodyPr wrap="square" lIns="0" tIns="0" rIns="0" bIns="0" rtlCol="0" anchor="ctr"/>
          <a:lstStyle/>
          <a:p>
            <a:pPr indent="0" marL="0">
              <a:buNone/>
            </a:pPr>
            <a:r>
              <a:rPr lang="en-US" sz="1250" b="1" dirty="0">
                <a:solidFill>
                  <a:srgbClr val="F5A623"/>
                </a:solidFill>
                <a:latin typeface="Calibri" pitchFamily="34" charset="0"/>
                <a:ea typeface="Calibri" pitchFamily="34" charset="-122"/>
                <a:cs typeface="Calibri" pitchFamily="34" charset="-120"/>
              </a:rPr>
              <a:t>Lesson 43  </a:t>
            </a:r>
            <a:pPr indent="0" marL="0">
              <a:buNone/>
            </a:pPr>
            <a:r>
              <a:rPr lang="en-US" sz="1250" dirty="0">
                <a:solidFill>
                  <a:srgbClr val="FFFFFF"/>
                </a:solidFill>
                <a:latin typeface="Calibri" pitchFamily="34" charset="0"/>
                <a:ea typeface="Calibri" pitchFamily="34" charset="-122"/>
                <a:cs typeface="Calibri" pitchFamily="34" charset="-120"/>
              </a:rPr>
              <a:t>Capstone II combines it all into one system (planned)</a:t>
            </a:r>
            <a:endParaRPr lang="en-US" sz="1250" dirty="0"/>
          </a:p>
        </p:txBody>
      </p:sp>
      <p:sp>
        <p:nvSpPr>
          <p:cNvPr id="24" name="Text 22"/>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300" dirty="0">
                <a:solidFill>
                  <a:srgbClr val="B8B2E6"/>
                </a:solidFill>
                <a:latin typeface="Calibri" pitchFamily="34" charset="0"/>
                <a:ea typeface="Calibri" pitchFamily="34" charset="-122"/>
                <a:cs typeface="Calibri" pitchFamily="34" charset="-120"/>
              </a:rPr>
              <a:t>Ships in  </a:t>
            </a:r>
            <a:pPr indent="0" marL="0">
              <a:buNone/>
            </a:pPr>
            <a:r>
              <a:rPr lang="en-US" sz="1300" b="1" dirty="0">
                <a:solidFill>
                  <a:srgbClr val="FFFFFF"/>
                </a:solidFill>
                <a:latin typeface="Calibri" pitchFamily="34" charset="0"/>
                <a:ea typeface="Calibri" pitchFamily="34" charset="-122"/>
                <a:cs typeface="Calibri" pitchFamily="34" charset="-120"/>
              </a:rPr>
              <a:t>Capstone I: Universal Project Manager</a:t>
            </a:r>
            <a:endParaRPr lang="en-US" sz="1300" dirty="0"/>
          </a:p>
        </p:txBody>
      </p:sp>
      <p:sp>
        <p:nvSpPr>
          <p:cNvPr id="25" name="Text 23"/>
          <p:cNvSpPr txBox="1"/>
          <p:nvPr/>
        </p:nvSpPr>
        <p:spPr>
          <a:xfrm>
            <a:off x="457200" y="4796028"/>
            <a:ext cx="6400800" cy="201168"/>
          </a:xfrm>
          <a:prstGeom prst="rect">
            <a:avLst/>
          </a:prstGeom>
          <a:noFill/>
          <a:ln/>
        </p:spPr>
        <p:txBody>
          <a:bodyPr wrap="square" lIns="0" tIns="0" rIns="0" bIns="0" rtlCol="0" anchor="t"/>
          <a:lstStyle/>
          <a:p>
            <a:pPr indent="0" marL="0">
              <a:buNone/>
            </a:pPr>
            <a:r>
              <a:rPr lang="en-US" sz="900" dirty="0">
                <a:solidFill>
                  <a:srgbClr val="B8B2E6"/>
                </a:solidFill>
                <a:latin typeface="Calibri" pitchFamily="34" charset="0"/>
                <a:ea typeface="Calibri" pitchFamily="34" charset="-122"/>
                <a:cs typeface="Calibri" pitchFamily="34" charset="-120"/>
              </a:rPr>
              <a:t>Applied Agentic Orchestration with Semantic Kernel  ·  Lesson 30 — Capstone I: Deployment &amp; Review</a:t>
            </a:r>
            <a:endParaRPr lang="en-US" sz="900" dirty="0"/>
          </a:p>
        </p:txBody>
      </p:sp>
      <p:sp>
        <p:nvSpPr>
          <p:cNvPr id="26" name="Text 24"/>
          <p:cNvSpPr txBox="1"/>
          <p:nvPr/>
        </p:nvSpPr>
        <p:spPr>
          <a:xfrm>
            <a:off x="8138160" y="4796028"/>
            <a:ext cx="548640" cy="201168"/>
          </a:xfrm>
          <a:prstGeom prst="rect">
            <a:avLst/>
          </a:prstGeom>
          <a:noFill/>
          <a:ln/>
        </p:spPr>
        <p:txBody>
          <a:bodyPr wrap="square" lIns="0" tIns="0" rIns="0" bIns="0" rtlCol="0" anchor="t"/>
          <a:lstStyle/>
          <a:p>
            <a:pPr algn="r" indent="0" marL="0">
              <a:buNone/>
            </a:pPr>
            <a:r>
              <a:rPr lang="en-US" sz="900" dirty="0">
                <a:solidFill>
                  <a:srgbClr val="B8B2E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30 — Capstone I: Deployment &amp; Review</dc:title>
  <dc:subject>PptxGenJS Presentation</dc:subject>
  <dc:creator>Media Six LLC</dc:creator>
  <cp:lastModifiedBy>Media Six LLC</cp:lastModifiedBy>
  <cp:revision>1</cp:revision>
  <dcterms:created xsi:type="dcterms:W3CDTF">2026-10-21T23:14:38Z</dcterms:created>
  <dcterms:modified xsi:type="dcterms:W3CDTF">2026-10-21T23:14:38Z</dcterms:modified>
</cp:coreProperties>
</file>