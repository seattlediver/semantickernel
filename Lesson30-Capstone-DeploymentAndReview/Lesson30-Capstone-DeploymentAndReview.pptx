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closes the four-part Universal Project Manager capstone. It takes the exact workflow built through Lesson 29, GoalRefiner, Planner, Developer and Reviewer, looped by the ProjectOrchestrator, and deploys it two ways side by side. The UniversalProjectManager console app carries forward unchanged in behavior. Next to it, a new ASP.NET Core Web API project, UniversalProjectManager.Api, wraps the same agent classes behind a single endpoint, POST api/project/generate. Instead of building one kernel by hand in Main, the Web API registers the Kernel, every agent and the orchestrator with the dependency injection container, so the framework assembles a fresh agent team for every request. An interactive Scalar UI lets you try it from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capstone. Lesson 27 built the architecture, Lesson 28 added the Planner, the Developer and the CreateTask tool, and Lesson 29 added the orchestrator and the Reviewer's rework loop. Lesson 30, highlighted, is deployment. This is the pivot from agent code that runs in a console to agent code that is a deployable service. The agent logic carries over from Lesson 29, and the console and Web API projects share identical agent files apart from internal becoming public, so the Web API can register them. What changes is how those classes are constructed and how a client reaches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folder holds two projects, each with its own solution file. The console app works exactly like Lesson 29's: Main builds one kernel, constructs the four agents by hand, and runs a single project per process. New in this lesson, the whole orchestration run is wrapped in a try/catch, so a failed OpenAI call prints Orchestration failed with the message instead of a stack trace. The Web API, emphasized here, lets the dependency injection container build the kernel and the agents, assembles a fresh team for every HTTP request, and turns the same kind of failure into an HTTP 502 response with a descriptive message rather than an opaque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project is unchanged. The new UniversalProjectManager.Api project uses the Microsoft.NET.Sdk.Web SDK and is controller based rather than a Minimal API. It references the same two Semantic Kernel packages at version 1.78.0, plus Microsoft.AspNetCore.OpenApi 10.0.10 for the OpenAPI document and Scalar.AspNetCore 2.16.17 for the interactive UI. The OpenAI key still comes from OPENAI_API_KEY, but it is read inside the Kernel factory registration, so a missing key surfaces when a request first needs a kernel rather than at startup. One note from the lesson: dotnet build reports a NU1903 advisory on the transitive Microsoft.OpenApi 2.0.0 package. It predates this lesson and is left for a separate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in the Web API replaces the console app's hand-built objects with registrations. The Kernel is registered with a factory that reads OPENAI_API_KEY and builds a gpt-4.1-mini kernel. The GoalRefiner, Planner, Developer and Reviewer are each registered against the same interface, IProjectAgent. Because ProjectOrchestrator's constructor asks for an IEnumerable of IProjectAgent, the container automatically hands it one of each, in registration order, with no manual list-building. ProjectController then receives the orchestrator through its constructor. Every registration is transient, so two concurrent requests never share a kernel, an agent or an 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request end to end. A client posts the rough idea to api/project/generate; the action binds it with FromBody to a plain string, so the body is a JSON string in quotes. If it is empty or whitespace, the controller returns 400 Bad Request. Otherwise it creates a fresh, request-scoped ProjectState with the idea as OriginalRequest. Then, highlighted, it awaits the orchestrator's RunProjectAsync, the same loop as Lesson 29, with the same five-cycle cap. Finally it returns 200 OK with the whole ProjectState serialized as JSON, or, if anything in the run threw, a 502 with a 'Project generation failed' message. The controller is a thin adapter: it never touches OpenAI, prompts or tasks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worth being clear about what deploying to a Web API does not change. The console and Web API projects share identical agent files, apart from internal becoming public so the Web API can register them, and the prompts, the five-cycle cap and the Reviewer's rework loop all carry over from Lesson 29. Two small differences from Lesson 29's copy are worth noticing. The agents no longer have their own try/catch blocks; instead one try/catch around the whole orchestration run, in Program.cs and in the controller, catches any agent's failure at the boundary. And a rejected task's description is replaced by the Reviewer's feedback rather than appended to, a choice the lesson deliberately left as-is. Moving to HTTP also adds new concerns. The highlighted one is that the request is long-running and synchronous: the connection stays open until every orchestration cycle finishes, with no background job and no cancellation. And the API isn't production-hardened: there is no authentication, CORS, API versioning or request DTO validation. Those are real enterprise-readiness gaps, but they are beyond this lesson's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UniversalProjectManager.Api project with the https profile. In the Development environment the root URL redirects to the Scalar UI at scalar slash v1. Choose the POST generate operation and send a body that is a JSON string, in quotes, because the action binds the whole body to a string. Or open UniversalProjectManager.Api.http in Visual Studio and send its sample request against the http profile. The request stays open while the orchestrator runs, and the server console shows the same agent log lines as the console app. The response is 200 OK with the ProjectState serialized as camel-case JSON: the original request, the refined goal, the tasks with their IDs, descriptions, assignments, code and completion flags, and the computed isFullyCompleted. The values on this slide are illustrative and some fields are trimmed; your goal, task IDs and code will differ. The console project still runs exactly like Lesson 29's.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Create a ProjectRequest record with a Goal property in its own file, change GenerateProject to take it from the body, and keep the empty-goal check returning 400. Add a second check that returns 400 when the goal is longer than 500 characters, so a pasted essay never reaches the model. Restart and check that Scalar now shows a request schema with a goal field, then update the request bodies in UniversalProjectManager.Api.http to the new object shape and send both the sample idea and an over-long goal straight from Visual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deployed the Lesson 29 workflow as a Web API, registered the Kernel, the agents and the orchestrator as transient services, let the container hand the orchestrator every IProjectAgent, kept the controller a thin adapter, and tried it from Scalar. That completes Capstone I. Part 2 picks up the gaps this lesson names. The planned Lessons 40, 41 and 42 replace the long synchronous request with event-driven agents, add queued asynchronous human approvals in place of Lesson 20's blocking console gate, and checkpoint state so a run survives a restart. Lesson 37 adds guardrail middleware that redacts PII and rejects unsafe output. And the planned Lesson 43, Capstone II, combines hierarchical delegation, events, checkpointing and guardrails into one deployable system, the Part 2 counterpart to what we just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30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Capstone I: Deployment &amp; Review</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The same four-agent workflow, shipped as a console app and an ASP.NET Core Web API</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29's orchestrator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POST /api/project/generate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the Kernel and agents for dependency injection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transient lifetimes to isolate each request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DI hand the orchestrator every IProjectAgent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the controller a thin adapter over the agents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Try the API from a Scalar UI</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CAPSTONE ARC</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Part 4 of 4: from console app to service</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Architecture</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27: ProjectState, a contract, GoalRefiner</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Plugins</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28: Planner, Developer and a CreateTask tool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Orchestration</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29: an orchestrator and a Reviewer loop</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Deployment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Lesson 30: console app plus a Web API with Scalar</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agent logic carries over; what changes is how it is built and called.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TWO HOSTS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agent team, two ways to run it</a:t>
            </a:r>
            <a:endParaRPr lang="en-US" sz="28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UniversalProjectManager</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Main builds one Kernel and four agents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project per process run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failure prints Orchestration failed</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UniversalProjectManager.Api</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DI builds the Kernel and agents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fresh agent team per HTTP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failure returns HTTP 502</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host has its own .slnx; the agent files are copied into both.</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Web API project adds</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Microsoft.NET.Sdk.Web</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controller-based ASP.NET Core project on net10.0, next to the console app.</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SK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as in the console app.</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OpenAPI + Scalar</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Microsoft.AspNetCore.OpenApi 10.0.10 and Scalar.AspNetCore 2.16.17.</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inside the Kernel factory, so a missing key fails the request that needs it.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DEPENDENCY INJECTION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container builds the whole agent team</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Service container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registration is AddTransient: a new instance each time it's resolved.</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Kernel</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factory reads the key and builds the kernel.</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Four agents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Each registered against IProjectAgent, in workflow order.</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Orchestrator</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Receives IEnumerable&lt;IProjectAgent&gt;: one of each agent.</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Controller</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ProjectController gets the orchestrator injected.</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REQUEST LIFECYCLE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happens on POST /api/project/generate</a:t>
            </a:r>
            <a:endParaRPr lang="en-US" sz="28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POST</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body is the idea as a JSON string.</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Validate</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 empty goal returns 400.</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New state</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fresh ProjectState per request.</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Orchestrate</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Lesson 29 loop, up to five cycles.</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Respond</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200 with the state, or 502 on failure.</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controller knows nothing about OpenAI, prompts or task lists.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STAYS THE SAME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Deploying changes the doorway, not the agents</a:t>
            </a:r>
            <a:endParaRPr lang="en-US" sz="2750" dirty="0"/>
          </a:p>
        </p:txBody>
      </p:sp>
      <p:sp>
        <p:nvSpPr>
          <p:cNvPr id="4" name="Shape 2"/>
          <p:cNvSpPr/>
          <p:nvPr/>
        </p:nvSpPr>
        <p:spPr>
          <a:xfrm>
            <a:off x="457200" y="1371600"/>
            <a:ext cx="3977640" cy="1257300"/>
          </a:xfrm>
          <a:prstGeom prst="roundRect">
            <a:avLst>
              <a:gd name="adj" fmla="val 581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Same agents</a:t>
            </a:r>
            <a:endParaRPr lang="en-US" sz="1500" dirty="0"/>
          </a:p>
        </p:txBody>
      </p:sp>
      <p:sp>
        <p:nvSpPr>
          <p:cNvPr id="8" name="Text 5"/>
          <p:cNvSpPr txBox="1"/>
          <p:nvPr/>
        </p:nvSpPr>
        <p:spPr>
          <a:xfrm>
            <a:off x="640080" y="2057400"/>
            <a:ext cx="3611880" cy="4800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projects share identical agent files, apart from internal becoming public.</a:t>
            </a:r>
            <a:endParaRPr lang="en-US" sz="1200" dirty="0"/>
          </a:p>
        </p:txBody>
      </p:sp>
      <p:sp>
        <p:nvSpPr>
          <p:cNvPr id="9" name="Shape 6"/>
          <p:cNvSpPr/>
          <p:nvPr/>
        </p:nvSpPr>
        <p:spPr>
          <a:xfrm>
            <a:off x="4709160" y="1371600"/>
            <a:ext cx="3977640" cy="1257300"/>
          </a:xfrm>
          <a:prstGeom prst="roundRect">
            <a:avLst>
              <a:gd name="adj" fmla="val 5818"/>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Same loop</a:t>
            </a:r>
            <a:endParaRPr lang="en-US" sz="1500" dirty="0"/>
          </a:p>
        </p:txBody>
      </p:sp>
      <p:sp>
        <p:nvSpPr>
          <p:cNvPr id="13" name="Text 9"/>
          <p:cNvSpPr txBox="1"/>
          <p:nvPr/>
        </p:nvSpPr>
        <p:spPr>
          <a:xfrm>
            <a:off x="4892040" y="2057400"/>
            <a:ext cx="3611880" cy="4800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five-cycle cap and the Reviewer's rework loop are untouched.</a:t>
            </a:r>
            <a:endParaRPr lang="en-US" sz="1200" dirty="0"/>
          </a:p>
        </p:txBody>
      </p:sp>
      <p:sp>
        <p:nvSpPr>
          <p:cNvPr id="14" name="Shape 10"/>
          <p:cNvSpPr/>
          <p:nvPr/>
        </p:nvSpPr>
        <p:spPr>
          <a:xfrm>
            <a:off x="457200" y="2857500"/>
            <a:ext cx="3977640" cy="1257300"/>
          </a:xfrm>
          <a:prstGeom prst="roundRect">
            <a:avLst>
              <a:gd name="adj" fmla="val 5818"/>
            </a:avLst>
          </a:prstGeom>
          <a:solidFill>
            <a:srgbClr val="512BD4"/>
          </a:solidFill>
          <a:ln w="12700">
            <a:solidFill>
              <a:srgbClr val="512BD4"/>
            </a:solidFill>
            <a:prstDash val="solid"/>
          </a:ln>
        </p:spPr>
      </p:sp>
      <p:sp>
        <p:nvSpPr>
          <p:cNvPr id="15" name="Shape 11"/>
          <p:cNvSpPr/>
          <p:nvPr/>
        </p:nvSpPr>
        <p:spPr>
          <a:xfrm>
            <a:off x="640080" y="30403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739932" y="3140232"/>
            <a:ext cx="184343" cy="184343"/>
          </a:xfrm>
          <a:prstGeom prst="rect">
            <a:avLst/>
          </a:prstGeom>
        </p:spPr>
      </p:pic>
      <p:sp>
        <p:nvSpPr>
          <p:cNvPr id="17" name="Text 12"/>
          <p:cNvSpPr txBox="1"/>
          <p:nvPr/>
        </p:nvSpPr>
        <p:spPr>
          <a:xfrm>
            <a:off x="1143000" y="304038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Long requests</a:t>
            </a:r>
            <a:endParaRPr lang="en-US" sz="1500" dirty="0"/>
          </a:p>
        </p:txBody>
      </p:sp>
      <p:sp>
        <p:nvSpPr>
          <p:cNvPr id="18" name="Text 13"/>
          <p:cNvSpPr txBox="1"/>
          <p:nvPr/>
        </p:nvSpPr>
        <p:spPr>
          <a:xfrm>
            <a:off x="640080" y="3543300"/>
            <a:ext cx="3611880" cy="4800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HTTP call stays open until every cycle finishes. No job or cancel.</a:t>
            </a:r>
            <a:endParaRPr lang="en-US" sz="1200" dirty="0"/>
          </a:p>
        </p:txBody>
      </p:sp>
      <p:sp>
        <p:nvSpPr>
          <p:cNvPr id="19" name="Shape 14"/>
          <p:cNvSpPr/>
          <p:nvPr/>
        </p:nvSpPr>
        <p:spPr>
          <a:xfrm>
            <a:off x="4709160" y="2857500"/>
            <a:ext cx="3977640" cy="1257300"/>
          </a:xfrm>
          <a:prstGeom prst="roundRect">
            <a:avLst>
              <a:gd name="adj" fmla="val 5818"/>
            </a:avLst>
          </a:prstGeom>
          <a:solidFill>
            <a:srgbClr val="EFEBFC"/>
          </a:solidFill>
          <a:ln w="12700">
            <a:solidFill>
              <a:srgbClr val="EFEBFC"/>
            </a:solidFill>
            <a:prstDash val="solid"/>
          </a:ln>
        </p:spPr>
      </p:sp>
      <p:sp>
        <p:nvSpPr>
          <p:cNvPr id="20" name="Shape 15"/>
          <p:cNvSpPr/>
          <p:nvPr/>
        </p:nvSpPr>
        <p:spPr>
          <a:xfrm>
            <a:off x="4892040" y="30403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140232"/>
            <a:ext cx="184343" cy="184343"/>
          </a:xfrm>
          <a:prstGeom prst="rect">
            <a:avLst/>
          </a:prstGeom>
        </p:spPr>
      </p:pic>
      <p:sp>
        <p:nvSpPr>
          <p:cNvPr id="22" name="Text 16"/>
          <p:cNvSpPr txBox="1"/>
          <p:nvPr/>
        </p:nvSpPr>
        <p:spPr>
          <a:xfrm>
            <a:off x="5394960" y="30403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Not hardened</a:t>
            </a:r>
            <a:endParaRPr lang="en-US" sz="1500" dirty="0"/>
          </a:p>
        </p:txBody>
      </p:sp>
      <p:sp>
        <p:nvSpPr>
          <p:cNvPr id="23" name="Text 17"/>
          <p:cNvSpPr txBox="1"/>
          <p:nvPr/>
        </p:nvSpPr>
        <p:spPr>
          <a:xfrm>
            <a:off x="4892040" y="3543300"/>
            <a:ext cx="3611880" cy="4800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authentication, CORS, versioning or request DTO yet.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try the endpoint from Scalar</a:t>
            </a:r>
            <a:endParaRPr lang="en-US" sz="2800" dirty="0"/>
          </a:p>
        </p:txBody>
      </p:sp>
      <p:sp>
        <p:nvSpPr>
          <p:cNvPr id="4" name="Shape 2"/>
          <p:cNvSpPr/>
          <p:nvPr/>
        </p:nvSpPr>
        <p:spPr>
          <a:xfrm>
            <a:off x="457200" y="1325880"/>
            <a:ext cx="5257800" cy="2606040"/>
          </a:xfrm>
          <a:prstGeom prst="roundRect">
            <a:avLst>
              <a:gd name="adj" fmla="val 2807"/>
            </a:avLst>
          </a:prstGeom>
          <a:solidFill>
            <a:srgbClr val="0F1420"/>
          </a:solidFill>
          <a:ln w="12700">
            <a:solidFill>
              <a:srgbClr val="0F1420"/>
            </a:solidFill>
            <a:prstDash val="solid"/>
          </a:ln>
        </p:spPr>
      </p:sp>
      <p:sp>
        <p:nvSpPr>
          <p:cNvPr id="5" name="Text 3"/>
          <p:cNvSpPr txBox="1"/>
          <p:nvPr/>
        </p:nvSpPr>
        <p:spPr>
          <a:xfrm>
            <a:off x="640080" y="1463040"/>
            <a:ext cx="4892040" cy="2331720"/>
          </a:xfrm>
          <a:prstGeom prst="rect">
            <a:avLst/>
          </a:prstGeom>
          <a:noFill/>
          <a:ln/>
        </p:spPr>
        <p:txBody>
          <a:bodyPr wrap="square" lIns="0" tIns="0" rIns="0" bIns="0" rtlCol="0" anchor="t"/>
          <a:lstStyle/>
          <a:p>
            <a:pPr indent="0" marL="0">
              <a:buNone/>
            </a:pPr>
            <a:r>
              <a:rPr lang="en-US" sz="1050" b="1" dirty="0">
                <a:solidFill>
                  <a:srgbClr val="F5A623"/>
                </a:solidFill>
                <a:latin typeface="Courier New" pitchFamily="34" charset="0"/>
                <a:ea typeface="Courier New" pitchFamily="34" charset="-122"/>
                <a:cs typeface="Courier New" pitchFamily="34" charset="-120"/>
              </a:rPr>
              <a:t>POST https://localhost:7089/api/project/generate</a:t>
            </a:r>
            <a:endParaRPr lang="en-US" sz="1050" dirty="0"/>
          </a:p>
          <a:p>
            <a:pPr indent="0" marL="0">
              <a:buNone/>
            </a:pPr>
            <a:r>
              <a:rPr lang="en-US" sz="1050" b="1" dirty="0">
                <a:solidFill>
                  <a:srgbClr val="F5A623"/>
                </a:solidFill>
                <a:latin typeface="Courier New" pitchFamily="34" charset="0"/>
                <a:ea typeface="Courier New" pitchFamily="34" charset="-122"/>
                <a:cs typeface="Courier New" pitchFamily="34" charset="-120"/>
              </a:rPr>
              <a:t>"Build a REST API for a todo list"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200 OK</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"originalRequest": "Build a REST API for a todo list",</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"refinedGoal": "Develop a RESTful API to manage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"tasks": [ { "id": "4d1f0c7a",</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"assignedTo": "Developer",</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"result": "public class TodoItem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"isCompleted": true }, ...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"isFullyCompleted": true</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/scalar/v1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 Development, / redirects here. Pick generate and send.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JSON string body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idea goes in quotes; [FromBody] binds a string.</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Goal, IDs, code and the trimmed fields are examples.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Replace the raw string with a request DTO</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Accept { "goal": "..." } through a ProjectRequest record in its own file, and reject goals over 500 characters.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Lesson30-Capstone-DeploymentAndReview/</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UniversalProjectManager.Api/</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ProjectController.cs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body is a JSON object with a goal field, not a bare string</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empty goal still returns 400 Bad Request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Scalar shows the new request schema</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goal over 500 characters returns 400</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long synchronous request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40  </a:t>
            </a:r>
            <a:pPr indent="0" marL="0">
              <a:buNone/>
            </a:pPr>
            <a:r>
              <a:rPr lang="en-US" sz="1250" dirty="0">
                <a:solidFill>
                  <a:srgbClr val="FFFFFF"/>
                </a:solidFill>
                <a:latin typeface="Calibri" pitchFamily="34" charset="0"/>
                <a:ea typeface="Calibri" pitchFamily="34" charset="-122"/>
                <a:cs typeface="Calibri" pitchFamily="34" charset="-120"/>
              </a:rPr>
              <a:t>Agents coordinate through pub-sub events (planned)</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human in the loop</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41  </a:t>
            </a:r>
            <a:pPr indent="0" marL="0">
              <a:buNone/>
            </a:pPr>
            <a:r>
              <a:rPr lang="en-US" sz="1250" dirty="0">
                <a:solidFill>
                  <a:srgbClr val="FFFFFF"/>
                </a:solidFill>
                <a:latin typeface="Calibri" pitchFamily="34" charset="0"/>
                <a:ea typeface="Calibri" pitchFamily="34" charset="-122"/>
                <a:cs typeface="Calibri" pitchFamily="34" charset="-120"/>
              </a:rPr>
              <a:t>Queued, async approvals on the event bus (planned)</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State lost when the run ends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42  </a:t>
            </a:r>
            <a:pPr indent="0" marL="0">
              <a:buNone/>
            </a:pPr>
            <a:r>
              <a:rPr lang="en-US" sz="1250" dirty="0">
                <a:solidFill>
                  <a:srgbClr val="FFFFFF"/>
                </a:solidFill>
                <a:latin typeface="Calibri" pitchFamily="34" charset="0"/>
                <a:ea typeface="Calibri" pitchFamily="34" charset="-122"/>
                <a:cs typeface="Calibri" pitchFamily="34" charset="-120"/>
              </a:rPr>
              <a:t>Checkpoints make a run resumable (planned)</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input or output checks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Guardrail filters redact PII and block bad output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deployable agent system</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43  </a:t>
            </a:r>
            <a:pPr indent="0" marL="0">
              <a:buNone/>
            </a:pPr>
            <a:r>
              <a:rPr lang="en-US" sz="1250" dirty="0">
                <a:solidFill>
                  <a:srgbClr val="FFFFFF"/>
                </a:solidFill>
                <a:latin typeface="Calibri" pitchFamily="34" charset="0"/>
                <a:ea typeface="Calibri" pitchFamily="34" charset="-122"/>
                <a:cs typeface="Calibri" pitchFamily="34" charset="-120"/>
              </a:rPr>
              <a:t>Capstone II combines it all into one system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Capstone I: Universal Project Manager</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30 — Capstone I: Deployment &amp; Review</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 — Capstone I: Deployment &amp; Review</dc:title>
  <dc:subject>PptxGenJS Presentation</dc:subject>
  <dc:creator>Media Six LLC</dc:creator>
  <cp:lastModifiedBy>Media Six LLC</cp:lastModifiedBy>
  <cp:revision>1</cp:revision>
  <dcterms:created xsi:type="dcterms:W3CDTF">2026-10-21T23:25:34Z</dcterms:created>
  <dcterms:modified xsi:type="dcterms:W3CDTF">2026-10-21T23:25:34Z</dcterms:modified>
</cp:coreProperties>
</file>