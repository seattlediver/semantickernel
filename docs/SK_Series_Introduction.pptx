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828800"/>
            <a:ext cx="5943600" cy="594360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3" name="Shape 1"/>
          <p:cNvSpPr/>
          <p:nvPr/>
        </p:nvSpPr>
        <p:spPr>
          <a:xfrm>
            <a:off x="-2103120" y="4937760"/>
            <a:ext cx="4206240" cy="420624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94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31-LESSON AGENTIC AI MASTERCLASS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Agentic AI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Microsoft Semantic Kernel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basic LLM API calls to engineering enterprise-grade, autonomous multi-agent systems — built entirely on Microsoft Semantic Kernel and OpenAI, with a Production-First mindset.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88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8" name="Image 0" descr="/home/claude/deck_sk/icon_found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623" y="4003243"/>
            <a:ext cx="451714" cy="45171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75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4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mastered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9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4" name="Image 1" descr="/home/claude/deck_sk/icon_orchestration_ti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623" y="4003243"/>
            <a:ext cx="451714" cy="45171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56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16" name="Text 12"/>
          <p:cNvSpPr/>
          <p:nvPr/>
        </p:nvSpPr>
        <p:spPr>
          <a:xfrm>
            <a:off x="445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45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15–26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45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coordination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50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0" name="Image 2" descr="/home/claude/deck_sk/icon_capstone_tit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623" y="4003243"/>
            <a:ext cx="451714" cy="45171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1037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22" name="Text 17"/>
          <p:cNvSpPr/>
          <p:nvPr/>
        </p:nvSpPr>
        <p:spPr>
          <a:xfrm>
            <a:off x="826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26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27–30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26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UPM API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Bob  •  Foundation for the MAF series  •  Powered end to end by OpenAI gpt-4.1-mini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 ·  DAYS 1–14 (+8a)  ·  15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Single-Agent Personas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Mastering the Kernel builder, prompt engineering, plugins, and data handling — one specialized agent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93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7" name="Image 0" descr="/home/claude/deck_sk/icon_chat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2005828"/>
            <a:ext cx="194584" cy="1945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8745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The Conversationalist (Chatbot Agent)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" y="24780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1" name="Image 1" descr="/home/claude/deck_sk/icon_summariz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24" y="2554468"/>
            <a:ext cx="194584" cy="1945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24712" y="24231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The Summarizer (Reduction Agent)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30266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5" name="Image 2" descr="/home/claude/deck_sk/icon_trans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24" y="3103108"/>
            <a:ext cx="194584" cy="1945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24712" y="29718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The Format Translator (Transformation Agent)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52044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0080" y="357530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9" name="Image 3" descr="/home/claude/deck_sk/icon_calcula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24" y="3651748"/>
            <a:ext cx="194584" cy="1945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24712" y="352044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— The Calculator (Math Agent)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06908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0080" y="412394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4" descr="/home/claude/deck_sk/icon_resear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24" y="4200388"/>
            <a:ext cx="194584" cy="1945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124712" y="406908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— The Researcher (Web-Search Agent)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46177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0080" y="46725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7" name="Image 5" descr="/home/claude/deck_sk/icon_filemana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24" y="4749028"/>
            <a:ext cx="194584" cy="1945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124712" y="46177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— The File Manager (OS Agent)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548640" y="51663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40080" y="52212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6" descr="/home/claude/deck_sk/icon_dataanaly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24" y="5297668"/>
            <a:ext cx="194584" cy="194584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124712" y="51663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 — The Data Analyst (Extraction Agent)</a:t>
            </a:r>
            <a:endParaRPr lang="en-US" sz="1150" dirty="0"/>
          </a:p>
        </p:txBody>
      </p:sp>
      <p:sp>
        <p:nvSpPr>
          <p:cNvPr id="33" name="Shape 24"/>
          <p:cNvSpPr/>
          <p:nvPr/>
        </p:nvSpPr>
        <p:spPr>
          <a:xfrm>
            <a:off x="548640" y="57150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640080" y="57698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5" name="Image 7" descr="/home/claude/deck_sk/icon_libraria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524" y="5846308"/>
            <a:ext cx="194584" cy="19458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1124712" y="57150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 — The Librarian (Basic RAG Agent)</a:t>
            </a:r>
            <a:endParaRPr lang="en-US" sz="1150" dirty="0"/>
          </a:p>
        </p:txBody>
      </p:sp>
      <p:sp>
        <p:nvSpPr>
          <p:cNvPr id="37" name="Shape 27"/>
          <p:cNvSpPr/>
          <p:nvPr/>
        </p:nvSpPr>
        <p:spPr>
          <a:xfrm>
            <a:off x="6263640" y="18745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6355080" y="19293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9" name="Image 8" descr="/home/claude/deck_sk/icon_cloudlibraria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1524" y="2005828"/>
            <a:ext cx="194584" cy="194584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839712" y="18745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8a — The Cloud Librarian (Pinecone Vector DB)</a:t>
            </a:r>
            <a:endParaRPr lang="en-US" sz="1150" dirty="0"/>
          </a:p>
        </p:txBody>
      </p:sp>
      <p:sp>
        <p:nvSpPr>
          <p:cNvPr id="41" name="Shape 30"/>
          <p:cNvSpPr/>
          <p:nvPr/>
        </p:nvSpPr>
        <p:spPr>
          <a:xfrm>
            <a:off x="6263640" y="24231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6355080" y="24780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3" name="Image 9" descr="/home/claude/deck_sk/icon_interview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1524" y="2554468"/>
            <a:ext cx="194584" cy="194584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6839712" y="24231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 — The Interviewer (Context-Aware Agent)</a:t>
            </a:r>
            <a:endParaRPr lang="en-US" sz="1150" dirty="0"/>
          </a:p>
        </p:txBody>
      </p:sp>
      <p:sp>
        <p:nvSpPr>
          <p:cNvPr id="45" name="Shape 33"/>
          <p:cNvSpPr/>
          <p:nvPr/>
        </p:nvSpPr>
        <p:spPr>
          <a:xfrm>
            <a:off x="6263640" y="29718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6" name="Shape 34"/>
          <p:cNvSpPr/>
          <p:nvPr/>
        </p:nvSpPr>
        <p:spPr>
          <a:xfrm>
            <a:off x="6355080" y="30266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7" name="Image 10" descr="/home/claude/deck_sk/icon_codege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1524" y="3103108"/>
            <a:ext cx="194584" cy="194584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839712" y="29718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10 — The Code Generator (Developer Agent)</a:t>
            </a:r>
            <a:endParaRPr lang="en-US" sz="1150" dirty="0"/>
          </a:p>
        </p:txBody>
      </p:sp>
      <p:sp>
        <p:nvSpPr>
          <p:cNvPr id="49" name="Shape 36"/>
          <p:cNvSpPr/>
          <p:nvPr/>
        </p:nvSpPr>
        <p:spPr>
          <a:xfrm>
            <a:off x="6263640" y="352044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0" name="Shape 37"/>
          <p:cNvSpPr/>
          <p:nvPr/>
        </p:nvSpPr>
        <p:spPr>
          <a:xfrm>
            <a:off x="6355080" y="357530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1" name="Image 11" descr="/home/claude/deck_sk/icon_criti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1524" y="3651748"/>
            <a:ext cx="194584" cy="194584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6839712" y="352044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11 — The Critic (Evaluator Agent)</a:t>
            </a:r>
            <a:endParaRPr lang="en-US" sz="1150" dirty="0"/>
          </a:p>
        </p:txBody>
      </p:sp>
      <p:sp>
        <p:nvSpPr>
          <p:cNvPr id="53" name="Shape 39"/>
          <p:cNvSpPr/>
          <p:nvPr/>
        </p:nvSpPr>
        <p:spPr>
          <a:xfrm>
            <a:off x="6263640" y="406908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4" name="Shape 40"/>
          <p:cNvSpPr/>
          <p:nvPr/>
        </p:nvSpPr>
        <p:spPr>
          <a:xfrm>
            <a:off x="6355080" y="412394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5" name="Image 12" descr="/home/claude/deck_sk/icon_visiona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1524" y="4200388"/>
            <a:ext cx="194584" cy="194584"/>
          </a:xfrm>
          <a:prstGeom prst="rect">
            <a:avLst/>
          </a:prstGeom>
        </p:spPr>
      </p:pic>
      <p:sp>
        <p:nvSpPr>
          <p:cNvPr id="56" name="Text 41"/>
          <p:cNvSpPr/>
          <p:nvPr/>
        </p:nvSpPr>
        <p:spPr>
          <a:xfrm>
            <a:off x="6839712" y="406908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12 — The Visionary (Multimodal Agent)</a:t>
            </a:r>
            <a:endParaRPr lang="en-US" sz="1150" dirty="0"/>
          </a:p>
        </p:txBody>
      </p:sp>
      <p:sp>
        <p:nvSpPr>
          <p:cNvPr id="57" name="Shape 42"/>
          <p:cNvSpPr/>
          <p:nvPr/>
        </p:nvSpPr>
        <p:spPr>
          <a:xfrm>
            <a:off x="6263640" y="46177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8" name="Shape 43"/>
          <p:cNvSpPr/>
          <p:nvPr/>
        </p:nvSpPr>
        <p:spPr>
          <a:xfrm>
            <a:off x="6355080" y="46725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9" name="Image 13" descr="/home/claude/deck_sk/icon_dynamicperson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1524" y="4749028"/>
            <a:ext cx="194584" cy="194584"/>
          </a:xfrm>
          <a:prstGeom prst="rect">
            <a:avLst/>
          </a:prstGeom>
        </p:spPr>
      </p:pic>
      <p:sp>
        <p:nvSpPr>
          <p:cNvPr id="60" name="Text 44"/>
          <p:cNvSpPr/>
          <p:nvPr/>
        </p:nvSpPr>
        <p:spPr>
          <a:xfrm>
            <a:off x="6839712" y="46177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13 — Prompt Logic Plugins (Dynamic Persona)</a:t>
            </a:r>
            <a:endParaRPr lang="en-US" sz="1150" dirty="0"/>
          </a:p>
        </p:txBody>
      </p:sp>
      <p:sp>
        <p:nvSpPr>
          <p:cNvPr id="61" name="Shape 45"/>
          <p:cNvSpPr/>
          <p:nvPr/>
        </p:nvSpPr>
        <p:spPr>
          <a:xfrm>
            <a:off x="6263640" y="51663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2" name="Shape 46"/>
          <p:cNvSpPr/>
          <p:nvPr/>
        </p:nvSpPr>
        <p:spPr>
          <a:xfrm>
            <a:off x="6355080" y="52212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63" name="Image 14" descr="/home/claude/deck_sk/icon_documentq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1524" y="5297668"/>
            <a:ext cx="194584" cy="194584"/>
          </a:xfrm>
          <a:prstGeom prst="rect">
            <a:avLst/>
          </a:prstGeom>
        </p:spPr>
      </p:pic>
      <p:sp>
        <p:nvSpPr>
          <p:cNvPr id="64" name="Text 47"/>
          <p:cNvSpPr/>
          <p:nvPr/>
        </p:nvSpPr>
        <p:spPr>
          <a:xfrm>
            <a:off x="6839712" y="51663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 — The Document QA (Large Context Agent)</a:t>
            </a:r>
            <a:endParaRPr lang="en-US" sz="1150" dirty="0"/>
          </a:p>
        </p:txBody>
      </p:sp>
      <p:sp>
        <p:nvSpPr>
          <p:cNvPr id="65" name="Text 48"/>
          <p:cNvSpPr/>
          <p:nvPr/>
        </p:nvSpPr>
        <p:spPr>
          <a:xfrm>
            <a:off x="548640" y="640080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8a is optional cloud infrastructure — it swaps in Pinecone for the hand-rolled cosine-similarity search from Day 8.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 ·  DAYS 15–26  ·  12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&amp; Advanced Topics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single-shot scripts to autonomous, reasoning systems and multi-agent coordination.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59052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7" name="Image 0" descr="/home/claude/deck_sk/icon_autofu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5115" y="2202607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Function Calling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74136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84548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1" name="Image 1" descr="/home/claude/deck_sk/icon_stepw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611" y="2202607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65576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Planner (ReAct)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210044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5" name="Image 2" descr="/home/claude/deck_sk/icon_agentframe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107" y="2202607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91072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Agent Framework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9025128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0035540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9" name="Image 3" descr="/home/claude/deck_sk/icon_multi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1603" y="2202607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16568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559052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4" descr="/home/claude/deck_sk/icon_coordinat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5115" y="3702223"/>
            <a:ext cx="294803" cy="29480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0080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Coordinator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3374136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384548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7" name="Image 5" descr="/home/claude/deck_sk/icon_humanlo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0611" y="3702223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465576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199632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7210044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6" descr="/home/claude/deck_sk/icon_semanticro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107" y="3702223"/>
            <a:ext cx="294803" cy="294803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291072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Routing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9025128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10035540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5" name="Image 7" descr="/home/claude/deck_sk/icon_filter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1603" y="3702223"/>
            <a:ext cx="294803" cy="294803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116568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Function Filters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548640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1559052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9" name="Image 8" descr="/home/claude/deck_sk/icon_hybridr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5115" y="5201839"/>
            <a:ext cx="294803" cy="294803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40080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Search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3374136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4384548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3" name="Image 9" descr="/home/claude/deck_sk/icon_telemetr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0611" y="5201839"/>
            <a:ext cx="294803" cy="294803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3465576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&amp; Observability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199632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6" name="Shape 34"/>
          <p:cNvSpPr/>
          <p:nvPr/>
        </p:nvSpPr>
        <p:spPr>
          <a:xfrm>
            <a:off x="7210044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7" name="Image 10" descr="/home/claude/deck_sk/icon_longmemor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6107" y="5201839"/>
            <a:ext cx="294803" cy="294803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291072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025128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0" name="Shape 37"/>
          <p:cNvSpPr/>
          <p:nvPr/>
        </p:nvSpPr>
        <p:spPr>
          <a:xfrm>
            <a:off x="10035540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1" name="Image 11" descr="/home/claude/deck_sk/icon_evalua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1603" y="5201839"/>
            <a:ext cx="294803" cy="294803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9116568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 ·  DAYS 27–30  ·  4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 Project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“Universal Project Manager” (UPM) — a cohesive, enterprise-ready system, over four days.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0A3A3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568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functional Universal Project Manager API — it takes a raw business requirement, spins up an AI management team to plan the architecture, writes the code, reviews it for quality, and returns a completed specification.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71500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63040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0" name="Image 0" descr="/home/claude/deck_sk/icon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8605" y="3494837"/>
            <a:ext cx="380390" cy="38039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27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2940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&amp; Architecture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08660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pattern, interface-driven agents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13532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15" name="Shape 12"/>
          <p:cNvSpPr/>
          <p:nvPr/>
        </p:nvSpPr>
        <p:spPr>
          <a:xfrm>
            <a:off x="3415284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06824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7" name="Image 1" descr="/home/claude/deck_sk/icon_bui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89" y="3494837"/>
            <a:ext cx="380390" cy="3803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06724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506724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Team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3552444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&amp; Developer agents, state-aware plugins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957316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22" name="Shape 18"/>
          <p:cNvSpPr/>
          <p:nvPr/>
        </p:nvSpPr>
        <p:spPr>
          <a:xfrm>
            <a:off x="6259068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150608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4" name="Image 2" descr="/home/claude/deck_sk/icon_orchestr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3" y="3494837"/>
            <a:ext cx="380390" cy="38039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0508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29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350508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Orchestrate &amp; Review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6396228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Reviewer/QA agent, automated rework loop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801100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29" name="Shape 24"/>
          <p:cNvSpPr/>
          <p:nvPr/>
        </p:nvSpPr>
        <p:spPr>
          <a:xfrm>
            <a:off x="9102852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994392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3" descr="/home/claude/deck_sk/icon_deplo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9957" y="3494837"/>
            <a:ext cx="380390" cy="38039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94292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194292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 &amp; Deploy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9240012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 with Scalar docs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571500" y="6080760"/>
            <a:ext cx="11045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iteratively — each day's work becomes the next day's foundation.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377440"/>
            <a:ext cx="5669280" cy="566928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5120640" cy="512064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DAY 30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Walk Away With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4340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34340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One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Mindset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04672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881360" cy="0"/>
          </a:xfrm>
          <a:prstGeom prst="line">
            <a:avLst/>
          </a:prstGeom>
          <a:noFill/>
          <a:ln w="19050">
            <a:solidFill>
              <a:srgbClr val="072B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4" name="Image 0" descr="/home/claude/deck_s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237" y="3770757"/>
            <a:ext cx="276606" cy="27660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3584448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building specialized agents with Semantic Kernel — personas, plugins, RAG, and multimodality — before ever orchestrating them together.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4370832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7" name="Image 1" descr="/home/claude/deck_sk/icon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37" y="4483989"/>
            <a:ext cx="276606" cy="27660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71600" y="4297680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patterns: OpenTelemetry observability, prompt/function filters, hybrid RAG, and semantic routing.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" y="5084064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0" name="Image 2" descr="/home/claude/deck_sk/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37" y="5197221"/>
            <a:ext cx="276606" cy="27660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71600" y="5010912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working C# code for every lesson — deterministic native orchestration, no unstable experimental APIs.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40080" y="5797296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3" descr="/home/claude/deck_sk/icon_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237" y="5910453"/>
            <a:ext cx="276606" cy="27660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71600" y="5724144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Universal Project Manager API — plans, codes, and reviews software autonomously, deployed as an ASP.NET Core Web API with Scalar docs.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CF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start with Day 1.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2026-08-06T19:13:40Z</dcterms:created>
  <dcterms:modified xsi:type="dcterms:W3CDTF">2026-08-06T19:13:40Z</dcterms:modified>
</cp:coreProperties>
</file>