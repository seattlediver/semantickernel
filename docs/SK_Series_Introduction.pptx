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image" Target="../media/image-3-11.png"/><Relationship Id="rId12" Type="http://schemas.openxmlformats.org/officeDocument/2006/relationships/image" Target="../media/image-3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3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828800"/>
            <a:ext cx="5943600" cy="5943600"/>
          </a:xfrm>
          <a:prstGeom prst="ellipse">
            <a:avLst/>
          </a:prstGeom>
          <a:solidFill>
            <a:srgbClr val="072B2D"/>
          </a:solidFill>
          <a:ln/>
        </p:spPr>
      </p:sp>
      <p:sp>
        <p:nvSpPr>
          <p:cNvPr id="3" name="Shape 1"/>
          <p:cNvSpPr/>
          <p:nvPr/>
        </p:nvSpPr>
        <p:spPr>
          <a:xfrm>
            <a:off x="-2103120" y="4937760"/>
            <a:ext cx="4206240" cy="4206240"/>
          </a:xfrm>
          <a:prstGeom prst="ellipse">
            <a:avLst/>
          </a:prstGeom>
          <a:solidFill>
            <a:srgbClr val="072B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943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31-LESSON AGENTIC AI MASTERCLASS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960120"/>
            <a:ext cx="102412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Agentic AI</a:t>
            </a:r>
            <a:endParaRPr lang="en-US" sz="3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Microsoft Semantic Kernel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8595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i="1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basic LLM API calls to engineering enterprise-grade, autonomous multi-agent systems — built entirely on Microsoft Semantic Kernel and Google Gemini, with a Production-First mindset.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882140" y="3794760"/>
            <a:ext cx="868680" cy="868680"/>
          </a:xfrm>
          <a:prstGeom prst="ellipse">
            <a:avLst/>
          </a:prstGeom>
          <a:solidFill>
            <a:srgbClr val="072B2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8" name="Image 0" descr="/home/claude/deck_sk/icon_found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0623" y="4003243"/>
            <a:ext cx="451714" cy="45171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2750820" y="4229100"/>
            <a:ext cx="411480" cy="0"/>
          </a:xfrm>
          <a:prstGeom prst="line">
            <a:avLst/>
          </a:prstGeom>
          <a:noFill/>
          <a:ln w="19050">
            <a:solidFill>
              <a:srgbClr val="9FCFC9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40080" y="4800600"/>
            <a:ext cx="335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5120640"/>
            <a:ext cx="335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1–14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5376672"/>
            <a:ext cx="335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agent, mastered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5692140" y="3794760"/>
            <a:ext cx="868680" cy="868680"/>
          </a:xfrm>
          <a:prstGeom prst="ellipse">
            <a:avLst/>
          </a:prstGeom>
          <a:solidFill>
            <a:srgbClr val="072B2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4" name="Image 1" descr="/home/claude/deck_sk/icon_orchestration_tit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623" y="4003243"/>
            <a:ext cx="451714" cy="451714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560820" y="4229100"/>
            <a:ext cx="411480" cy="0"/>
          </a:xfrm>
          <a:prstGeom prst="line">
            <a:avLst/>
          </a:prstGeom>
          <a:noFill/>
          <a:ln w="19050">
            <a:solidFill>
              <a:srgbClr val="9FCFC9"/>
            </a:solidFill>
            <a:prstDash val="dash"/>
          </a:ln>
        </p:spPr>
      </p:sp>
      <p:sp>
        <p:nvSpPr>
          <p:cNvPr id="16" name="Text 12"/>
          <p:cNvSpPr/>
          <p:nvPr/>
        </p:nvSpPr>
        <p:spPr>
          <a:xfrm>
            <a:off x="4450080" y="4800600"/>
            <a:ext cx="335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Orchestration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450080" y="5120640"/>
            <a:ext cx="335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15–26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450080" y="5376672"/>
            <a:ext cx="335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&amp; coordination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9502140" y="3794760"/>
            <a:ext cx="868680" cy="868680"/>
          </a:xfrm>
          <a:prstGeom prst="ellipse">
            <a:avLst/>
          </a:prstGeom>
          <a:solidFill>
            <a:srgbClr val="072B2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0" name="Image 2" descr="/home/claude/deck_sk/icon_capstone_tit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623" y="4003243"/>
            <a:ext cx="451714" cy="451714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10370820" y="4229100"/>
            <a:ext cx="411480" cy="0"/>
          </a:xfrm>
          <a:prstGeom prst="line">
            <a:avLst/>
          </a:prstGeom>
          <a:noFill/>
          <a:ln w="19050">
            <a:solidFill>
              <a:srgbClr val="9FCFC9"/>
            </a:solidFill>
            <a:prstDash val="dash"/>
          </a:ln>
        </p:spPr>
      </p:sp>
      <p:sp>
        <p:nvSpPr>
          <p:cNvPr id="22" name="Text 17"/>
          <p:cNvSpPr/>
          <p:nvPr/>
        </p:nvSpPr>
        <p:spPr>
          <a:xfrm>
            <a:off x="8260080" y="4800600"/>
            <a:ext cx="335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Capstone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260080" y="5120640"/>
            <a:ext cx="335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27–30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8260080" y="5376672"/>
            <a:ext cx="335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UPM API</a:t>
            </a:r>
            <a:endParaRPr lang="en-US" sz="1050" dirty="0"/>
          </a:p>
        </p:txBody>
      </p:sp>
      <p:sp>
        <p:nvSpPr>
          <p:cNvPr id="25" name="Text 20"/>
          <p:cNvSpPr/>
          <p:nvPr/>
        </p:nvSpPr>
        <p:spPr>
          <a:xfrm>
            <a:off x="640080" y="626364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CF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Bob  •  Foundation for the MAF series  •  100% Gemini-powered, runs free-tier end to end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  ·  DAYS 1–14 (+8a)  ·  15 LESSONS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10515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Foundations &amp; Single-Agent Personas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Mastering the Kernel builder, prompt engineering, plugins, and data handling — one specialized agent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92938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7" name="Image 0" descr="/home/claude/deck_sk/icon_chatbo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6524" y="2005828"/>
            <a:ext cx="194584" cy="1945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24712" y="187452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The Conversationalist (Chatbot Agent)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242316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0080" y="247802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1" name="Image 1" descr="/home/claude/deck_sk/icon_summariz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524" y="2554468"/>
            <a:ext cx="194584" cy="1945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24712" y="242316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The Summarizer (Reduction Agent)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297180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" y="302666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5" name="Image 2" descr="/home/claude/deck_sk/icon_transla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6524" y="3103108"/>
            <a:ext cx="194584" cy="1945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124712" y="297180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The Format Translator (Transformation Agent)</a:t>
            </a:r>
            <a:endParaRPr lang="en-US" sz="1150" dirty="0"/>
          </a:p>
        </p:txBody>
      </p:sp>
      <p:sp>
        <p:nvSpPr>
          <p:cNvPr id="17" name="Shape 12"/>
          <p:cNvSpPr/>
          <p:nvPr/>
        </p:nvSpPr>
        <p:spPr>
          <a:xfrm>
            <a:off x="548640" y="352044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640080" y="357530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9" name="Image 3" descr="/home/claude/deck_sk/icon_calculato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6524" y="3651748"/>
            <a:ext cx="194584" cy="19458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124712" y="352044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— The Calculator (Math Agent)</a:t>
            </a:r>
            <a:endParaRPr lang="en-US" sz="1150" dirty="0"/>
          </a:p>
        </p:txBody>
      </p:sp>
      <p:sp>
        <p:nvSpPr>
          <p:cNvPr id="21" name="Shape 15"/>
          <p:cNvSpPr/>
          <p:nvPr/>
        </p:nvSpPr>
        <p:spPr>
          <a:xfrm>
            <a:off x="548640" y="406908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640080" y="412394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3" name="Image 4" descr="/home/claude/deck_sk/icon_research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24" y="4200388"/>
            <a:ext cx="194584" cy="194584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124712" y="406908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5 — The Researcher (Web-Search Agent)</a:t>
            </a:r>
            <a:endParaRPr lang="en-US" sz="1150" dirty="0"/>
          </a:p>
        </p:txBody>
      </p:sp>
      <p:sp>
        <p:nvSpPr>
          <p:cNvPr id="25" name="Shape 18"/>
          <p:cNvSpPr/>
          <p:nvPr/>
        </p:nvSpPr>
        <p:spPr>
          <a:xfrm>
            <a:off x="548640" y="461772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40080" y="467258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7" name="Image 5" descr="/home/claude/deck_sk/icon_filemanager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524" y="4749028"/>
            <a:ext cx="194584" cy="19458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124712" y="461772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 — The File Manager (OS Agent)</a:t>
            </a:r>
            <a:endParaRPr lang="en-US" sz="1150" dirty="0"/>
          </a:p>
        </p:txBody>
      </p:sp>
      <p:sp>
        <p:nvSpPr>
          <p:cNvPr id="29" name="Shape 21"/>
          <p:cNvSpPr/>
          <p:nvPr/>
        </p:nvSpPr>
        <p:spPr>
          <a:xfrm>
            <a:off x="548640" y="516636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640080" y="522122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31" name="Image 6" descr="/home/claude/deck_sk/icon_dataanalys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524" y="5297668"/>
            <a:ext cx="194584" cy="194584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1124712" y="516636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7 — The Data Analyst (Extraction Agent)</a:t>
            </a:r>
            <a:endParaRPr lang="en-US" sz="1150" dirty="0"/>
          </a:p>
        </p:txBody>
      </p:sp>
      <p:sp>
        <p:nvSpPr>
          <p:cNvPr id="33" name="Shape 24"/>
          <p:cNvSpPr/>
          <p:nvPr/>
        </p:nvSpPr>
        <p:spPr>
          <a:xfrm>
            <a:off x="548640" y="571500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34" name="Shape 25"/>
          <p:cNvSpPr/>
          <p:nvPr/>
        </p:nvSpPr>
        <p:spPr>
          <a:xfrm>
            <a:off x="640080" y="576986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35" name="Image 7" descr="/home/claude/deck_sk/icon_libraria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6524" y="5846308"/>
            <a:ext cx="194584" cy="194584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1124712" y="571500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8 — The Librarian (Basic RAG Agent)</a:t>
            </a:r>
            <a:endParaRPr lang="en-US" sz="1150" dirty="0"/>
          </a:p>
        </p:txBody>
      </p:sp>
      <p:sp>
        <p:nvSpPr>
          <p:cNvPr id="37" name="Shape 27"/>
          <p:cNvSpPr/>
          <p:nvPr/>
        </p:nvSpPr>
        <p:spPr>
          <a:xfrm>
            <a:off x="6263640" y="187452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38" name="Shape 28"/>
          <p:cNvSpPr/>
          <p:nvPr/>
        </p:nvSpPr>
        <p:spPr>
          <a:xfrm>
            <a:off x="6355080" y="192938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39" name="Image 8" descr="/home/claude/deck_sk/icon_cloudlibraria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31524" y="2005828"/>
            <a:ext cx="194584" cy="194584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6839712" y="187452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8a — The Cloud Librarian (Pinecone Vector DB)</a:t>
            </a:r>
            <a:endParaRPr lang="en-US" sz="1150" dirty="0"/>
          </a:p>
        </p:txBody>
      </p:sp>
      <p:sp>
        <p:nvSpPr>
          <p:cNvPr id="41" name="Shape 30"/>
          <p:cNvSpPr/>
          <p:nvPr/>
        </p:nvSpPr>
        <p:spPr>
          <a:xfrm>
            <a:off x="6263640" y="242316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42" name="Shape 31"/>
          <p:cNvSpPr/>
          <p:nvPr/>
        </p:nvSpPr>
        <p:spPr>
          <a:xfrm>
            <a:off x="6355080" y="247802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43" name="Image 9" descr="/home/claude/deck_sk/icon_interviewer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1524" y="2554468"/>
            <a:ext cx="194584" cy="194584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6839712" y="242316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9 — The Interviewer (Context-Aware Agent)</a:t>
            </a:r>
            <a:endParaRPr lang="en-US" sz="1150" dirty="0"/>
          </a:p>
        </p:txBody>
      </p:sp>
      <p:sp>
        <p:nvSpPr>
          <p:cNvPr id="45" name="Shape 33"/>
          <p:cNvSpPr/>
          <p:nvPr/>
        </p:nvSpPr>
        <p:spPr>
          <a:xfrm>
            <a:off x="6263640" y="297180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46" name="Shape 34"/>
          <p:cNvSpPr/>
          <p:nvPr/>
        </p:nvSpPr>
        <p:spPr>
          <a:xfrm>
            <a:off x="6355080" y="302666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47" name="Image 10" descr="/home/claude/deck_sk/icon_codegen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1524" y="3103108"/>
            <a:ext cx="194584" cy="194584"/>
          </a:xfrm>
          <a:prstGeom prst="rect">
            <a:avLst/>
          </a:prstGeom>
        </p:spPr>
      </p:pic>
      <p:sp>
        <p:nvSpPr>
          <p:cNvPr id="48" name="Text 35"/>
          <p:cNvSpPr/>
          <p:nvPr/>
        </p:nvSpPr>
        <p:spPr>
          <a:xfrm>
            <a:off x="6839712" y="297180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10 — The Code Generator (Developer Agent)</a:t>
            </a:r>
            <a:endParaRPr lang="en-US" sz="1150" dirty="0"/>
          </a:p>
        </p:txBody>
      </p:sp>
      <p:sp>
        <p:nvSpPr>
          <p:cNvPr id="49" name="Shape 36"/>
          <p:cNvSpPr/>
          <p:nvPr/>
        </p:nvSpPr>
        <p:spPr>
          <a:xfrm>
            <a:off x="6263640" y="352044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50" name="Shape 37"/>
          <p:cNvSpPr/>
          <p:nvPr/>
        </p:nvSpPr>
        <p:spPr>
          <a:xfrm>
            <a:off x="6355080" y="357530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51" name="Image 11" descr="/home/claude/deck_sk/icon_critic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31524" y="3651748"/>
            <a:ext cx="194584" cy="194584"/>
          </a:xfrm>
          <a:prstGeom prst="rect">
            <a:avLst/>
          </a:prstGeom>
        </p:spPr>
      </p:pic>
      <p:sp>
        <p:nvSpPr>
          <p:cNvPr id="52" name="Text 38"/>
          <p:cNvSpPr/>
          <p:nvPr/>
        </p:nvSpPr>
        <p:spPr>
          <a:xfrm>
            <a:off x="6839712" y="352044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11 — The Critic (Evaluator Agent)</a:t>
            </a:r>
            <a:endParaRPr lang="en-US" sz="1150" dirty="0"/>
          </a:p>
        </p:txBody>
      </p:sp>
      <p:sp>
        <p:nvSpPr>
          <p:cNvPr id="53" name="Shape 39"/>
          <p:cNvSpPr/>
          <p:nvPr/>
        </p:nvSpPr>
        <p:spPr>
          <a:xfrm>
            <a:off x="6263640" y="406908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54" name="Shape 40"/>
          <p:cNvSpPr/>
          <p:nvPr/>
        </p:nvSpPr>
        <p:spPr>
          <a:xfrm>
            <a:off x="6355080" y="412394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55" name="Image 12" descr="/home/claude/deck_sk/icon_visionary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1524" y="4200388"/>
            <a:ext cx="194584" cy="194584"/>
          </a:xfrm>
          <a:prstGeom prst="rect">
            <a:avLst/>
          </a:prstGeom>
        </p:spPr>
      </p:pic>
      <p:sp>
        <p:nvSpPr>
          <p:cNvPr id="56" name="Text 41"/>
          <p:cNvSpPr/>
          <p:nvPr/>
        </p:nvSpPr>
        <p:spPr>
          <a:xfrm>
            <a:off x="6839712" y="406908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12 — The Visionary (Multimodal Agent)</a:t>
            </a:r>
            <a:endParaRPr lang="en-US" sz="1150" dirty="0"/>
          </a:p>
        </p:txBody>
      </p:sp>
      <p:sp>
        <p:nvSpPr>
          <p:cNvPr id="57" name="Shape 42"/>
          <p:cNvSpPr/>
          <p:nvPr/>
        </p:nvSpPr>
        <p:spPr>
          <a:xfrm>
            <a:off x="6263640" y="461772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58" name="Shape 43"/>
          <p:cNvSpPr/>
          <p:nvPr/>
        </p:nvSpPr>
        <p:spPr>
          <a:xfrm>
            <a:off x="6355080" y="467258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59" name="Image 13" descr="/home/claude/deck_sk/icon_dynamicpersona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1524" y="4749028"/>
            <a:ext cx="194584" cy="194584"/>
          </a:xfrm>
          <a:prstGeom prst="rect">
            <a:avLst/>
          </a:prstGeom>
        </p:spPr>
      </p:pic>
      <p:sp>
        <p:nvSpPr>
          <p:cNvPr id="60" name="Text 44"/>
          <p:cNvSpPr/>
          <p:nvPr/>
        </p:nvSpPr>
        <p:spPr>
          <a:xfrm>
            <a:off x="6839712" y="461772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13 — The Dynamic Persona (Handlebars Agent)</a:t>
            </a:r>
            <a:endParaRPr lang="en-US" sz="1150" dirty="0"/>
          </a:p>
        </p:txBody>
      </p:sp>
      <p:sp>
        <p:nvSpPr>
          <p:cNvPr id="61" name="Shape 45"/>
          <p:cNvSpPr/>
          <p:nvPr/>
        </p:nvSpPr>
        <p:spPr>
          <a:xfrm>
            <a:off x="6263640" y="5166360"/>
            <a:ext cx="534924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62" name="Shape 46"/>
          <p:cNvSpPr/>
          <p:nvPr/>
        </p:nvSpPr>
        <p:spPr>
          <a:xfrm>
            <a:off x="6355080" y="5221224"/>
            <a:ext cx="347472" cy="347472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63" name="Image 14" descr="/home/claude/deck_sk/icon_documentqa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31524" y="5297668"/>
            <a:ext cx="194584" cy="194584"/>
          </a:xfrm>
          <a:prstGeom prst="rect">
            <a:avLst/>
          </a:prstGeom>
        </p:spPr>
      </p:pic>
      <p:sp>
        <p:nvSpPr>
          <p:cNvPr id="64" name="Text 47"/>
          <p:cNvSpPr/>
          <p:nvPr/>
        </p:nvSpPr>
        <p:spPr>
          <a:xfrm>
            <a:off x="6839712" y="5166360"/>
            <a:ext cx="4636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14 — The Document QA (Large Context Agent)</a:t>
            </a:r>
            <a:endParaRPr lang="en-US" sz="1150" dirty="0"/>
          </a:p>
        </p:txBody>
      </p:sp>
      <p:sp>
        <p:nvSpPr>
          <p:cNvPr id="65" name="Text 48"/>
          <p:cNvSpPr/>
          <p:nvPr/>
        </p:nvSpPr>
        <p:spPr>
          <a:xfrm>
            <a:off x="548640" y="6400800"/>
            <a:ext cx="11064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8a is optional cloud infrastructure — it swaps in Pinecone for the hand-rolled cosine-similarity search from Day 8.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  ·  DAYS 15–26  ·  12 LESSONS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Orchestration &amp; Advanced Topics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single-shot scripts to autonomous, reasoning systems and multi-agent coordination.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901952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559052" y="2066544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7" name="Image 0" descr="/home/claude/deck_sk/icon_autofun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95115" y="2202607"/>
            <a:ext cx="294803" cy="29480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2743200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Function Calling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374136" y="1901952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384548" y="2066544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1" name="Image 1" descr="/home/claude/deck_sk/icon_stepwis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0611" y="2202607"/>
            <a:ext cx="294803" cy="29480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65576" y="2743200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Stepwise Planner (ReAct)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6199632" y="1901952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7210044" y="2066544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5" name="Image 2" descr="/home/claude/deck_sk/icon_agentframewo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6107" y="2202607"/>
            <a:ext cx="294803" cy="29480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291072" y="2743200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 Agent Framework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9025128" y="1901952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10035540" y="2066544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9" name="Image 3" descr="/home/claude/deck_sk/icon_multiage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71603" y="2202607"/>
            <a:ext cx="294803" cy="294803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116568" y="2743200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48640" y="3401568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1559052" y="3566160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3" name="Image 4" descr="/home/claude/deck_sk/icon_coordinato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5115" y="3702223"/>
            <a:ext cx="294803" cy="294803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40080" y="4242816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Coordinator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3374136" y="3401568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384548" y="3566160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7" name="Image 5" descr="/home/claude/deck_sk/icon_humanloo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20611" y="3702223"/>
            <a:ext cx="294803" cy="294803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3465576" y="4242816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6199632" y="3401568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30" name="Shape 22"/>
          <p:cNvSpPr/>
          <p:nvPr/>
        </p:nvSpPr>
        <p:spPr>
          <a:xfrm>
            <a:off x="7210044" y="3566160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31" name="Image 6" descr="/home/claude/deck_sk/icon_semanticrouting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46107" y="3702223"/>
            <a:ext cx="294803" cy="294803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6291072" y="4242816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Routing</a:t>
            </a:r>
            <a:endParaRPr lang="en-US" sz="1200" dirty="0"/>
          </a:p>
        </p:txBody>
      </p:sp>
      <p:sp>
        <p:nvSpPr>
          <p:cNvPr id="33" name="Shape 24"/>
          <p:cNvSpPr/>
          <p:nvPr/>
        </p:nvSpPr>
        <p:spPr>
          <a:xfrm>
            <a:off x="9025128" y="3401568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34" name="Shape 25"/>
          <p:cNvSpPr/>
          <p:nvPr/>
        </p:nvSpPr>
        <p:spPr>
          <a:xfrm>
            <a:off x="10035540" y="3566160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35" name="Image 7" descr="/home/claude/deck_sk/icon_filters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71603" y="3702223"/>
            <a:ext cx="294803" cy="294803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9116568" y="4242816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&amp; Function Filters</a:t>
            </a:r>
            <a:endParaRPr lang="en-US" sz="1200" dirty="0"/>
          </a:p>
        </p:txBody>
      </p:sp>
      <p:sp>
        <p:nvSpPr>
          <p:cNvPr id="37" name="Shape 27"/>
          <p:cNvSpPr/>
          <p:nvPr/>
        </p:nvSpPr>
        <p:spPr>
          <a:xfrm>
            <a:off x="548640" y="4901184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38" name="Shape 28"/>
          <p:cNvSpPr/>
          <p:nvPr/>
        </p:nvSpPr>
        <p:spPr>
          <a:xfrm>
            <a:off x="1559052" y="5065776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39" name="Image 8" descr="/home/claude/deck_sk/icon_hybridrag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95115" y="5201839"/>
            <a:ext cx="294803" cy="294803"/>
          </a:xfrm>
          <a:prstGeom prst="rect">
            <a:avLst/>
          </a:prstGeom>
        </p:spPr>
      </p:pic>
      <p:sp>
        <p:nvSpPr>
          <p:cNvPr id="40" name="Text 29"/>
          <p:cNvSpPr/>
          <p:nvPr/>
        </p:nvSpPr>
        <p:spPr>
          <a:xfrm>
            <a:off x="640080" y="5742432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 Search</a:t>
            </a:r>
            <a:endParaRPr lang="en-US" sz="1200" dirty="0"/>
          </a:p>
        </p:txBody>
      </p:sp>
      <p:sp>
        <p:nvSpPr>
          <p:cNvPr id="41" name="Shape 30"/>
          <p:cNvSpPr/>
          <p:nvPr/>
        </p:nvSpPr>
        <p:spPr>
          <a:xfrm>
            <a:off x="3374136" y="4901184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42" name="Shape 31"/>
          <p:cNvSpPr/>
          <p:nvPr/>
        </p:nvSpPr>
        <p:spPr>
          <a:xfrm>
            <a:off x="4384548" y="5065776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43" name="Image 9" descr="/home/claude/deck_sk/icon_telemetry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20611" y="5201839"/>
            <a:ext cx="294803" cy="294803"/>
          </a:xfrm>
          <a:prstGeom prst="rect">
            <a:avLst/>
          </a:prstGeom>
        </p:spPr>
      </p:pic>
      <p:sp>
        <p:nvSpPr>
          <p:cNvPr id="44" name="Text 32"/>
          <p:cNvSpPr/>
          <p:nvPr/>
        </p:nvSpPr>
        <p:spPr>
          <a:xfrm>
            <a:off x="3465576" y="5742432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&amp; Observability</a:t>
            </a:r>
            <a:endParaRPr lang="en-US" sz="1200" dirty="0"/>
          </a:p>
        </p:txBody>
      </p:sp>
      <p:sp>
        <p:nvSpPr>
          <p:cNvPr id="45" name="Shape 33"/>
          <p:cNvSpPr/>
          <p:nvPr/>
        </p:nvSpPr>
        <p:spPr>
          <a:xfrm>
            <a:off x="6199632" y="4901184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46" name="Shape 34"/>
          <p:cNvSpPr/>
          <p:nvPr/>
        </p:nvSpPr>
        <p:spPr>
          <a:xfrm>
            <a:off x="7210044" y="5065776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47" name="Image 10" descr="/home/claude/deck_sk/icon_longmemory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46107" y="5201839"/>
            <a:ext cx="294803" cy="294803"/>
          </a:xfrm>
          <a:prstGeom prst="rect">
            <a:avLst/>
          </a:prstGeom>
        </p:spPr>
      </p:pic>
      <p:sp>
        <p:nvSpPr>
          <p:cNvPr id="48" name="Text 35"/>
          <p:cNvSpPr/>
          <p:nvPr/>
        </p:nvSpPr>
        <p:spPr>
          <a:xfrm>
            <a:off x="6291072" y="5742432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Long-Term Memory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9025128" y="4901184"/>
            <a:ext cx="258775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50" name="Shape 37"/>
          <p:cNvSpPr/>
          <p:nvPr/>
        </p:nvSpPr>
        <p:spPr>
          <a:xfrm>
            <a:off x="10035540" y="5065776"/>
            <a:ext cx="566928" cy="566928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51" name="Image 11" descr="/home/claude/deck_sk/icon_evaluating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171603" y="5201839"/>
            <a:ext cx="294803" cy="294803"/>
          </a:xfrm>
          <a:prstGeom prst="rect">
            <a:avLst/>
          </a:prstGeom>
        </p:spPr>
      </p:pic>
      <p:sp>
        <p:nvSpPr>
          <p:cNvPr id="52" name="Text 38"/>
          <p:cNvSpPr/>
          <p:nvPr/>
        </p:nvSpPr>
        <p:spPr>
          <a:xfrm>
            <a:off x="9116568" y="5742432"/>
            <a:ext cx="240487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A3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Performance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A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III  ·  DAYS 27–30  ·  4 LESSONS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30352" y="64008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A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Capstone Project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the “Universal Project Manager” (UPM) — a cohesive, enterprise-ready system, over four days.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82880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0A3A3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1956816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68680" y="2212848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fully functional Universal Project Manager API — it takes a raw business requirement, spins up an AI management team to plan the architecture, writes the code, reviews it for quality, and returns a completed specification.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71500" y="3063240"/>
            <a:ext cx="2514600" cy="26060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1463040" y="3319272"/>
            <a:ext cx="731520" cy="73152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0" name="Image 0" descr="/home/claude/deck_sk/icon_desig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8605" y="3494837"/>
            <a:ext cx="380390" cy="38039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62940" y="4178808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27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62940" y="44348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A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&amp; Architecture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08660" y="4910328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Blackboard pattern, interface-driven agents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3113532" y="4283964"/>
            <a:ext cx="274320" cy="164592"/>
          </a:xfrm>
          <a:prstGeom prst="rightArrow">
            <a:avLst/>
          </a:prstGeom>
          <a:solidFill>
            <a:srgbClr val="F4A300"/>
          </a:solidFill>
          <a:ln/>
        </p:spPr>
      </p:sp>
      <p:sp>
        <p:nvSpPr>
          <p:cNvPr id="15" name="Shape 12"/>
          <p:cNvSpPr/>
          <p:nvPr/>
        </p:nvSpPr>
        <p:spPr>
          <a:xfrm>
            <a:off x="3415284" y="3063240"/>
            <a:ext cx="2514600" cy="26060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306824" y="3319272"/>
            <a:ext cx="731520" cy="73152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7" name="Image 1" descr="/home/claude/deck_sk/icon_bui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2389" y="3494837"/>
            <a:ext cx="380390" cy="38039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506724" y="4178808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28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506724" y="44348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A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Team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3552444" y="4910328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Planner &amp; Developer agents, state-aware plugins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5957316" y="4283964"/>
            <a:ext cx="274320" cy="164592"/>
          </a:xfrm>
          <a:prstGeom prst="rightArrow">
            <a:avLst/>
          </a:prstGeom>
          <a:solidFill>
            <a:srgbClr val="F4A300"/>
          </a:solidFill>
          <a:ln/>
        </p:spPr>
      </p:sp>
      <p:sp>
        <p:nvSpPr>
          <p:cNvPr id="22" name="Shape 18"/>
          <p:cNvSpPr/>
          <p:nvPr/>
        </p:nvSpPr>
        <p:spPr>
          <a:xfrm>
            <a:off x="6259068" y="3063240"/>
            <a:ext cx="2514600" cy="26060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7150608" y="3319272"/>
            <a:ext cx="731520" cy="73152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4" name="Image 2" descr="/home/claude/deck_sk/icon_orchestrat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6173" y="3494837"/>
            <a:ext cx="380390" cy="380390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350508" y="4178808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29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6350508" y="44348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A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Orchestrate &amp; Review</a:t>
            </a:r>
            <a:endParaRPr lang="en-US" sz="1450" dirty="0"/>
          </a:p>
        </p:txBody>
      </p:sp>
      <p:sp>
        <p:nvSpPr>
          <p:cNvPr id="27" name="Text 22"/>
          <p:cNvSpPr/>
          <p:nvPr/>
        </p:nvSpPr>
        <p:spPr>
          <a:xfrm>
            <a:off x="6396228" y="4910328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Reviewer/QA agent, automated rework loop</a:t>
            </a:r>
            <a:endParaRPr lang="en-US" sz="1050" dirty="0"/>
          </a:p>
        </p:txBody>
      </p:sp>
      <p:sp>
        <p:nvSpPr>
          <p:cNvPr id="28" name="Shape 23"/>
          <p:cNvSpPr/>
          <p:nvPr/>
        </p:nvSpPr>
        <p:spPr>
          <a:xfrm>
            <a:off x="8801100" y="4283964"/>
            <a:ext cx="274320" cy="164592"/>
          </a:xfrm>
          <a:prstGeom prst="rightArrow">
            <a:avLst/>
          </a:prstGeom>
          <a:solidFill>
            <a:srgbClr val="F4A300"/>
          </a:solidFill>
          <a:ln/>
        </p:spPr>
      </p:sp>
      <p:sp>
        <p:nvSpPr>
          <p:cNvPr id="29" name="Shape 24"/>
          <p:cNvSpPr/>
          <p:nvPr/>
        </p:nvSpPr>
        <p:spPr>
          <a:xfrm>
            <a:off x="9102852" y="3063240"/>
            <a:ext cx="2514600" cy="260604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9994392" y="3319272"/>
            <a:ext cx="731520" cy="731520"/>
          </a:xfrm>
          <a:prstGeom prst="ellipse">
            <a:avLst/>
          </a:prstGeom>
          <a:solidFill>
            <a:srgbClr val="028090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31" name="Image 3" descr="/home/claude/deck_sk/icon_deplo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9957" y="3494837"/>
            <a:ext cx="380390" cy="38039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194292" y="4178808"/>
            <a:ext cx="2331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9194292" y="4434840"/>
            <a:ext cx="2331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0A3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Refine &amp; Deploy</a:t>
            </a:r>
            <a:endParaRPr lang="en-US" sz="1450" dirty="0"/>
          </a:p>
        </p:txBody>
      </p:sp>
      <p:sp>
        <p:nvSpPr>
          <p:cNvPr id="34" name="Text 28"/>
          <p:cNvSpPr/>
          <p:nvPr/>
        </p:nvSpPr>
        <p:spPr>
          <a:xfrm>
            <a:off x="9240012" y="4910328"/>
            <a:ext cx="2240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 Web API with Scalar docs</a:t>
            </a:r>
            <a:endParaRPr lang="en-US" sz="1050" dirty="0"/>
          </a:p>
        </p:txBody>
      </p:sp>
      <p:sp>
        <p:nvSpPr>
          <p:cNvPr id="35" name="Text 29"/>
          <p:cNvSpPr/>
          <p:nvPr/>
        </p:nvSpPr>
        <p:spPr>
          <a:xfrm>
            <a:off x="571500" y="6080760"/>
            <a:ext cx="11045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C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iteratively — each day's work becomes the next day's foundation.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3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-2377440"/>
            <a:ext cx="5669280" cy="5669280"/>
          </a:xfrm>
          <a:prstGeom prst="ellipse">
            <a:avLst/>
          </a:prstGeom>
          <a:solidFill>
            <a:srgbClr val="072B2D"/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4206240"/>
            <a:ext cx="5120640" cy="5120640"/>
          </a:xfrm>
          <a:prstGeom prst="ellipse">
            <a:avLst/>
          </a:prstGeom>
          <a:solidFill>
            <a:srgbClr val="072B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4A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DAY 30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77724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You'll Walk Away With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640080" y="1691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640080" y="25603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43400" y="1691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9" name="Text 7"/>
          <p:cNvSpPr/>
          <p:nvPr/>
        </p:nvSpPr>
        <p:spPr>
          <a:xfrm>
            <a:off x="4343400" y="25603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One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Mindset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046720" y="169164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F4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8046720" y="25603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</a:t>
            </a:r>
            <a:endParaRPr lang="en-US" sz="13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BFED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API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3383280"/>
            <a:ext cx="10881360" cy="0"/>
          </a:xfrm>
          <a:prstGeom prst="line">
            <a:avLst/>
          </a:prstGeom>
          <a:noFill/>
          <a:ln w="19050">
            <a:solidFill>
              <a:srgbClr val="072B2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0080" y="3657600"/>
            <a:ext cx="502920" cy="502920"/>
          </a:xfrm>
          <a:prstGeom prst="ellipse">
            <a:avLst/>
          </a:prstGeom>
          <a:solidFill>
            <a:srgbClr val="072B2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4" name="Image 0" descr="/home/claude/deck_sk/icon_lay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237" y="3770757"/>
            <a:ext cx="276606" cy="276606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371600" y="3584448"/>
            <a:ext cx="10058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Fluency building specialized agents with Semantic Kernel — personas, plugins, RAG, and multimodality — before ever orchestrating them together.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40080" y="4370832"/>
            <a:ext cx="502920" cy="502920"/>
          </a:xfrm>
          <a:prstGeom prst="ellipse">
            <a:avLst/>
          </a:prstGeom>
          <a:solidFill>
            <a:srgbClr val="072B2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17" name="Image 1" descr="/home/claude/deck_sk/icon_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237" y="4483989"/>
            <a:ext cx="276606" cy="276606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371600" y="4297680"/>
            <a:ext cx="10058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Production-grade patterns: OpenTelemetry observability, prompt/function filters, hybrid RAG, and semantic routing.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40080" y="5084064"/>
            <a:ext cx="502920" cy="502920"/>
          </a:xfrm>
          <a:prstGeom prst="ellipse">
            <a:avLst/>
          </a:prstGeom>
          <a:solidFill>
            <a:srgbClr val="072B2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0" name="Image 2" descr="/home/claude/deck_sk/icon_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237" y="5197221"/>
            <a:ext cx="276606" cy="276606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371600" y="5010912"/>
            <a:ext cx="10058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Real, working C# code for every lesson — deterministic native orchestration, no unstable experimental APIs.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640080" y="5797296"/>
            <a:ext cx="502920" cy="502920"/>
          </a:xfrm>
          <a:prstGeom prst="ellipse">
            <a:avLst/>
          </a:prstGeom>
          <a:solidFill>
            <a:srgbClr val="072B2D"/>
          </a:solidFill>
          <a:ln/>
          <a:effectLst>
            <a:outerShdw sx="100000" sy="100000" kx="0" ky="0" algn="bl" rotWithShape="0" blurRad="101600" dist="38100" dir="5400000">
              <a:srgbClr val="0A3A3D">
                <a:alpha val="18000"/>
              </a:srgbClr>
            </a:outerShdw>
          </a:effectLst>
        </p:spPr>
      </p:sp>
      <p:pic>
        <p:nvPicPr>
          <p:cNvPr id="23" name="Image 3" descr="/home/claude/deck_sk/icon_clou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237" y="5910453"/>
            <a:ext cx="276606" cy="27660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371600" y="5724144"/>
            <a:ext cx="100584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Universal Project Manager API — plans, codes, and reviews software autonomously, deployed as an ASP.NET Core Web API with Scalar docs.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4652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CFC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start with Day 1.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2026-08-06T19:13:40Z</dcterms:created>
  <dcterms:modified xsi:type="dcterms:W3CDTF">2026-08-06T19:13:40Z</dcterms:modified>
</cp:coreProperties>
</file>