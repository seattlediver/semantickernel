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828800"/>
            <a:ext cx="5943600" cy="5943600"/>
          </a:xfrm>
          <a:prstGeom prst="ellipse">
            <a:avLst/>
          </a:prstGeom>
          <a:solidFill>
            <a:srgbClr val="072B2D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937760"/>
            <a:ext cx="4206240" cy="4206240"/>
          </a:xfrm>
          <a:prstGeom prst="ellipse">
            <a:avLst/>
          </a:prstGeom>
          <a:solidFill>
            <a:srgbClr val="072B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31-LESSON AGENTIC AI MASTERCLASS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Agentic AI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Microsoft Semantic Kernel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LLM API calls to engineering enterprise-grade, autonomous multi-agent systems — built entirely on Microsoft Semantic Kernel and OpenAI, with a Production-First mindset.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82140" y="3794760"/>
            <a:ext cx="868680" cy="868680"/>
          </a:xfrm>
          <a:prstGeom prst="ellipse">
            <a:avLst/>
          </a:prstGeom>
          <a:solidFill>
            <a:srgbClr val="072B2D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8" name="Image 0" descr="/home/claude/deck_sk/icon_found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623" y="4003243"/>
            <a:ext cx="451714" cy="4517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50820" y="4229100"/>
            <a:ext cx="411480" cy="0"/>
          </a:xfrm>
          <a:prstGeom prst="line">
            <a:avLst/>
          </a:prstGeom>
          <a:noFill/>
          <a:ln w="19050">
            <a:solidFill>
              <a:srgbClr val="9FCFC9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40080" y="4800600"/>
            <a:ext cx="335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335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5376672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mastered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92140" y="3794760"/>
            <a:ext cx="868680" cy="868680"/>
          </a:xfrm>
          <a:prstGeom prst="ellipse">
            <a:avLst/>
          </a:prstGeom>
          <a:solidFill>
            <a:srgbClr val="072B2D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4" name="Image 1" descr="/home/claude/deck_sk/icon_orchestration_tit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23" y="4003243"/>
            <a:ext cx="451714" cy="45171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60820" y="4229100"/>
            <a:ext cx="411480" cy="0"/>
          </a:xfrm>
          <a:prstGeom prst="line">
            <a:avLst/>
          </a:prstGeom>
          <a:noFill/>
          <a:ln w="19050">
            <a:solidFill>
              <a:srgbClr val="9FCFC9"/>
            </a:solidFill>
            <a:prstDash val="dash"/>
          </a:ln>
        </p:spPr>
      </p:sp>
      <p:sp>
        <p:nvSpPr>
          <p:cNvPr id="16" name="Text 12"/>
          <p:cNvSpPr/>
          <p:nvPr/>
        </p:nvSpPr>
        <p:spPr>
          <a:xfrm>
            <a:off x="4450080" y="4800600"/>
            <a:ext cx="335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50080" y="5120640"/>
            <a:ext cx="335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15–26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450080" y="5376672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coordination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502140" y="3794760"/>
            <a:ext cx="868680" cy="868680"/>
          </a:xfrm>
          <a:prstGeom prst="ellipse">
            <a:avLst/>
          </a:prstGeom>
          <a:solidFill>
            <a:srgbClr val="072B2D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20" name="Image 2" descr="/home/claude/deck_sk/icon_capstone_tit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623" y="4003243"/>
            <a:ext cx="451714" cy="45171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370820" y="4229100"/>
            <a:ext cx="411480" cy="0"/>
          </a:xfrm>
          <a:prstGeom prst="line">
            <a:avLst/>
          </a:prstGeom>
          <a:noFill/>
          <a:ln w="19050">
            <a:solidFill>
              <a:srgbClr val="9FCFC9"/>
            </a:solidFill>
            <a:prstDash val="dash"/>
          </a:ln>
        </p:spPr>
      </p:sp>
      <p:sp>
        <p:nvSpPr>
          <p:cNvPr id="22" name="Text 17"/>
          <p:cNvSpPr/>
          <p:nvPr/>
        </p:nvSpPr>
        <p:spPr>
          <a:xfrm>
            <a:off x="8260080" y="4800600"/>
            <a:ext cx="335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260080" y="5120640"/>
            <a:ext cx="335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27–30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60080" y="5376672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UPM API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Bob  •  Foundation for the MAF series  •  Powered end to end by OpenAI gpt-4.1-mini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 ·  DAYS 1–14 (+8a)  ·  15 LESSONS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Single-Agent Personas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Kernel builder, prompt engineering, plugins, and data handling — one specialized agent at a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938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7" name="Image 0" descr="/home/claude/deck_sk/icon_chat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524" y="2005828"/>
            <a:ext cx="194584" cy="194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187452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The Conversationalist (Chatbot Agent)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47802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1" name="Image 1" descr="/home/claude/deck_sk/icon_summariz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24" y="2554468"/>
            <a:ext cx="194584" cy="1945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4712" y="242316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The Summarizer (Reduction Agent)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02666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5" name="Image 2" descr="/home/claude/deck_sk/icon_trans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24" y="3103108"/>
            <a:ext cx="194584" cy="1945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24712" y="297180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The Format Translator (Transformation Agent)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52044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" y="357530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9" name="Image 3" descr="/home/claude/deck_sk/icon_calcul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24" y="3651748"/>
            <a:ext cx="194584" cy="1945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24712" y="352044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The Calculator (Math Agent)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06908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412394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23" name="Image 4" descr="/home/claude/deck_sk/icon_research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24" y="4200388"/>
            <a:ext cx="194584" cy="1945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24712" y="406908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The Researcher (Web-Search Agent)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461772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0080" y="467258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27" name="Image 5" descr="/home/claude/deck_sk/icon_filemanag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524" y="4749028"/>
            <a:ext cx="194584" cy="1945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24712" y="461772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The File Manager (OS Agent)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48640" y="51663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40080" y="522122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31" name="Image 6" descr="/home/claude/deck_sk/icon_dataanaly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524" y="5297668"/>
            <a:ext cx="194584" cy="1945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24712" y="516636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The Data Analyst (Extraction Agent)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48640" y="57150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40080" y="576986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35" name="Image 7" descr="/home/claude/deck_sk/icon_librari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524" y="5846308"/>
            <a:ext cx="194584" cy="19458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124712" y="571500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— The Librarian (Basic RAG Agent)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6263640" y="187452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6355080" y="192938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39" name="Image 8" descr="/home/claude/deck_sk/icon_cloudlibrari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1524" y="2005828"/>
            <a:ext cx="194584" cy="19458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839712" y="187452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8a — The Cloud Librarian (Pinecone Vector DB)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6263640" y="24231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6355080" y="247802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43" name="Image 9" descr="/home/claude/deck_sk/icon_interview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1524" y="2554468"/>
            <a:ext cx="194584" cy="19458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839712" y="242316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The Interviewer (Context-Aware Agent)</a:t>
            </a:r>
            <a:endParaRPr lang="en-US" sz="1150" dirty="0"/>
          </a:p>
        </p:txBody>
      </p:sp>
      <p:sp>
        <p:nvSpPr>
          <p:cNvPr id="45" name="Shape 33"/>
          <p:cNvSpPr/>
          <p:nvPr/>
        </p:nvSpPr>
        <p:spPr>
          <a:xfrm>
            <a:off x="6263640" y="297180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6355080" y="302666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47" name="Image 10" descr="/home/claude/deck_sk/icon_codeg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1524" y="3103108"/>
            <a:ext cx="194584" cy="194584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839712" y="297180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— The Code Generator (Developer Agent)</a:t>
            </a:r>
            <a:endParaRPr lang="en-US" sz="1150" dirty="0"/>
          </a:p>
        </p:txBody>
      </p:sp>
      <p:sp>
        <p:nvSpPr>
          <p:cNvPr id="49" name="Shape 36"/>
          <p:cNvSpPr/>
          <p:nvPr/>
        </p:nvSpPr>
        <p:spPr>
          <a:xfrm>
            <a:off x="6263640" y="352044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6355080" y="357530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51" name="Image 11" descr="/home/claude/deck_sk/icon_criti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1524" y="3651748"/>
            <a:ext cx="194584" cy="19458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839712" y="352044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— The Critic (Evaluator Agent)</a:t>
            </a:r>
            <a:endParaRPr lang="en-US" sz="1150" dirty="0"/>
          </a:p>
        </p:txBody>
      </p:sp>
      <p:sp>
        <p:nvSpPr>
          <p:cNvPr id="53" name="Shape 39"/>
          <p:cNvSpPr/>
          <p:nvPr/>
        </p:nvSpPr>
        <p:spPr>
          <a:xfrm>
            <a:off x="6263640" y="406908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6355080" y="412394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55" name="Image 12" descr="/home/claude/deck_sk/icon_visionar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1524" y="4200388"/>
            <a:ext cx="194584" cy="194584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6839712" y="406908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— The Visionary (Multimodal Agent)</a:t>
            </a:r>
            <a:endParaRPr lang="en-US" sz="1150" dirty="0"/>
          </a:p>
        </p:txBody>
      </p:sp>
      <p:sp>
        <p:nvSpPr>
          <p:cNvPr id="57" name="Shape 42"/>
          <p:cNvSpPr/>
          <p:nvPr/>
        </p:nvSpPr>
        <p:spPr>
          <a:xfrm>
            <a:off x="6263640" y="461772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58" name="Shape 43"/>
          <p:cNvSpPr/>
          <p:nvPr/>
        </p:nvSpPr>
        <p:spPr>
          <a:xfrm>
            <a:off x="6355080" y="467258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59" name="Image 13" descr="/home/claude/deck_sk/icon_dynamicperson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1524" y="4749028"/>
            <a:ext cx="194584" cy="194584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6839712" y="461772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The Dynamic Persona (Handlebars Agent)</a:t>
            </a:r>
            <a:endParaRPr lang="en-US" sz="1150" dirty="0"/>
          </a:p>
        </p:txBody>
      </p:sp>
      <p:sp>
        <p:nvSpPr>
          <p:cNvPr id="61" name="Shape 45"/>
          <p:cNvSpPr/>
          <p:nvPr/>
        </p:nvSpPr>
        <p:spPr>
          <a:xfrm>
            <a:off x="6263640" y="516636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62" name="Shape 46"/>
          <p:cNvSpPr/>
          <p:nvPr/>
        </p:nvSpPr>
        <p:spPr>
          <a:xfrm>
            <a:off x="6355080" y="5221224"/>
            <a:ext cx="347472" cy="34747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63" name="Image 14" descr="/home/claude/deck_sk/icon_documentq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1524" y="5297668"/>
            <a:ext cx="194584" cy="194584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6839712" y="516636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The Document QA (Large Context Agent)</a:t>
            </a:r>
            <a:endParaRPr lang="en-US" sz="1150" dirty="0"/>
          </a:p>
        </p:txBody>
      </p:sp>
      <p:sp>
        <p:nvSpPr>
          <p:cNvPr id="65" name="Text 48"/>
          <p:cNvSpPr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8a is optional cloud infrastructure — it swaps in Pinecone for the hand-rolled cosine-similarity search from Day 8.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 ·  DAYS 15–26  ·  12 LESSONS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&amp; Advanced 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single-shot scripts to autonomous, reasoning systems and multi-agent coordination.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9052" y="2066544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7" name="Image 0" descr="/home/claude/deck_sk/icon_autofu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115" y="2202607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4320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Function Calling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74136" y="1901952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4548" y="2066544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1" name="Image 1" descr="/home/claude/deck_sk/icon_stepwi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611" y="2202607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274320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Planner (ReAct)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99632" y="1901952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10044" y="2066544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5" name="Image 2" descr="/home/claude/deck_sk/icon_agentframe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07" y="2202607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1072" y="274320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Agent Framework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025128" y="1901952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035540" y="2066544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9" name="Image 3" descr="/home/claude/deck_sk/icon_multiag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603" y="2202607"/>
            <a:ext cx="294803" cy="29480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16568" y="274320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3401568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559052" y="356616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23" name="Image 4" descr="/home/claude/deck_sk/icon_coordina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115" y="3702223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" y="4242816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374136" y="3401568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384548" y="356616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27" name="Image 5" descr="/home/claude/deck_sk/icon_humanlo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611" y="3702223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65576" y="4242816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199632" y="3401568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210044" y="356616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31" name="Image 6" descr="/home/claude/deck_sk/icon_semanticrout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6107" y="3702223"/>
            <a:ext cx="294803" cy="29480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91072" y="4242816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Routing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9025128" y="3401568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10035540" y="356616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35" name="Image 7" descr="/home/claude/deck_sk/icon_filt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1603" y="3702223"/>
            <a:ext cx="294803" cy="29480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116568" y="4242816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Function Filters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548640" y="4901184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1559052" y="506577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39" name="Image 8" descr="/home/claude/deck_sk/icon_hybridra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5115" y="5201839"/>
            <a:ext cx="294803" cy="294803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40080" y="5742432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Search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3374136" y="4901184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4384548" y="506577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43" name="Image 9" descr="/home/claude/deck_sk/icon_telemet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0611" y="5201839"/>
            <a:ext cx="294803" cy="294803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3465576" y="5742432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Observability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6199632" y="4901184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7210044" y="506577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47" name="Image 10" descr="/home/claude/deck_sk/icon_longmemor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6107" y="5201839"/>
            <a:ext cx="294803" cy="294803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291072" y="5742432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9025128" y="4901184"/>
            <a:ext cx="2587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10035540" y="506577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51" name="Image 11" descr="/home/claude/deck_sk/icon_evaluatin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1603" y="5201839"/>
            <a:ext cx="294803" cy="294803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9116568" y="5742432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 ·  DAYS 27–30  ·  4 LESSONS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Capstone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“Universal Project Manager” (UPM) — a cohesive, enterprise-ready system, over four days.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A3A3D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56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Universal Project Manager API — it takes a raw business requirement, spins up an AI management team to plan the architecture, writes the code, reviews it for quality, and returns a completed specification.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150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3319272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0" name="Image 0" descr="/home/claude/deck_sk/icon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605" y="3494837"/>
            <a:ext cx="380390" cy="3803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2940" y="41788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2940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A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Architecture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08660" y="49103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pattern, interface-driven agents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13532" y="4283964"/>
            <a:ext cx="274320" cy="164592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5" name="Shape 12"/>
          <p:cNvSpPr/>
          <p:nvPr/>
        </p:nvSpPr>
        <p:spPr>
          <a:xfrm>
            <a:off x="3415284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06824" y="3319272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7" name="Image 1" descr="/home/claude/deck_sk/icon_bui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89" y="3494837"/>
            <a:ext cx="380390" cy="3803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06724" y="41788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06724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A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Team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3552444" y="49103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&amp; Developer agents, state-aware plugins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57316" y="4283964"/>
            <a:ext cx="274320" cy="164592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22" name="Shape 18"/>
          <p:cNvSpPr/>
          <p:nvPr/>
        </p:nvSpPr>
        <p:spPr>
          <a:xfrm>
            <a:off x="6259068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50608" y="3319272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24" name="Image 2" descr="/home/claude/deck_sk/icon_orchest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3" y="3494837"/>
            <a:ext cx="380390" cy="38039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0508" y="41788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50508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A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 &amp; Review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6396228" y="49103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Reviewer/QA agent, automated rework loop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801100" y="4283964"/>
            <a:ext cx="274320" cy="164592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29" name="Shape 24"/>
          <p:cNvSpPr/>
          <p:nvPr/>
        </p:nvSpPr>
        <p:spPr>
          <a:xfrm>
            <a:off x="9102852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994392" y="3319272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31" name="Image 3" descr="/home/claude/deck_sk/icon_deplo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957" y="3494837"/>
            <a:ext cx="380390" cy="38039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94292" y="41788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194292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A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&amp; Deploy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240012" y="491032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with Scalar docs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71500" y="6080760"/>
            <a:ext cx="11045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iteratively — each day's work becomes the next day's foundation.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377440"/>
            <a:ext cx="5669280" cy="5669280"/>
          </a:xfrm>
          <a:prstGeom prst="ellipse">
            <a:avLst/>
          </a:prstGeom>
          <a:solidFill>
            <a:srgbClr val="072B2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5120640" cy="5120640"/>
          </a:xfrm>
          <a:prstGeom prst="ellipse">
            <a:avLst/>
          </a:prstGeom>
          <a:solidFill>
            <a:srgbClr val="072B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30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Walk Away With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1691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343400" y="2560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One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Mindset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1691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046720" y="2560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881360" cy="0"/>
          </a:xfrm>
          <a:prstGeom prst="line">
            <a:avLst/>
          </a:prstGeom>
          <a:noFill/>
          <a:ln w="19050">
            <a:solidFill>
              <a:srgbClr val="072B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072B2D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4" name="Image 0" descr="/home/claude/deck_sk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3770757"/>
            <a:ext cx="276606" cy="27660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58444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building specialized agents with Semantic Kernel — personas, plugins, RAG, and multimodality — before ever orchestrating them together.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370832"/>
            <a:ext cx="502920" cy="502920"/>
          </a:xfrm>
          <a:prstGeom prst="ellipse">
            <a:avLst/>
          </a:prstGeom>
          <a:solidFill>
            <a:srgbClr val="072B2D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17" name="Image 1" descr="/home/claude/deck_sk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4483989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4297680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patterns: OpenTelemetry observability, prompt/function filters, hybrid RAG, and semantic routing.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" y="5084064"/>
            <a:ext cx="502920" cy="502920"/>
          </a:xfrm>
          <a:prstGeom prst="ellipse">
            <a:avLst/>
          </a:prstGeom>
          <a:solidFill>
            <a:srgbClr val="072B2D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20" name="Image 2" descr="/home/claude/deck_sk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5197221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5010912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working C# code for every lesson — deterministic native orchestration, no unstable experimental APIs.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5797296"/>
            <a:ext cx="502920" cy="502920"/>
          </a:xfrm>
          <a:prstGeom prst="ellipse">
            <a:avLst/>
          </a:prstGeom>
          <a:solidFill>
            <a:srgbClr val="072B2D"/>
          </a:solidFill>
          <a:ln/>
          <a:effectLst>
            <a:outerShdw sx="100000" sy="100000" kx="0" ky="0" algn="bl" rotWithShape="0" blurRad="101600" dist="38100" dir="5400000">
              <a:srgbClr val="0A3A3D">
                <a:alpha val="18000"/>
              </a:srgbClr>
            </a:outerShdw>
          </a:effectLst>
        </p:spPr>
      </p:sp>
      <p:pic>
        <p:nvPicPr>
          <p:cNvPr id="23" name="Image 3" descr="/home/claude/deck_sk/icon_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5910453"/>
            <a:ext cx="276606" cy="27660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5724144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Universal Project Manager API — plans, codes, and reviews software autonomously, deployed as an ASP.NET Core Web API with Scalar docs.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start with Day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2026-08-06T19:13:40Z</dcterms:created>
  <dcterms:modified xsi:type="dcterms:W3CDTF">2026-08-06T19:13:40Z</dcterms:modified>
</cp:coreProperties>
</file>