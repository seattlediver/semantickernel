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builds an extraction agent. We start with four raw, messy customer-feedback strings, the kind a support inbox actually receives, and send them to OpenAI one at a time. Instead of a conversational reply, every call is forced to answer in a fixed JSON shape, with a sentiment, a product, a one-line summary and a priority, using ResponseFormat. Each reply is deserialized into a typed FeedbackAnalysis object, and the run finishes with a small report, counts by sentiment and a list of urgent items, built entirely with LINQ. It is the first lesson that treats the model's output as data rather than text to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asked for JSON in prompt prose and hoped the model complied, then printed the result as a string. Lesson 7 closes both gaps. ResponseFormat turns on OpenAI's Structured Outputs mode, which constrains the reply to a schema at the API level rather than relying on wording alone. And the reply is deserialized into a real C# object, so the program can filter, group and count the results the moment they come back, instead of a human reading free text looking for the negative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DataAnalyst, with the same two packages at version 1.78.0, the key from OPENAI_API_KEY, and gpt-4.1-mini. Temperature is set to zero so the same piece of feedback gets the same labels each run. The input is a hard-coded array of four feedback strings: praise for a faster dashboard, a CSV export that spins forever and is blocking a team, mild confusion about a new pricing page, and an app crash on the Invoicing screen that lost an hour of work. No new packages are needed for JSON: System.Text.Json is part of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FeedbackAnalysis is the contract. It has four properties: Sentiment, Product, Summary and Priority, where priority is an integer from 1, no action needed, to 5, urgent. Setting ResponseFormat on OpenAIPromptExecutionSettings to typeof FeedbackAnalysis tells Semantic Kernel to generate a JSON schema from the class and turn on OpenAI's Structured Outputs mode. Each property carries a JsonPropertyName attribute, so the JSON on the wire uses lowerCamelCase names like sentiment and priority, matching what the prompt asks for, while the C# side keeps idiomatic PascalCase. The prompt still spells out the allowed sentiment values and the priority scale, because the schema fixes the types but not their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builds the kernel, and Step 2 creates the execution settings with ResponseFormat and temperature zero. Step 3 defines the four feedback strings and the prompt template. Step 4 loops over the entries: for each one it builds KernelArguments that carry the settings and fill the feedback placeholder, calls InvokePromptAsync, and gets back JSON in the fixed shape. Step 5 deserializes that JSON into a FeedbackAnalysis and adds it to a list, printing one line per entry. After the loop, Step 6, highlighted here, builds the report. This is the payoff: counting and filtering by field is now a LINQ query, not a second round of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jobs need per-item fault isolation. Both risky steps sit in their own try/catch inside the foreach. If the model call throws, because of a transient network error, a rate limit or a bad key, the program prints Could not analyze entry with the message and continues to the next one. If the call succeeds but the text can't be deserialized, it catches JsonException and prints that the model returned malformed JSON for one entry. ResponseFormat makes that rare, but a content-filter finish or a truncated response can still slip through. Either way the rest of the batch is processed and the report still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deliberate choices shape this code. It makes one model call per entry rather than asking for an array of four analyses in one call. That keeps the response schema a simple single object instead of a wrapper type, and it keeps the error handling meaningful, since one malformed array would lose the whole batch. Temperature is zero because extraction is not a creative task. And the report is built with LINQ: GroupBy on Sentiment for the counts, and Where Priority is at least 4 for the urgent list. Note what the lesson leaves out: the calls run one after another rather than in parallel, and there is no retry, cancellation or saving results to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It announces it is analyzing four entries, then prints one line per entry: the sentiment padded in brackets, a P followed by the priority, the product, and the one-line summary. Then comes the analyst report: the total, the count for each sentiment, and the urgent items with a priority of four or more. The labels, products, summaries and scores on this slide are illustrative, because the model chooses them. With these inputs you should expect one positive, two negatives and one neutral, with the CSV export and the Invoicing crash flagged as urgent. The sentiment groups print in the order they first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Move the body of the loop into an async method that analyzes one entry and returns a FeedbackAnalysis, or null if either guard trips. Call it for every entry, collect the tasks, and await Task.WhenAll. Print the results in their original order, then build the report from the non-null ones. Check that one failing entry is still reported and skipped, and that the counts match the sequential run. This is the fan-out half of a pattern that Lesson 32 completes with an LLM-based fan-in.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described a schema as a C# class, forced the model to match it with ResponseFormat, deserialized each reply with System.Text.Json, isolated failures per entry, and aggregated the results with LINQ. Lesson 19's Coordinator returns JSON routing decisions that decide which agent acts next. Lesson 26's judge agent scores answers against ground truth in structured form. Lesson 32 runs drafts in parallel and fans them back in with an LLM instead of LINQ. Lesson 33 aggregates candidate answers by vote. And Lesson 31 has an agent critique its own draft using structured JSON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7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Data Analyst</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Structured output: free-text feedback in, typed records out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4 raw feedback strings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List&lt;FeedbackAnalysis&gt;</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Force a JSON shape with ResponseFormat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Describe that shape as a plain C# class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Deserialize replies with System.Text.Json</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 one bad entry from sinking the batch</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Aggregate typed results with LINQ</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7 — The Data Analyst</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From JSON you hope for to JSON you can count on</a:t>
            </a:r>
            <a:endParaRPr lang="en-US" sz="2650" dirty="0"/>
          </a:p>
        </p:txBody>
      </p:sp>
      <p:sp>
        <p:nvSpPr>
          <p:cNvPr id="4" name="Shape 2"/>
          <p:cNvSpPr/>
          <p:nvPr/>
        </p:nvSpPr>
        <p:spPr>
          <a:xfrm>
            <a:off x="457200" y="1371600"/>
            <a:ext cx="3931920" cy="2286000"/>
          </a:xfrm>
          <a:prstGeom prst="roundRect">
            <a:avLst>
              <a:gd name="adj" fmla="val 32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 asked for</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Keys requested in prompt prose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Printed as a string, never parsed</a:t>
            </a:r>
            <a:endParaRPr lang="en-US" sz="1300" dirty="0"/>
          </a:p>
        </p:txBody>
      </p:sp>
      <p:sp>
        <p:nvSpPr>
          <p:cNvPr id="9" name="Shape 6"/>
          <p:cNvSpPr/>
          <p:nvPr/>
        </p:nvSpPr>
        <p:spPr>
          <a:xfrm>
            <a:off x="685800" y="2907792"/>
            <a:ext cx="3474720" cy="548640"/>
          </a:xfrm>
          <a:prstGeom prst="roundRect">
            <a:avLst>
              <a:gd name="adj" fmla="val 13333"/>
            </a:avLst>
          </a:prstGeom>
          <a:solidFill>
            <a:srgbClr val="0F1420"/>
          </a:solidFill>
          <a:ln w="12700">
            <a:solidFill>
              <a:srgbClr val="0F1420"/>
            </a:solidFill>
            <a:prstDash val="solid"/>
          </a:ln>
        </p:spPr>
      </p:sp>
      <p:sp>
        <p:nvSpPr>
          <p:cNvPr id="10" name="Text 7"/>
          <p:cNvSpPr txBox="1"/>
          <p:nvPr/>
        </p:nvSpPr>
        <p:spPr>
          <a:xfrm>
            <a:off x="868680" y="3044952"/>
            <a:ext cx="3108960" cy="274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STRING JSON OUTPUT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"FirstName": "Sarah", ... }</a:t>
            </a:r>
            <a:endParaRPr lang="en-US" sz="1100" dirty="0"/>
          </a:p>
        </p:txBody>
      </p:sp>
      <p:sp>
        <p:nvSpPr>
          <p:cNvPr id="11" name="Shape 8"/>
          <p:cNvSpPr/>
          <p:nvPr/>
        </p:nvSpPr>
        <p:spPr>
          <a:xfrm>
            <a:off x="4754880" y="1371600"/>
            <a:ext cx="3931920" cy="2286000"/>
          </a:xfrm>
          <a:prstGeom prst="roundRect">
            <a:avLst>
              <a:gd name="adj" fmla="val 3200"/>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7: enforced</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ResponseFormat sets the schema</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Parsed into a C# object, then counted</a:t>
            </a:r>
            <a:endParaRPr lang="en-US" sz="1300" dirty="0"/>
          </a:p>
        </p:txBody>
      </p:sp>
      <p:sp>
        <p:nvSpPr>
          <p:cNvPr id="16" name="Shape 12"/>
          <p:cNvSpPr/>
          <p:nvPr/>
        </p:nvSpPr>
        <p:spPr>
          <a:xfrm>
            <a:off x="4983480" y="2907792"/>
            <a:ext cx="3474720" cy="548640"/>
          </a:xfrm>
          <a:prstGeom prst="roundRect">
            <a:avLst>
              <a:gd name="adj" fmla="val 13333"/>
            </a:avLst>
          </a:prstGeom>
          <a:solidFill>
            <a:srgbClr val="0F1420"/>
          </a:solidFill>
          <a:ln w="12700">
            <a:solidFill>
              <a:srgbClr val="0F1420"/>
            </a:solidFill>
            <a:prstDash val="solid"/>
          </a:ln>
        </p:spPr>
      </p:sp>
      <p:sp>
        <p:nvSpPr>
          <p:cNvPr id="17" name="Text 13"/>
          <p:cNvSpPr txBox="1"/>
          <p:nvPr/>
        </p:nvSpPr>
        <p:spPr>
          <a:xfrm>
            <a:off x="5166360" y="3044952"/>
            <a:ext cx="3108960" cy="274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ANALYST REPORT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Total analyzed: 4</a:t>
            </a:r>
            <a:endParaRPr lang="en-US" sz="1100" dirty="0"/>
          </a:p>
        </p:txBody>
      </p:sp>
      <p:sp>
        <p:nvSpPr>
          <p:cNvPr id="18" name="Text 14"/>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Structured Outputs constrain the reply at the API level, not just in the prompt.</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7 — The Data Analyst</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Connectors.OpenAI 1.78.0, in a net10.0 console app opened from DataAnalyst.slnx.</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 at Temperature 0.0, so the same feedback gets the same labels.</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Four feedback strings</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dashboard compliment, a stuck CSV export, a confusing pricing page and a crash on Invoicing.</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7 — The Data Analyst</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SCHEMA</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50" b="1" dirty="0">
                <a:solidFill>
                  <a:srgbClr val="1F2937"/>
                </a:solidFill>
                <a:latin typeface="Cambria" pitchFamily="34" charset="0"/>
                <a:ea typeface="Cambria" pitchFamily="34" charset="-122"/>
                <a:cs typeface="Cambria" pitchFamily="34" charset="-120"/>
              </a:rPr>
              <a:t>FeedbackAnalysis: the shape every reply must match</a:t>
            </a:r>
            <a:endParaRPr lang="en-US" sz="245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FeedbackAnalysis</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plain C# class. Passed to ResponseFormat with typeof, it becomes the JSON schema.</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sentiment</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string: Positive, Neutral or Negative.</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product</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string: the feature area, or Unknown.</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summary</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string: one neutral sentence.</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priority</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int: 1 (no action) to 5 (urgent).</a:t>
            </a:r>
            <a:endParaRPr lang="en-US" sz="1200" dirty="0"/>
          </a:p>
        </p:txBody>
      </p:sp>
      <p:sp>
        <p:nvSpPr>
          <p:cNvPr id="33"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[JsonPropertyName] keeps the wire names lowerCamelCase and the C# names PascalCase.</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7 — The Data Analyst</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6</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call per entry, then one report</a:t>
            </a:r>
            <a:endParaRPr lang="en-US" sz="2800" dirty="0"/>
          </a:p>
        </p:txBody>
      </p:sp>
      <p:sp>
        <p:nvSpPr>
          <p:cNvPr id="4" name="Shape 2"/>
          <p:cNvSpPr/>
          <p:nvPr/>
        </p:nvSpPr>
        <p:spPr>
          <a:xfrm>
            <a:off x="457200" y="1417320"/>
            <a:ext cx="1367942" cy="1993392"/>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Settings</a:t>
            </a:r>
            <a:endParaRPr lang="en-US" sz="1300" dirty="0"/>
          </a:p>
        </p:txBody>
      </p:sp>
      <p:sp>
        <p:nvSpPr>
          <p:cNvPr id="8" name="Text 5"/>
          <p:cNvSpPr txBox="1"/>
          <p:nvPr/>
        </p:nvSpPr>
        <p:spPr>
          <a:xfrm>
            <a:off x="640080"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typed schema and zero randomness.</a:t>
            </a:r>
            <a:endParaRPr lang="en-US" sz="1200" dirty="0"/>
          </a:p>
        </p:txBody>
      </p:sp>
      <p:sp>
        <p:nvSpPr>
          <p:cNvPr id="9" name="Shape 6"/>
          <p:cNvSpPr/>
          <p:nvPr/>
        </p:nvSpPr>
        <p:spPr>
          <a:xfrm>
            <a:off x="188915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993392"/>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Arguments</a:t>
            </a:r>
            <a:endParaRPr lang="en-US" sz="1300" dirty="0"/>
          </a:p>
        </p:txBody>
      </p:sp>
      <p:sp>
        <p:nvSpPr>
          <p:cNvPr id="14" name="Text 10"/>
          <p:cNvSpPr txBox="1"/>
          <p:nvPr/>
        </p:nvSpPr>
        <p:spPr>
          <a:xfrm>
            <a:off x="2355494"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entry fills {{$feedback}}.</a:t>
            </a:r>
            <a:endParaRPr lang="en-US" sz="1200" dirty="0"/>
          </a:p>
        </p:txBody>
      </p:sp>
      <p:sp>
        <p:nvSpPr>
          <p:cNvPr id="15" name="Shape 11"/>
          <p:cNvSpPr/>
          <p:nvPr/>
        </p:nvSpPr>
        <p:spPr>
          <a:xfrm>
            <a:off x="3604565"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993392"/>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Invoke</a:t>
            </a:r>
            <a:endParaRPr lang="en-US" sz="1300" dirty="0"/>
          </a:p>
        </p:txBody>
      </p:sp>
      <p:sp>
        <p:nvSpPr>
          <p:cNvPr id="20" name="Text 15"/>
          <p:cNvSpPr txBox="1"/>
          <p:nvPr/>
        </p:nvSpPr>
        <p:spPr>
          <a:xfrm>
            <a:off x="4070909"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reply is JSON in the fixed shape.</a:t>
            </a:r>
            <a:endParaRPr lang="en-US" sz="1200" dirty="0"/>
          </a:p>
        </p:txBody>
      </p:sp>
      <p:sp>
        <p:nvSpPr>
          <p:cNvPr id="21" name="Shape 16"/>
          <p:cNvSpPr/>
          <p:nvPr/>
        </p:nvSpPr>
        <p:spPr>
          <a:xfrm>
            <a:off x="5319979"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993392"/>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Deserialize</a:t>
            </a:r>
            <a:endParaRPr lang="en-US" sz="1300" dirty="0"/>
          </a:p>
        </p:txBody>
      </p:sp>
      <p:sp>
        <p:nvSpPr>
          <p:cNvPr id="26" name="Text 20"/>
          <p:cNvSpPr txBox="1"/>
          <p:nvPr/>
        </p:nvSpPr>
        <p:spPr>
          <a:xfrm>
            <a:off x="5786323"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Into a typed object, added to a list.</a:t>
            </a:r>
            <a:endParaRPr lang="en-US" sz="1200" dirty="0"/>
          </a:p>
        </p:txBody>
      </p:sp>
      <p:sp>
        <p:nvSpPr>
          <p:cNvPr id="27" name="Shape 21"/>
          <p:cNvSpPr/>
          <p:nvPr/>
        </p:nvSpPr>
        <p:spPr>
          <a:xfrm>
            <a:off x="7035394" y="2304288"/>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993392"/>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Report</a:t>
            </a:r>
            <a:endParaRPr lang="en-US" sz="1300" dirty="0"/>
          </a:p>
        </p:txBody>
      </p:sp>
      <p:sp>
        <p:nvSpPr>
          <p:cNvPr id="32" name="Text 25"/>
          <p:cNvSpPr txBox="1"/>
          <p:nvPr/>
        </p:nvSpPr>
        <p:spPr>
          <a:xfrm>
            <a:off x="7501738" y="2606040"/>
            <a:ext cx="104790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LINQ groups, counts and filters.</a:t>
            </a:r>
            <a:endParaRPr lang="en-US" sz="1200" dirty="0"/>
          </a:p>
        </p:txBody>
      </p:sp>
      <p:sp>
        <p:nvSpPr>
          <p:cNvPr id="33" name="Text 2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Steps 2 to 4 repeat inside a foreach, once for each of the four entries.</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7 — The Data Analyst</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FAULT ISOLATION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guards inside the loop</a:t>
            </a:r>
            <a:endParaRPr lang="en-US" sz="2800" dirty="0"/>
          </a:p>
        </p:txBody>
      </p:sp>
      <p:sp>
        <p:nvSpPr>
          <p:cNvPr id="4" name="Shape 2"/>
          <p:cNvSpPr/>
          <p:nvPr/>
        </p:nvSpPr>
        <p:spPr>
          <a:xfrm>
            <a:off x="457200" y="1371600"/>
            <a:ext cx="3931920" cy="2286000"/>
          </a:xfrm>
          <a:prstGeom prst="roundRect">
            <a:avLst>
              <a:gd name="adj" fmla="val 32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The model call fails</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catch (Exception), then continue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Network error, rate limit, bad key</a:t>
            </a:r>
            <a:endParaRPr lang="en-US" sz="1300" dirty="0"/>
          </a:p>
        </p:txBody>
      </p:sp>
      <p:sp>
        <p:nvSpPr>
          <p:cNvPr id="9" name="Shape 6"/>
          <p:cNvSpPr/>
          <p:nvPr/>
        </p:nvSpPr>
        <p:spPr>
          <a:xfrm>
            <a:off x="685800" y="2907792"/>
            <a:ext cx="3474720" cy="548640"/>
          </a:xfrm>
          <a:prstGeom prst="roundRect">
            <a:avLst>
              <a:gd name="adj" fmla="val 13333"/>
            </a:avLst>
          </a:prstGeom>
          <a:solidFill>
            <a:srgbClr val="0F1420"/>
          </a:solidFill>
          <a:ln w="12700">
            <a:solidFill>
              <a:srgbClr val="0F1420"/>
            </a:solidFill>
            <a:prstDash val="solid"/>
          </a:ln>
        </p:spPr>
      </p:sp>
      <p:sp>
        <p:nvSpPr>
          <p:cNvPr id="10" name="Text 7"/>
          <p:cNvSpPr txBox="1"/>
          <p:nvPr/>
        </p:nvSpPr>
        <p:spPr>
          <a:xfrm>
            <a:off x="868680" y="3044952"/>
            <a:ext cx="3108960" cy="274320"/>
          </a:xfrm>
          <a:prstGeom prst="rect">
            <a:avLst/>
          </a:prstGeom>
          <a:noFill/>
          <a:ln/>
        </p:spPr>
        <p:txBody>
          <a:bodyPr wrap="square" lIns="0" tIns="0" rIns="0" bIns="0" rtlCol="0" anchor="t"/>
          <a:lstStyle/>
          <a:p>
            <a:pPr indent="0" marL="0">
              <a:buNone/>
            </a:pPr>
            <a:r>
              <a:rPr lang="en-US" sz="1100" dirty="0">
                <a:solidFill>
                  <a:srgbClr val="FF9B9B"/>
                </a:solidFill>
                <a:latin typeface="Courier New" pitchFamily="34" charset="0"/>
                <a:ea typeface="Courier New" pitchFamily="34" charset="-122"/>
                <a:cs typeface="Courier New" pitchFamily="34" charset="-120"/>
              </a:rPr>
              <a:t>[ERROR] Could not analyze</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entry: &lt;message&gt;</a:t>
            </a:r>
            <a:endParaRPr lang="en-US" sz="1100" dirty="0"/>
          </a:p>
        </p:txBody>
      </p:sp>
      <p:sp>
        <p:nvSpPr>
          <p:cNvPr id="11" name="Shape 8"/>
          <p:cNvSpPr/>
          <p:nvPr/>
        </p:nvSpPr>
        <p:spPr>
          <a:xfrm>
            <a:off x="4754880" y="1371600"/>
            <a:ext cx="3931920" cy="2286000"/>
          </a:xfrm>
          <a:prstGeom prst="roundRect">
            <a:avLst>
              <a:gd name="adj" fmla="val 3200"/>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The JSON doesn't parse</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catch (JsonException), skip entry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Content filter or truncated reply</a:t>
            </a:r>
            <a:endParaRPr lang="en-US" sz="1300" dirty="0"/>
          </a:p>
        </p:txBody>
      </p:sp>
      <p:sp>
        <p:nvSpPr>
          <p:cNvPr id="16" name="Shape 12"/>
          <p:cNvSpPr/>
          <p:nvPr/>
        </p:nvSpPr>
        <p:spPr>
          <a:xfrm>
            <a:off x="4983480" y="2907792"/>
            <a:ext cx="3474720" cy="548640"/>
          </a:xfrm>
          <a:prstGeom prst="roundRect">
            <a:avLst>
              <a:gd name="adj" fmla="val 13333"/>
            </a:avLst>
          </a:prstGeom>
          <a:solidFill>
            <a:srgbClr val="0F1420"/>
          </a:solidFill>
          <a:ln w="12700">
            <a:solidFill>
              <a:srgbClr val="0F1420"/>
            </a:solidFill>
            <a:prstDash val="solid"/>
          </a:ln>
        </p:spPr>
      </p:sp>
      <p:sp>
        <p:nvSpPr>
          <p:cNvPr id="17" name="Text 13"/>
          <p:cNvSpPr txBox="1"/>
          <p:nvPr/>
        </p:nvSpPr>
        <p:spPr>
          <a:xfrm>
            <a:off x="5166360" y="3044952"/>
            <a:ext cx="3108960" cy="274320"/>
          </a:xfrm>
          <a:prstGeom prst="rect">
            <a:avLst/>
          </a:prstGeom>
          <a:noFill/>
          <a:ln/>
        </p:spPr>
        <p:txBody>
          <a:bodyPr wrap="square" lIns="0" tIns="0" rIns="0" bIns="0" rtlCol="0" anchor="t"/>
          <a:lstStyle/>
          <a:p>
            <a:pPr indent="0" marL="0">
              <a:buNone/>
            </a:pPr>
            <a:r>
              <a:rPr lang="en-US" sz="1100" dirty="0">
                <a:solidFill>
                  <a:srgbClr val="FF9B9B"/>
                </a:solidFill>
                <a:latin typeface="Courier New" pitchFamily="34" charset="0"/>
                <a:ea typeface="Courier New" pitchFamily="34" charset="-122"/>
                <a:cs typeface="Courier New" pitchFamily="34" charset="-120"/>
              </a:rPr>
              <a:t>[ERROR] Model returned malformed</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JSON for one entry - skipping it.</a:t>
            </a:r>
            <a:endParaRPr lang="en-US" sz="1100" dirty="0"/>
          </a:p>
        </p:txBody>
      </p:sp>
      <p:sp>
        <p:nvSpPr>
          <p:cNvPr id="18" name="Text 14"/>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bad entry is logged and skipped; the rest of the batch still reports.</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7 — The Data Analyst</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DESIGN DECISIONS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Why the code is shaped this way</a:t>
            </a:r>
            <a:endParaRPr lang="en-US" sz="2800" dirty="0"/>
          </a:p>
        </p:txBody>
      </p:sp>
      <p:sp>
        <p:nvSpPr>
          <p:cNvPr id="4" name="Shape 2"/>
          <p:cNvSpPr/>
          <p:nvPr/>
        </p:nvSpPr>
        <p:spPr>
          <a:xfrm>
            <a:off x="457200" y="1371600"/>
            <a:ext cx="2560320" cy="1600200"/>
          </a:xfrm>
          <a:prstGeom prst="roundRect">
            <a:avLst>
              <a:gd name="adj" fmla="val 457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One call per entry</a:t>
            </a:r>
            <a:endParaRPr lang="en-US" sz="1300" dirty="0"/>
          </a:p>
        </p:txBody>
      </p:sp>
      <p:sp>
        <p:nvSpPr>
          <p:cNvPr id="8" name="Text 5"/>
          <p:cNvSpPr txBox="1"/>
          <p:nvPr/>
        </p:nvSpPr>
        <p:spPr>
          <a:xfrm>
            <a:off x="640080" y="2057400"/>
            <a:ext cx="219456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schema stays a single object, and one bad reply loses one entry, not the batch.</a:t>
            </a:r>
            <a:endParaRPr lang="en-US" sz="1200" dirty="0"/>
          </a:p>
        </p:txBody>
      </p:sp>
      <p:sp>
        <p:nvSpPr>
          <p:cNvPr id="9" name="Shape 6"/>
          <p:cNvSpPr/>
          <p:nvPr/>
        </p:nvSpPr>
        <p:spPr>
          <a:xfrm>
            <a:off x="3291840" y="1371600"/>
            <a:ext cx="2560320" cy="1600200"/>
          </a:xfrm>
          <a:prstGeom prst="roundRect">
            <a:avLst>
              <a:gd name="adj" fmla="val 457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Temperature 0.0</a:t>
            </a:r>
            <a:endParaRPr lang="en-US" sz="1300" dirty="0"/>
          </a:p>
        </p:txBody>
      </p:sp>
      <p:sp>
        <p:nvSpPr>
          <p:cNvPr id="13" name="Text 9"/>
          <p:cNvSpPr txBox="1"/>
          <p:nvPr/>
        </p:nvSpPr>
        <p:spPr>
          <a:xfrm>
            <a:off x="3474720" y="2057400"/>
            <a:ext cx="219456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Extraction should be repeatable: the same text, the same labels.</a:t>
            </a:r>
            <a:endParaRPr lang="en-US" sz="1200" dirty="0"/>
          </a:p>
        </p:txBody>
      </p:sp>
      <p:sp>
        <p:nvSpPr>
          <p:cNvPr id="14" name="Shape 10"/>
          <p:cNvSpPr/>
          <p:nvPr/>
        </p:nvSpPr>
        <p:spPr>
          <a:xfrm>
            <a:off x="6126480" y="1371600"/>
            <a:ext cx="2560320" cy="1600200"/>
          </a:xfrm>
          <a:prstGeom prst="roundRect">
            <a:avLst>
              <a:gd name="adj" fmla="val 4571"/>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LINQ, not prompts</a:t>
            </a:r>
            <a:endParaRPr lang="en-US" sz="1300" dirty="0"/>
          </a:p>
        </p:txBody>
      </p:sp>
      <p:sp>
        <p:nvSpPr>
          <p:cNvPr id="18" name="Text 13"/>
          <p:cNvSpPr txBox="1"/>
          <p:nvPr/>
        </p:nvSpPr>
        <p:spPr>
          <a:xfrm>
            <a:off x="6309360" y="2057400"/>
            <a:ext cx="219456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GroupBy counts sentiments and Where finds priority 4 or higher.</a:t>
            </a:r>
            <a:endParaRPr lang="en-US" sz="1200" dirty="0"/>
          </a:p>
        </p:txBody>
      </p:sp>
      <p:sp>
        <p:nvSpPr>
          <p:cNvPr id="19" name="Text 14"/>
          <p:cNvSpPr txBox="1"/>
          <p:nvPr/>
        </p:nvSpPr>
        <p:spPr>
          <a:xfrm>
            <a:off x="457200" y="32004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calls run one after another; there is no retry or saving to disk yet.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7 — The Data Analyst</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four records and a report</a:t>
            </a:r>
            <a:endParaRPr lang="en-US" sz="2800" dirty="0"/>
          </a:p>
        </p:txBody>
      </p:sp>
      <p:sp>
        <p:nvSpPr>
          <p:cNvPr id="4" name="Shape 2"/>
          <p:cNvSpPr/>
          <p:nvPr/>
        </p:nvSpPr>
        <p:spPr>
          <a:xfrm>
            <a:off x="457200" y="1325880"/>
            <a:ext cx="5257800" cy="2743200"/>
          </a:xfrm>
          <a:prstGeom prst="roundRect">
            <a:avLst>
              <a:gd name="adj" fmla="val 2667"/>
            </a:avLst>
          </a:prstGeom>
          <a:solidFill>
            <a:srgbClr val="0F1420"/>
          </a:solidFill>
          <a:ln w="12700">
            <a:solidFill>
              <a:srgbClr val="0F1420"/>
            </a:solidFill>
            <a:prstDash val="solid"/>
          </a:ln>
        </p:spPr>
      </p:sp>
      <p:sp>
        <p:nvSpPr>
          <p:cNvPr id="5" name="Text 3"/>
          <p:cNvSpPr txBox="1"/>
          <p:nvPr/>
        </p:nvSpPr>
        <p:spPr>
          <a:xfrm>
            <a:off x="640080" y="1463040"/>
            <a:ext cx="4892040" cy="246888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Analyzing 4 feedback entries...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[Positive] P1 - Dashboard: The redesign loads much faster.</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[Negative] P5 - CSV Export: Export hangs and blocks the team.</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[Neutral ] P2 - Pricing Page: New pricing page is confusing.</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[Negative] P5 - Invoicing: A crash lost an hour of work.</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ANALYST REPORT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Total analyzed: 4</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Positive: 1</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Negative: 2</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Neutral: 1</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Urgent items (priority &gt;= 4): 2</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 [CSV Export] Export hangs and blocks the team.</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 [Invoicing] A crash lost an hour of work.</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Fixed format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Brackets, P-score and dividers come from the code.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 values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Products, summaries and scores are the model's.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Counted in C#</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Groups appear in first-seen order.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7 — The Data Analyst</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Fan the batch out in parallel</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Start all four model calls at once and await them with Task.WhenAll, keeping each entry's own error handling.</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Lesson07-DataAnalyst/</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DataAnalyst/Program.cs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All four calls start before any of them finishes</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Result lines still print in input order</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failing entry is still logged and skipped</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report counts match the sequential version</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7 — The Data Analyst</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ResponseFormat and JSON</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19  </a:t>
            </a:r>
            <a:pPr indent="0" marL="0">
              <a:buNone/>
            </a:pPr>
            <a:r>
              <a:rPr lang="en-US" sz="1250" dirty="0">
                <a:solidFill>
                  <a:srgbClr val="FFFFFF"/>
                </a:solidFill>
                <a:latin typeface="Calibri" pitchFamily="34" charset="0"/>
                <a:ea typeface="Calibri" pitchFamily="34" charset="-122"/>
                <a:cs typeface="Calibri" pitchFamily="34" charset="-120"/>
              </a:rPr>
              <a:t>A Coordinator's JSON decides who acts next</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Typed results from a model</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26  </a:t>
            </a:r>
            <a:pPr indent="0" marL="0">
              <a:buNone/>
            </a:pPr>
            <a:r>
              <a:rPr lang="en-US" sz="1250" dirty="0">
                <a:solidFill>
                  <a:srgbClr val="FFFFFF"/>
                </a:solidFill>
                <a:latin typeface="Calibri" pitchFamily="34" charset="0"/>
                <a:ea typeface="Calibri" pitchFamily="34" charset="-122"/>
                <a:cs typeface="Calibri" pitchFamily="34" charset="-120"/>
              </a:rPr>
              <a:t>A judge agent scores answers in JSON</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batch of model calls</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32  </a:t>
            </a:r>
            <a:pPr indent="0" marL="0">
              <a:buNone/>
            </a:pPr>
            <a:r>
              <a:rPr lang="en-US" sz="1250" dirty="0">
                <a:solidFill>
                  <a:srgbClr val="FFFFFF"/>
                </a:solidFill>
                <a:latin typeface="Calibri" pitchFamily="34" charset="0"/>
                <a:ea typeface="Calibri" pitchFamily="34" charset="-122"/>
                <a:cs typeface="Calibri" pitchFamily="34" charset="-120"/>
              </a:rPr>
              <a:t>Parallel drafts fanned in by an LLM</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Aggregating results in code</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33  </a:t>
            </a:r>
            <a:pPr indent="0" marL="0">
              <a:buNone/>
            </a:pPr>
            <a:r>
              <a:rPr lang="en-US" sz="1250" dirty="0">
                <a:solidFill>
                  <a:srgbClr val="FFFFFF"/>
                </a:solidFill>
                <a:latin typeface="Calibri" pitchFamily="34" charset="0"/>
                <a:ea typeface="Calibri" pitchFamily="34" charset="-122"/>
                <a:cs typeface="Calibri" pitchFamily="34" charset="-120"/>
              </a:rPr>
              <a:t>Candidate answers settled by vote</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Structured self-checks</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31  </a:t>
            </a:r>
            <a:pPr indent="0" marL="0">
              <a:buNone/>
            </a:pPr>
            <a:r>
              <a:rPr lang="en-US" sz="1250" dirty="0">
                <a:solidFill>
                  <a:srgbClr val="FFFFFF"/>
                </a:solidFill>
                <a:latin typeface="Calibri" pitchFamily="34" charset="0"/>
                <a:ea typeface="Calibri" pitchFamily="34" charset="-122"/>
                <a:cs typeface="Calibri" pitchFamily="34" charset="-120"/>
              </a:rPr>
              <a:t>An agent critiques its own draft in JSON</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7 — The Data Analyst</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7 — The Data Analyst</dc:title>
  <dc:subject>PptxGenJS Presentation</dc:subject>
  <dc:creator>Media Six LLC</dc:creator>
  <cp:lastModifiedBy>Media Six LLC</cp:lastModifiedBy>
  <cp:revision>1</cp:revision>
  <dcterms:created xsi:type="dcterms:W3CDTF">2026-10-21T23:15:39Z</dcterms:created>
  <dcterms:modified xsi:type="dcterms:W3CDTF">2026-10-21T23:15:39Z</dcterms:modified>
</cp:coreProperties>
</file>