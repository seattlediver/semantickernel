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tool-calling lesson so far has let Semantic Kernel run the tools for us. This lesson opens that box. We switch ToolCallBehavior from AutoInvokeKernelFunctions to EnableKernelFunctions, which lets the model request a function call without the SDK actually running it. Our own code then does every remaining step: it finds the request in the model's response, invokes the plugin method directly, and adds the result back into the ChatHistory as an observation before asking the model to continue. The loop repeats, capped at five iterations, until the model stops asking for tools and gives a final answer. This is the ReAct pattern, Thought, Action, Observation, built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Lesson 15, AutoInvokeKernelFunctions made Semantic Kernel detect the model's tool requests, run the C# methods, feed the results back and return only the final answer. Here we use EnableKernelFunctions instead. The model still sees the tool catalog and can still ask for a function, but Semantic Kernel will not run it on your behalf. Your loop has to notice the request, run the tool and report the result. Nothing else about the model or the plugin changes; only that one setting does, and with it, who is in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is the familiar one. You need the .NET 10 SDK and a console app, with Microsoft.SemanticKernel and Microsoft.SemanticKernel.Connectors.OpenAI at version 1.78.0. The key comes from the OPENAI_API_KEY environment variable and the program throws at startup if it is missing. The model is gpt-4.1-mini. Because this lesson drives the chat service directly, we work with ChatHistory and IChatCompletionService, both of which are in the core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stands for Reason and Act. The agent alternates between a Thought, where it reasons about what to do next; an Action, where it chooses a tool; and an Observation, where it sees what the tool returned. The system prompt asks the model to follow a THOUGHT and ACTION format and to give a FINAL ANSWER when it is done. The Action arrives as a structured FunctionCallContent, not as free text. The Observation is the half we write ourselves: the C# loop runs the tool and threads its output back into the conversation so the model can reason about it on the next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one pass of the loop. First we ask the chat service for the next step, passing settings with EnableKernelFunctions and the kernel, so the model can see the tools. Second, we look for tool requests with result.Items.OfType of FunctionCallContent. Third, we add the whole response to history with history.Add, which keeps both the narrated text and the function-call items. If there are no calls, the model has its final answer and we break. Otherwise, fourth, we run each requested tool with call.InvokeAsync, passing the kernel. And fifth, highlighted, we add the observation back as a message with AuthorRole.Tool that carries a FunctionResultContent linked to the original call. Then the loop goes round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ResearchPlugin has two tools. SearchDatabase looks up technical specs in a tiny mock knowledge base and increments a private _stepCount field each time it runs. GetStepCount reports how many searches have been made. Because the plugin keeps state, we create the instance ourselves and register it with AddFromObject under the name Researcher. With AddFromType, Semantic Kernel would construct its own instance and we'd hold no reference to it. Registering the object we own guarantees that every call, from every turn of the loop, works with the same counter.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details make this loop reliable. First, and highlighted: check for tool calls before looking at the text. Models frequently return an empty Content string on turns where they only request a function, so code that skips empty replies would never see the call, and the loop would spin uselessly until the cap. Second, add the full response with history.Add rather than just its text, so the function-call items stay in history and each tool result can be matched to its request. Third, the for loop caps the run at five iterations, a safety net against a model that never converges. Fourth, a reply with no function calls is treated as the final answer and ends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OPENAI_API_KEY and run the project. It prints the goal, then the model's narrated THOUGHT and ACTION text, whenever the model produces any, followed by an OBSERVATION line for every tool our loop runs. The observation lines are real return values from the plugin: a search for the battery returns The Quantum-X battery lasts 24 hours, and GetStepCount reports the number of searches so far. The THOUGHT, ACTION and final answer lines here are illustrative; the model's wording and the exact number of steps can differ, and on some turns it may request a tool without narrating at all. Either way the loop stops on its own once the model stops asking for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Track whether the loop exited because the model stopped asking for tools or because it ran out of iterations, and print a clear status line either way, including how many iterations were used. Test the second path by temporarily lowering the cap to one. Then extend SearchDatabase in ResearchPlugin.cs with a second fact, such as the device's weight, and change the goal to ask for both facts. Check that you still see exactly one OBSERVATION line for every tool call the model makes.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let the model request tools without running them, read its requests as FunctionCallContent, invoked each tool ourselves, returned the results as Tool messages, and capped the loop so it always ends. Lesson 17 wraps the persona, model and settings into a ChatCompletionAgent. Lesson 18 reuses the bounded loop idea to run a Copywriter and an Editor for at most four rounds. Lesson 22 shows that function filters can intercept every tool call without writing a custom loop. Lesson 31 runs a capped reason-and-revise loop inside a single agent, and Lesson 36 caps a plan, execute and replan cycle for the same reason this loop is capped.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16  ·  PART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Manual ReAct Loop</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Open the tool-calling box: request, execute and observe by hand</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EnableKernelFunctions</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 capped ReAct loop</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Let the model request tools without running them</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Read FunctionCallContent from a response</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Invoke the requested tool yourself</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Return results as AuthorRole.Tool messages</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Cap the loop so it always ends</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16 — Manual ReAct Loop</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500" b="1" dirty="0">
                <a:solidFill>
                  <a:srgbClr val="1F2937"/>
                </a:solidFill>
                <a:latin typeface="Cambria" pitchFamily="34" charset="0"/>
                <a:ea typeface="Cambria" pitchFamily="34" charset="-122"/>
                <a:cs typeface="Cambria" pitchFamily="34" charset="-120"/>
              </a:rPr>
              <a:t>Who runs the tool: Semantic Kernel, or your code?</a:t>
            </a:r>
            <a:endParaRPr lang="en-US" sz="2500" dirty="0"/>
          </a:p>
        </p:txBody>
      </p:sp>
      <p:sp>
        <p:nvSpPr>
          <p:cNvPr id="4" name="Shape 2"/>
          <p:cNvSpPr/>
          <p:nvPr/>
        </p:nvSpPr>
        <p:spPr>
          <a:xfrm>
            <a:off x="457200" y="1371600"/>
            <a:ext cx="3931920" cy="1783080"/>
          </a:xfrm>
          <a:prstGeom prst="roundRect">
            <a:avLst>
              <a:gd name="adj" fmla="val 4103"/>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15: auto-invoke</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SK runs every requested tool</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Round trips stay hidden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You only see the final answer</a:t>
            </a:r>
            <a:endParaRPr lang="en-US" sz="1300" dirty="0"/>
          </a:p>
        </p:txBody>
      </p:sp>
      <p:sp>
        <p:nvSpPr>
          <p:cNvPr id="9" name="Shape 6"/>
          <p:cNvSpPr/>
          <p:nvPr/>
        </p:nvSpPr>
        <p:spPr>
          <a:xfrm>
            <a:off x="4754880" y="1371600"/>
            <a:ext cx="3931920" cy="1783080"/>
          </a:xfrm>
          <a:prstGeom prst="roundRect">
            <a:avLst>
              <a:gd name="adj" fmla="val 4103"/>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16: manual loop</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model may request a tool</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Your loop decides and runs it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Every step is visible in C#</a:t>
            </a:r>
            <a:endParaRPr lang="en-US" sz="1300" dirty="0"/>
          </a:p>
        </p:txBody>
      </p:sp>
      <p:sp>
        <p:nvSpPr>
          <p:cNvPr id="14" name="Text 10"/>
          <p:cNvSpPr txBox="1"/>
          <p:nvPr/>
        </p:nvSpPr>
        <p:spPr>
          <a:xfrm>
            <a:off x="457200" y="34290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Same model, same tools: only the ToolCallBehavior setting differs.</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16 — Manual ReAct Loop</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you need before writing any code</a:t>
            </a:r>
            <a:endParaRPr lang="en-US" sz="2800" dirty="0"/>
          </a:p>
        </p:txBody>
      </p:sp>
      <p:sp>
        <p:nvSpPr>
          <p:cNvPr id="4" name="Shape 2"/>
          <p:cNvSpPr/>
          <p:nvPr/>
        </p:nvSpPr>
        <p:spPr>
          <a:xfrm>
            <a:off x="457200" y="1371600"/>
            <a:ext cx="1851660" cy="1508760"/>
          </a:xfrm>
          <a:prstGeom prst="roundRect">
            <a:avLst>
              <a:gd name="adj" fmla="val 4848"/>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.NET 10</a:t>
            </a:r>
            <a:endParaRPr lang="en-US" sz="1300" dirty="0"/>
          </a:p>
        </p:txBody>
      </p:sp>
      <p:sp>
        <p:nvSpPr>
          <p:cNvPr id="8" name="Text 5"/>
          <p:cNvSpPr txBox="1"/>
          <p:nvPr/>
        </p:nvSpPr>
        <p:spPr>
          <a:xfrm>
            <a:off x="640080" y="2057400"/>
            <a:ext cx="148590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 console app targeting net10.0, as a .slnx solution.</a:t>
            </a:r>
            <a:endParaRPr lang="en-US" sz="1200" dirty="0"/>
          </a:p>
        </p:txBody>
      </p:sp>
      <p:sp>
        <p:nvSpPr>
          <p:cNvPr id="9" name="Shape 6"/>
          <p:cNvSpPr/>
          <p:nvPr/>
        </p:nvSpPr>
        <p:spPr>
          <a:xfrm>
            <a:off x="2583180" y="1371600"/>
            <a:ext cx="1851660" cy="1508760"/>
          </a:xfrm>
          <a:prstGeom prst="roundRect">
            <a:avLst>
              <a:gd name="adj" fmla="val 4848"/>
            </a:avLst>
          </a:prstGeom>
          <a:solidFill>
            <a:srgbClr val="EFEBFC"/>
          </a:solidFill>
          <a:ln w="12700">
            <a:solidFill>
              <a:srgbClr val="EFEBFC"/>
            </a:solidFill>
            <a:prstDash val="solid"/>
          </a:ln>
        </p:spPr>
      </p:sp>
      <p:sp>
        <p:nvSpPr>
          <p:cNvPr id="10" name="Shape 7"/>
          <p:cNvSpPr/>
          <p:nvPr/>
        </p:nvSpPr>
        <p:spPr>
          <a:xfrm>
            <a:off x="276606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2865912" y="1654332"/>
            <a:ext cx="184343" cy="184343"/>
          </a:xfrm>
          <a:prstGeom prst="rect">
            <a:avLst/>
          </a:prstGeom>
        </p:spPr>
      </p:pic>
      <p:sp>
        <p:nvSpPr>
          <p:cNvPr id="12" name="Text 8"/>
          <p:cNvSpPr txBox="1"/>
          <p:nvPr/>
        </p:nvSpPr>
        <p:spPr>
          <a:xfrm>
            <a:off x="326898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Packages</a:t>
            </a:r>
            <a:endParaRPr lang="en-US" sz="1300" dirty="0"/>
          </a:p>
        </p:txBody>
      </p:sp>
      <p:sp>
        <p:nvSpPr>
          <p:cNvPr id="13" name="Text 9"/>
          <p:cNvSpPr txBox="1"/>
          <p:nvPr/>
        </p:nvSpPr>
        <p:spPr>
          <a:xfrm>
            <a:off x="2766060" y="2057400"/>
            <a:ext cx="148590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SemanticKernel and Connectors.OpenAI, version 1.78.0.</a:t>
            </a:r>
            <a:endParaRPr lang="en-US" sz="1200" dirty="0"/>
          </a:p>
        </p:txBody>
      </p:sp>
      <p:sp>
        <p:nvSpPr>
          <p:cNvPr id="14" name="Shape 10"/>
          <p:cNvSpPr/>
          <p:nvPr/>
        </p:nvSpPr>
        <p:spPr>
          <a:xfrm>
            <a:off x="4709160" y="1371600"/>
            <a:ext cx="1851660" cy="1508760"/>
          </a:xfrm>
          <a:prstGeom prst="roundRect">
            <a:avLst>
              <a:gd name="adj" fmla="val 4848"/>
            </a:avLst>
          </a:prstGeom>
          <a:solidFill>
            <a:srgbClr val="EFEBFC"/>
          </a:solidFill>
          <a:ln w="12700">
            <a:solidFill>
              <a:srgbClr val="EFEBFC"/>
            </a:solidFill>
            <a:prstDash val="solid"/>
          </a:ln>
        </p:spPr>
      </p:sp>
      <p:sp>
        <p:nvSpPr>
          <p:cNvPr id="15" name="Shape 11"/>
          <p:cNvSpPr/>
          <p:nvPr/>
        </p:nvSpPr>
        <p:spPr>
          <a:xfrm>
            <a:off x="489204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4991892" y="1654332"/>
            <a:ext cx="184343" cy="184343"/>
          </a:xfrm>
          <a:prstGeom prst="rect">
            <a:avLst/>
          </a:prstGeom>
        </p:spPr>
      </p:pic>
      <p:sp>
        <p:nvSpPr>
          <p:cNvPr id="17" name="Text 12"/>
          <p:cNvSpPr txBox="1"/>
          <p:nvPr/>
        </p:nvSpPr>
        <p:spPr>
          <a:xfrm>
            <a:off x="539496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API key</a:t>
            </a:r>
            <a:endParaRPr lang="en-US" sz="1300" dirty="0"/>
          </a:p>
        </p:txBody>
      </p:sp>
      <p:sp>
        <p:nvSpPr>
          <p:cNvPr id="18" name="Text 13"/>
          <p:cNvSpPr txBox="1"/>
          <p:nvPr/>
        </p:nvSpPr>
        <p:spPr>
          <a:xfrm>
            <a:off x="4892040" y="2057400"/>
            <a:ext cx="148590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OPENAI_API_KEY, read from the environment at startup.</a:t>
            </a:r>
            <a:endParaRPr lang="en-US" sz="1200" dirty="0"/>
          </a:p>
        </p:txBody>
      </p:sp>
      <p:sp>
        <p:nvSpPr>
          <p:cNvPr id="19" name="Shape 14"/>
          <p:cNvSpPr/>
          <p:nvPr/>
        </p:nvSpPr>
        <p:spPr>
          <a:xfrm>
            <a:off x="6835140" y="1371600"/>
            <a:ext cx="1851660" cy="1508760"/>
          </a:xfrm>
          <a:prstGeom prst="roundRect">
            <a:avLst>
              <a:gd name="adj" fmla="val 4848"/>
            </a:avLst>
          </a:prstGeom>
          <a:solidFill>
            <a:srgbClr val="EFEBFC"/>
          </a:solidFill>
          <a:ln w="12700">
            <a:solidFill>
              <a:srgbClr val="EFEBFC"/>
            </a:solidFill>
            <a:prstDash val="solid"/>
          </a:ln>
        </p:spPr>
      </p:sp>
      <p:sp>
        <p:nvSpPr>
          <p:cNvPr id="20" name="Shape 15"/>
          <p:cNvSpPr/>
          <p:nvPr/>
        </p:nvSpPr>
        <p:spPr>
          <a:xfrm>
            <a:off x="7018020" y="155448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7117872" y="1654332"/>
            <a:ext cx="184343" cy="184343"/>
          </a:xfrm>
          <a:prstGeom prst="rect">
            <a:avLst/>
          </a:prstGeom>
        </p:spPr>
      </p:pic>
      <p:sp>
        <p:nvSpPr>
          <p:cNvPr id="22" name="Text 16"/>
          <p:cNvSpPr txBox="1"/>
          <p:nvPr/>
        </p:nvSpPr>
        <p:spPr>
          <a:xfrm>
            <a:off x="752094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Model</a:t>
            </a:r>
            <a:endParaRPr lang="en-US" sz="1300" dirty="0"/>
          </a:p>
        </p:txBody>
      </p:sp>
      <p:sp>
        <p:nvSpPr>
          <p:cNvPr id="23" name="Text 17"/>
          <p:cNvSpPr txBox="1"/>
          <p:nvPr/>
        </p:nvSpPr>
        <p:spPr>
          <a:xfrm>
            <a:off x="7018020" y="2057400"/>
            <a:ext cx="148590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gpt-4.1-mini, via AddOpenAI</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ChatCompletion.</a:t>
            </a:r>
            <a:endParaRPr lang="en-US" sz="1200" dirty="0"/>
          </a:p>
        </p:txBody>
      </p:sp>
      <p:sp>
        <p:nvSpPr>
          <p:cNvPr id="24" name="Text 18"/>
          <p:cNvSpPr txBox="1"/>
          <p:nvPr/>
        </p:nvSpPr>
        <p:spPr>
          <a:xfrm>
            <a:off x="457200" y="31089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ChatHistory and IChatCompletionService come from the core package.</a:t>
            </a:r>
            <a:endParaRPr lang="en-US" sz="1400" dirty="0"/>
          </a:p>
        </p:txBody>
      </p:sp>
      <p:sp>
        <p:nvSpPr>
          <p:cNvPr id="25"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16 — Manual ReAct Loop</a:t>
            </a:r>
            <a:endParaRPr lang="en-US" sz="900" dirty="0"/>
          </a:p>
        </p:txBody>
      </p:sp>
      <p:sp>
        <p:nvSpPr>
          <p:cNvPr id="26"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ReAct: the model reasons, your code observes</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ReAct cycle</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Repeat Thought, Action and Observation until the model can answer.</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Thought</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system prompt asks for a THOUGHT line before each action.</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Action</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 FunctionCallContent names the tool and its arguments.</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Observation</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Your code runs the tool and adds the result to the history.</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model supplies Thought and Action; the C# loop supplies the Observation.</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16 — Manual ReAct Loop</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ONE ITERATION</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Inside one pass of the loop</a:t>
            </a:r>
            <a:endParaRPr lang="en-US" sz="2800" dirty="0"/>
          </a:p>
        </p:txBody>
      </p:sp>
      <p:sp>
        <p:nvSpPr>
          <p:cNvPr id="4" name="Shape 2"/>
          <p:cNvSpPr/>
          <p:nvPr/>
        </p:nvSpPr>
        <p:spPr>
          <a:xfrm>
            <a:off x="457200" y="1417320"/>
            <a:ext cx="1367942" cy="2185416"/>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Ask</a:t>
            </a:r>
            <a:endParaRPr lang="en-US" sz="1300" dirty="0"/>
          </a:p>
        </p:txBody>
      </p:sp>
      <p:sp>
        <p:nvSpPr>
          <p:cNvPr id="8" name="Text 5"/>
          <p:cNvSpPr txBox="1"/>
          <p:nvPr/>
        </p:nvSpPr>
        <p:spPr>
          <a:xfrm>
            <a:off x="640080"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Request the next step.</a:t>
            </a:r>
            <a:endParaRPr lang="en-US" sz="1200" dirty="0"/>
          </a:p>
        </p:txBody>
      </p:sp>
      <p:sp>
        <p:nvSpPr>
          <p:cNvPr id="9" name="Shape 6"/>
          <p:cNvSpPr/>
          <p:nvPr/>
        </p:nvSpPr>
        <p:spPr>
          <a:xfrm>
            <a:off x="1889150" y="2400300"/>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2185416"/>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Find calls</a:t>
            </a:r>
            <a:endParaRPr lang="en-US" sz="1300" dirty="0"/>
          </a:p>
        </p:txBody>
      </p:sp>
      <p:sp>
        <p:nvSpPr>
          <p:cNvPr id="14" name="Text 10"/>
          <p:cNvSpPr txBox="1"/>
          <p:nvPr/>
        </p:nvSpPr>
        <p:spPr>
          <a:xfrm>
            <a:off x="2355494"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Items.OfType</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&lt;FunctionCall</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Content&gt;()</a:t>
            </a:r>
            <a:endParaRPr lang="en-US" sz="1200" dirty="0"/>
          </a:p>
        </p:txBody>
      </p:sp>
      <p:sp>
        <p:nvSpPr>
          <p:cNvPr id="15" name="Shape 11"/>
          <p:cNvSpPr/>
          <p:nvPr/>
        </p:nvSpPr>
        <p:spPr>
          <a:xfrm>
            <a:off x="3604565" y="2400300"/>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2185416"/>
          </a:xfrm>
          <a:prstGeom prst="roundRect">
            <a:avLst>
              <a:gd name="adj" fmla="val 5348"/>
            </a:avLst>
          </a:prstGeom>
          <a:solidFill>
            <a:srgbClr val="EFEBFC"/>
          </a:solidFill>
          <a:ln w="12700">
            <a:solidFill>
              <a:srgbClr val="EFEBFC"/>
            </a:solidFill>
            <a:prstDash val="solid"/>
          </a:ln>
        </p:spPr>
      </p:sp>
      <p:sp>
        <p:nvSpPr>
          <p:cNvPr id="17" name="Shape 13"/>
          <p:cNvSpPr/>
          <p:nvPr/>
        </p:nvSpPr>
        <p:spPr>
          <a:xfrm>
            <a:off x="4070909"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Keep reply</a:t>
            </a:r>
            <a:endParaRPr lang="en-US" sz="1300" dirty="0"/>
          </a:p>
        </p:txBody>
      </p:sp>
      <p:sp>
        <p:nvSpPr>
          <p:cNvPr id="20" name="Text 15"/>
          <p:cNvSpPr txBox="1"/>
          <p:nvPr/>
        </p:nvSpPr>
        <p:spPr>
          <a:xfrm>
            <a:off x="4070909"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history.Add</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(result) keeps text and calls.</a:t>
            </a:r>
            <a:endParaRPr lang="en-US" sz="1200" dirty="0"/>
          </a:p>
        </p:txBody>
      </p:sp>
      <p:sp>
        <p:nvSpPr>
          <p:cNvPr id="21" name="Shape 16"/>
          <p:cNvSpPr/>
          <p:nvPr/>
        </p:nvSpPr>
        <p:spPr>
          <a:xfrm>
            <a:off x="5319979" y="2400300"/>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2185416"/>
          </a:xfrm>
          <a:prstGeom prst="roundRect">
            <a:avLst>
              <a:gd name="adj" fmla="val 5348"/>
            </a:avLst>
          </a:prstGeom>
          <a:solidFill>
            <a:srgbClr val="EFEBFC"/>
          </a:solidFill>
          <a:ln w="12700">
            <a:solidFill>
              <a:srgbClr val="EFEBFC"/>
            </a:solidFill>
            <a:prstDash val="solid"/>
          </a:ln>
        </p:spPr>
      </p:sp>
      <p:sp>
        <p:nvSpPr>
          <p:cNvPr id="23" name="Shape 18"/>
          <p:cNvSpPr/>
          <p:nvPr/>
        </p:nvSpPr>
        <p:spPr>
          <a:xfrm>
            <a:off x="5786323"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Invoke</a:t>
            </a:r>
            <a:endParaRPr lang="en-US" sz="1300" dirty="0"/>
          </a:p>
        </p:txBody>
      </p:sp>
      <p:sp>
        <p:nvSpPr>
          <p:cNvPr id="26" name="Text 20"/>
          <p:cNvSpPr txBox="1"/>
          <p:nvPr/>
        </p:nvSpPr>
        <p:spPr>
          <a:xfrm>
            <a:off x="5786323"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call.InvokeAsync</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(kernel) runs the tool.</a:t>
            </a:r>
            <a:endParaRPr lang="en-US" sz="1200" dirty="0"/>
          </a:p>
        </p:txBody>
      </p:sp>
      <p:sp>
        <p:nvSpPr>
          <p:cNvPr id="27" name="Shape 21"/>
          <p:cNvSpPr/>
          <p:nvPr/>
        </p:nvSpPr>
        <p:spPr>
          <a:xfrm>
            <a:off x="7035394" y="2400300"/>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2185416"/>
          </a:xfrm>
          <a:prstGeom prst="roundRect">
            <a:avLst>
              <a:gd name="adj" fmla="val 5348"/>
            </a:avLst>
          </a:prstGeom>
          <a:solidFill>
            <a:srgbClr val="512BD4"/>
          </a:solidFill>
          <a:ln w="12700">
            <a:solidFill>
              <a:srgbClr val="512BD4"/>
            </a:solidFill>
            <a:prstDash val="solid"/>
          </a:ln>
        </p:spPr>
      </p:sp>
      <p:sp>
        <p:nvSpPr>
          <p:cNvPr id="29" name="Shape 23"/>
          <p:cNvSpPr/>
          <p:nvPr/>
        </p:nvSpPr>
        <p:spPr>
          <a:xfrm>
            <a:off x="7501738" y="1618488"/>
            <a:ext cx="457200" cy="457200"/>
          </a:xfrm>
          <a:prstGeom prst="ellipse">
            <a:avLst/>
          </a:prstGeom>
          <a:solidFill>
            <a:srgbClr val="FFFFFF"/>
          </a:solidFill>
          <a:ln w="12700">
            <a:solidFill>
              <a:srgbClr val="FFFFFF"/>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Observe</a:t>
            </a:r>
            <a:endParaRPr lang="en-US" sz="1300" dirty="0"/>
          </a:p>
        </p:txBody>
      </p:sp>
      <p:sp>
        <p:nvSpPr>
          <p:cNvPr id="32" name="Text 25"/>
          <p:cNvSpPr txBox="1"/>
          <p:nvPr/>
        </p:nvSpPr>
        <p:spPr>
          <a:xfrm>
            <a:off x="7501738" y="2606040"/>
            <a:ext cx="1047902"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 Tool message with a FunctionResult</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Content.</a:t>
            </a:r>
            <a:endParaRPr lang="en-US" sz="1200" dirty="0"/>
          </a:p>
        </p:txBody>
      </p:sp>
      <p:sp>
        <p:nvSpPr>
          <p:cNvPr id="33" name="Text 26"/>
          <p:cNvSpPr txBox="1"/>
          <p:nvPr/>
        </p:nvSpPr>
        <p:spPr>
          <a:xfrm>
            <a:off x="457200" y="39227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No calls in the reply means the model has its answer, so the loop breaks.</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16 — Manual ReAct Loop</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STATEFUL PLUGIN</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650" b="1" dirty="0">
                <a:solidFill>
                  <a:srgbClr val="1F2937"/>
                </a:solidFill>
                <a:latin typeface="Cambria" pitchFamily="34" charset="0"/>
                <a:ea typeface="Cambria" pitchFamily="34" charset="-122"/>
                <a:cs typeface="Cambria" pitchFamily="34" charset="-120"/>
              </a:rPr>
              <a:t>Why this lesson registers an object, not a type</a:t>
            </a:r>
            <a:endParaRPr lang="en-US" sz="2650" dirty="0"/>
          </a:p>
        </p:txBody>
      </p:sp>
      <p:sp>
        <p:nvSpPr>
          <p:cNvPr id="4" name="Shape 2"/>
          <p:cNvSpPr/>
          <p:nvPr/>
        </p:nvSpPr>
        <p:spPr>
          <a:xfrm>
            <a:off x="457200" y="1371600"/>
            <a:ext cx="3931920" cy="1783080"/>
          </a:xfrm>
          <a:prstGeom prst="roundRect">
            <a:avLst>
              <a:gd name="adj" fmla="val 4103"/>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AddFromType&lt;T&gt;()</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Semantic Kernel creates the instance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You hold no reference to it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Fine for stateless tools</a:t>
            </a:r>
            <a:endParaRPr lang="en-US" sz="1300" dirty="0"/>
          </a:p>
        </p:txBody>
      </p:sp>
      <p:sp>
        <p:nvSpPr>
          <p:cNvPr id="9" name="Shape 6"/>
          <p:cNvSpPr/>
          <p:nvPr/>
        </p:nvSpPr>
        <p:spPr>
          <a:xfrm>
            <a:off x="4754880" y="1371600"/>
            <a:ext cx="3931920" cy="1783080"/>
          </a:xfrm>
          <a:prstGeom prst="roundRect">
            <a:avLst>
              <a:gd name="adj" fmla="val 4103"/>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AddFromObject(obj)</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You create the ResearchPlugin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Its _stepCount survives every call</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GetStepCount reads that same field</a:t>
            </a:r>
            <a:endParaRPr lang="en-US" sz="1300" dirty="0"/>
          </a:p>
        </p:txBody>
      </p:sp>
      <p:sp>
        <p:nvSpPr>
          <p:cNvPr id="14" name="Text 10"/>
          <p:cNvSpPr txBox="1"/>
          <p:nvPr/>
        </p:nvSpPr>
        <p:spPr>
          <a:xfrm>
            <a:off x="457200" y="34290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Register the instance you own whenever a plugin keeps state.</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16 — Manual ReAct Loop</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DESIGN DECISIONS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Four details that keep the loop honest</a:t>
            </a:r>
            <a:endParaRPr lang="en-US" sz="2800" dirty="0"/>
          </a:p>
        </p:txBody>
      </p:sp>
      <p:sp>
        <p:nvSpPr>
          <p:cNvPr id="4" name="Shape 2"/>
          <p:cNvSpPr/>
          <p:nvPr/>
        </p:nvSpPr>
        <p:spPr>
          <a:xfrm>
            <a:off x="457200" y="1371600"/>
            <a:ext cx="3977640" cy="1143000"/>
          </a:xfrm>
          <a:prstGeom prst="roundRect">
            <a:avLst>
              <a:gd name="adj" fmla="val 6400"/>
            </a:avLst>
          </a:prstGeom>
          <a:solidFill>
            <a:srgbClr val="512BD4"/>
          </a:solidFill>
          <a:ln w="12700">
            <a:solidFill>
              <a:srgbClr val="512BD4"/>
            </a:solidFill>
            <a:prstDash val="solid"/>
          </a:ln>
        </p:spPr>
      </p:sp>
      <p:sp>
        <p:nvSpPr>
          <p:cNvPr id="5" name="Shape 3"/>
          <p:cNvSpPr/>
          <p:nvPr/>
        </p:nvSpPr>
        <p:spPr>
          <a:xfrm>
            <a:off x="640080" y="1554480"/>
            <a:ext cx="384048" cy="384048"/>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Check calls first</a:t>
            </a:r>
            <a:endParaRPr lang="en-US" sz="1500" dirty="0"/>
          </a:p>
        </p:txBody>
      </p:sp>
      <p:sp>
        <p:nvSpPr>
          <p:cNvPr id="8" name="Text 5"/>
          <p:cNvSpPr txBox="1"/>
          <p:nvPr/>
        </p:nvSpPr>
        <p:spPr>
          <a:xfrm>
            <a:off x="640080" y="2057400"/>
            <a:ext cx="3611880" cy="3657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Tool-call turns often have empty Content. Look at Items before the text, or the call is skipped.</a:t>
            </a:r>
            <a:endParaRPr lang="en-US" sz="1200" dirty="0"/>
          </a:p>
        </p:txBody>
      </p:sp>
      <p:sp>
        <p:nvSpPr>
          <p:cNvPr id="9" name="Shape 6"/>
          <p:cNvSpPr/>
          <p:nvPr/>
        </p:nvSpPr>
        <p:spPr>
          <a:xfrm>
            <a:off x="4709160" y="1371600"/>
            <a:ext cx="3977640" cy="1143000"/>
          </a:xfrm>
          <a:prstGeom prst="roundRect">
            <a:avLst>
              <a:gd name="adj" fmla="val 6400"/>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Keep the full reply</a:t>
            </a:r>
            <a:endParaRPr lang="en-US" sz="1500" dirty="0"/>
          </a:p>
        </p:txBody>
      </p:sp>
      <p:sp>
        <p:nvSpPr>
          <p:cNvPr id="13" name="Text 9"/>
          <p:cNvSpPr txBox="1"/>
          <p:nvPr/>
        </p:nvSpPr>
        <p:spPr>
          <a:xfrm>
            <a:off x="4892040" y="2057400"/>
            <a:ext cx="3611880" cy="3657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history.Add(result) keeps the call items, so each observation matches its request.</a:t>
            </a:r>
            <a:endParaRPr lang="en-US" sz="1200" dirty="0"/>
          </a:p>
        </p:txBody>
      </p:sp>
      <p:sp>
        <p:nvSpPr>
          <p:cNvPr id="14" name="Shape 10"/>
          <p:cNvSpPr/>
          <p:nvPr/>
        </p:nvSpPr>
        <p:spPr>
          <a:xfrm>
            <a:off x="457200" y="2743200"/>
            <a:ext cx="3977640" cy="1143000"/>
          </a:xfrm>
          <a:prstGeom prst="roundRect">
            <a:avLst>
              <a:gd name="adj" fmla="val 6400"/>
            </a:avLst>
          </a:prstGeom>
          <a:solidFill>
            <a:srgbClr val="EFEBFC"/>
          </a:solidFill>
          <a:ln w="12700">
            <a:solidFill>
              <a:srgbClr val="EFEBFC"/>
            </a:solidFill>
            <a:prstDash val="solid"/>
          </a:ln>
        </p:spPr>
      </p:sp>
      <p:sp>
        <p:nvSpPr>
          <p:cNvPr id="15" name="Shape 11"/>
          <p:cNvSpPr/>
          <p:nvPr/>
        </p:nvSpPr>
        <p:spPr>
          <a:xfrm>
            <a:off x="640080" y="29260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025932"/>
            <a:ext cx="184343" cy="184343"/>
          </a:xfrm>
          <a:prstGeom prst="rect">
            <a:avLst/>
          </a:prstGeom>
        </p:spPr>
      </p:pic>
      <p:sp>
        <p:nvSpPr>
          <p:cNvPr id="17" name="Text 12"/>
          <p:cNvSpPr txBox="1"/>
          <p:nvPr/>
        </p:nvSpPr>
        <p:spPr>
          <a:xfrm>
            <a:off x="1143000" y="29260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Cap at five</a:t>
            </a:r>
            <a:endParaRPr lang="en-US" sz="1500" dirty="0"/>
          </a:p>
        </p:txBody>
      </p:sp>
      <p:sp>
        <p:nvSpPr>
          <p:cNvPr id="18" name="Text 13"/>
          <p:cNvSpPr txBox="1"/>
          <p:nvPr/>
        </p:nvSpPr>
        <p:spPr>
          <a:xfrm>
            <a:off x="640080" y="3429000"/>
            <a:ext cx="3611880" cy="3657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for (int i = 0; i &lt; 5; i++) ends the run even if the model never converges.</a:t>
            </a:r>
            <a:endParaRPr lang="en-US" sz="1200" dirty="0"/>
          </a:p>
        </p:txBody>
      </p:sp>
      <p:sp>
        <p:nvSpPr>
          <p:cNvPr id="19" name="Shape 14"/>
          <p:cNvSpPr/>
          <p:nvPr/>
        </p:nvSpPr>
        <p:spPr>
          <a:xfrm>
            <a:off x="4709160" y="2743200"/>
            <a:ext cx="3977640" cy="1143000"/>
          </a:xfrm>
          <a:prstGeom prst="roundRect">
            <a:avLst>
              <a:gd name="adj" fmla="val 6400"/>
            </a:avLst>
          </a:prstGeom>
          <a:solidFill>
            <a:srgbClr val="EFEBFC"/>
          </a:solidFill>
          <a:ln w="12700">
            <a:solidFill>
              <a:srgbClr val="EFEBFC"/>
            </a:solidFill>
            <a:prstDash val="solid"/>
          </a:ln>
        </p:spPr>
      </p:sp>
      <p:sp>
        <p:nvSpPr>
          <p:cNvPr id="20" name="Shape 15"/>
          <p:cNvSpPr/>
          <p:nvPr/>
        </p:nvSpPr>
        <p:spPr>
          <a:xfrm>
            <a:off x="4892040" y="292608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025932"/>
            <a:ext cx="184343" cy="184343"/>
          </a:xfrm>
          <a:prstGeom prst="rect">
            <a:avLst/>
          </a:prstGeom>
        </p:spPr>
      </p:pic>
      <p:sp>
        <p:nvSpPr>
          <p:cNvPr id="22" name="Text 16"/>
          <p:cNvSpPr txBox="1"/>
          <p:nvPr/>
        </p:nvSpPr>
        <p:spPr>
          <a:xfrm>
            <a:off x="5394960" y="29260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Stop on no calls</a:t>
            </a:r>
            <a:endParaRPr lang="en-US" sz="1500" dirty="0"/>
          </a:p>
        </p:txBody>
      </p:sp>
      <p:sp>
        <p:nvSpPr>
          <p:cNvPr id="23" name="Text 17"/>
          <p:cNvSpPr txBox="1"/>
          <p:nvPr/>
        </p:nvSpPr>
        <p:spPr>
          <a:xfrm>
            <a:off x="4892040" y="3429000"/>
            <a:ext cx="3611880" cy="3657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reply with no FunctionCallContent is the final answer, so the loop breaks.</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16 — Manual ReAct Loop</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thought, action, observation, answer</a:t>
            </a:r>
            <a:endParaRPr lang="en-US" sz="2800" dirty="0"/>
          </a:p>
        </p:txBody>
      </p:sp>
      <p:sp>
        <p:nvSpPr>
          <p:cNvPr id="4" name="Shape 2"/>
          <p:cNvSpPr/>
          <p:nvPr/>
        </p:nvSpPr>
        <p:spPr>
          <a:xfrm>
            <a:off x="457200" y="1325880"/>
            <a:ext cx="5257800" cy="2331720"/>
          </a:xfrm>
          <a:prstGeom prst="roundRect">
            <a:avLst>
              <a:gd name="adj" fmla="val 3137"/>
            </a:avLst>
          </a:prstGeom>
          <a:solidFill>
            <a:srgbClr val="0F1420"/>
          </a:solidFill>
          <a:ln w="12700">
            <a:solidFill>
              <a:srgbClr val="0F1420"/>
            </a:solidFill>
            <a:prstDash val="solid"/>
          </a:ln>
        </p:spPr>
      </p:sp>
      <p:sp>
        <p:nvSpPr>
          <p:cNvPr id="5" name="Text 3"/>
          <p:cNvSpPr txBox="1"/>
          <p:nvPr/>
        </p:nvSpPr>
        <p:spPr>
          <a:xfrm>
            <a:off x="640080" y="1463040"/>
            <a:ext cx="4892040" cy="2057400"/>
          </a:xfrm>
          <a:prstGeom prst="rect">
            <a:avLst/>
          </a:prstGeom>
          <a:noFill/>
          <a:ln/>
        </p:spPr>
        <p:txBody>
          <a:bodyPr wrap="square" lIns="0" tIns="0" rIns="0" bIns="0" rtlCol="0" anchor="t"/>
          <a:lstStyle/>
          <a:p>
            <a:pPr indent="0" marL="0">
              <a:buNone/>
            </a:pPr>
            <a:r>
              <a:rPr lang="en-US" sz="1100" b="1" dirty="0">
                <a:solidFill>
                  <a:srgbClr val="F5A623"/>
                </a:solidFill>
                <a:latin typeface="Courier New" pitchFamily="34" charset="0"/>
                <a:ea typeface="Courier New" pitchFamily="34" charset="-122"/>
                <a:cs typeface="Courier New" pitchFamily="34" charset="-120"/>
              </a:rPr>
              <a:t>🚀 Goal: Find the battery life of the Quantum-X and</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tell me the total steps taken.</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THOUGHT: I should search for the battery life.</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ACTION: SearchDatabase</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OBSERVATION: The Quantum-X battery lasts 24 hours.</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OBSERVATION: Total steps taken: 1</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FINAL ANSWER: The battery lasts 24 hours, and 1</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research step was taken.</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Real observations</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Both OBSERVATION lines are the plugin's own return values.</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Illustrative</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THOUGHT, ACTION and the answer are examples.</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Ends by itself</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 more calls ends the loop, well inside the cap of 5.</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16 — Manual ReAct Loop</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Report how the loop finished</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Count iterations, then print whether the run ended with a final answer or hit the cap. Add a second fact to the knowledge base.</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Lesson16-ManualReActLoop/</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ManualReActLoop/Program.cs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finished run prints the number of iterations used</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Lowering the cap to 1 prints a max-iterations message</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SearchDatabase answers a second query, such as weight</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Each observation line still prints once per tool call</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16 — Manual ReAct Loop</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ChatHistory as loop state</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17  </a:t>
            </a:r>
            <a:pPr indent="0" marL="0">
              <a:buNone/>
            </a:pPr>
            <a:r>
              <a:rPr lang="en-US" sz="1250" dirty="0">
                <a:solidFill>
                  <a:srgbClr val="FFFFFF"/>
                </a:solidFill>
                <a:latin typeface="Calibri" pitchFamily="34" charset="0"/>
                <a:ea typeface="Calibri" pitchFamily="34" charset="-122"/>
                <a:cs typeface="Calibri" pitchFamily="34" charset="-120"/>
              </a:rPr>
              <a:t>ChatCompletionAgent wraps persona and model</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bounded iteration cap</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18  </a:t>
            </a:r>
            <a:pPr indent="0" marL="0">
              <a:buNone/>
            </a:pPr>
            <a:r>
              <a:rPr lang="en-US" sz="1250" dirty="0">
                <a:solidFill>
                  <a:srgbClr val="FFFFFF"/>
                </a:solidFill>
                <a:latin typeface="Calibri" pitchFamily="34" charset="0"/>
                <a:ea typeface="Calibri" pitchFamily="34" charset="-122"/>
                <a:cs typeface="Calibri" pitchFamily="34" charset="-120"/>
              </a:rPr>
              <a:t>Four rounds cap a Copywriter and Editor desk</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Seeing every tool call</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22  </a:t>
            </a:r>
            <a:pPr indent="0" marL="0">
              <a:buNone/>
            </a:pPr>
            <a:r>
              <a:rPr lang="en-US" sz="1250" dirty="0">
                <a:solidFill>
                  <a:srgbClr val="FFFFFF"/>
                </a:solidFill>
                <a:latin typeface="Calibri" pitchFamily="34" charset="0"/>
                <a:ea typeface="Calibri" pitchFamily="34" charset="-122"/>
                <a:cs typeface="Calibri" pitchFamily="34" charset="-120"/>
              </a:rPr>
              <a:t>Filters intercept calls without a custom loop</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Reason, act, observe</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31  </a:t>
            </a:r>
            <a:pPr indent="0" marL="0">
              <a:buNone/>
            </a:pPr>
            <a:r>
              <a:rPr lang="en-US" sz="1250" dirty="0">
                <a:solidFill>
                  <a:srgbClr val="FFFFFF"/>
                </a:solidFill>
                <a:latin typeface="Calibri" pitchFamily="34" charset="0"/>
                <a:ea typeface="Calibri" pitchFamily="34" charset="-122"/>
                <a:cs typeface="Calibri" pitchFamily="34" charset="-120"/>
              </a:rPr>
              <a:t>One agent critiques and revises its own draft</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Loop until it converges</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36  </a:t>
            </a:r>
            <a:pPr indent="0" marL="0">
              <a:buNone/>
            </a:pPr>
            <a:r>
              <a:rPr lang="en-US" sz="1250" dirty="0">
                <a:solidFill>
                  <a:srgbClr val="FFFFFF"/>
                </a:solidFill>
                <a:latin typeface="Calibri" pitchFamily="34" charset="0"/>
                <a:ea typeface="Calibri" pitchFamily="34" charset="-122"/>
                <a:cs typeface="Calibri" pitchFamily="34" charset="-120"/>
              </a:rPr>
              <a:t>A failed step triggers a genuine replan</a:t>
            </a:r>
            <a:endParaRPr lang="en-US" sz="1250" dirty="0"/>
          </a:p>
        </p:txBody>
      </p:sp>
      <p:sp>
        <p:nvSpPr>
          <p:cNvPr id="24" name="Text 22"/>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1: Foundations &amp; Core Orchestration</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16 — Manual ReAct Loop</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16 — Manual ReAct Loop</dc:title>
  <dc:subject>PptxGenJS Presentation</dc:subject>
  <dc:creator>Media Six LLC</dc:creator>
  <cp:lastModifiedBy>Media Six LLC</cp:lastModifiedBy>
  <cp:revision>1</cp:revision>
  <dcterms:created xsi:type="dcterms:W3CDTF">2026-10-21T23:27:16Z</dcterms:created>
  <dcterms:modified xsi:type="dcterms:W3CDTF">2026-10-21T23:27:16Z</dcterms:modified>
</cp:coreProperties>
</file>