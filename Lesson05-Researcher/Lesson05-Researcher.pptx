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asks a question no model can answer from memory: what are the top three news headlines about space exploration today? Training data has a cutoff, so the model needs live information. Instead of writing a search plugin the way Lessons 4 and 6 write C# tools, we use a model that can search the web itself: OpenAI's gpt-4o-mini-search-preview. Semantic Kernel's OpenAI connector has no typed setting for the field this model needs, so the program still builds a kernel for consistency with the series, but sends the grounded request straight to OpenAI's Chat Completions REST endpoint. The lesson teaches grounding, and it teaches when and how to step outside Semantic Kernel's abstraction.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Lessons 4 and 6 teach the give-the-model-a-tool pattern: you write a C# plugin and Semantic Kernel calls it on the model's behalf. Lesson 5 deliberately breaks that pattern. The kernel we build has zero plugins, yet the program still reaches the live internet, because web search here is a property of which OpenAI model you call. Semantic Kernel never sees, wraps or executes the search. The point is that not every model capability has a first-class Semantic Kernel wrapper, and sometimes the right move is to use the provider's native API directly and understand the trade-offs.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Researcher, uses the same two packages as before at version 1.78.0. The API key from OPENAI_API_KEY is used twice: once to build the kernel and once as the Bearer token on our own HTTP request. There are two model IDs. ChatModelId is gpt-4.1-mini, the series standard, used only to build the kernel. SearchModelId is gpt-4o-mini-search-preview, OpenAI's dedicated web-search model, which actually answers the question. The grounded call goes to the Chat Completions endpoint using HttpClient, with System.Text.Json building the request and parsing the response. Note that web search is billed per call, on top of token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builds the kernel with gpt-4.1-mini and deliberately adds no search plugin; the comment in the code calls this out, and the built kernel is discarded. Step 2 defines the question: what are the top three news headlines regarding space exploration today, summarized in one sentence each. Step 3, highlighted, calls our helper AskOpenAIWithWebSearchAsync, which posts the request to OpenAI with the search model and the web_search_options field. The helper reads the response JSON and pulls out choices zero, message, content. Step 4 prints the answer between AI RESEARCH REPORT divider lines. Steps 3 and 4 are wrapped in a try/catch, because grounding adds a live search hop and so more ways for the call to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just flip a switch on gpt-4.1-mini? OpenAI's general-purpose Chat Completions models have no web search flag. The web_search tool that looks like the direct analog exists only on the newer Responses API, and as of mid-2026 OpenAI's developer community reports it intermittently returning HTTP 500 errors when paired with gpt-4.1-mini, which is not something to build a lesson on. The best-supported alternative is gpt-4o-mini-search-preview, a model where grounding is built in: an empty web_search_options object on an ordinary Chat Completions request is enough to turn on live search. Semantic Kernel's OpenAI execution settings have no typed property for that field, so we send that one request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everything the helper sends. The Authorization header carries the API key as a Bearer token. The body is built as a JsonObject with three fields: the model, set to gpt-4o-mini-search-preview; a messages array holding one user message with our question; and web_search_options set to an empty object, which is all it takes to turn on grounding. The most important gotcha in this lesson is what is not here. Unlike Lesson 3, there is no temperature and no top_p. OpenAI's search-preview models reject sampling parameters outright, and a request that includes them fails with an unsupported_parameter error. If the status code isn't a success, the helper throws an InvalidOperationException containing the status and the response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Stepping outside Semantic Kernel buys direct API fidelity, but it costs you the framework's safety net for that call. There are no typed settings, so field names like web_search_options are plain strings and a typo only shows up at run time. Kernel features such as the filters in Lesson 22 and the telemetry in Lesson 24 never see the request, because it never goes through the kernel. You parse the response yourself, walking choices, message and content. And you own error handling: the helper checks IsSuccessStatusCode and throws, and Main catches the exception and prints Research request failed. The rule of thumb is to use the escape hatch for the one call that needs it and keep everything else on the kernel.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The program prints the question and a line saying the agent is using OpenAI's built-in web search grounding, then prints the report between divider lines. The three report lines on this slide are placeholders, not a real capture: the actual headlines depend entirely on the day you run it, which is the whole point of grounding. Expect three numbered items, each with a one-sentence summary, and often inline links to the sources the model used. If the request fails, for example because of a bad key or quota, you'll see Research request failed followed by the status code and OpenAI's error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The search model's response message can carry an annotations array, where each entry of type url_citation includes a title and a URL. Extend AskOpenAIWithWebSearchAsync to return those alongside the content, and print a Sources section after the report. Handle the case where there are no annotations. Then let the user pass a research topic in args, falling back to the space question. Keep the request free of sampling parameters, or it will fail with unsupported_parameter. Printing the citations is also the simplest proof that grounding really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grounding gives a model information it couldn't have from training. With OpenAI that is a model choice, gpt-4o-mini-search-preview, switched on with an empty web_search_options object, and because Semantic Kernel's connector has no setting for it, we called the REST API directly and left out temperature and top_p. Lesson 8 grounds answers in your own documents instead of the web. Lesson 14 grounds them in a whole manual pasted into the prompt. Lesson 15 goes back to plugins, with the model choosing between two. Lesson 19 adds a retry handler for transient HTTP failures. And Lesson 34 makes the same kind of call we made here, hand-rolling a pattern when Semantic Kernel's own surface proves unreliable.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5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The Researcher</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Live web grounding with OpenAI's search model</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today's space news question</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three web-grounded headlines</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What grounding is, and why models need it</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Grounding as a model choice, not a plugin</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Call OpenAI's REST API when SK has no setting</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Turn on search with web_search_options</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Keep temperature and top_p out of the request</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5 — The Researcher</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50" b="1" dirty="0">
                <a:solidFill>
                  <a:srgbClr val="1F2937"/>
                </a:solidFill>
                <a:latin typeface="Cambria" pitchFamily="34" charset="0"/>
                <a:ea typeface="Cambria" pitchFamily="34" charset="-122"/>
                <a:cs typeface="Cambria" pitchFamily="34" charset="-120"/>
              </a:rPr>
              <a:t>No plugin, yet the program reaches the internet</a:t>
            </a:r>
            <a:endParaRPr lang="en-US" sz="2650" dirty="0"/>
          </a:p>
        </p:txBody>
      </p:sp>
      <p:sp>
        <p:nvSpPr>
          <p:cNvPr id="4" name="Shape 2"/>
          <p:cNvSpPr/>
          <p:nvPr/>
        </p:nvSpPr>
        <p:spPr>
          <a:xfrm>
            <a:off x="457200" y="1371600"/>
            <a:ext cx="3931920" cy="2286000"/>
          </a:xfrm>
          <a:prstGeom prst="roundRect">
            <a:avLst>
              <a:gd name="adj" fmla="val 32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4: your tool</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You write a C# plugin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SK runs it when the model asks</a:t>
            </a:r>
            <a:endParaRPr lang="en-US" sz="1300" dirty="0"/>
          </a:p>
        </p:txBody>
      </p:sp>
      <p:sp>
        <p:nvSpPr>
          <p:cNvPr id="9" name="Shape 6"/>
          <p:cNvSpPr/>
          <p:nvPr/>
        </p:nvSpPr>
        <p:spPr>
          <a:xfrm>
            <a:off x="685800" y="2907792"/>
            <a:ext cx="3474720" cy="548640"/>
          </a:xfrm>
          <a:prstGeom prst="roundRect">
            <a:avLst>
              <a:gd name="adj" fmla="val 13333"/>
            </a:avLst>
          </a:prstGeom>
          <a:solidFill>
            <a:srgbClr val="0F1420"/>
          </a:solidFill>
          <a:ln w="12700">
            <a:solidFill>
              <a:srgbClr val="0F1420"/>
            </a:solidFill>
            <a:prstDash val="solid"/>
          </a:ln>
        </p:spPr>
      </p:sp>
      <p:sp>
        <p:nvSpPr>
          <p:cNvPr id="10" name="Text 7"/>
          <p:cNvSpPr txBox="1"/>
          <p:nvPr/>
        </p:nvSpPr>
        <p:spPr>
          <a:xfrm>
            <a:off x="868680" y="3044952"/>
            <a:ext cx="3108960" cy="27432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[NATIVE CODE EXECUTION]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Each person got 81.75 apples.</a:t>
            </a:r>
            <a:endParaRPr lang="en-US" sz="1100" dirty="0"/>
          </a:p>
        </p:txBody>
      </p:sp>
      <p:sp>
        <p:nvSpPr>
          <p:cNvPr id="11" name="Shape 8"/>
          <p:cNvSpPr/>
          <p:nvPr/>
        </p:nvSpPr>
        <p:spPr>
          <a:xfrm>
            <a:off x="4754880" y="1371600"/>
            <a:ext cx="3931920" cy="2286000"/>
          </a:xfrm>
          <a:prstGeom prst="roundRect">
            <a:avLst>
              <a:gd name="adj" fmla="val 3200"/>
            </a:avLst>
          </a:prstGeom>
          <a:solidFill>
            <a:srgbClr val="EFEBFC"/>
          </a:solidFill>
          <a:ln w="12700">
            <a:solidFill>
              <a:srgbClr val="EFEBFC"/>
            </a:solidFill>
            <a:prstDash val="solid"/>
          </a:ln>
        </p:spPr>
      </p:sp>
      <p:sp>
        <p:nvSpPr>
          <p:cNvPr id="12" name="Shape 9"/>
          <p:cNvSpPr/>
          <p:nvPr/>
        </p:nvSpPr>
        <p:spPr>
          <a:xfrm>
            <a:off x="4983480" y="1600200"/>
            <a:ext cx="438912" cy="438912"/>
          </a:xfrm>
          <a:prstGeom prst="ellipse">
            <a:avLst/>
          </a:prstGeom>
          <a:solidFill>
            <a:srgbClr val="512BD4"/>
          </a:solidFill>
          <a:ln w="12700">
            <a:solidFill>
              <a:srgbClr val="512BD4"/>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5: built-in search</a:t>
            </a:r>
            <a:endParaRPr lang="en-US" sz="1700" dirty="0"/>
          </a:p>
        </p:txBody>
      </p:sp>
      <p:sp>
        <p:nvSpPr>
          <p:cNvPr id="15" name="Text 11"/>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Zero plugins registered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OpenAI searches the web itself</a:t>
            </a:r>
            <a:endParaRPr lang="en-US" sz="1300" dirty="0"/>
          </a:p>
        </p:txBody>
      </p:sp>
      <p:sp>
        <p:nvSpPr>
          <p:cNvPr id="16" name="Shape 12"/>
          <p:cNvSpPr/>
          <p:nvPr/>
        </p:nvSpPr>
        <p:spPr>
          <a:xfrm>
            <a:off x="4983480" y="2907792"/>
            <a:ext cx="3474720" cy="548640"/>
          </a:xfrm>
          <a:prstGeom prst="roundRect">
            <a:avLst>
              <a:gd name="adj" fmla="val 13333"/>
            </a:avLst>
          </a:prstGeom>
          <a:solidFill>
            <a:srgbClr val="0F1420"/>
          </a:solidFill>
          <a:ln w="12700">
            <a:solidFill>
              <a:srgbClr val="0F1420"/>
            </a:solidFill>
            <a:prstDash val="solid"/>
          </a:ln>
        </p:spPr>
      </p:sp>
      <p:sp>
        <p:nvSpPr>
          <p:cNvPr id="17" name="Text 13"/>
          <p:cNvSpPr txBox="1"/>
          <p:nvPr/>
        </p:nvSpPr>
        <p:spPr>
          <a:xfrm>
            <a:off x="5166360" y="3044952"/>
            <a:ext cx="3108960" cy="27432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 AI RESEARCH REPORT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1. &lt;today's headline&gt; ...</a:t>
            </a:r>
            <a:endParaRPr lang="en-US" sz="1100" dirty="0"/>
          </a:p>
        </p:txBody>
      </p:sp>
      <p:sp>
        <p:nvSpPr>
          <p:cNvPr id="18" name="Text 14"/>
          <p:cNvSpPr txBox="1"/>
          <p:nvPr/>
        </p:nvSpPr>
        <p:spPr>
          <a:xfrm>
            <a:off x="457200" y="39319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Some capabilities belong to the provider's model, not to Semantic Kernel.</a:t>
            </a:r>
            <a:endParaRPr lang="en-US" sz="1400" dirty="0"/>
          </a:p>
        </p:txBody>
      </p:sp>
      <p:sp>
        <p:nvSpPr>
          <p:cNvPr id="19"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5 — The Researcher</a:t>
            </a:r>
            <a:endParaRPr lang="en-US" sz="900" dirty="0"/>
          </a:p>
        </p:txBody>
      </p:sp>
      <p:sp>
        <p:nvSpPr>
          <p:cNvPr id="20"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Connectors.OpenAI 1.78.0, in a net10.0 console app opened from Researcher.slnx.</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Used twice: to build the kernel, and as the Bearer token on the direct REST call.</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model IDs</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Kernel: gpt-4.1-mini, the series standard.</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Answers: gpt-4o-mini-search-preview.</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One endpoint</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POST to https://api.openai.com/v1/chat/</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completions with HttpClient and System.Text.Json.</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5 — The Researcher</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STEPS 1 TO 4</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From question to research report</a:t>
            </a:r>
            <a:endParaRPr lang="en-US" sz="2800" dirty="0"/>
          </a:p>
        </p:txBody>
      </p:sp>
      <p:sp>
        <p:nvSpPr>
          <p:cNvPr id="4" name="Shape 2"/>
          <p:cNvSpPr/>
          <p:nvPr/>
        </p:nvSpPr>
        <p:spPr>
          <a:xfrm>
            <a:off x="457200" y="1417320"/>
            <a:ext cx="1367942" cy="2185416"/>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Build kernel</a:t>
            </a:r>
            <a:endParaRPr lang="en-US" sz="1300" dirty="0"/>
          </a:p>
        </p:txBody>
      </p:sp>
      <p:sp>
        <p:nvSpPr>
          <p:cNvPr id="8" name="Text 5"/>
          <p:cNvSpPr txBox="1"/>
          <p:nvPr/>
        </p:nvSpPr>
        <p:spPr>
          <a:xfrm>
            <a:off x="640080"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gpt-4.1-mini, no plugins; kept for parity.</a:t>
            </a:r>
            <a:endParaRPr lang="en-US" sz="1200" dirty="0"/>
          </a:p>
        </p:txBody>
      </p:sp>
      <p:sp>
        <p:nvSpPr>
          <p:cNvPr id="9" name="Shape 6"/>
          <p:cNvSpPr/>
          <p:nvPr/>
        </p:nvSpPr>
        <p:spPr>
          <a:xfrm>
            <a:off x="1889150"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185416"/>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Ask</a:t>
            </a:r>
            <a:endParaRPr lang="en-US" sz="1300" dirty="0"/>
          </a:p>
        </p:txBody>
      </p:sp>
      <p:sp>
        <p:nvSpPr>
          <p:cNvPr id="14" name="Text 10"/>
          <p:cNvSpPr txBox="1"/>
          <p:nvPr/>
        </p:nvSpPr>
        <p:spPr>
          <a:xfrm>
            <a:off x="2355494"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Top 3 space headlines today, one line each.</a:t>
            </a:r>
            <a:endParaRPr lang="en-US" sz="1200" dirty="0"/>
          </a:p>
        </p:txBody>
      </p:sp>
      <p:sp>
        <p:nvSpPr>
          <p:cNvPr id="15" name="Shape 11"/>
          <p:cNvSpPr/>
          <p:nvPr/>
        </p:nvSpPr>
        <p:spPr>
          <a:xfrm>
            <a:off x="3604565"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185416"/>
          </a:xfrm>
          <a:prstGeom prst="roundRect">
            <a:avLst>
              <a:gd name="adj" fmla="val 5348"/>
            </a:avLst>
          </a:prstGeom>
          <a:solidFill>
            <a:srgbClr val="512BD4"/>
          </a:solidFill>
          <a:ln w="12700">
            <a:solidFill>
              <a:srgbClr val="512BD4"/>
            </a:solidFill>
            <a:prstDash val="solid"/>
          </a:ln>
        </p:spPr>
      </p:sp>
      <p:sp>
        <p:nvSpPr>
          <p:cNvPr id="17" name="Shape 13"/>
          <p:cNvSpPr/>
          <p:nvPr/>
        </p:nvSpPr>
        <p:spPr>
          <a:xfrm>
            <a:off x="4070909"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POST</a:t>
            </a:r>
            <a:endParaRPr lang="en-US" sz="1300" dirty="0"/>
          </a:p>
        </p:txBody>
      </p:sp>
      <p:sp>
        <p:nvSpPr>
          <p:cNvPr id="20" name="Text 15"/>
          <p:cNvSpPr txBox="1"/>
          <p:nvPr/>
        </p:nvSpPr>
        <p:spPr>
          <a:xfrm>
            <a:off x="4070909" y="2606040"/>
            <a:ext cx="1047902"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Search model with search turned on.</a:t>
            </a:r>
            <a:endParaRPr lang="en-US" sz="1200" dirty="0"/>
          </a:p>
        </p:txBody>
      </p:sp>
      <p:sp>
        <p:nvSpPr>
          <p:cNvPr id="21" name="Shape 16"/>
          <p:cNvSpPr/>
          <p:nvPr/>
        </p:nvSpPr>
        <p:spPr>
          <a:xfrm>
            <a:off x="5319979"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185416"/>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Parse</a:t>
            </a:r>
            <a:endParaRPr lang="en-US" sz="1300" dirty="0"/>
          </a:p>
        </p:txBody>
      </p:sp>
      <p:sp>
        <p:nvSpPr>
          <p:cNvPr id="26" name="Text 20"/>
          <p:cNvSpPr txBox="1"/>
          <p:nvPr/>
        </p:nvSpPr>
        <p:spPr>
          <a:xfrm>
            <a:off x="5786323"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Pull the answer text out of the JSON.</a:t>
            </a:r>
            <a:endParaRPr lang="en-US" sz="1200" dirty="0"/>
          </a:p>
        </p:txBody>
      </p:sp>
      <p:sp>
        <p:nvSpPr>
          <p:cNvPr id="27" name="Shape 21"/>
          <p:cNvSpPr/>
          <p:nvPr/>
        </p:nvSpPr>
        <p:spPr>
          <a:xfrm>
            <a:off x="7035394" y="2400300"/>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185416"/>
          </a:xfrm>
          <a:prstGeom prst="roundRect">
            <a:avLst>
              <a:gd name="adj" fmla="val 5348"/>
            </a:avLst>
          </a:prstGeom>
          <a:solidFill>
            <a:srgbClr val="EFEBFC"/>
          </a:solidFill>
          <a:ln w="12700">
            <a:solidFill>
              <a:srgbClr val="EFEBFC"/>
            </a:solidFill>
            <a:prstDash val="solid"/>
          </a:ln>
        </p:spPr>
      </p:sp>
      <p:sp>
        <p:nvSpPr>
          <p:cNvPr id="29" name="Shape 23"/>
          <p:cNvSpPr/>
          <p:nvPr/>
        </p:nvSpPr>
        <p:spPr>
          <a:xfrm>
            <a:off x="7501738" y="1618488"/>
            <a:ext cx="457200" cy="457200"/>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Print</a:t>
            </a:r>
            <a:endParaRPr lang="en-US" sz="1300" dirty="0"/>
          </a:p>
        </p:txBody>
      </p:sp>
      <p:sp>
        <p:nvSpPr>
          <p:cNvPr id="32" name="Text 25"/>
          <p:cNvSpPr txBox="1"/>
          <p:nvPr/>
        </p:nvSpPr>
        <p:spPr>
          <a:xfrm>
            <a:off x="7501738"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Between AI RESEARCH REPORT lines.</a:t>
            </a:r>
            <a:endParaRPr lang="en-US" sz="1200" dirty="0"/>
          </a:p>
        </p:txBody>
      </p:sp>
      <p:sp>
        <p:nvSpPr>
          <p:cNvPr id="33" name="Text 26"/>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Steps 3 and 4 run inside a try/catch, so a failure prints a readable message.</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5 — The Researcher</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WHY THIS APPROACH</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Why the grounded call bypasses the kernel</a:t>
            </a:r>
            <a:endParaRPr lang="en-US" sz="2800" dirty="0"/>
          </a:p>
        </p:txBody>
      </p:sp>
      <p:sp>
        <p:nvSpPr>
          <p:cNvPr id="4" name="Shape 2"/>
          <p:cNvSpPr/>
          <p:nvPr/>
        </p:nvSpPr>
        <p:spPr>
          <a:xfrm>
            <a:off x="457200" y="1371600"/>
            <a:ext cx="2560320" cy="1691640"/>
          </a:xfrm>
          <a:prstGeom prst="roundRect">
            <a:avLst>
              <a:gd name="adj" fmla="val 4324"/>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ourier New" pitchFamily="34" charset="0"/>
                <a:ea typeface="Courier New" pitchFamily="34" charset="-122"/>
                <a:cs typeface="Courier New" pitchFamily="34" charset="-120"/>
              </a:rPr>
              <a:t>web_search tool</a:t>
            </a:r>
            <a:endParaRPr lang="en-US" sz="1300" dirty="0"/>
          </a:p>
        </p:txBody>
      </p:sp>
      <p:sp>
        <p:nvSpPr>
          <p:cNvPr id="8" name="Text 5"/>
          <p:cNvSpPr txBox="1"/>
          <p:nvPr/>
        </p:nvSpPr>
        <p:spPr>
          <a:xfrm>
            <a:off x="640080" y="2057400"/>
            <a:ext cx="2194560" cy="9144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Responses API only. As of mid‑2026 it reportedly returns intermittent HTTP 500s with</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gpt-4.1-mini.</a:t>
            </a:r>
            <a:endParaRPr lang="en-US" sz="1200" dirty="0"/>
          </a:p>
        </p:txBody>
      </p:sp>
      <p:sp>
        <p:nvSpPr>
          <p:cNvPr id="9" name="Shape 6"/>
          <p:cNvSpPr/>
          <p:nvPr/>
        </p:nvSpPr>
        <p:spPr>
          <a:xfrm>
            <a:off x="3291840" y="1371600"/>
            <a:ext cx="2560320" cy="1691640"/>
          </a:xfrm>
          <a:prstGeom prst="roundRect">
            <a:avLst>
              <a:gd name="adj" fmla="val 4324"/>
            </a:avLst>
          </a:prstGeom>
          <a:solidFill>
            <a:srgbClr val="512BD4"/>
          </a:solidFill>
          <a:ln w="12700">
            <a:solidFill>
              <a:srgbClr val="512BD4"/>
            </a:solidFill>
            <a:prstDash val="solid"/>
          </a:ln>
        </p:spPr>
      </p:sp>
      <p:sp>
        <p:nvSpPr>
          <p:cNvPr id="10" name="Shape 7"/>
          <p:cNvSpPr/>
          <p:nvPr/>
        </p:nvSpPr>
        <p:spPr>
          <a:xfrm>
            <a:off x="3474720" y="1554480"/>
            <a:ext cx="384048" cy="38404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Search model</a:t>
            </a:r>
            <a:endParaRPr lang="en-US" sz="1300" dirty="0"/>
          </a:p>
        </p:txBody>
      </p:sp>
      <p:sp>
        <p:nvSpPr>
          <p:cNvPr id="13" name="Text 9"/>
          <p:cNvSpPr txBox="1"/>
          <p:nvPr/>
        </p:nvSpPr>
        <p:spPr>
          <a:xfrm>
            <a:off x="3474720" y="2057400"/>
            <a:ext cx="2194560" cy="9144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gpt-4o-mini-search-preview has grounding built in. An empty web_search_options turns it on.</a:t>
            </a:r>
            <a:endParaRPr lang="en-US" sz="1200" dirty="0"/>
          </a:p>
        </p:txBody>
      </p:sp>
      <p:sp>
        <p:nvSpPr>
          <p:cNvPr id="14" name="Shape 10"/>
          <p:cNvSpPr/>
          <p:nvPr/>
        </p:nvSpPr>
        <p:spPr>
          <a:xfrm>
            <a:off x="6126480" y="1371600"/>
            <a:ext cx="2560320" cy="1691640"/>
          </a:xfrm>
          <a:prstGeom prst="roundRect">
            <a:avLst>
              <a:gd name="adj" fmla="val 4324"/>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Connector gap</a:t>
            </a:r>
            <a:endParaRPr lang="en-US" sz="1300" dirty="0"/>
          </a:p>
        </p:txBody>
      </p:sp>
      <p:sp>
        <p:nvSpPr>
          <p:cNvPr id="18" name="Text 13"/>
          <p:cNvSpPr txBox="1"/>
          <p:nvPr/>
        </p:nvSpPr>
        <p:spPr>
          <a:xfrm>
            <a:off x="6309360" y="2057400"/>
            <a:ext cx="2194560" cy="9144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SK's OpenAI settings have no typed property for web_search_options, so we post the JSON ourselves.</a:t>
            </a:r>
            <a:endParaRPr lang="en-US" sz="1200" dirty="0"/>
          </a:p>
        </p:txBody>
      </p:sp>
      <p:sp>
        <p:nvSpPr>
          <p:cNvPr id="19" name="Text 14"/>
          <p:cNvSpPr txBox="1"/>
          <p:nvPr/>
        </p:nvSpPr>
        <p:spPr>
          <a:xfrm>
            <a:off x="457200" y="32918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kernel is still built for series consistency; the grounded call simply doesn't use it.</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5 — The Researcher</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THE REQUEST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whole grounded request body</a:t>
            </a:r>
            <a:endParaRPr lang="en-US" sz="2800" dirty="0"/>
          </a:p>
        </p:txBody>
      </p:sp>
      <p:sp>
        <p:nvSpPr>
          <p:cNvPr id="4" name="Shape 2"/>
          <p:cNvSpPr/>
          <p:nvPr/>
        </p:nvSpPr>
        <p:spPr>
          <a:xfrm>
            <a:off x="457200" y="1325880"/>
            <a:ext cx="5257800" cy="2148840"/>
          </a:xfrm>
          <a:prstGeom prst="roundRect">
            <a:avLst>
              <a:gd name="adj" fmla="val 3404"/>
            </a:avLst>
          </a:prstGeom>
          <a:solidFill>
            <a:srgbClr val="0F1420"/>
          </a:solidFill>
          <a:ln w="12700">
            <a:solidFill>
              <a:srgbClr val="0F1420"/>
            </a:solidFill>
            <a:prstDash val="solid"/>
          </a:ln>
        </p:spPr>
      </p:sp>
      <p:sp>
        <p:nvSpPr>
          <p:cNvPr id="5" name="Text 3"/>
          <p:cNvSpPr txBox="1"/>
          <p:nvPr/>
        </p:nvSpPr>
        <p:spPr>
          <a:xfrm>
            <a:off x="640080" y="1463040"/>
            <a:ext cx="4892040" cy="187452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POST https://api.openai.com/v1/chat/completions</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Authorization: Bearer &lt;OPENAI_API_KEY&gt;</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  "model": "gpt-4o-mini-search-preview",</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"messages":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 "role": "user", "content": "What are..."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  "web_search_options":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The model</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Grounding is built into this model.</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An empty object</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web_search_options: {} is enough to search.</a:t>
            </a:r>
            <a:endParaRPr lang="en-US" sz="1200" dirty="0"/>
          </a:p>
        </p:txBody>
      </p:sp>
      <p:sp>
        <p:nvSpPr>
          <p:cNvPr id="14" name="Shape 10"/>
          <p:cNvSpPr/>
          <p:nvPr/>
        </p:nvSpPr>
        <p:spPr>
          <a:xfrm>
            <a:off x="6035040" y="3520440"/>
            <a:ext cx="384048" cy="384048"/>
          </a:xfrm>
          <a:prstGeom prst="ellipse">
            <a:avLst/>
          </a:prstGeom>
          <a:solidFill>
            <a:srgbClr val="DC2626"/>
          </a:solidFill>
          <a:ln w="12700">
            <a:solidFill>
              <a:srgbClr val="DC2626"/>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No sampling knobs</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temperature or top_p fail with unsupported_parameter.</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5 — The Researcher</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TRADE-OFFS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the escape hatch costs you</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Direct REST call</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Full fidelity to OpenAI's API shape, but none of SK's safety net for this one call.</a:t>
            </a:r>
            <a:endParaRPr lang="en-US" sz="130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Typed settings</a:t>
            </a:r>
            <a:endParaRPr lang="en-US" sz="15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Field names are strings; a typo fails at run time.</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Filters, logs</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SK filters and telemetry never see this call.</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Parsing</a:t>
            </a:r>
            <a:endParaRPr lang="en-US" sz="15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You walk the JSON response by hand.</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Errors</a:t>
            </a:r>
            <a:endParaRPr lang="en-US" sz="15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You check the status code and throw yourself.</a:t>
            </a:r>
            <a:endParaRPr lang="en-US" sz="1200" dirty="0"/>
          </a:p>
        </p:txBody>
      </p:sp>
      <p:sp>
        <p:nvSpPr>
          <p:cNvPr id="33" name="Text 26"/>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Use the escape hatch for the one call that needs it, and keep the rest on the kernel.</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5 — The Researcher</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today's headlines, from the live web</a:t>
            </a:r>
            <a:endParaRPr lang="en-US" sz="2800" dirty="0"/>
          </a:p>
        </p:txBody>
      </p:sp>
      <p:sp>
        <p:nvSpPr>
          <p:cNvPr id="4" name="Shape 2"/>
          <p:cNvSpPr/>
          <p:nvPr/>
        </p:nvSpPr>
        <p:spPr>
          <a:xfrm>
            <a:off x="457200" y="1325880"/>
            <a:ext cx="5257800" cy="2560320"/>
          </a:xfrm>
          <a:prstGeom prst="roundRect">
            <a:avLst>
              <a:gd name="adj" fmla="val 2857"/>
            </a:avLst>
          </a:prstGeom>
          <a:solidFill>
            <a:srgbClr val="0F1420"/>
          </a:solidFill>
          <a:ln w="12700">
            <a:solidFill>
              <a:srgbClr val="0F1420"/>
            </a:solidFill>
            <a:prstDash val="solid"/>
          </a:ln>
        </p:spPr>
      </p:sp>
      <p:sp>
        <p:nvSpPr>
          <p:cNvPr id="5" name="Text 3"/>
          <p:cNvSpPr txBox="1"/>
          <p:nvPr/>
        </p:nvSpPr>
        <p:spPr>
          <a:xfrm>
            <a:off x="640080" y="1463040"/>
            <a:ext cx="4892040" cy="2286000"/>
          </a:xfrm>
          <a:prstGeom prst="rect">
            <a:avLst/>
          </a:prstGeom>
          <a:noFill/>
          <a:ln/>
        </p:spPr>
        <p:txBody>
          <a:bodyPr wrap="square" lIns="0" tIns="0" rIns="0" bIns="0" rtlCol="0" anchor="t"/>
          <a:lstStyle/>
          <a:p>
            <a:pPr indent="0" marL="0">
              <a:buNone/>
            </a:pPr>
            <a:r>
              <a:rPr lang="en-US" sz="1100" b="1" dirty="0">
                <a:solidFill>
                  <a:srgbClr val="F5A623"/>
                </a:solidFill>
                <a:latin typeface="Courier New" pitchFamily="34" charset="0"/>
                <a:ea typeface="Courier New" pitchFamily="34" charset="-122"/>
                <a:cs typeface="Courier New" pitchFamily="34" charset="-120"/>
              </a:rPr>
              <a:t>Question: What are the top 3 news headlines regarding space exploration today? Summarize each in one sentence.</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Agent is thinking and utilizing OpenAI's built-in web search grounding...</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AI RESEARCH REPORT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1. &lt;Headline&gt; - one-sentence summary. ([source](https://...))</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2. &lt;Headline&gt; - one-sentence summary. ([source](https://...))</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3. &lt;Headline&gt; - one-sentence summary. ([source](https://...))</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Changes daily</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headlines depend on the day you run it.</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report lines here are placeholders, not a capture.</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Inline citations</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model may add source links in its text.</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5 — The Researcher</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Show your sources</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Read the url_citation annotations from the response message and print a Sources list after the report.</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Lesson05-Researcher/</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Researcher/Program.cs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Each citation prints its title and URL</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response with no annotations prints No sources returned</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research topic can be passed on the command line</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request still has no temperature or top_p</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5 — The Researcher</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Grounding in live data</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8  </a:t>
            </a:r>
            <a:pPr indent="0" marL="0">
              <a:buNone/>
            </a:pPr>
            <a:r>
              <a:rPr lang="en-US" sz="1250" dirty="0">
                <a:solidFill>
                  <a:srgbClr val="FFFFFF"/>
                </a:solidFill>
                <a:latin typeface="Calibri" pitchFamily="34" charset="0"/>
                <a:ea typeface="Calibri" pitchFamily="34" charset="-122"/>
                <a:cs typeface="Calibri" pitchFamily="34" charset="-120"/>
              </a:rPr>
              <a:t>Grounding in your own documents (RAG)</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Answers from supplied text</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14  </a:t>
            </a:r>
            <a:pPr indent="0" marL="0">
              <a:buNone/>
            </a:pPr>
            <a:r>
              <a:rPr lang="en-US" sz="1250" dirty="0">
                <a:solidFill>
                  <a:srgbClr val="FFFFFF"/>
                </a:solidFill>
                <a:latin typeface="Calibri" pitchFamily="34" charset="0"/>
                <a:ea typeface="Calibri" pitchFamily="34" charset="-122"/>
                <a:cs typeface="Calibri" pitchFamily="34" charset="-120"/>
              </a:rPr>
              <a:t>A whole manual stuffed into the prompt</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Tools vs model capabilities</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15  </a:t>
            </a:r>
            <a:pPr indent="0" marL="0">
              <a:buNone/>
            </a:pPr>
            <a:r>
              <a:rPr lang="en-US" sz="1250" dirty="0">
                <a:solidFill>
                  <a:srgbClr val="FFFFFF"/>
                </a:solidFill>
                <a:latin typeface="Calibri" pitchFamily="34" charset="0"/>
                <a:ea typeface="Calibri" pitchFamily="34" charset="-122"/>
                <a:cs typeface="Calibri" pitchFamily="34" charset="-120"/>
              </a:rPr>
              <a:t>The model chooses between two plugins</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Owning raw HTTP calls</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19  </a:t>
            </a:r>
            <a:pPr indent="0" marL="0">
              <a:buNone/>
            </a:pPr>
            <a:r>
              <a:rPr lang="en-US" sz="1250" dirty="0">
                <a:solidFill>
                  <a:srgbClr val="FFFFFF"/>
                </a:solidFill>
                <a:latin typeface="Calibri" pitchFamily="34" charset="0"/>
                <a:ea typeface="Calibri" pitchFamily="34" charset="-122"/>
                <a:cs typeface="Calibri" pitchFamily="34" charset="-120"/>
              </a:rPr>
              <a:t>A retry handler for transient HTTP failures</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Stepping outside SK's surface</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34  </a:t>
            </a:r>
            <a:pPr indent="0" marL="0">
              <a:buNone/>
            </a:pPr>
            <a:r>
              <a:rPr lang="en-US" sz="1250" dirty="0">
                <a:solidFill>
                  <a:srgbClr val="FFFFFF"/>
                </a:solidFill>
                <a:latin typeface="Calibri" pitchFamily="34" charset="0"/>
                <a:ea typeface="Calibri" pitchFamily="34" charset="-122"/>
                <a:cs typeface="Calibri" pitchFamily="34" charset="-120"/>
              </a:rPr>
              <a:t>Hand-roll a pattern when SK's is unreliable</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5 — The Researcher</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5 — The Researcher</dc:title>
  <dc:subject>PptxGenJS Presentation</dc:subject>
  <dc:creator>Media Six LLC</dc:creator>
  <cp:lastModifiedBy>Media Six LLC</cp:lastModifiedBy>
  <cp:revision>1</cp:revision>
  <dcterms:created xsi:type="dcterms:W3CDTF">2026-10-21T23:14:45Z</dcterms:created>
  <dcterms:modified xsi:type="dcterms:W3CDTF">2026-10-21T23:14:45Z</dcterms:modified>
</cp:coreProperties>
</file>