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Lesson 1 the model was an open-ended chat partner. In this lesson it becomes a single-purpose function: a Reduction Agent. The app writes a short demo article about quantum computing to article.txt, reads it back in, and hands the text to OpenAI through a prompt template that asks for exactly three bullet points. One input file goes in, one summary comes out, and there is no conversation loop. Along the way we meet two building blocks that nearly every later lesson depends on: prompt templates with injected variables, and the one-shot InvokePromptAsync call as an alternative to a ChatHistory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shift in one picture. Lesson 1 kept a ChatHistory and looped until you typed exit, so the model behaved like a conversation partner. Lesson 2 has no history, no loop and no user input. It takes one document, runs one call, and prints one result, so the model behaves like a function. The kernel setup is identical to Lesson 1; what changes is how we use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mirrors Lesson 1. You need the .NET 10 SDK and a console application. This lesson references the Microsoft.SemanticKernel package together with Microsoft.SemanticKernel.Connectors.OpenAI, both at version 1.78.0. The key comes from the OPENAI_API_KEY environment variable, and the program throws at startup if it isn't set. The model is gpt-4.1-mini, registered with AddOpenAIChatCompletion.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runs in six short steps. Step 1 builds the kernel with the OpenAI connector, exactly as in Lesson 1. Step 2 writes a demo article to article.txt and reads the whole file back with File.ReadAllTextAsync. Step 3 defines the prompt template. Step 4 maps the file's text to the template's placeholder with KernelArguments. Step 5, highlighted here, calls kernel.InvokePromptAsync, which renders the template and sends it to the model in one call. Step 6 prints the result. Notice that we never touch ChatHistory or IChatCompletionService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prompt template from Step 3. The first two lines are fixed instructions: summarize into exactly three bullet points and focus on the main ideas. They never change. The highlighted line is a placeholder written in Semantic Kernel's template syntax, double braces with a dollar sign and a variable name. At run time it is replaced with the article's text. The template ends with SUMMARY:, a simple cue that marks where the model's answer should begin. Because the instructions and the data are separate, the same template can summarize any text you give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KernelArguments is the bridge between your C# code and the template. It works like a dictionary: in Step 4 we add one entry whose key is articleContent and whose value is the text we read from the file. When the prompt runs, Semantic Kernel finds the placeholder with the same name and substitutes the value. The key must match the placeholder's name exactly. This separation is what makes templates reusable: to summarize a different document, you change the argument, not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InvokePromptAsync compiles and runs a prompt string directly against the kernel. In one call it renders the template, filling every placeholder from the KernelArguments you pass; sends the finished prompt to the chat service you registered; and returns a FunctionResult, whose ToString gives you the model's text. Because this is the network call, Step 5 wraps it in a try/catch. A bad API key, a rate limit or a connectivity blip prints Summarization failed with a readable message instead of crashing with a raw stack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The program reports that it is reading the article and generating the summary, then prints the model's answer between two divider lines. The bullets on this slide are illustrative; the model's exact wording changes from run to run. What should stay the same is the shape: three bullets covering what quantum computing is, why superposition and entanglement matter, and the problem of decoherence. Note that article.txt is rewritten in the working folder every time the program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Read the file path from args, and fall back to the demo article only when no path is given. Then replace the hard-coded 3 in the template with a second placeholder, bulletCount, and add it to KernelArguments. Check that the number of bullets follows the argument, and that a missing file produces a friendly message rather than an exception. Notice that the prompt's instructions never have to change; only the arguments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used the model as a function instead of a chat partner, wrote a prompt template with a named slot, filled it with KernelArguments, and ran it in a single InvokePromptAsync call over the contents of a file. These ideas come straight back. Lesson 3 adds execution settings to pin the output to strict JSON. Lesson 4 uses the same call but gives the model C# tools. Lesson 7 uses ResponseFormat to get typed JSON back. Lesson 13 has templates call C# plugin functions while the prompt is built. Lesson 14 stuffs a whole manual into the prompt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Summarizer</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one-shot reduction agent: one file in, three bullets out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article.txt</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3-bullet summary</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the model as a function, not a chat partner</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Write a prompt template with a named slot</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Fill the slot by name with KernelArguments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Run the whole thing in one InvokePromptAsync call</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Feed a file's contents into a prompt</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 — The Summarizer</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chat partner to single-purpose function</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 chat loop</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ChatHistory carries every turn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Open-ended; runs until you type exit</a:t>
            </a:r>
            <a:endParaRPr lang="en-US" sz="1300" dirty="0"/>
          </a:p>
        </p:txBody>
      </p:sp>
      <p:sp>
        <p:nvSpPr>
          <p:cNvPr id="9" name="Shape 6"/>
          <p:cNvSpPr/>
          <p:nvPr/>
        </p:nvSpPr>
        <p:spPr>
          <a:xfrm>
            <a:off x="685800" y="2907792"/>
            <a:ext cx="3474720" cy="868680"/>
          </a:xfrm>
          <a:prstGeom prst="roundRect">
            <a:avLst>
              <a:gd name="adj" fmla="val 8421"/>
            </a:avLst>
          </a:prstGeom>
          <a:solidFill>
            <a:srgbClr val="0F1420"/>
          </a:solidFill>
          <a:ln w="12700">
            <a:solidFill>
              <a:srgbClr val="0F1420"/>
            </a:solidFill>
            <a:prstDash val="solid"/>
          </a:ln>
        </p:spPr>
      </p:sp>
      <p:sp>
        <p:nvSpPr>
          <p:cNvPr id="10" name="Text 7"/>
          <p:cNvSpPr txBox="1"/>
          <p:nvPr/>
        </p:nvSpPr>
        <p:spPr>
          <a:xfrm>
            <a:off x="868680" y="3044952"/>
            <a:ext cx="3108960" cy="59436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User: Hi, my name is Alice...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AI response: Nice to meet you!</a:t>
            </a:r>
            <a:endParaRPr lang="en-US" sz="1100" dirty="0"/>
          </a:p>
        </p:txBody>
      </p:sp>
      <p:sp>
        <p:nvSpPr>
          <p:cNvPr id="11" name="Shape 8"/>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 one-shot call</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input file, one summary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history, no loop, no user input</a:t>
            </a:r>
            <a:endParaRPr lang="en-US" sz="1300" dirty="0"/>
          </a:p>
        </p:txBody>
      </p:sp>
      <p:sp>
        <p:nvSpPr>
          <p:cNvPr id="16" name="Shape 12"/>
          <p:cNvSpPr/>
          <p:nvPr/>
        </p:nvSpPr>
        <p:spPr>
          <a:xfrm>
            <a:off x="4983480" y="2907792"/>
            <a:ext cx="3474720" cy="868680"/>
          </a:xfrm>
          <a:prstGeom prst="roundRect">
            <a:avLst>
              <a:gd name="adj" fmla="val 8421"/>
            </a:avLst>
          </a:prstGeom>
          <a:solidFill>
            <a:srgbClr val="0F1420"/>
          </a:solidFill>
          <a:ln w="12700">
            <a:solidFill>
              <a:srgbClr val="0F1420"/>
            </a:solidFill>
            <a:prstDash val="solid"/>
          </a:ln>
        </p:spPr>
      </p:sp>
      <p:sp>
        <p:nvSpPr>
          <p:cNvPr id="17" name="Text 13"/>
          <p:cNvSpPr txBox="1"/>
          <p:nvPr/>
        </p:nvSpPr>
        <p:spPr>
          <a:xfrm>
            <a:off x="5166360" y="3044952"/>
            <a:ext cx="3108960" cy="5943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Reading article from file...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Generating summary...</a:t>
            </a:r>
            <a:endParaRPr lang="en-US" sz="1100" dirty="0"/>
          </a:p>
        </p:txBody>
      </p:sp>
      <p:sp>
        <p:nvSpPr>
          <p:cNvPr id="18" name="Text 14"/>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kernel is the same; how we use the model is what changes.</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 — The Summarizer</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standard C# console app targeting net10.0, opened as a .slnx solution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stops with an exception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with AddOpenAIChatCompletion, exactly as in Lesson 1.</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 — The Summarizer</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1 TO 6</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text file to summary in five moves</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Build kernel</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OpenAI connector, as in Lesson 1.</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Read file</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Write article.txt, then read it all in.</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Template</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Fixed instructions with one named slot.</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Arguments</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Map the file text to the slot by name.</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Invoke</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call fills the template and runs it.</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ChatHistory, no chat service: one kernel call does the round trip.</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 — The Summarizer</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PROMPT TEMPLATE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Anatomy of the prompt template</a:t>
            </a:r>
            <a:endParaRPr lang="en-US" sz="2800" dirty="0"/>
          </a:p>
        </p:txBody>
      </p:sp>
      <p:sp>
        <p:nvSpPr>
          <p:cNvPr id="4" name="Shape 2"/>
          <p:cNvSpPr/>
          <p:nvPr/>
        </p:nvSpPr>
        <p:spPr>
          <a:xfrm>
            <a:off x="457200" y="1325880"/>
            <a:ext cx="5257800" cy="2286000"/>
          </a:xfrm>
          <a:prstGeom prst="roundRect">
            <a:avLst>
              <a:gd name="adj" fmla="val 3200"/>
            </a:avLst>
          </a:prstGeom>
          <a:solidFill>
            <a:srgbClr val="0F1420"/>
          </a:solidFill>
          <a:ln w="12700">
            <a:solidFill>
              <a:srgbClr val="0F1420"/>
            </a:solidFill>
            <a:prstDash val="solid"/>
          </a:ln>
        </p:spPr>
      </p:sp>
      <p:sp>
        <p:nvSpPr>
          <p:cNvPr id="5" name="Text 3"/>
          <p:cNvSpPr txBox="1"/>
          <p:nvPr/>
        </p:nvSpPr>
        <p:spPr>
          <a:xfrm>
            <a:off x="640080" y="1463040"/>
            <a:ext cx="4892040" cy="2011680"/>
          </a:xfrm>
          <a:prstGeom prst="rect">
            <a:avLst/>
          </a:prstGeom>
          <a:noFill/>
          <a:ln/>
        </p:spPr>
        <p:txBody>
          <a:bodyPr wrap="square" lIns="0" tIns="0" rIns="0" bIns="0" rtlCol="0" anchor="t"/>
          <a:lstStyle/>
          <a:p>
            <a:pPr indent="0" marL="0">
              <a:buNone/>
            </a:pPr>
            <a:r>
              <a:rPr lang="en-US" sz="1200" dirty="0">
                <a:solidFill>
                  <a:srgbClr val="D7E3F4"/>
                </a:solidFill>
                <a:latin typeface="Courier New" pitchFamily="34" charset="0"/>
                <a:ea typeface="Courier New" pitchFamily="34" charset="-122"/>
                <a:cs typeface="Courier New" pitchFamily="34" charset="-120"/>
              </a:rPr>
              <a:t>Read the following text and summarize it into exactly 3 bullet points.</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Focus on the main ideas and ignore minor details.</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TEXT TO SUMMARIZE:</a:t>
            </a:r>
            <a:endParaRPr lang="en-US" sz="1200" dirty="0"/>
          </a:p>
          <a:p>
            <a:pPr indent="0" marL="0">
              <a:buNone/>
            </a:pPr>
            <a:r>
              <a:rPr lang="en-US" sz="1200" b="1" dirty="0">
                <a:solidFill>
                  <a:srgbClr val="F5A623"/>
                </a:solidFill>
                <a:latin typeface="Courier New" pitchFamily="34" charset="0"/>
                <a:ea typeface="Courier New" pitchFamily="34" charset="-122"/>
                <a:cs typeface="Courier New" pitchFamily="34" charset="-120"/>
              </a:rPr>
              <a:t>{{$articleContent}}</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SUMMARY:</a:t>
            </a:r>
            <a:endParaRPr lang="en-US" sz="12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Fixed instructions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Exactly three bullets, main ideas only. The same on every run.</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Named slot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{{$articleContent}} is replaced with the article at run time.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Output cue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SUMMARY: ends the prompt right where the answer should begin.</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 — The Summarizer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00" b="1" dirty="0">
                <a:solidFill>
                  <a:srgbClr val="1F2937"/>
                </a:solidFill>
                <a:latin typeface="Cambria" pitchFamily="34" charset="0"/>
                <a:ea typeface="Cambria" pitchFamily="34" charset="-122"/>
                <a:cs typeface="Cambria" pitchFamily="34" charset="-120"/>
              </a:rPr>
              <a:t>KernelArguments connect C# values to template slots</a:t>
            </a:r>
            <a:endParaRPr lang="en-US" sz="24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KernelArguments</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dictionary of named values. Each key fills the slot with the same name.</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 value</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textToSummarize, read from article.txt with File.ReadAllTextAsync.</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Key name</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"articleContent" must match the placeholder's name exactly.</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Template slot</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{{$articleContent}} receives the value when the prompt runs.</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Same instructions, different data: change the argument, not the prompt.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 — The Summarizer</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ONE CALL</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one InvokePromptAsync call does for you</a:t>
            </a:r>
            <a:endParaRPr lang="en-US" sz="2800" dirty="0"/>
          </a:p>
        </p:txBody>
      </p:sp>
      <p:sp>
        <p:nvSpPr>
          <p:cNvPr id="4" name="Shape 2"/>
          <p:cNvSpPr/>
          <p:nvPr/>
        </p:nvSpPr>
        <p:spPr>
          <a:xfrm>
            <a:off x="457200" y="1371600"/>
            <a:ext cx="1851660" cy="1691640"/>
          </a:xfrm>
          <a:prstGeom prst="roundRect">
            <a:avLst>
              <a:gd name="adj" fmla="val 4324"/>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Renders</a:t>
            </a:r>
            <a:endParaRPr lang="en-US" sz="1300" dirty="0"/>
          </a:p>
        </p:txBody>
      </p:sp>
      <p:sp>
        <p:nvSpPr>
          <p:cNvPr id="8" name="Text 5"/>
          <p:cNvSpPr txBox="1"/>
          <p:nvPr/>
        </p:nvSpPr>
        <p:spPr>
          <a:xfrm>
            <a:off x="640080" y="2057400"/>
            <a:ext cx="1485900" cy="9144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Fills every slot in the template from KernelArguments.</a:t>
            </a:r>
            <a:endParaRPr lang="en-US" sz="1200" dirty="0"/>
          </a:p>
        </p:txBody>
      </p:sp>
      <p:sp>
        <p:nvSpPr>
          <p:cNvPr id="9" name="Shape 6"/>
          <p:cNvSpPr/>
          <p:nvPr/>
        </p:nvSpPr>
        <p:spPr>
          <a:xfrm>
            <a:off x="2583180" y="1371600"/>
            <a:ext cx="1851660" cy="1691640"/>
          </a:xfrm>
          <a:prstGeom prst="roundRect">
            <a:avLst>
              <a:gd name="adj" fmla="val 4324"/>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Sends</a:t>
            </a:r>
            <a:endParaRPr lang="en-US" sz="1300" dirty="0"/>
          </a:p>
        </p:txBody>
      </p:sp>
      <p:sp>
        <p:nvSpPr>
          <p:cNvPr id="13" name="Text 9"/>
          <p:cNvSpPr txBox="1"/>
          <p:nvPr/>
        </p:nvSpPr>
        <p:spPr>
          <a:xfrm>
            <a:off x="2766060" y="2057400"/>
            <a:ext cx="1485900" cy="9144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Passes the finished prompt to the registered OpenAI chat service.</a:t>
            </a:r>
            <a:endParaRPr lang="en-US" sz="1200" dirty="0"/>
          </a:p>
        </p:txBody>
      </p:sp>
      <p:sp>
        <p:nvSpPr>
          <p:cNvPr id="14" name="Shape 10"/>
          <p:cNvSpPr/>
          <p:nvPr/>
        </p:nvSpPr>
        <p:spPr>
          <a:xfrm>
            <a:off x="4709160" y="1371600"/>
            <a:ext cx="1851660" cy="1691640"/>
          </a:xfrm>
          <a:prstGeom prst="roundRect">
            <a:avLst>
              <a:gd name="adj" fmla="val 4324"/>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Returns</a:t>
            </a:r>
            <a:endParaRPr lang="en-US" sz="1300" dirty="0"/>
          </a:p>
        </p:txBody>
      </p:sp>
      <p:sp>
        <p:nvSpPr>
          <p:cNvPr id="18" name="Text 13"/>
          <p:cNvSpPr txBox="1"/>
          <p:nvPr/>
        </p:nvSpPr>
        <p:spPr>
          <a:xfrm>
            <a:off x="4892040" y="2057400"/>
            <a:ext cx="1485900" cy="9144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FunctionResult; ToString() gives the model's text.</a:t>
            </a:r>
            <a:endParaRPr lang="en-US" sz="1200" dirty="0"/>
          </a:p>
        </p:txBody>
      </p:sp>
      <p:sp>
        <p:nvSpPr>
          <p:cNvPr id="19" name="Shape 14"/>
          <p:cNvSpPr/>
          <p:nvPr/>
        </p:nvSpPr>
        <p:spPr>
          <a:xfrm>
            <a:off x="6835140" y="1371600"/>
            <a:ext cx="1851660" cy="1691640"/>
          </a:xfrm>
          <a:prstGeom prst="roundRect">
            <a:avLst>
              <a:gd name="adj" fmla="val 4324"/>
            </a:avLst>
          </a:prstGeom>
          <a:solidFill>
            <a:srgbClr val="512BD4"/>
          </a:solidFill>
          <a:ln w="12700">
            <a:solidFill>
              <a:srgbClr val="512BD4"/>
            </a:solidFill>
            <a:prstDash val="solid"/>
          </a:ln>
        </p:spPr>
      </p:sp>
      <p:sp>
        <p:nvSpPr>
          <p:cNvPr id="20" name="Shape 15"/>
          <p:cNvSpPr/>
          <p:nvPr/>
        </p:nvSpPr>
        <p:spPr>
          <a:xfrm>
            <a:off x="7018020" y="155448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Fails safely</a:t>
            </a:r>
            <a:endParaRPr lang="en-US" sz="1300" dirty="0"/>
          </a:p>
        </p:txBody>
      </p:sp>
      <p:sp>
        <p:nvSpPr>
          <p:cNvPr id="23" name="Text 17"/>
          <p:cNvSpPr txBox="1"/>
          <p:nvPr/>
        </p:nvSpPr>
        <p:spPr>
          <a:xfrm>
            <a:off x="7018020" y="2057400"/>
            <a:ext cx="1485900" cy="9144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bad key, rate limit or network blip prints a readable message.</a:t>
            </a:r>
            <a:endParaRPr lang="en-US" sz="1200" dirty="0"/>
          </a:p>
        </p:txBody>
      </p:sp>
      <p:sp>
        <p:nvSpPr>
          <p:cNvPr id="24" name="Text 18"/>
          <p:cNvSpPr txBox="1"/>
          <p:nvPr/>
        </p:nvSpPr>
        <p:spPr>
          <a:xfrm>
            <a:off x="457200" y="32918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Step 5 wraps the call in try/catch, so a failure prints a message instead of a stack trace.</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 — The Summarizer</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three bullets out</a:t>
            </a:r>
            <a:endParaRPr lang="en-US" sz="2800" dirty="0"/>
          </a:p>
        </p:txBody>
      </p:sp>
      <p:sp>
        <p:nvSpPr>
          <p:cNvPr id="4" name="Shape 2"/>
          <p:cNvSpPr/>
          <p:nvPr/>
        </p:nvSpPr>
        <p:spPr>
          <a:xfrm>
            <a:off x="457200" y="1325880"/>
            <a:ext cx="5257800" cy="2514600"/>
          </a:xfrm>
          <a:prstGeom prst="roundRect">
            <a:avLst>
              <a:gd name="adj" fmla="val 2909"/>
            </a:avLst>
          </a:prstGeom>
          <a:solidFill>
            <a:srgbClr val="0F1420"/>
          </a:solidFill>
          <a:ln w="12700">
            <a:solidFill>
              <a:srgbClr val="0F1420"/>
            </a:solidFill>
            <a:prstDash val="solid"/>
          </a:ln>
        </p:spPr>
      </p:sp>
      <p:sp>
        <p:nvSpPr>
          <p:cNvPr id="5" name="Text 3"/>
          <p:cNvSpPr txBox="1"/>
          <p:nvPr/>
        </p:nvSpPr>
        <p:spPr>
          <a:xfrm>
            <a:off x="640080" y="1463040"/>
            <a:ext cx="4892040" cy="224028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Reading article from file...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Generating summary...</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AI Summary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Quantum computers use qubits and quantum mechanics to tackle problems too complex for classical machines.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Superposition and entanglement let them explore many solutions at once, speeding up cryptography and optimization.</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Qubits are fragile: heat, electromagnetic fields and stray molecules cause decoherence.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Exactly three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prompt asks for three bullets; count them.</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Wording varies</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These bullets are illustrative. Yours will differ.</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article.txt</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Rewritten in the working folder on every run.</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 — The Summarizer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Turn the summarizer into a reusable tool</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Take the file path from the command line, and add a {{$bulletCount}} slot so the caller chooses how many bullets come back.</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Lesson02-Summarizer/</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Summarizer/Program.cs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dotnet run -- notes.txt summarizes notes.txt</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Changing the bullet count changes the number of bullets</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missing file prints a clear message instead of crashing</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demo article is only written when no path is given</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 — The Summarizer</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Model as a function</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  </a:t>
            </a:r>
            <a:pPr indent="0" marL="0">
              <a:buNone/>
            </a:pPr>
            <a:r>
              <a:rPr lang="en-US" sz="1250" dirty="0">
                <a:solidFill>
                  <a:srgbClr val="FFFFFF"/>
                </a:solidFill>
                <a:latin typeface="Calibri" pitchFamily="34" charset="0"/>
                <a:ea typeface="Calibri" pitchFamily="34" charset="-122"/>
                <a:cs typeface="Calibri" pitchFamily="34" charset="-120"/>
              </a:rPr>
              <a:t>Execution settings pin the output to strict JSON</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InvokePromptAsync</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  </a:t>
            </a:r>
            <a:pPr indent="0" marL="0">
              <a:buNone/>
            </a:pPr>
            <a:r>
              <a:rPr lang="en-US" sz="1250" dirty="0">
                <a:solidFill>
                  <a:srgbClr val="FFFFFF"/>
                </a:solidFill>
                <a:latin typeface="Calibri" pitchFamily="34" charset="0"/>
                <a:ea typeface="Calibri" pitchFamily="34" charset="-122"/>
                <a:cs typeface="Calibri" pitchFamily="34" charset="-120"/>
              </a:rPr>
              <a:t>The same call, now with C# tools the model can use</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fixed output shape</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7  </a:t>
            </a:r>
            <a:pPr indent="0" marL="0">
              <a:buNone/>
            </a:pPr>
            <a:r>
              <a:rPr lang="en-US" sz="1250" dirty="0">
                <a:solidFill>
                  <a:srgbClr val="FFFFFF"/>
                </a:solidFill>
                <a:latin typeface="Calibri" pitchFamily="34" charset="0"/>
                <a:ea typeface="Calibri" pitchFamily="34" charset="-122"/>
                <a:cs typeface="Calibri" pitchFamily="34" charset="-120"/>
              </a:rPr>
              <a:t>ResponseFormat returns typed JSON you can parse</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{{$variable}} templates</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13  </a:t>
            </a:r>
            <a:pPr indent="0" marL="0">
              <a:buNone/>
            </a:pPr>
            <a:r>
              <a:rPr lang="en-US" sz="1250" dirty="0">
                <a:solidFill>
                  <a:srgbClr val="FFFFFF"/>
                </a:solidFill>
                <a:latin typeface="Calibri" pitchFamily="34" charset="0"/>
                <a:ea typeface="Calibri" pitchFamily="34" charset="-122"/>
                <a:cs typeface="Calibri" pitchFamily="34" charset="-120"/>
              </a:rPr>
              <a:t>Templates call C# plugin functions to build prompts</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file as prompt input</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14  </a:t>
            </a:r>
            <a:pPr indent="0" marL="0">
              <a:buNone/>
            </a:pPr>
            <a:r>
              <a:rPr lang="en-US" sz="1250" dirty="0">
                <a:solidFill>
                  <a:srgbClr val="FFFFFF"/>
                </a:solidFill>
                <a:latin typeface="Calibri" pitchFamily="34" charset="0"/>
                <a:ea typeface="Calibri" pitchFamily="34" charset="-122"/>
                <a:cs typeface="Calibri" pitchFamily="34" charset="-120"/>
              </a:rPr>
              <a:t>A whole manual goes into the prompt for Q&amp;A</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 — The Summarizer</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 — The Summarizer</dc:title>
  <dc:subject>PptxGenJS Presentation</dc:subject>
  <dc:creator>Media Six LLC</dc:creator>
  <cp:lastModifiedBy>Media Six LLC</cp:lastModifiedBy>
  <cp:revision>1</cp:revision>
  <dcterms:created xsi:type="dcterms:W3CDTF">2026-10-21T22:56:27Z</dcterms:created>
  <dcterms:modified xsi:type="dcterms:W3CDTF">2026-10-21T22:56:27Z</dcterms:modified>
</cp:coreProperties>
</file>