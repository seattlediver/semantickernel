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so far has built agents that act on their own. Lesson 20 is the checkpoint that says some actions, like sending an email, approving a legal document or writing to a database, should never be fully autonomous, however confident the model is. We build a console app that drafts a corporate email announcement with OpenAI and refuses to let that draft go anywhere until a person types APPROVED. An AiWorker class owns the model call, a HumanGatekeeper class owns the console input that blocks until a person answers, and Program.cs wires the two into a revise-and-review loop that is capped at five revisions so it can never spin forever. This is the Human-in-the-Loop governance pattern, and later orchestrations can drop it in as a safety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shift. In earlier lessons the model decided when a task was finished, and tool calls ran without anyone looking at them. In Lesson 20 the workflow only advances on a deterministic, human-issued signal: the word APPROVED typed at the console. Anything else the reviewer types is treated as feedback and sent back to the model for another draft. Because the check is plain C# comparing a string, the model has no way to argue its way past it, however persuasive its draft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last few lessons. You need the .NET 10 SDK and a console application, which opens in Visual Studio 2026 as HumanInTheLoop.slnx. The project references Microsoft.SemanticKernel and Microsoft.SemanticKernel.Connectors.OpenAI, both at version 1.78.0. The API key comes from the OPENAI_API_KEY environment variable, and the program throws at startup if it isn't set. The model is gpt-4.1-mini, registered with AddOpenAIChatCompletion, and we pull IChatCompletionService out of the kernel to generate drafts.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split by responsibility. AiWorker owns everything to do with the model: it injects the persona, generates the draft, and cleans up afterwards. HumanGatekeeper owns the console input and output: it prints the draft, asks for a verdict, and blocks until a person types something. ReviewResult is a small C# record that carries both the approval flag and the feedback text out of HumanGatekeeper.ReviewDraft as one immutable value. Because drafting and reviewing live in their own classes, Program.cs stays a short orchestration script instead of a tangle of prompt code and console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program from top to bottom. Step 1 builds the kernel. Step 2 creates the AiWorker with a Corporate Communications persona and the HumanGatekeeper, then asks for the announcement's topic, which becomes the first user message: draft an email announcement regarding that topic. Step 3 is the orchestration loop. Each pass prints AI IS DRAFTING and asks AiWorker for a draft. Step 4, highlighted, yields control to the human: the gatekeeper prints the draft and waits. If the reviewer rejects it, their feedback is added to the history as a new user message, prefixed with The draft was rejected, and the loop goes round again. It stops on APPROVED, or after five revisions.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AiWorker uses a small trick to keep the conversation clean. Right before calling the model, it inserts a system message holding the persona at index 0 of the shared ChatHistory. After the call, it removes that message again, so the history that persists between cycles only ever contains the real back-and-forth: the original request, each draft, and each piece of feedback. The draft is only appended as an assistant message once the call succeeds. The removal sits in a finally block. That matters: if the model call throws, a removal placed after the call would never run, and the persona would stay stuck at index 0, corrupting every later attempt. The panel shows the history as a diagram, not program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guarded by two conditions: it keeps running while the draft isn't approved and currentRevision is below maxRevisions, which is five. So there are exactly three ways out. The reviewer types APPROVED, matched case-insensitively after trimming, and the program prints that the announcement is ready to send. Or five revisions pass without approval and the program prints Maximum revisions reached. Or the OpenAI call fails: Program.cs catches the exception, prints an error message, sets an aiServiceFailed flag and breaks out cleanly instead of crashing mid-review. Any other input simply counts as feedback and starts another cycle. The program always terminates, even if no human ever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asks for the topic of the announcement. It then drafts, prints the draft between divider lines under AI DRAFT PROPOSAL, and stops at HUMAN REVIEW REQUIRED. This slide is trimmed to the key lines: the topic, the feedback and the draft subject lines are illustrative, and your drafts will be full emails worded differently. Type feedback and you'll see Sending feedback to the AI, followed by a revised draft that reflects it. Type APPROVED, in any case, and the program confirms the announcement is ready to send. If you keep rejecting, the fifth rejection ends the run with Maximum revisions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Real approval workflows need an audit trail: who decided what, and when. Add a small class in its own file that records each ReviewResult together with the revision number and a timestamp. Append an entry every time the gatekeeper returns, and print the whole trail when the loop ends, whichever way it ends: approval, the revision cap, or an AI service error. Check that rejected entries keep the feedback the reviewer typed. Notice that neither AiWorker nor HumanGatekeeper has to change; the trail is pure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built a workflow that only advances on an explicit human APPROVED, split drafting and review into their own classes, swapped a persona in and out of ChatHistory, fed rejection feedback back as the next user turn, and bounded the loop so it always ends. These ideas come back. Lesson 25 reuses the persona splice and adds a rollback when a call fails. Lesson 31 replaces the human reviewer with the agent critiquing its own draft. Lesson 29's capstone orchestrator caps its Reviewer rework loop at five cycles, and Lesson 36 caps replanning at three attempts. And the planned Lesson 41 turns this blocking console gate into a queued, asynchronous approval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20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Human-in-</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the-Loop</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The AI drafts the email; only a human can say it ships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announcement topic</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APPROVED email draft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Gate a workflow on a human signal, not the model's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Split drafting and review into separate classes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Swap a persona in and out of ChatHistory</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Feed rejection feedback back as the next user turn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Bound the loop so it always ends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autonomous agents to a hard human gate</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Earlier lessons: autonomous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decides when the task is done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Tool calls run with no one checking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pauses for a person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20: human gate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Only an exact APPROVED ends the loop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Anything else becomes feedback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cannot talk its way past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Completion is a deterministic human signal, not the model's own judgment.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HumanInTheLoop.slnx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the drafts come from IChatCompletionService.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SEPARATION OF CONCERNS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pieces, one job each</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Program.cs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short orchestration script: wires the worker and the gatekeeper into a bounded loop.</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AiWorker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Owns the model call: persona in, draft out, persona removed.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Gatekeeper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HumanGatekeeper prints the draft and blocks on Console.ReadLine.</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ReviewResult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C# record carrying IsApproved and Feedback as one value.</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Prompt code and console code never mix, so Program.cs reads like a script.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4</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revision cycle, start to finish</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Topic</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 for the topic; it becomes the first user turn.</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Draft</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AiWorker generates a draft under the persona.</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gatekeeper blocks until a person types.</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Feedback</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rejection is added as the next user message.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Repeat</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Until APPROVED or five revisions.</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Control yields to the human at Step 4, every single cycle.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PERSONA SWAPPING</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The persona is in the history only during the call</a:t>
            </a:r>
            <a:endParaRPr lang="en-US" sz="2450" dirty="0"/>
          </a:p>
        </p:txBody>
      </p:sp>
      <p:sp>
        <p:nvSpPr>
          <p:cNvPr id="4" name="Shape 2"/>
          <p:cNvSpPr/>
          <p:nvPr/>
        </p:nvSpPr>
        <p:spPr>
          <a:xfrm>
            <a:off x="457200" y="1325880"/>
            <a:ext cx="5257800" cy="1828800"/>
          </a:xfrm>
          <a:prstGeom prst="roundRect">
            <a:avLst>
              <a:gd name="adj" fmla="val 4000"/>
            </a:avLst>
          </a:prstGeom>
          <a:solidFill>
            <a:srgbClr val="0F1420"/>
          </a:solidFill>
          <a:ln w="12700">
            <a:solidFill>
              <a:srgbClr val="0F1420"/>
            </a:solidFill>
            <a:prstDash val="solid"/>
          </a:ln>
        </p:spPr>
      </p:sp>
      <p:sp>
        <p:nvSpPr>
          <p:cNvPr id="5" name="Text 3"/>
          <p:cNvSpPr txBox="1"/>
          <p:nvPr/>
        </p:nvSpPr>
        <p:spPr>
          <a:xfrm>
            <a:off x="640080" y="1463040"/>
            <a:ext cx="4892040" cy="15544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ChatHistory while the model is called: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[0] system     persona (inserted at index 0)</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[1] user       Draft an email announcement...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 assistant  first draft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[3] user       The draft was rejected...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After the call: [0] removed, draft appended.</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Insert(0)</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system persona goes in just before the model call.</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finally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RemoveAt(0) runs even if the call throws, so history never corrupts.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Clean history</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Only the real user and assistant turns persist between cycles.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BOUNDED TERMINATION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Three ways the loop can end, and none is the model</a:t>
            </a:r>
            <a:endParaRPr lang="en-US" sz="2450" dirty="0"/>
          </a:p>
        </p:txBody>
      </p:sp>
      <p:sp>
        <p:nvSpPr>
          <p:cNvPr id="4" name="Shape 2"/>
          <p:cNvSpPr/>
          <p:nvPr/>
        </p:nvSpPr>
        <p:spPr>
          <a:xfrm>
            <a:off x="457200" y="1371600"/>
            <a:ext cx="1851660" cy="1554480"/>
          </a:xfrm>
          <a:prstGeom prst="roundRect">
            <a:avLst>
              <a:gd name="adj" fmla="val 4706"/>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Approved</a:t>
            </a:r>
            <a:endParaRPr lang="en-US" sz="1300" dirty="0"/>
          </a:p>
        </p:txBody>
      </p:sp>
      <p:sp>
        <p:nvSpPr>
          <p:cNvPr id="8" name="Text 5"/>
          <p:cNvSpPr txBox="1"/>
          <p:nvPr/>
        </p:nvSpPr>
        <p:spPr>
          <a:xfrm>
            <a:off x="640080" y="2057400"/>
            <a:ext cx="1485900" cy="7772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APPROVED, any case, ends the loop: ready to send.</a:t>
            </a:r>
            <a:endParaRPr lang="en-US" sz="1200" dirty="0"/>
          </a:p>
        </p:txBody>
      </p:sp>
      <p:sp>
        <p:nvSpPr>
          <p:cNvPr id="9" name="Shape 6"/>
          <p:cNvSpPr/>
          <p:nvPr/>
        </p:nvSpPr>
        <p:spPr>
          <a:xfrm>
            <a:off x="2583180" y="1371600"/>
            <a:ext cx="1851660" cy="1554480"/>
          </a:xfrm>
          <a:prstGeom prst="roundRect">
            <a:avLst>
              <a:gd name="adj" fmla="val 4706"/>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Cap reached</a:t>
            </a:r>
            <a:endParaRPr lang="en-US" sz="1300" dirty="0"/>
          </a:p>
        </p:txBody>
      </p:sp>
      <p:sp>
        <p:nvSpPr>
          <p:cNvPr id="13" name="Text 9"/>
          <p:cNvSpPr txBox="1"/>
          <p:nvPr/>
        </p:nvSpPr>
        <p:spPr>
          <a:xfrm>
            <a:off x="2766060" y="2057400"/>
            <a:ext cx="1485900"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Five revisions without approval stops the workflow.</a:t>
            </a:r>
            <a:endParaRPr lang="en-US" sz="1200" dirty="0"/>
          </a:p>
        </p:txBody>
      </p:sp>
      <p:sp>
        <p:nvSpPr>
          <p:cNvPr id="14" name="Shape 10"/>
          <p:cNvSpPr/>
          <p:nvPr/>
        </p:nvSpPr>
        <p:spPr>
          <a:xfrm>
            <a:off x="4709160" y="1371600"/>
            <a:ext cx="1851660" cy="1554480"/>
          </a:xfrm>
          <a:prstGeom prst="roundRect">
            <a:avLst>
              <a:gd name="adj" fmla="val 4706"/>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AI error</a:t>
            </a:r>
            <a:endParaRPr lang="en-US" sz="1300" dirty="0"/>
          </a:p>
        </p:txBody>
      </p:sp>
      <p:sp>
        <p:nvSpPr>
          <p:cNvPr id="18" name="Text 13"/>
          <p:cNvSpPr txBox="1"/>
          <p:nvPr/>
        </p:nvSpPr>
        <p:spPr>
          <a:xfrm>
            <a:off x="4892040" y="2057400"/>
            <a:ext cx="1485900"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failed call prints [ERROR] and sets aiServiceFailed.</a:t>
            </a:r>
            <a:endParaRPr lang="en-US" sz="1200" dirty="0"/>
          </a:p>
        </p:txBody>
      </p:sp>
      <p:sp>
        <p:nvSpPr>
          <p:cNvPr id="19" name="Shape 14"/>
          <p:cNvSpPr/>
          <p:nvPr/>
        </p:nvSpPr>
        <p:spPr>
          <a:xfrm>
            <a:off x="6835140" y="1371600"/>
            <a:ext cx="1851660" cy="1554480"/>
          </a:xfrm>
          <a:prstGeom prst="roundRect">
            <a:avLst>
              <a:gd name="adj" fmla="val 4706"/>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Rejected</a:t>
            </a:r>
            <a:endParaRPr lang="en-US" sz="1300" dirty="0"/>
          </a:p>
        </p:txBody>
      </p:sp>
      <p:sp>
        <p:nvSpPr>
          <p:cNvPr id="23" name="Text 17"/>
          <p:cNvSpPr txBox="1"/>
          <p:nvPr/>
        </p:nvSpPr>
        <p:spPr>
          <a:xfrm>
            <a:off x="7018020" y="2057400"/>
            <a:ext cx="1485900"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Anything else is feedback, so the loop goes round again.</a:t>
            </a:r>
            <a:endParaRPr lang="en-US" sz="1200" dirty="0"/>
          </a:p>
        </p:txBody>
      </p:sp>
      <p:sp>
        <p:nvSpPr>
          <p:cNvPr id="24" name="Text 18"/>
          <p:cNvSpPr txBox="1"/>
          <p:nvPr/>
        </p:nvSpPr>
        <p:spPr>
          <a:xfrm>
            <a:off x="457200" y="31546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Two flags guard the while: isApproved, and currentRevision &lt; maxRevisions.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draft, reject, redraft, approve</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Corporate Comms System Initialized.</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What is the topic of the announcement? Austin office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[AI IS DRAFTING...]</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AI DRAFT PROPOSAL:</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Subject: Our New Austin Office Opens Next Month</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HUMAN REVIEW REQUIRED</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&gt; Shorter, and mention the parking garage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Sending feedback to the AI...</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[AI IS DRAFTING...]</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Subject: Austin Office Opening, Parking Included</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&gt; APPROVED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The announcement has been approved and is ready to send.</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Drafts vary</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topic, feedback and subject lines here are illustrative.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Any case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approved works too; the match ignores case and spaces.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Five rounds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approval after five drafts stops the workflow.</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an audit trail to the approval gate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Record every review decision with its revision number and a timestamp, and print the full trail when the workflow ends.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Lesson20-HumanInTheLoop/</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HumanInTheLoop/Program.cs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Every review is logged with its revision number and time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trail prints after approval, the cap or an AI error</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Rejected entries keep the reviewer's feedback text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trail lives in its own class and .cs file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human approval gate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41  </a:t>
            </a:r>
            <a:pPr indent="0" marL="0">
              <a:buNone/>
            </a:pPr>
            <a:r>
              <a:rPr lang="en-US" sz="1250" dirty="0">
                <a:solidFill>
                  <a:srgbClr val="FFFFFF"/>
                </a:solidFill>
                <a:latin typeface="Calibri" pitchFamily="34" charset="0"/>
                <a:ea typeface="Calibri" pitchFamily="34" charset="-122"/>
                <a:cs typeface="Calibri" pitchFamily="34" charset="-120"/>
              </a:rPr>
              <a:t>Approval becomes a queued, non-blocking step (planned)</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 swap in ChatHistory</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25  </a:t>
            </a:r>
            <a:pPr indent="0" marL="0">
              <a:buNone/>
            </a:pPr>
            <a:r>
              <a:rPr lang="en-US" sz="1250" dirty="0">
                <a:solidFill>
                  <a:srgbClr val="FFFFFF"/>
                </a:solidFill>
                <a:latin typeface="Calibri" pitchFamily="34" charset="0"/>
                <a:ea typeface="Calibri" pitchFamily="34" charset="-122"/>
                <a:cs typeface="Calibri" pitchFamily="34" charset="-120"/>
              </a:rPr>
              <a:t>The same splice, now with rollback on failure</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Feedback as the next turn</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The agent critiques its own draft, no human</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bounded revise loop</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maxCycles = 5 caps the Reviewer's rework loop</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Stop after N attempts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Failed steps trigger replanning, capped at 3</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20 — Human-in-the-Loop</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 — Human-in-the-Loop</dc:title>
  <dc:subject>PptxGenJS Presentation</dc:subject>
  <dc:creator>Media Six LLC</dc:creator>
  <cp:lastModifiedBy>Media Six LLC</cp:lastModifiedBy>
  <cp:revision>1</cp:revision>
  <dcterms:created xsi:type="dcterms:W3CDTF">2026-10-21T23:28:18Z</dcterms:created>
  <dcterms:modified xsi:type="dcterms:W3CDTF">2026-10-21T23:28:18Z</dcterms:modified>
</cp:coreProperties>
</file>