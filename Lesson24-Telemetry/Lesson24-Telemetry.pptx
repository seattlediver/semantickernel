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Lesson 22 we hand-wrote instrumentation: a filter with a Stopwatch around every function call. Lesson 24 flips that around. Semantic Kernel already records its own work as System.Diagnostics Activities, so instead of wrapping operations ourselves, we subscribe to that built-in instrumentation with OpenTelemetry, the vendor-neutral observability standard. We build a console app that asks, what is the weather like in Seattle right now, through a kernel with a deliberately slow mock weather plugin. As the request runs, OpenTelemetry captures Semantic Kernel's activities and prints them to the console as structured trace spans with real durations, with no changes to the plugin or the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shift. Lesson 22's AuditFunctionFilter measured time with a Stopwatch we wrote ourselves, only around what we chose to wrap, and printed free-form text. In Lesson 24 we write no timing code at all. Semantic Kernel already instruments its own operations; OpenTelemetry just has to listen. One AddSource call subscribes to everything Semantic Kernel emits, and the output is standard trace data: the same spans could go to a real backend such as Jaeger, Application Insights or Datadog instead of the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is a .NET 10 console app, Telemetry.slnx. Alongside Microsoft.SemanticKernel and Microsoft.SemanticKernel.Connectors.OpenAI at 1.78.0, it references two OpenTelemetry packages at 1.16.0: OpenTelemetry itself, and OpenTelemetry.Exporter.Console, which prints spans to the terminal. The key comes from OPENAI_API_KEY, and gpt-4.1-mini decides on its own to call the weather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configures OpenTelemetry, written as separate statements rather than a fluent chain to keep each part visible. Sdk.CreateTracerProviderBuilder starts the configuration. The highlighted call, AddSource with the wildcard Microsoft.SemanticKernel star, tells the tracer to listen to every diagnostic source Semantic Kernel emits under that namespace. AddConsoleExporter sends each finished span to the terminal, standing in for a real tracing backend. Build returns a TracerProvider, held in a using declaration so it is disposed when Main ends. All of this happens before the kernel is built, so no activity is missed. Step 2 then builds the kernel as usual and registers SlowWeatherPlugin.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span is one unit of work with a start, an end and a measured duration. Semantic Kernel creates them as System.Diagnostics Activities, the .NET type OpenTelemetry uses for spans. Every span in one request shares a TraceId, so a backend can group them into one trace. Each records its Duration, which is what tells you where time is going in an agentic request. And spans nest: the GetWeather tool runs inside the prompt invocation, so its span is a child of the prompt's span, with the parent's span ID recorded on it. That structure lets you see that most of a slow request was, say, one tool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deliberate choices make the trace useful. SlowWeatherPlugin waits 800 milliseconds before returning 72 degrees and sunny, standing in for a slow REST call, so its span is easy to spot. The execution settings use AutoInvokeKernelFunctions, so Semantic Kernel runs the tool loop itself and the tool invocation shows up as its own span. The InvokePromptAsync call is wrapped in try/catch, printing a one-line error rather than crashing. And tracerProvider.ForceFlush sits in a finally block, so every buffered span is written out before this short-lived process exits, even when the call fails, because the trace of a failure is often the most instructive one. None of this is specific to OpenAI: OpenTelemetry listens to Semantic Kernel's own instrumentation, not to the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project with OPENAI_API_KEY set. Everything between EXECUTING and TRACING and Final AI Output on this slide is illustrative and heavily trimmed: the console exporter prints many fields per span, including span IDs, parent IDs, kind, start time, source name and tags, and the exact span names depend on your Semantic Kernel version. What to look for is the shape. Spans print as each activity finishes, so the inner tool span appears first, with a duration just over 800 milliseconds, followed by the enclosing prompt invocation, whose duration includes the model calls and the tool. Both share one TraceId. The final answer reflects the mock plugin's 72 degrees and sunny, and the session ends with the reminder to review the traces.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this on your own. Declare a static ActivitySource with a name of your choosing, add that name to the tracer with a second AddSource call, and start an activity around the InvokePromptAsync call. Set a tag holding the prompt. Because Semantic Kernel's activities start while yours is current, they become its children and share its TraceId, which you can confirm in the console output. In the catch block, set your activity's status to Error with the exception message, then break the API key on purpose and check the failed trace still prints.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we learned what traces, spans and durations are, subscribed OpenTelemetry to Semantic Kernel's ActivitySource with a wildcard, printed spans with the console exporter, spotted the slow tool by its duration, and flushed traces in a finally block before the process exits. Next, Lesson 26 measures a different dimension, answer quality, using an LLM as a judge. In the capstone, Lesson 29's orchestrator runs four agents through a rework loop, exactly the kind of multi-step run where one trace pays off, and Lesson 30 hosts those same agents as a Web API without changing their code. And Lesson 37 moves from observing the model to enforcing rules on it with guardrail filters.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24  ·  PART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Telemetry &amp;</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Observability</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Trace every function call with OpenTelemetry, no hand-written timers</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Seattle weather question</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spans with durations</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What traces, spans and durations are</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Subscribe to Semantic Kernel's ActivitySource</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Print spans with the console exporter</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Spot the slow tool in a trace</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Flush traces before a console app exits</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24 — Telemetry &amp; Observability</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WHAT CHANGES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From hand-written timers to built-in traces</a:t>
            </a:r>
            <a:endParaRPr lang="en-US" sz="2800" dirty="0"/>
          </a:p>
        </p:txBody>
      </p:sp>
      <p:sp>
        <p:nvSpPr>
          <p:cNvPr id="4" name="Shape 2"/>
          <p:cNvSpPr/>
          <p:nvPr/>
        </p:nvSpPr>
        <p:spPr>
          <a:xfrm>
            <a:off x="457200" y="1371600"/>
            <a:ext cx="3931920" cy="1920240"/>
          </a:xfrm>
          <a:prstGeom prst="roundRect">
            <a:avLst>
              <a:gd name="adj" fmla="val 381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22: a timing filter</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You write the Stopwatch code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Only what you wrap is measured</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Output is ad-hoc console text</a:t>
            </a:r>
            <a:endParaRPr lang="en-US" sz="1300" dirty="0"/>
          </a:p>
        </p:txBody>
      </p:sp>
      <p:sp>
        <p:nvSpPr>
          <p:cNvPr id="9" name="Shape 6"/>
          <p:cNvSpPr/>
          <p:nvPr/>
        </p:nvSpPr>
        <p:spPr>
          <a:xfrm>
            <a:off x="4754880" y="1371600"/>
            <a:ext cx="3931920" cy="1920240"/>
          </a:xfrm>
          <a:prstGeom prst="roundRect">
            <a:avLst>
              <a:gd name="adj" fmla="val 381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24: OpenTelemetry</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SK already emits Activities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Subscribe once with AddSource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Standard traces for any backend</a:t>
            </a:r>
            <a:endParaRPr lang="en-US" sz="1300" dirty="0"/>
          </a:p>
        </p:txBody>
      </p:sp>
      <p:sp>
        <p:nvSpPr>
          <p:cNvPr id="14" name="Text 10"/>
          <p:cNvSpPr txBox="1"/>
          <p:nvPr/>
        </p:nvSpPr>
        <p:spPr>
          <a:xfrm>
            <a:off x="457200" y="35661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Zero changes to the plugin or the prompt code.</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24 — Telemetry &amp; Observability</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you need before writing any code</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.NET 10 SDK</a:t>
            </a:r>
            <a:endParaRPr lang="en-US" sz="15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C# console app targeting net10.0, opened as Telemetry.slnx in Visual Studio 2026.</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Four NuGet packages</a:t>
            </a:r>
            <a:endParaRPr lang="en-US" sz="15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Microsoft.SemanticKernel and Connectors.OpenAI 1.78.0; OpenTelemetry and OpenTelemetry.Exporter.Console 1.16.0.</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OPENAI_API_KEY</a:t>
            </a:r>
            <a:endParaRPr lang="en-US" sz="15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Read from the environment, never hard-coded. The app throws at startup if it is missing.</a:t>
            </a:r>
            <a:endParaRPr lang="en-US" sz="1200" dirty="0"/>
          </a:p>
        </p:txBody>
      </p:sp>
      <p:sp>
        <p:nvSpPr>
          <p:cNvPr id="19" name="Shape 14"/>
          <p:cNvSpPr/>
          <p:nvPr/>
        </p:nvSpPr>
        <p:spPr>
          <a:xfrm>
            <a:off x="4709160" y="2994660"/>
            <a:ext cx="397764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489204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gpt-4.1-mini</a:t>
            </a:r>
            <a:endParaRPr lang="en-US" sz="15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Registered with AddOpenAIChatCompletion; it decides to call the weather tool.</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24 — Telemetry &amp; Observability</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STEP 1</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Wiring the tracer takes four lines</a:t>
            </a:r>
            <a:endParaRPr lang="en-US" sz="2800" dirty="0"/>
          </a:p>
        </p:txBody>
      </p:sp>
      <p:sp>
        <p:nvSpPr>
          <p:cNvPr id="4" name="Shape 2"/>
          <p:cNvSpPr/>
          <p:nvPr/>
        </p:nvSpPr>
        <p:spPr>
          <a:xfrm>
            <a:off x="457200" y="1417320"/>
            <a:ext cx="1796796" cy="19933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Builder</a:t>
            </a:r>
            <a:endParaRPr lang="en-US" sz="1500" dirty="0"/>
          </a:p>
        </p:txBody>
      </p:sp>
      <p:sp>
        <p:nvSpPr>
          <p:cNvPr id="8" name="Text 5"/>
          <p:cNvSpPr txBox="1"/>
          <p:nvPr/>
        </p:nvSpPr>
        <p:spPr>
          <a:xfrm>
            <a:off x="640080"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Sdk.CreateTracer</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ProviderBuilder() starts the setup.</a:t>
            </a:r>
            <a:endParaRPr lang="en-US" sz="1200" dirty="0"/>
          </a:p>
        </p:txBody>
      </p:sp>
      <p:sp>
        <p:nvSpPr>
          <p:cNvPr id="9" name="Shape 6"/>
          <p:cNvSpPr/>
          <p:nvPr/>
        </p:nvSpPr>
        <p:spPr>
          <a:xfrm>
            <a:off x="2318004"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1993392"/>
          </a:xfrm>
          <a:prstGeom prst="roundRect">
            <a:avLst>
              <a:gd name="adj" fmla="val 4071"/>
            </a:avLst>
          </a:prstGeom>
          <a:solidFill>
            <a:srgbClr val="512BD4"/>
          </a:solidFill>
          <a:ln w="12700">
            <a:solidFill>
              <a:srgbClr val="512BD4"/>
            </a:solidFill>
            <a:prstDash val="solid"/>
          </a:ln>
        </p:spPr>
      </p:sp>
      <p:sp>
        <p:nvSpPr>
          <p:cNvPr id="11" name="Shape 8"/>
          <p:cNvSpPr/>
          <p:nvPr/>
        </p:nvSpPr>
        <p:spPr>
          <a:xfrm>
            <a:off x="2784348" y="1618488"/>
            <a:ext cx="457200" cy="457200"/>
          </a:xfrm>
          <a:prstGeom prst="ellipse">
            <a:avLst/>
          </a:prstGeom>
          <a:solidFill>
            <a:srgbClr val="FFFFFF"/>
          </a:solidFill>
          <a:ln w="12700">
            <a:solidFill>
              <a:srgbClr val="FFFFFF"/>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AddSource</a:t>
            </a:r>
            <a:endParaRPr lang="en-US" sz="1500" dirty="0"/>
          </a:p>
        </p:txBody>
      </p:sp>
      <p:sp>
        <p:nvSpPr>
          <p:cNvPr id="14" name="Text 10"/>
          <p:cNvSpPr txBox="1"/>
          <p:nvPr/>
        </p:nvSpPr>
        <p:spPr>
          <a:xfrm>
            <a:off x="2784348" y="26060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Listen to every Semantic Kernel source.</a:t>
            </a:r>
            <a:endParaRPr lang="en-US" sz="1200" dirty="0"/>
          </a:p>
        </p:txBody>
      </p:sp>
      <p:sp>
        <p:nvSpPr>
          <p:cNvPr id="15" name="Shape 11"/>
          <p:cNvSpPr/>
          <p:nvPr/>
        </p:nvSpPr>
        <p:spPr>
          <a:xfrm>
            <a:off x="4462272"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1993392"/>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Exporter</a:t>
            </a:r>
            <a:endParaRPr lang="en-US" sz="1500" dirty="0"/>
          </a:p>
        </p:txBody>
      </p:sp>
      <p:sp>
        <p:nvSpPr>
          <p:cNvPr id="20" name="Text 15"/>
          <p:cNvSpPr txBox="1"/>
          <p:nvPr/>
        </p:nvSpPr>
        <p:spPr>
          <a:xfrm>
            <a:off x="4928616"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console exporter prints each span.</a:t>
            </a:r>
            <a:endParaRPr lang="en-US" sz="1200" dirty="0"/>
          </a:p>
        </p:txBody>
      </p:sp>
      <p:sp>
        <p:nvSpPr>
          <p:cNvPr id="21" name="Shape 16"/>
          <p:cNvSpPr/>
          <p:nvPr/>
        </p:nvSpPr>
        <p:spPr>
          <a:xfrm>
            <a:off x="6606540" y="23042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1993392"/>
          </a:xfrm>
          <a:prstGeom prst="roundRect">
            <a:avLst>
              <a:gd name="adj" fmla="val 4071"/>
            </a:avLst>
          </a:prstGeom>
          <a:solidFill>
            <a:srgbClr val="EFEBFC"/>
          </a:solidFill>
          <a:ln w="12700">
            <a:solidFill>
              <a:srgbClr val="EFEBFC"/>
            </a:solidFill>
            <a:prstDash val="solid"/>
          </a:ln>
        </p:spPr>
      </p:sp>
      <p:sp>
        <p:nvSpPr>
          <p:cNvPr id="23" name="Shape 18"/>
          <p:cNvSpPr/>
          <p:nvPr/>
        </p:nvSpPr>
        <p:spPr>
          <a:xfrm>
            <a:off x="7072884"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Build</a:t>
            </a:r>
            <a:endParaRPr lang="en-US" sz="1500" dirty="0"/>
          </a:p>
        </p:txBody>
      </p:sp>
      <p:sp>
        <p:nvSpPr>
          <p:cNvPr id="26" name="Text 20"/>
          <p:cNvSpPr txBox="1"/>
          <p:nvPr/>
        </p:nvSpPr>
        <p:spPr>
          <a:xfrm>
            <a:off x="7072884"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using TracerProvider: tracing is live.</a:t>
            </a:r>
            <a:endParaRPr lang="en-US" sz="1200" dirty="0"/>
          </a:p>
        </p:txBody>
      </p:sp>
      <p:sp>
        <p:nvSpPr>
          <p:cNvPr id="27" name="Text 21"/>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tracer is built before the kernel, so it sees every activity.</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24 — Telemetry &amp; Observability</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span is one timed unit of work</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Span</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SK records each operation as a System.Diagnostics Activity; OTel calls it a span.</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TraceId</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Shared by every span in one request, so they group together.</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Duration</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Wall-clock time for that unit of work.</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Nesting</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GetWeather runs inside the prompt's span.</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Read the durations to see exactly where the time goes.</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24 — Telemetry &amp; Observability</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DESIGN DECISIONS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Four details that make the trace worth reading</a:t>
            </a:r>
            <a:endParaRPr lang="en-US" sz="2700" dirty="0"/>
          </a:p>
        </p:txBody>
      </p:sp>
      <p:sp>
        <p:nvSpPr>
          <p:cNvPr id="4" name="Shape 2"/>
          <p:cNvSpPr/>
          <p:nvPr/>
        </p:nvSpPr>
        <p:spPr>
          <a:xfrm>
            <a:off x="457200" y="1371600"/>
            <a:ext cx="1851660" cy="1600200"/>
          </a:xfrm>
          <a:prstGeom prst="roundRect">
            <a:avLst>
              <a:gd name="adj" fmla="val 4571"/>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Slow plugin</a:t>
            </a:r>
            <a:endParaRPr lang="en-US" sz="1300" dirty="0"/>
          </a:p>
        </p:txBody>
      </p:sp>
      <p:sp>
        <p:nvSpPr>
          <p:cNvPr id="8" name="Text 5"/>
          <p:cNvSpPr txBox="1"/>
          <p:nvPr/>
        </p:nvSpPr>
        <p:spPr>
          <a:xfrm>
            <a:off x="640080" y="2057400"/>
            <a:ext cx="1485900" cy="8229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An 800-ms wait in GetWeather makes its span obvious.</a:t>
            </a:r>
            <a:endParaRPr lang="en-US" sz="1200" dirty="0"/>
          </a:p>
        </p:txBody>
      </p:sp>
      <p:sp>
        <p:nvSpPr>
          <p:cNvPr id="9" name="Shape 6"/>
          <p:cNvSpPr/>
          <p:nvPr/>
        </p:nvSpPr>
        <p:spPr>
          <a:xfrm>
            <a:off x="2583180" y="1371600"/>
            <a:ext cx="1851660" cy="1600200"/>
          </a:xfrm>
          <a:prstGeom prst="roundRect">
            <a:avLst>
              <a:gd name="adj" fmla="val 4571"/>
            </a:avLst>
          </a:prstGeom>
          <a:solidFill>
            <a:srgbClr val="EFEBFC"/>
          </a:solidFill>
          <a:ln w="12700">
            <a:solidFill>
              <a:srgbClr val="EFEBFC"/>
            </a:solidFill>
            <a:prstDash val="solid"/>
          </a:ln>
        </p:spPr>
      </p:sp>
      <p:sp>
        <p:nvSpPr>
          <p:cNvPr id="10" name="Shape 7"/>
          <p:cNvSpPr/>
          <p:nvPr/>
        </p:nvSpPr>
        <p:spPr>
          <a:xfrm>
            <a:off x="276606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2865912" y="1654332"/>
            <a:ext cx="184343" cy="184343"/>
          </a:xfrm>
          <a:prstGeom prst="rect">
            <a:avLst/>
          </a:prstGeom>
        </p:spPr>
      </p:pic>
      <p:sp>
        <p:nvSpPr>
          <p:cNvPr id="12" name="Text 8"/>
          <p:cNvSpPr txBox="1"/>
          <p:nvPr/>
        </p:nvSpPr>
        <p:spPr>
          <a:xfrm>
            <a:off x="326898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AutoInvoke</a:t>
            </a:r>
            <a:endParaRPr lang="en-US" sz="1300" dirty="0"/>
          </a:p>
        </p:txBody>
      </p:sp>
      <p:sp>
        <p:nvSpPr>
          <p:cNvPr id="13" name="Text 9"/>
          <p:cNvSpPr txBox="1"/>
          <p:nvPr/>
        </p:nvSpPr>
        <p:spPr>
          <a:xfrm>
            <a:off x="2766060" y="2057400"/>
            <a:ext cx="1485900" cy="8229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kernel runs the tool loop, so the tool span appears.</a:t>
            </a:r>
            <a:endParaRPr lang="en-US" sz="1200" dirty="0"/>
          </a:p>
        </p:txBody>
      </p:sp>
      <p:sp>
        <p:nvSpPr>
          <p:cNvPr id="14" name="Shape 10"/>
          <p:cNvSpPr/>
          <p:nvPr/>
        </p:nvSpPr>
        <p:spPr>
          <a:xfrm>
            <a:off x="4709160" y="1371600"/>
            <a:ext cx="1851660" cy="1600200"/>
          </a:xfrm>
          <a:prstGeom prst="roundRect">
            <a:avLst>
              <a:gd name="adj" fmla="val 4571"/>
            </a:avLst>
          </a:prstGeom>
          <a:solidFill>
            <a:srgbClr val="EFEBFC"/>
          </a:solidFill>
          <a:ln w="12700">
            <a:solidFill>
              <a:srgbClr val="EFEBFC"/>
            </a:solidFill>
            <a:prstDash val="solid"/>
          </a:ln>
        </p:spPr>
      </p:sp>
      <p:sp>
        <p:nvSpPr>
          <p:cNvPr id="15" name="Shape 11"/>
          <p:cNvSpPr/>
          <p:nvPr/>
        </p:nvSpPr>
        <p:spPr>
          <a:xfrm>
            <a:off x="489204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4991892" y="1654332"/>
            <a:ext cx="184343" cy="184343"/>
          </a:xfrm>
          <a:prstGeom prst="rect">
            <a:avLst/>
          </a:prstGeom>
        </p:spPr>
      </p:pic>
      <p:sp>
        <p:nvSpPr>
          <p:cNvPr id="17" name="Text 12"/>
          <p:cNvSpPr txBox="1"/>
          <p:nvPr/>
        </p:nvSpPr>
        <p:spPr>
          <a:xfrm>
            <a:off x="539496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try/catch</a:t>
            </a:r>
            <a:endParaRPr lang="en-US" sz="1300" dirty="0"/>
          </a:p>
        </p:txBody>
      </p:sp>
      <p:sp>
        <p:nvSpPr>
          <p:cNvPr id="18" name="Text 13"/>
          <p:cNvSpPr txBox="1"/>
          <p:nvPr/>
        </p:nvSpPr>
        <p:spPr>
          <a:xfrm>
            <a:off x="4892040" y="2057400"/>
            <a:ext cx="1485900" cy="8229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failed call prints [ERROR] instead of crashing.</a:t>
            </a:r>
            <a:endParaRPr lang="en-US" sz="1200" dirty="0"/>
          </a:p>
        </p:txBody>
      </p:sp>
      <p:sp>
        <p:nvSpPr>
          <p:cNvPr id="19" name="Shape 14"/>
          <p:cNvSpPr/>
          <p:nvPr/>
        </p:nvSpPr>
        <p:spPr>
          <a:xfrm>
            <a:off x="6835140" y="1371600"/>
            <a:ext cx="1851660" cy="1600200"/>
          </a:xfrm>
          <a:prstGeom prst="roundRect">
            <a:avLst>
              <a:gd name="adj" fmla="val 4571"/>
            </a:avLst>
          </a:prstGeom>
          <a:solidFill>
            <a:srgbClr val="512BD4"/>
          </a:solidFill>
          <a:ln w="12700">
            <a:solidFill>
              <a:srgbClr val="512BD4"/>
            </a:solidFill>
            <a:prstDash val="solid"/>
          </a:ln>
        </p:spPr>
      </p:sp>
      <p:sp>
        <p:nvSpPr>
          <p:cNvPr id="20" name="Shape 15"/>
          <p:cNvSpPr/>
          <p:nvPr/>
        </p:nvSpPr>
        <p:spPr>
          <a:xfrm>
            <a:off x="7018020" y="1554480"/>
            <a:ext cx="384048" cy="384048"/>
          </a:xfrm>
          <a:prstGeom prst="ellipse">
            <a:avLst/>
          </a:prstGeom>
          <a:solidFill>
            <a:srgbClr val="FFFFFF"/>
          </a:solidFill>
          <a:ln w="12700">
            <a:solidFill>
              <a:srgbClr val="FFFFFF"/>
            </a:solidFill>
            <a:prstDash val="solid"/>
          </a:ln>
        </p:spPr>
      </p:sp>
      <p:pic>
        <p:nvPicPr>
          <p:cNvPr id="21" name="Image 3" descr="preencoded.png">    </p:cNvPr>
          <p:cNvPicPr>
            <a:picLocks noChangeAspect="1"/>
          </p:cNvPicPr>
          <p:nvPr/>
        </p:nvPicPr>
        <p:blipFill>
          <a:blip r:embed="rId4"/>
          <a:stretch>
            <a:fillRect/>
          </a:stretch>
        </p:blipFill>
        <p:spPr>
          <a:xfrm>
            <a:off x="7117872" y="1654332"/>
            <a:ext cx="184343" cy="184343"/>
          </a:xfrm>
          <a:prstGeom prst="rect">
            <a:avLst/>
          </a:prstGeom>
        </p:spPr>
      </p:pic>
      <p:sp>
        <p:nvSpPr>
          <p:cNvPr id="22" name="Text 16"/>
          <p:cNvSpPr txBox="1"/>
          <p:nvPr/>
        </p:nvSpPr>
        <p:spPr>
          <a:xfrm>
            <a:off x="752094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FFFFFF"/>
                </a:solidFill>
                <a:latin typeface="Calibri" pitchFamily="34" charset="0"/>
                <a:ea typeface="Calibri" pitchFamily="34" charset="-122"/>
                <a:cs typeface="Calibri" pitchFamily="34" charset="-120"/>
              </a:rPr>
              <a:t>ForceFlush</a:t>
            </a:r>
            <a:endParaRPr lang="en-US" sz="1300" dirty="0"/>
          </a:p>
        </p:txBody>
      </p:sp>
      <p:sp>
        <p:nvSpPr>
          <p:cNvPr id="23" name="Text 17"/>
          <p:cNvSpPr txBox="1"/>
          <p:nvPr/>
        </p:nvSpPr>
        <p:spPr>
          <a:xfrm>
            <a:off x="7018020" y="2057400"/>
            <a:ext cx="1485900" cy="8229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In finally, so spans print even after a failure.</a:t>
            </a:r>
            <a:endParaRPr lang="en-US" sz="1200" dirty="0"/>
          </a:p>
        </p:txBody>
      </p:sp>
      <p:sp>
        <p:nvSpPr>
          <p:cNvPr id="24" name="Text 18"/>
          <p:cNvSpPr txBox="1"/>
          <p:nvPr/>
        </p:nvSpPr>
        <p:spPr>
          <a:xfrm>
            <a:off x="457200" y="32004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Provider-agnostic: OTel listens to SK, not to the OpenAI connector.</a:t>
            </a:r>
            <a:endParaRPr lang="en-US" sz="1400" dirty="0"/>
          </a:p>
        </p:txBody>
      </p:sp>
      <p:sp>
        <p:nvSpPr>
          <p:cNvPr id="25"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24 — Telemetry &amp; Observability</a:t>
            </a:r>
            <a:endParaRPr lang="en-US" sz="900" dirty="0"/>
          </a:p>
        </p:txBody>
      </p:sp>
      <p:sp>
        <p:nvSpPr>
          <p:cNvPr id="26"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RESULT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Run it: spans print as each call finishes</a:t>
            </a:r>
            <a:endParaRPr lang="en-US" sz="2800" dirty="0"/>
          </a:p>
        </p:txBody>
      </p:sp>
      <p:sp>
        <p:nvSpPr>
          <p:cNvPr id="4" name="Shape 2"/>
          <p:cNvSpPr/>
          <p:nvPr/>
        </p:nvSpPr>
        <p:spPr>
          <a:xfrm>
            <a:off x="457200" y="1325880"/>
            <a:ext cx="5257800" cy="2148840"/>
          </a:xfrm>
          <a:prstGeom prst="roundRect">
            <a:avLst>
              <a:gd name="adj" fmla="val 3404"/>
            </a:avLst>
          </a:prstGeom>
          <a:solidFill>
            <a:srgbClr val="0F1420"/>
          </a:solidFill>
          <a:ln w="12700">
            <a:solidFill>
              <a:srgbClr val="0F1420"/>
            </a:solidFill>
            <a:prstDash val="solid"/>
          </a:ln>
        </p:spPr>
      </p:sp>
      <p:sp>
        <p:nvSpPr>
          <p:cNvPr id="5" name="Text 3"/>
          <p:cNvSpPr txBox="1"/>
          <p:nvPr/>
        </p:nvSpPr>
        <p:spPr>
          <a:xfrm>
            <a:off x="640080" y="1463040"/>
            <a:ext cx="4892040" cy="1874520"/>
          </a:xfrm>
          <a:prstGeom prst="rect">
            <a:avLst/>
          </a:prstGeom>
          <a:noFill/>
          <a:ln/>
        </p:spPr>
        <p:txBody>
          <a:bodyPr wrap="square" lIns="0" tIns="0" rIns="0" bIns="0" rtlCol="0" anchor="t"/>
          <a:lstStyle/>
          <a:p>
            <a:pPr indent="0" marL="0">
              <a:buNone/>
            </a:pPr>
            <a:r>
              <a:rPr lang="en-US" sz="1050" dirty="0">
                <a:solidFill>
                  <a:srgbClr val="D7E3F4"/>
                </a:solidFill>
                <a:latin typeface="Courier New" pitchFamily="34" charset="0"/>
                <a:ea typeface="Courier New" pitchFamily="34" charset="-122"/>
                <a:cs typeface="Courier New" pitchFamily="34" charset="-120"/>
              </a:rPr>
              <a:t>Starting observability session...</a:t>
            </a:r>
            <a:endParaRPr lang="en-US" sz="1050" dirty="0"/>
          </a:p>
          <a:p>
            <a:pPr indent="0" marL="0">
              <a:buNone/>
            </a:pPr>
            <a:r>
              <a:rPr lang="en-US" sz="1050" b="1" dirty="0">
                <a:solidFill>
                  <a:srgbClr val="F5A623"/>
                </a:solidFill>
                <a:latin typeface="Courier New" pitchFamily="34" charset="0"/>
                <a:ea typeface="Courier New" pitchFamily="34" charset="-122"/>
                <a:cs typeface="Courier New" pitchFamily="34" charset="-120"/>
              </a:rPr>
              <a:t>User: What is the weather like in Seattle right now?</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 EXECUTING &amp; TRACING ---</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Activity.TraceId:       4bf92f3577b34da6a3ce929d0e0e4736</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Activity.DisplayName:   GetWeather</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Activity.Duration:      00:00:00.8042317</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Activity.TraceId:       4bf92f3577b34da6a3ce929d0e0e4736</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Activity.DisplayName:   &lt;prompt function&gt;</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Activity.Duration:      00:00:02.6315480</a:t>
            </a:r>
            <a:endParaRPr lang="en-US" sz="1050" dirty="0"/>
          </a:p>
          <a:p>
            <a:pPr indent="0" marL="0">
              <a:buNone/>
            </a:pPr>
            <a:r>
              <a:rPr lang="en-US" sz="1050" dirty="0">
                <a:solidFill>
                  <a:srgbClr val="9FE6B8"/>
                </a:solidFill>
                <a:latin typeface="Courier New" pitchFamily="34" charset="0"/>
                <a:ea typeface="Courier New" pitchFamily="34" charset="-122"/>
                <a:cs typeface="Courier New" pitchFamily="34" charset="-120"/>
              </a:rPr>
              <a:t>Final AI Output: It's 72°F and sunny in Seattle right now.</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Session complete.  Review Open Telemetry traces above.</a:t>
            </a:r>
            <a:endParaRPr lang="en-US" sz="105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Illustrative</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Span names, IDs, times and the reply vary.</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Trimmed</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Real spans print many more fields.</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Find the 800 ms</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That span is the slow plugin.</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24 — Telemetry &amp; Observability</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Add a span of your own</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Create your own ActivitySource, wrap the InvokePromptAsync call in a custom span, and tag it with the prompt text.</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Lesson24-Telemetry/</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Telemetry/Program.cs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AddSource also subscribes to your source's name</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Your span prints with the prompt as a tag</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Semantic Kernel's spans share your span's TraceId</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failed call sets your span's status to Error</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24 — Telemetry &amp; Observability</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93776"/>
          </a:xfrm>
          <a:prstGeom prst="roundRect">
            <a:avLst>
              <a:gd name="adj" fmla="val 14815"/>
            </a:avLst>
          </a:prstGeom>
          <a:solidFill>
            <a:srgbClr val="1F2943"/>
          </a:solidFill>
          <a:ln w="12700">
            <a:solidFill>
              <a:srgbClr val="1F2943"/>
            </a:solidFill>
            <a:prstDash val="solid"/>
          </a:ln>
        </p:spPr>
      </p:sp>
      <p:sp>
        <p:nvSpPr>
          <p:cNvPr id="5" name="Text 3"/>
          <p:cNvSpPr txBox="1"/>
          <p:nvPr/>
        </p:nvSpPr>
        <p:spPr>
          <a:xfrm>
            <a:off x="621792" y="1234440"/>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Timing from built-in traces</a:t>
            </a:r>
            <a:endParaRPr lang="en-US" sz="1300" dirty="0"/>
          </a:p>
        </p:txBody>
      </p:sp>
      <p:sp>
        <p:nvSpPr>
          <p:cNvPr id="6" name="Shape 4"/>
          <p:cNvSpPr/>
          <p:nvPr/>
        </p:nvSpPr>
        <p:spPr>
          <a:xfrm>
            <a:off x="3493008" y="138988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26  </a:t>
            </a:r>
            <a:pPr indent="0" marL="0">
              <a:buNone/>
            </a:pPr>
            <a:r>
              <a:rPr lang="en-US" sz="1250" dirty="0">
                <a:solidFill>
                  <a:srgbClr val="FFFFFF"/>
                </a:solidFill>
                <a:latin typeface="Calibri" pitchFamily="34" charset="0"/>
                <a:ea typeface="Calibri" pitchFamily="34" charset="-122"/>
                <a:cs typeface="Calibri" pitchFamily="34" charset="-120"/>
              </a:rPr>
              <a:t>Measure answer quality with an LLM judge</a:t>
            </a:r>
            <a:endParaRPr lang="en-US" sz="1250" dirty="0"/>
          </a:p>
        </p:txBody>
      </p:sp>
      <p:sp>
        <p:nvSpPr>
          <p:cNvPr id="8" name="Shape 6"/>
          <p:cNvSpPr/>
          <p:nvPr/>
        </p:nvSpPr>
        <p:spPr>
          <a:xfrm>
            <a:off x="457200" y="1837944"/>
            <a:ext cx="2926080" cy="493776"/>
          </a:xfrm>
          <a:prstGeom prst="roundRect">
            <a:avLst>
              <a:gd name="adj" fmla="val 14815"/>
            </a:avLst>
          </a:prstGeom>
          <a:solidFill>
            <a:srgbClr val="1F2943"/>
          </a:solidFill>
          <a:ln w="12700">
            <a:solidFill>
              <a:srgbClr val="1F2943"/>
            </a:solidFill>
            <a:prstDash val="solid"/>
          </a:ln>
        </p:spPr>
      </p:sp>
      <p:sp>
        <p:nvSpPr>
          <p:cNvPr id="9" name="Text 7"/>
          <p:cNvSpPr txBox="1"/>
          <p:nvPr/>
        </p:nvSpPr>
        <p:spPr>
          <a:xfrm>
            <a:off x="621792" y="1837944"/>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One trace across nested calls</a:t>
            </a:r>
            <a:endParaRPr lang="en-US" sz="1300" dirty="0"/>
          </a:p>
        </p:txBody>
      </p:sp>
      <p:sp>
        <p:nvSpPr>
          <p:cNvPr id="10" name="Shape 8"/>
          <p:cNvSpPr/>
          <p:nvPr/>
        </p:nvSpPr>
        <p:spPr>
          <a:xfrm>
            <a:off x="3493008" y="199339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837944"/>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29  </a:t>
            </a:r>
            <a:pPr indent="0" marL="0">
              <a:buNone/>
            </a:pPr>
            <a:r>
              <a:rPr lang="en-US" sz="1250" dirty="0">
                <a:solidFill>
                  <a:srgbClr val="FFFFFF"/>
                </a:solidFill>
                <a:latin typeface="Calibri" pitchFamily="34" charset="0"/>
                <a:ea typeface="Calibri" pitchFamily="34" charset="-122"/>
                <a:cs typeface="Calibri" pitchFamily="34" charset="-120"/>
              </a:rPr>
              <a:t>One run spans four agents and a rework loop</a:t>
            </a:r>
            <a:endParaRPr lang="en-US" sz="1250" dirty="0"/>
          </a:p>
        </p:txBody>
      </p:sp>
      <p:sp>
        <p:nvSpPr>
          <p:cNvPr id="12" name="Shape 10"/>
          <p:cNvSpPr/>
          <p:nvPr/>
        </p:nvSpPr>
        <p:spPr>
          <a:xfrm>
            <a:off x="457200" y="2441448"/>
            <a:ext cx="2926080" cy="493776"/>
          </a:xfrm>
          <a:prstGeom prst="roundRect">
            <a:avLst>
              <a:gd name="adj" fmla="val 14815"/>
            </a:avLst>
          </a:prstGeom>
          <a:solidFill>
            <a:srgbClr val="1F2943"/>
          </a:solidFill>
          <a:ln w="12700">
            <a:solidFill>
              <a:srgbClr val="1F2943"/>
            </a:solidFill>
            <a:prstDash val="solid"/>
          </a:ln>
        </p:spPr>
      </p:sp>
      <p:sp>
        <p:nvSpPr>
          <p:cNvPr id="13" name="Text 11"/>
          <p:cNvSpPr txBox="1"/>
          <p:nvPr/>
        </p:nvSpPr>
        <p:spPr>
          <a:xfrm>
            <a:off x="621792" y="2441448"/>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Instrument without editing code</a:t>
            </a:r>
            <a:endParaRPr lang="en-US" sz="1300" dirty="0"/>
          </a:p>
        </p:txBody>
      </p:sp>
      <p:sp>
        <p:nvSpPr>
          <p:cNvPr id="14" name="Shape 12"/>
          <p:cNvSpPr/>
          <p:nvPr/>
        </p:nvSpPr>
        <p:spPr>
          <a:xfrm>
            <a:off x="3493008" y="25968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441448"/>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30  </a:t>
            </a:r>
            <a:pPr indent="0" marL="0">
              <a:buNone/>
            </a:pPr>
            <a:r>
              <a:rPr lang="en-US" sz="1250" dirty="0">
                <a:solidFill>
                  <a:srgbClr val="FFFFFF"/>
                </a:solidFill>
                <a:latin typeface="Calibri" pitchFamily="34" charset="0"/>
                <a:ea typeface="Calibri" pitchFamily="34" charset="-122"/>
                <a:cs typeface="Calibri" pitchFamily="34" charset="-120"/>
              </a:rPr>
              <a:t>The same agents hosted as a Web API</a:t>
            </a:r>
            <a:endParaRPr lang="en-US" sz="1250" dirty="0"/>
          </a:p>
        </p:txBody>
      </p:sp>
      <p:sp>
        <p:nvSpPr>
          <p:cNvPr id="16" name="Shape 14"/>
          <p:cNvSpPr/>
          <p:nvPr/>
        </p:nvSpPr>
        <p:spPr>
          <a:xfrm>
            <a:off x="457200" y="3044952"/>
            <a:ext cx="2926080" cy="493776"/>
          </a:xfrm>
          <a:prstGeom prst="roundRect">
            <a:avLst>
              <a:gd name="adj" fmla="val 14815"/>
            </a:avLst>
          </a:prstGeom>
          <a:solidFill>
            <a:srgbClr val="1F2943"/>
          </a:solidFill>
          <a:ln w="12700">
            <a:solidFill>
              <a:srgbClr val="1F2943"/>
            </a:solidFill>
            <a:prstDash val="solid"/>
          </a:ln>
        </p:spPr>
      </p:sp>
      <p:sp>
        <p:nvSpPr>
          <p:cNvPr id="17" name="Text 15"/>
          <p:cNvSpPr txBox="1"/>
          <p:nvPr/>
        </p:nvSpPr>
        <p:spPr>
          <a:xfrm>
            <a:off x="621792" y="3044952"/>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Observe what the model does</a:t>
            </a:r>
            <a:endParaRPr lang="en-US" sz="1300" dirty="0"/>
          </a:p>
        </p:txBody>
      </p:sp>
      <p:sp>
        <p:nvSpPr>
          <p:cNvPr id="18" name="Shape 16"/>
          <p:cNvSpPr/>
          <p:nvPr/>
        </p:nvSpPr>
        <p:spPr>
          <a:xfrm>
            <a:off x="3493008" y="320040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3044952"/>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37  </a:t>
            </a:r>
            <a:pPr indent="0" marL="0">
              <a:buNone/>
            </a:pPr>
            <a:r>
              <a:rPr lang="en-US" sz="1250" dirty="0">
                <a:solidFill>
                  <a:srgbClr val="FFFFFF"/>
                </a:solidFill>
                <a:latin typeface="Calibri" pitchFamily="34" charset="0"/>
                <a:ea typeface="Calibri" pitchFamily="34" charset="-122"/>
                <a:cs typeface="Calibri" pitchFamily="34" charset="-120"/>
              </a:rPr>
              <a:t>Guardrails act on what you can now see</a:t>
            </a:r>
            <a:endParaRPr lang="en-US" sz="1250" dirty="0"/>
          </a:p>
        </p:txBody>
      </p:sp>
      <p:sp>
        <p:nvSpPr>
          <p:cNvPr id="20" name="Text 18"/>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Part 1: Foundations &amp; Core Orchestration</a:t>
            </a:r>
            <a:endParaRPr lang="en-US" sz="1300" dirty="0"/>
          </a:p>
        </p:txBody>
      </p:sp>
      <p:sp>
        <p:nvSpPr>
          <p:cNvPr id="21"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24 — Telemetry &amp; Observability</a:t>
            </a:r>
            <a:endParaRPr lang="en-US" sz="900" dirty="0"/>
          </a:p>
        </p:txBody>
      </p:sp>
      <p:sp>
        <p:nvSpPr>
          <p:cNvPr id="22"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24 — Telemetry &amp; Observability</dc:title>
  <dc:subject>PptxGenJS Presentation</dc:subject>
  <dc:creator>Media Six LLC</dc:creator>
  <cp:lastModifiedBy>Media Six LLC</cp:lastModifiedBy>
  <cp:revision>1</cp:revision>
  <dcterms:created xsi:type="dcterms:W3CDTF">2026-10-21T23:14:44Z</dcterms:created>
  <dcterms:modified xsi:type="dcterms:W3CDTF">2026-10-21T23:14:44Z</dcterms:modified>
</cp:coreProperties>
</file>