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build a terminal question-answering tool for a small technical manual describing a fictional device, the Quantum-X. Instead of retrieving relevant snippets from a document store, we paste the entire manual into the prompt on every question. This brute-force technique is usually called context stuffing. You type free-form questions in a console loop, and the model is told to answer only from the supplied text, to cite the section it used, and to say it doesn't know when the manual doesn't cover something. It is the simplest way to get a model to answer from your own data, and it is the deliberate foil to the retrieval-based RAG lessons, so you can feel exactly where it stops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introduced retrieval-augmented generation: embed the knowledge with text-embedding-3-small, find the closest matches to the question, and send only those to the model. This lesson takes the opposite approach on purpose. There is no embedding step, no chunking and no vector store. The whole manual is pasted into the prompt on every single question. That is wonderfully simple, and for a short document it works very well. The trade-off is that every token of the document is sent every time, so the approach stops working the moment the document no longer fits comfortably in the prompt. Seeing that ceiling first-hand is what makes the later RAG lessons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earlier single-call lessons. You need the .NET 10 SDK and a console application. The project references Microsoft.SemanticKernel and Microsoft.SemanticKernel.Connectors.OpenAI, both at version 1.78.0. The key comes from the OPENAI_API_KEY environment variable, and the program throws at startup if it isn't set. The chat model is gpt-4.1-mini. Notice what is missing: there is no embedding model and no vector store, because this lesson never retrieves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five numbered steps. Step 1 builds the kernel with the OpenAI chat connector. Step 2 loads the document; here GenerateSampleTechnicalDoc returns a short three-section manual, and a comment points out that a real app would read a file instead. Step 3 defines the prompt template. Then the question loop starts. Inside it, Step 4 builds the execution settings and the KernelArguments, and Step 5 calls kernel.InvokePromptAsync. Because steps 4 and 5 run on every pass of the loop, the entire manual is sent again with every question. The call is wrapped in a try/catch, so a network hiccup or rate limit prints an error and lets you keep asking instead of ending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template from Step 3. The first lines set the persona and the grounding rules: use the manual to answer, and if the answer is not in the manual, say that you do not know. That refusal instruction is a core prompt-engineering pattern for reducing hallucination. Next, the manual itself is fenced between BEGIN MANUAL and END MANUAL markers, so the model can tell the source text apart from the instructions. The two highlighted lines are the template's two slots, documentContent and question. Finally, the template ends with a cue asking the model to cite the section number, which makes every answer easy to check against the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filled a single slot. Here KernelArguments shows that it is a general dictionary of substitutions. One entry, documentContent, carries the entire manual; another, question, carries whatever the user typed. The same object also carries execution settings: we pass an OpenAIPromptExecutionSettings with Temperature set to 0.0 into its constructor. Zero temperature keeps the output as deterministic as possible, which is what you want for factual extraction. Notice that there is no ChatHistory anywhere. Every question is answered independently, so a follow-up such as 'and what about E2?' has no memory of the previous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honest about the trade-offs. On the plus side it is simple: there is nothing to embed, chunk or index, and nothing extra to deploy. But you pay for every token of the document on every question, because the whole manual is resent each turn. The highlighted limit is the decisive one: a real manual quickly outgrows what fits comfortably in a single prompt, and at that point the approach simply stops working. Finally, this loop is stateless. There is no ChatHistory, so each question stands alone. For one short document this is a perfectly good design. As the data grows, retrieval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prints Document Loaded, then invites you to ask about the Quantum-X system. Ask what error code E2 means and the answer should come from Section 3, Troubleshooting: a temperature fluctuation, fixed by calibrating the thermal sensors, with the section cited. Then ask something the manual doesn't cover, such as battery life. A grounded model should say that it doesn't know rather than invent a number. The AI lines on this slide are illustrative; the exact wording changes from run to run. Type exit, or press Enter on an empty line, to quit.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Write the three existing sections, plus a new Section 4 of your own, such as a maintenance schedule, to a manual.txt file. Load it with File.ReadAllTextAsync instead of calling GenerateSampleTechnicalDoc. Ask a question that only Section 4 can answer and check that the model cites it. Handle a missing file with a friendly message, and add a simple guardrail that prints a warning when the manual's length passes a limit you choose. That warning is your first taste of the context-size ceiling that retrieval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stuffed a whole manual into the prompt, filled two template slots and the execution settings with one KernelArguments object, wrote grounding, refusal and citation instructions, and pinned the temperature to zero for factual answers. These ideas come back. Lesson 15 uses the same InvokePromptAsync call but lets the model choose between two plugins. Lesson 19 uses zero temperature again for deterministic routing decisions returned as JSON. Lesson 23 replaces context stuffing with hybrid search that sends only the relevant chunks. Lesson 25 adds memory that persists between turns and even across restarts. And Lesson 26 checks grounded answers automatically with an LLM judge scoring them against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14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Document QA</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Grounded answers from a whole manual pasted into every prompt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Quantum-X manual</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Cited Q&amp;A loop</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Stuff a whole document into the prompt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Fill two template slots with KernelArguments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grounding and refusal instructions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Pin Temperature to 0.0 for factual answers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See where context stuffing stops scaling</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Retrieve the relevant part, or send all of it?</a:t>
            </a:r>
            <a:endParaRPr lang="en-US" sz="27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8: retrieval (RAG)</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Embed text with text-embedding-3-small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Send only the closest matches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Scales to large document sets</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14: context stuffing</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embeddings, chunks or vector store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whole manual goes in every prompt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Works while the document is small</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goal, answers grounded in your data; very different cost as the data grows.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chat model, registered with AddOpenAIChatCompletion. No embedding model is needed.</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5</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From manual to grounded answer, every question</a:t>
            </a:r>
            <a:endParaRPr lang="en-US" sz="27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Build kernel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 the OpenAI chat connector.</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Load manual</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GenerateSample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TechnicalDoc returns three sections.</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Template</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Rules, the manual, then the question.</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Arguments</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slots, plus a 0.0 temperature.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Invoke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InvokePrompt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Async, inside a try/catch.</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Steps 4 and 5 run inside the question loop, so the whole manual is resent each time.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PROMPT TEMPLATE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Anatomy of the grounded QA prompt</a:t>
            </a:r>
            <a:endParaRPr lang="en-US" sz="2800" dirty="0"/>
          </a:p>
        </p:txBody>
      </p:sp>
      <p:sp>
        <p:nvSpPr>
          <p:cNvPr id="4" name="Shape 2"/>
          <p:cNvSpPr/>
          <p:nvPr/>
        </p:nvSpPr>
        <p:spPr>
          <a:xfrm>
            <a:off x="457200" y="1325880"/>
            <a:ext cx="5257800" cy="2331720"/>
          </a:xfrm>
          <a:prstGeom prst="roundRect">
            <a:avLst>
              <a:gd name="adj" fmla="val 3137"/>
            </a:avLst>
          </a:prstGeom>
          <a:solidFill>
            <a:srgbClr val="0F1420"/>
          </a:solidFill>
          <a:ln w="12700">
            <a:solidFill>
              <a:srgbClr val="0F1420"/>
            </a:solidFill>
            <a:prstDash val="solid"/>
          </a:ln>
        </p:spPr>
      </p:sp>
      <p:sp>
        <p:nvSpPr>
          <p:cNvPr id="5" name="Text 3"/>
          <p:cNvSpPr txBox="1"/>
          <p:nvPr/>
        </p:nvSpPr>
        <p:spPr>
          <a:xfrm>
            <a:off x="640080" y="1463040"/>
            <a:ext cx="4892040" cy="20574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System: You are an expert Technical Document Analyst.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Below is a technical manual for the 'Quantum-X' system.</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Use the provided manual to answer user questions.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If the answer is not in the manual, state that you</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do not know.</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BEGIN MANUAL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{{$documentContent}}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END MANUAL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User Question: {{$question}}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Assistant: (Cite the section number in your answer)</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Refusal rule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Say "I do not know" rather than invent an answer.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Manual markers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BEGIN and END lines fence off the source text.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Citation cue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 for the section number, so answers are checkable.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One KernelArguments object carries all three inputs</a:t>
            </a:r>
            <a:endParaRPr lang="en-US" sz="24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KernelArguments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dictionary of named slot values that can also carry execution settings.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Manual slot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"documentContent" receives the whole manual on every question.</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Question slot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"question" receives the line the user just typed.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Temperature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OpenAIPromptExecutionSettings with 0.0, passed to the constructor.</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ChatHistory: each question is answered on its own.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TRADE-OFFS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context stuffing hits its ceiling</a:t>
            </a:r>
            <a:endParaRPr lang="en-US" sz="2800" dirty="0"/>
          </a:p>
        </p:txBody>
      </p:sp>
      <p:sp>
        <p:nvSpPr>
          <p:cNvPr id="4" name="Shape 2"/>
          <p:cNvSpPr/>
          <p:nvPr/>
        </p:nvSpPr>
        <p:spPr>
          <a:xfrm>
            <a:off x="457200" y="1371600"/>
            <a:ext cx="1851660" cy="1645920"/>
          </a:xfrm>
          <a:prstGeom prst="roundRect">
            <a:avLst>
              <a:gd name="adj" fmla="val 444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Simple</a:t>
            </a:r>
            <a:endParaRPr lang="en-US" sz="1300" dirty="0"/>
          </a:p>
        </p:txBody>
      </p:sp>
      <p:sp>
        <p:nvSpPr>
          <p:cNvPr id="8" name="Text 5"/>
          <p:cNvSpPr txBox="1"/>
          <p:nvPr/>
        </p:nvSpPr>
        <p:spPr>
          <a:xfrm>
            <a:off x="640080" y="2057400"/>
            <a:ext cx="148590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embeddings, chunking or vector store to build or run.</a:t>
            </a:r>
            <a:endParaRPr lang="en-US" sz="1200" dirty="0"/>
          </a:p>
        </p:txBody>
      </p:sp>
      <p:sp>
        <p:nvSpPr>
          <p:cNvPr id="9" name="Shape 6"/>
          <p:cNvSpPr/>
          <p:nvPr/>
        </p:nvSpPr>
        <p:spPr>
          <a:xfrm>
            <a:off x="2583180" y="1371600"/>
            <a:ext cx="1851660" cy="1645920"/>
          </a:xfrm>
          <a:prstGeom prst="roundRect">
            <a:avLst>
              <a:gd name="adj" fmla="val 4444"/>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Paid per turn</a:t>
            </a:r>
            <a:endParaRPr lang="en-US" sz="1300" dirty="0"/>
          </a:p>
        </p:txBody>
      </p:sp>
      <p:sp>
        <p:nvSpPr>
          <p:cNvPr id="13" name="Text 9"/>
          <p:cNvSpPr txBox="1"/>
          <p:nvPr/>
        </p:nvSpPr>
        <p:spPr>
          <a:xfrm>
            <a:off x="2766060" y="2057400"/>
            <a:ext cx="148590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token of the manual is resent with every question.</a:t>
            </a:r>
            <a:endParaRPr lang="en-US" sz="1200" dirty="0"/>
          </a:p>
        </p:txBody>
      </p:sp>
      <p:sp>
        <p:nvSpPr>
          <p:cNvPr id="14" name="Shape 10"/>
          <p:cNvSpPr/>
          <p:nvPr/>
        </p:nvSpPr>
        <p:spPr>
          <a:xfrm>
            <a:off x="4709160" y="1371600"/>
            <a:ext cx="1851660" cy="1645920"/>
          </a:xfrm>
          <a:prstGeom prst="roundRect">
            <a:avLst>
              <a:gd name="adj" fmla="val 4444"/>
            </a:avLst>
          </a:prstGeom>
          <a:solidFill>
            <a:srgbClr val="512BD4"/>
          </a:solidFill>
          <a:ln w="12700">
            <a:solidFill>
              <a:srgbClr val="512BD4"/>
            </a:solidFill>
            <a:prstDash val="solid"/>
          </a:ln>
        </p:spPr>
      </p:sp>
      <p:sp>
        <p:nvSpPr>
          <p:cNvPr id="15" name="Shape 11"/>
          <p:cNvSpPr/>
          <p:nvPr/>
        </p:nvSpPr>
        <p:spPr>
          <a:xfrm>
            <a:off x="489204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Size limit</a:t>
            </a:r>
            <a:endParaRPr lang="en-US" sz="1300" dirty="0"/>
          </a:p>
        </p:txBody>
      </p:sp>
      <p:sp>
        <p:nvSpPr>
          <p:cNvPr id="18" name="Text 13"/>
          <p:cNvSpPr txBox="1"/>
          <p:nvPr/>
        </p:nvSpPr>
        <p:spPr>
          <a:xfrm>
            <a:off x="4892040" y="2057400"/>
            <a:ext cx="1485900" cy="8686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real manual soon outgrows what fits in one prompt.</a:t>
            </a:r>
            <a:endParaRPr lang="en-US" sz="1200" dirty="0"/>
          </a:p>
        </p:txBody>
      </p:sp>
      <p:sp>
        <p:nvSpPr>
          <p:cNvPr id="19" name="Shape 14"/>
          <p:cNvSpPr/>
          <p:nvPr/>
        </p:nvSpPr>
        <p:spPr>
          <a:xfrm>
            <a:off x="6835140" y="1371600"/>
            <a:ext cx="1851660" cy="1645920"/>
          </a:xfrm>
          <a:prstGeom prst="roundRect">
            <a:avLst>
              <a:gd name="adj" fmla="val 4444"/>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Stateless</a:t>
            </a:r>
            <a:endParaRPr lang="en-US" sz="1300" dirty="0"/>
          </a:p>
        </p:txBody>
      </p:sp>
      <p:sp>
        <p:nvSpPr>
          <p:cNvPr id="23" name="Text 17"/>
          <p:cNvSpPr txBox="1"/>
          <p:nvPr/>
        </p:nvSpPr>
        <p:spPr>
          <a:xfrm>
            <a:off x="7018020" y="2057400"/>
            <a:ext cx="1485900" cy="8686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ChatHistory, so follow-ups can't see earlier answers.</a:t>
            </a:r>
            <a:endParaRPr lang="en-US" sz="1200" dirty="0"/>
          </a:p>
        </p:txBody>
      </p:sp>
      <p:sp>
        <p:nvSpPr>
          <p:cNvPr id="24" name="Text 18"/>
          <p:cNvSpPr txBox="1"/>
          <p:nvPr/>
        </p:nvSpPr>
        <p:spPr>
          <a:xfrm>
            <a:off x="457200" y="32461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Great for one short document; retrieval takes over as the data grows.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Run it: cited answers and an honest "don't know"</a:t>
            </a:r>
            <a:endParaRPr lang="en-US" sz="2550" dirty="0"/>
          </a:p>
        </p:txBody>
      </p:sp>
      <p:sp>
        <p:nvSpPr>
          <p:cNvPr id="4" name="Shape 2"/>
          <p:cNvSpPr/>
          <p:nvPr/>
        </p:nvSpPr>
        <p:spPr>
          <a:xfrm>
            <a:off x="457200" y="1325880"/>
            <a:ext cx="5257800" cy="2194560"/>
          </a:xfrm>
          <a:prstGeom prst="roundRect">
            <a:avLst>
              <a:gd name="adj" fmla="val 3333"/>
            </a:avLst>
          </a:prstGeom>
          <a:solidFill>
            <a:srgbClr val="0F1420"/>
          </a:solidFill>
          <a:ln w="12700">
            <a:solidFill>
              <a:srgbClr val="0F1420"/>
            </a:solidFill>
            <a:prstDash val="solid"/>
          </a:ln>
        </p:spPr>
      </p:sp>
      <p:sp>
        <p:nvSpPr>
          <p:cNvPr id="5" name="Text 3"/>
          <p:cNvSpPr txBox="1"/>
          <p:nvPr/>
        </p:nvSpPr>
        <p:spPr>
          <a:xfrm>
            <a:off x="640080" y="1463040"/>
            <a:ext cx="4892040" cy="19202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Document Loaded (simulated large context)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Ask a question about the Quantum-X system</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(or type 'exit').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What does error code E2 mean?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Error Code E2 indicates a temperature fluctuation;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calibrate the thermal sensors (Section 3).</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User: How long does the battery last?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AI: I do not know. The manual does not mention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battery life.</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Cites a section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E2 is answered from Section 3: Troubleshooting.</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Refuses honestly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Battery life isn't in the manual, so it says so.</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AI lines are examples. Wording will vary.</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Load a real manual from disk</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Load the manual from a manual.txt file instead of the built-in sample, add a Section 4 of your own, and warn when it grows too large.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Lesson14-DocumentQA/</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DocumentQA/Program.cs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manual is read from manual.txt at startup</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question about Section 4 is answered and cited</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missing file prints a clear message instead of crashing</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manual over your size limit prints a warning</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InvokePromptAsync</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15  </a:t>
            </a:r>
            <a:pPr indent="0" marL="0">
              <a:buNone/>
            </a:pPr>
            <a:r>
              <a:rPr lang="en-US" sz="1250" dirty="0">
                <a:solidFill>
                  <a:srgbClr val="FFFFFF"/>
                </a:solidFill>
                <a:latin typeface="Calibri" pitchFamily="34" charset="0"/>
                <a:ea typeface="Calibri" pitchFamily="34" charset="-122"/>
                <a:cs typeface="Calibri" pitchFamily="34" charset="-120"/>
              </a:rPr>
              <a:t>The same call, now choosing between two plugins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Temperature 0.0 for facts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Deterministic routing decisions as strict JSON</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Context stuffing</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Hybrid search sends only the relevant chunks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stateless Q&amp;A loop</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25  </a:t>
            </a:r>
            <a:pPr indent="0" marL="0">
              <a:buNone/>
            </a:pPr>
            <a:r>
              <a:rPr lang="en-US" sz="1250" dirty="0">
                <a:solidFill>
                  <a:srgbClr val="FFFFFF"/>
                </a:solidFill>
                <a:latin typeface="Calibri" pitchFamily="34" charset="0"/>
                <a:ea typeface="Calibri" pitchFamily="34" charset="-122"/>
                <a:cs typeface="Calibri" pitchFamily="34" charset="-120"/>
              </a:rPr>
              <a:t>Facts about the user persist across restarts</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Grounded answers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26  </a:t>
            </a:r>
            <a:pPr indent="0" marL="0">
              <a:buNone/>
            </a:pPr>
            <a:r>
              <a:rPr lang="en-US" sz="1250" dirty="0">
                <a:solidFill>
                  <a:srgbClr val="FFFFFF"/>
                </a:solidFill>
                <a:latin typeface="Calibri" pitchFamily="34" charset="0"/>
                <a:ea typeface="Calibri" pitchFamily="34" charset="-122"/>
                <a:cs typeface="Calibri" pitchFamily="34" charset="-120"/>
              </a:rPr>
              <a:t>A judge scores answers against ground truth</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14 — Document QA</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14 — Document QA</dc:title>
  <dc:subject>PptxGenJS Presentation</dc:subject>
  <dc:creator>Media Six LLC</dc:creator>
  <cp:lastModifiedBy>Media Six LLC</cp:lastModifiedBy>
  <cp:revision>1</cp:revision>
  <dcterms:created xsi:type="dcterms:W3CDTF">2026-10-21T23:07:27Z</dcterms:created>
  <dcterms:modified xsi:type="dcterms:W3CDTF">2026-10-21T23:07:27Z</dcterms:modified>
</cp:coreProperties>
</file>