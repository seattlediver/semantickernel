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samples the same question several times and aggregates the independent answers by vote, where the most common answer wins, instead of synthesizing them into a new one. It is built on Lesson 32's mechanics: the same concurrent fan-out, then a fan-in step. But it targets a different class of problem, one with a single correct answer, where the goal is to let the crowd cancel out one sample's mistake rather than blend everyone's phrasing together. The technique is called self-consistency.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Seeing these two lessons back to back is the point: same fan-out, two legitimately different fan-in strategies. Lesson 32's task, explain a closure with an analogy, has no single correct output, so blending the best parts of several drafts produces something better. This lesson's task, how much does the ball cost, has exactly one correct answer. Blending makes no sense there: averaging five cents and ten cents is not a more correct answer, it's a nonsensical one. So the rule of thumb is simple. When outputs are discrete and checkable, vote. When they are open-ended prose, synthesize. And because the vote is just counting, the fan-in here is plain C#, not a model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Setup is unchanged from the last two lessons. The .NET 10 SDK, a console application, and two packages: Microsoft.SemanticKernel and Microsoft.SemanticKernel.Connectors.OpenAI, both at 1.78.0. The key is read from OPENAI_API_KEY, and the program throws at startup if it is missing. The model is gpt-4.1-mini. Every one of the five samples uses the same model, the same prompt and the same temperature; the only thing that varies between them is the model's own sampling.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pipeline. The question is the classic bat-and-ball puzzle: a bat and a ball cost a dollar ten in total, and the bat costs a dollar more than the ball; how much is the ball? Program.cs launches five SampleAsync calls with Task.WhenAll, exactly like Lesson 32's fan-out, each at temperature 0.8 and each returning a typed ReasoningSample. Samples that threw, or that came back as unparseable JSON, are filtered out. ConsensusVoter then normalizes each final answer, trimming whitespace and a leading dollar sign, and tallies the votes. The answer with the most votes wins, even if that's less than half of them: this is a plurality vote, not a majority vote, so a 2-1-1-1 split still has a winner. Only a shared top count is a tie, and it is reported as one. A single reasoning path that stumbles is now just one vote among several that didn't.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ConsensusVoter is a static class with two methods and no model call. Normalize trims the answer and strips a leading dollar sign, because formatting noise fragments votes: two samples that both mean five cents might write 0.05 and dollar 0.05, and without normalizing that's two answers with one vote each instead of one answer with two. Tally groups the samples by normalized answer, case-insensitively, counts each group into a dictionary, finds the maximum count, and returns a ConsensusResult with the winning answer, an IsTie flag for when more than one answer shares the top count, and the full vote counts. Why not ask a model to pick the winner? Because that would reintroduce exactly the single-point-of-failure risk the vote exists to cancel out, and it would cost an extra call for something a dictionary already does exactly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ReasoningSample has two fields, and finalAnswer is declared first and requested first in the prompt, ahead of reasoning. That isn't stylistic. An earlier version of this lesson, tested against the series' original model provider, asked for reasoning first. The model produced long, looping self-verification text that ran so long it never got to writing finalAnswer at all. Every sample came back with an empty answer, and the vote tallied unanimous agreement on nothing. Asking for the answer first and capping reasoning at three concise sentences fixed both problems: responses come back fast, and the answer is committed before the model has any chance to ramble. That specific runaway hasn't been re-observed on OpenAI, but the ordering and the cap cost nothing, so they stay.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Voting doesn't need all five samples to agree; it needs enough of them to. Program.cs wraps each sample call in its own try and catch, so one dropped connection prints a warning and returns null, costing one vote rather than the whole run. The surviving samples keep their original numbers, so if sample 2 drops, the output goes from Sample 1 straight to Sample 3. A malformed JSON response doesn't throw, so it's handled differently: SampleAsync returns a sentinel sample whose final answer is the literal string UNPARSEABLE. Program.cs filters those out before tallying, so a malformed response can't cast, or even win, a vote for a value nobody actually said. When fewer than five samples are votable, the program says the tally is based on, for example, four of five. If two or more answers share the top count, it prints a TIE line saying how many answers share that count, then NO CONSENSUS, then shows one of the tied answers. And if nothing votable is left at all, it says no consensus can be computed and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OPENAI_API_KEY and run the project. This transcript is abridged from the lesson's sample run. The program prints the problem, then each sample with its answer in the header and up to three sentences of reasoning: let the ball be L and the bat be B, B plus L is 1.10, B is L plus 1.00, so 2L plus 1.00 is 1.10 and L is 0.05. In this run all five samples landed on 0.05, the tally shows 0.05 with five votes, and the consensus answer is 0.05. Unanimous agreement is a legitimate outcome; it means the model reliably reasons through this problem at this temperature. The intuitive but wrong answer is ten cents, which would make the bat only ninety cents more than the ball. On other runs one sample may land there, the tally shows four votes for 0.05 and one for 0.10, and the consensus is still 0.05. The minority's mistake is outvoted instead of corrupting the result, as it would if it were the only sample taken.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this on your own. After the tally, compute the winner's vote count divided by the number of votable samples, and print it as a fraction and a percentage. Then add a threshold: if the winning share is below sixty percent, print NO CONSENSUS even when there is no exact tie. Make sure the denominator is the number of samples that actually voted, not the five you asked for, so a dropped sample doesn't skew the share. Finally, raise SampleCount to nine and confirm nothing else needs to change. As a stretch, swap in a harder puzzle and watch the share drop.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recap: we sampled one question five times at high temperature, chose voting over synthesis because the answer is discrete and checkable, tallied the votes in plain C#, normalized answers so formatting doesn't split votes, and kept the ensemble alive when a sample fails or returns bad JSON. Lesson 35's MarketCoordinator makes the same call as ConsensusVoter: budget arithmetic has one right answer, so it lives in code. Lesson 34's moderator uses the same fallback idea when its speaker choice can't be parsed. Lesson 38 hits a different structured-output bug and explains why reordering fields, this lesson's fix, wasn't enough there. And Lesson 36 treats a failed execution step as information too: instead of crashing, it sends the failure back to the Planner to replan.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2D"/>
        </a:solidFill>
      </p:bgPr>
    </p:bg>
    <p:spTree>
      <p:nvGrpSpPr>
        <p:cNvPr id="1" name=""/>
        <p:cNvGrpSpPr/>
        <p:nvPr/>
      </p:nvGrpSpPr>
      <p:grpSpPr>
        <a:xfrm>
          <a:off x="0" y="0"/>
          <a:ext cx="0" cy="0"/>
          <a:chOff x="0" y="0"/>
          <a:chExt cx="0" cy="0"/>
        </a:xfrm>
      </p:grpSpPr>
      <p:sp>
        <p:nvSpPr>
          <p:cNvPr id="2" name="Text 0"/>
          <p:cNvSpPr txBox="1"/>
          <p:nvPr/>
        </p:nvSpPr>
        <p:spPr>
          <a:xfrm>
            <a:off x="457200" y="502920"/>
            <a:ext cx="4206240" cy="457200"/>
          </a:xfrm>
          <a:prstGeom prst="rect">
            <a:avLst/>
          </a:prstGeom>
          <a:noFill/>
          <a:ln/>
        </p:spPr>
        <p:txBody>
          <a:bodyPr wrap="square" lIns="0" tIns="0" rIns="0" bIns="0" rtlCol="0" anchor="t"/>
          <a:lstStyle/>
          <a:p>
            <a:pPr indent="0" marL="0">
              <a:buNone/>
            </a:pPr>
            <a:r>
              <a:rPr lang="en-US" sz="1100" b="1" spc="200" kern="0" dirty="0">
                <a:solidFill>
                  <a:srgbClr val="F5A623"/>
                </a:solidFill>
                <a:latin typeface="Calibri" pitchFamily="34" charset="0"/>
                <a:ea typeface="Calibri" pitchFamily="34" charset="-122"/>
                <a:cs typeface="Calibri" pitchFamily="34" charset="-120"/>
              </a:rPr>
              <a:t>LESSON 33  ·  PART 2</a:t>
            </a:r>
            <a:endParaRPr lang="en-US" sz="1100" dirty="0"/>
          </a:p>
        </p:txBody>
      </p:sp>
      <p:sp>
        <p:nvSpPr>
          <p:cNvPr id="3" name="Text 1"/>
          <p:cNvSpPr txBox="1"/>
          <p:nvPr/>
        </p:nvSpPr>
        <p:spPr>
          <a:xfrm>
            <a:off x="457200" y="1005840"/>
            <a:ext cx="4206240" cy="1371600"/>
          </a:xfrm>
          <a:prstGeom prst="rect">
            <a:avLst/>
          </a:prstGeom>
          <a:noFill/>
          <a:ln/>
        </p:spPr>
        <p:txBody>
          <a:bodyPr wrap="square" lIns="0" tIns="0" rIns="0" bIns="0" rtlCol="0" anchor="b"/>
          <a:lstStyle/>
          <a:p>
            <a:pPr indent="0" marL="0">
              <a:buNone/>
            </a:pPr>
            <a:r>
              <a:rPr lang="en-US" sz="3200" b="1" dirty="0">
                <a:solidFill>
                  <a:srgbClr val="FFFFFF"/>
                </a:solidFill>
                <a:latin typeface="Cambria" pitchFamily="34" charset="0"/>
                <a:ea typeface="Cambria" pitchFamily="34" charset="-122"/>
                <a:cs typeface="Cambria" pitchFamily="34" charset="-120"/>
              </a:rPr>
              <a:t>Voting &amp; Self-Consistency Ensembles</a:t>
            </a:r>
            <a:endParaRPr lang="en-US" sz="3200" dirty="0"/>
          </a:p>
        </p:txBody>
      </p:sp>
      <p:sp>
        <p:nvSpPr>
          <p:cNvPr id="4" name="Text 2"/>
          <p:cNvSpPr txBox="1"/>
          <p:nvPr/>
        </p:nvSpPr>
        <p:spPr>
          <a:xfrm>
            <a:off x="457200" y="2468880"/>
            <a:ext cx="4206240" cy="640080"/>
          </a:xfrm>
          <a:prstGeom prst="rect">
            <a:avLst/>
          </a:prstGeom>
          <a:noFill/>
          <a:ln/>
        </p:spPr>
        <p:txBody>
          <a:bodyPr wrap="square" lIns="0" tIns="0" rIns="0" bIns="0" rtlCol="0" anchor="t"/>
          <a:lstStyle/>
          <a:p>
            <a:pPr indent="0" marL="0">
              <a:buNone/>
            </a:pPr>
            <a:r>
              <a:rPr lang="en-US" sz="1600" dirty="0">
                <a:solidFill>
                  <a:srgbClr val="B8B2E6"/>
                </a:solidFill>
                <a:latin typeface="Calibri" pitchFamily="34" charset="0"/>
                <a:ea typeface="Calibri" pitchFamily="34" charset="-122"/>
                <a:cs typeface="Calibri" pitchFamily="34" charset="-120"/>
              </a:rPr>
              <a:t>Ask the same question five times and let the most common answer win</a:t>
            </a:r>
            <a:endParaRPr lang="en-US" sz="1600" dirty="0"/>
          </a:p>
        </p:txBody>
      </p:sp>
      <p:sp>
        <p:nvSpPr>
          <p:cNvPr id="5" name="Text 3"/>
          <p:cNvSpPr txBox="1"/>
          <p:nvPr/>
        </p:nvSpPr>
        <p:spPr>
          <a:xfrm>
            <a:off x="457200" y="3346704"/>
            <a:ext cx="1097280" cy="274320"/>
          </a:xfrm>
          <a:prstGeom prst="rect">
            <a:avLst/>
          </a:prstGeom>
          <a:noFill/>
          <a:ln/>
        </p:spPr>
        <p:txBody>
          <a:bodyPr wrap="square" lIns="0" tIns="0" rIns="0" bIns="0" rtlCol="0" anchor="t"/>
          <a:lstStyle/>
          <a:p>
            <a:pPr indent="0" marL="0">
              <a:buNone/>
            </a:pPr>
            <a:r>
              <a:rPr lang="en-US" sz="900" b="1" spc="100" kern="0" dirty="0">
                <a:solidFill>
                  <a:srgbClr val="B8B2E6"/>
                </a:solidFill>
                <a:latin typeface="Calibri" pitchFamily="34" charset="0"/>
                <a:ea typeface="Calibri" pitchFamily="34" charset="-122"/>
                <a:cs typeface="Calibri" pitchFamily="34" charset="-120"/>
              </a:rPr>
              <a:t>STARTS FROM</a:t>
            </a:r>
            <a:endParaRPr lang="en-US" sz="900" dirty="0"/>
          </a:p>
        </p:txBody>
      </p:sp>
      <p:sp>
        <p:nvSpPr>
          <p:cNvPr id="6" name="Text 4"/>
          <p:cNvSpPr txBox="1"/>
          <p:nvPr/>
        </p:nvSpPr>
        <p:spPr>
          <a:xfrm>
            <a:off x="1554480" y="3291840"/>
            <a:ext cx="3291840" cy="36576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the bat-and-ball puzzle</a:t>
            </a:r>
            <a:endParaRPr lang="en-US" sz="1100" dirty="0"/>
          </a:p>
        </p:txBody>
      </p:sp>
      <p:sp>
        <p:nvSpPr>
          <p:cNvPr id="7" name="Text 5"/>
          <p:cNvSpPr txBox="1"/>
          <p:nvPr/>
        </p:nvSpPr>
        <p:spPr>
          <a:xfrm>
            <a:off x="457200" y="3803904"/>
            <a:ext cx="1097280" cy="274320"/>
          </a:xfrm>
          <a:prstGeom prst="rect">
            <a:avLst/>
          </a:prstGeom>
          <a:noFill/>
          <a:ln/>
        </p:spPr>
        <p:txBody>
          <a:bodyPr wrap="square" lIns="0" tIns="0" rIns="0" bIns="0" rtlCol="0" anchor="t"/>
          <a:lstStyle/>
          <a:p>
            <a:pPr indent="0" marL="0">
              <a:buNone/>
            </a:pPr>
            <a:r>
              <a:rPr lang="en-US" sz="900" b="1" spc="100" kern="0" dirty="0">
                <a:solidFill>
                  <a:srgbClr val="B8B2E6"/>
                </a:solidFill>
                <a:latin typeface="Calibri" pitchFamily="34" charset="0"/>
                <a:ea typeface="Calibri" pitchFamily="34" charset="-122"/>
                <a:cs typeface="Calibri" pitchFamily="34" charset="-120"/>
              </a:rPr>
              <a:t>FINISHES AS</a:t>
            </a:r>
            <a:endParaRPr lang="en-US" sz="900" dirty="0"/>
          </a:p>
        </p:txBody>
      </p:sp>
      <p:sp>
        <p:nvSpPr>
          <p:cNvPr id="8" name="Text 6"/>
          <p:cNvSpPr txBox="1"/>
          <p:nvPr/>
        </p:nvSpPr>
        <p:spPr>
          <a:xfrm>
            <a:off x="1554480" y="3749040"/>
            <a:ext cx="3291840" cy="36576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a most-votes answer</a:t>
            </a:r>
            <a:endParaRPr lang="en-US" sz="1100" dirty="0"/>
          </a:p>
        </p:txBody>
      </p:sp>
      <p:sp>
        <p:nvSpPr>
          <p:cNvPr id="9" name="Shape 7"/>
          <p:cNvSpPr/>
          <p:nvPr/>
        </p:nvSpPr>
        <p:spPr>
          <a:xfrm>
            <a:off x="4983480" y="502920"/>
            <a:ext cx="3703320" cy="4069080"/>
          </a:xfrm>
          <a:prstGeom prst="roundRect">
            <a:avLst>
              <a:gd name="adj" fmla="val 1975"/>
            </a:avLst>
          </a:prstGeom>
          <a:solidFill>
            <a:srgbClr val="1F2943"/>
          </a:solidFill>
          <a:ln w="12700">
            <a:solidFill>
              <a:srgbClr val="1F2943"/>
            </a:solidFill>
            <a:prstDash val="solid"/>
          </a:ln>
        </p:spPr>
      </p:sp>
      <p:sp>
        <p:nvSpPr>
          <p:cNvPr id="10" name="Text 8"/>
          <p:cNvSpPr txBox="1"/>
          <p:nvPr/>
        </p:nvSpPr>
        <p:spPr>
          <a:xfrm>
            <a:off x="5257800" y="731520"/>
            <a:ext cx="3200400" cy="36576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In this lesson you'll learn</a:t>
            </a:r>
            <a:endParaRPr lang="en-US" sz="1600" dirty="0"/>
          </a:p>
        </p:txBody>
      </p:sp>
      <p:sp>
        <p:nvSpPr>
          <p:cNvPr id="11" name="Shape 9"/>
          <p:cNvSpPr/>
          <p:nvPr/>
        </p:nvSpPr>
        <p:spPr>
          <a:xfrm>
            <a:off x="5257800" y="1252728"/>
            <a:ext cx="310896" cy="310896"/>
          </a:xfrm>
          <a:prstGeom prst="ellipse">
            <a:avLst/>
          </a:prstGeom>
          <a:solidFill>
            <a:srgbClr val="512BD4"/>
          </a:solidFill>
          <a:ln w="12700">
            <a:solidFill>
              <a:srgbClr val="512BD4"/>
            </a:solidFill>
            <a:prstDash val="solid"/>
          </a:ln>
        </p:spPr>
      </p:sp>
      <p:pic>
        <p:nvPicPr>
          <p:cNvPr id="12" name="Image 0" descr="preencoded.png">    </p:cNvPr>
          <p:cNvPicPr>
            <a:picLocks noChangeAspect="1"/>
          </p:cNvPicPr>
          <p:nvPr/>
        </p:nvPicPr>
        <p:blipFill>
          <a:blip r:embed="rId1"/>
          <a:stretch>
            <a:fillRect/>
          </a:stretch>
        </p:blipFill>
        <p:spPr>
          <a:xfrm>
            <a:off x="5338633" y="1333561"/>
            <a:ext cx="149230" cy="149230"/>
          </a:xfrm>
          <a:prstGeom prst="rect">
            <a:avLst/>
          </a:prstGeom>
        </p:spPr>
      </p:pic>
      <p:sp>
        <p:nvSpPr>
          <p:cNvPr id="13" name="Text 10"/>
          <p:cNvSpPr txBox="1"/>
          <p:nvPr/>
        </p:nvSpPr>
        <p:spPr>
          <a:xfrm>
            <a:off x="5715000" y="123444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Sample one question N times at high temperature</a:t>
            </a:r>
            <a:endParaRPr lang="en-US" sz="1300" dirty="0"/>
          </a:p>
        </p:txBody>
      </p:sp>
      <p:sp>
        <p:nvSpPr>
          <p:cNvPr id="14" name="Shape 11"/>
          <p:cNvSpPr/>
          <p:nvPr/>
        </p:nvSpPr>
        <p:spPr>
          <a:xfrm>
            <a:off x="5257800" y="1892808"/>
            <a:ext cx="310896" cy="310896"/>
          </a:xfrm>
          <a:prstGeom prst="ellipse">
            <a:avLst/>
          </a:prstGeom>
          <a:solidFill>
            <a:srgbClr val="512BD4"/>
          </a:solidFill>
          <a:ln w="12700">
            <a:solidFill>
              <a:srgbClr val="512BD4"/>
            </a:solidFill>
            <a:prstDash val="solid"/>
          </a:ln>
        </p:spPr>
      </p:sp>
      <p:pic>
        <p:nvPicPr>
          <p:cNvPr id="15" name="Image 1" descr="preencoded.png">    </p:cNvPr>
          <p:cNvPicPr>
            <a:picLocks noChangeAspect="1"/>
          </p:cNvPicPr>
          <p:nvPr/>
        </p:nvPicPr>
        <p:blipFill>
          <a:blip r:embed="rId2"/>
          <a:stretch>
            <a:fillRect/>
          </a:stretch>
        </p:blipFill>
        <p:spPr>
          <a:xfrm>
            <a:off x="5338633" y="1973641"/>
            <a:ext cx="149230" cy="149230"/>
          </a:xfrm>
          <a:prstGeom prst="rect">
            <a:avLst/>
          </a:prstGeom>
        </p:spPr>
      </p:pic>
      <p:sp>
        <p:nvSpPr>
          <p:cNvPr id="16" name="Text 12"/>
          <p:cNvSpPr txBox="1"/>
          <p:nvPr/>
        </p:nvSpPr>
        <p:spPr>
          <a:xfrm>
            <a:off x="5715000" y="187452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Choose voting or synthesis by the kind of answer</a:t>
            </a:r>
            <a:endParaRPr lang="en-US" sz="1300" dirty="0"/>
          </a:p>
        </p:txBody>
      </p:sp>
      <p:sp>
        <p:nvSpPr>
          <p:cNvPr id="17" name="Shape 13"/>
          <p:cNvSpPr/>
          <p:nvPr/>
        </p:nvSpPr>
        <p:spPr>
          <a:xfrm>
            <a:off x="5257800" y="2532888"/>
            <a:ext cx="310896" cy="310896"/>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5338633" y="2613721"/>
            <a:ext cx="149230" cy="149230"/>
          </a:xfrm>
          <a:prstGeom prst="rect">
            <a:avLst/>
          </a:prstGeom>
        </p:spPr>
      </p:pic>
      <p:sp>
        <p:nvSpPr>
          <p:cNvPr id="19" name="Text 14"/>
          <p:cNvSpPr txBox="1"/>
          <p:nvPr/>
        </p:nvSpPr>
        <p:spPr>
          <a:xfrm>
            <a:off x="5715000" y="251460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Tally votes in plain C#, not another model call</a:t>
            </a:r>
            <a:endParaRPr lang="en-US" sz="1300" dirty="0"/>
          </a:p>
        </p:txBody>
      </p:sp>
      <p:sp>
        <p:nvSpPr>
          <p:cNvPr id="20" name="Shape 15"/>
          <p:cNvSpPr/>
          <p:nvPr/>
        </p:nvSpPr>
        <p:spPr>
          <a:xfrm>
            <a:off x="5257800" y="3172968"/>
            <a:ext cx="310896" cy="310896"/>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5338633" y="3253801"/>
            <a:ext cx="149230" cy="149230"/>
          </a:xfrm>
          <a:prstGeom prst="rect">
            <a:avLst/>
          </a:prstGeom>
        </p:spPr>
      </p:pic>
      <p:sp>
        <p:nvSpPr>
          <p:cNvPr id="22" name="Text 16"/>
          <p:cNvSpPr txBox="1"/>
          <p:nvPr/>
        </p:nvSpPr>
        <p:spPr>
          <a:xfrm>
            <a:off x="5715000" y="315468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Normalize answers so formatting doesn't split votes</a:t>
            </a:r>
            <a:endParaRPr lang="en-US" sz="1300" dirty="0"/>
          </a:p>
        </p:txBody>
      </p:sp>
      <p:sp>
        <p:nvSpPr>
          <p:cNvPr id="23" name="Shape 17"/>
          <p:cNvSpPr/>
          <p:nvPr/>
        </p:nvSpPr>
        <p:spPr>
          <a:xfrm>
            <a:off x="5257800" y="3813048"/>
            <a:ext cx="310896" cy="310896"/>
          </a:xfrm>
          <a:prstGeom prst="ellipse">
            <a:avLst/>
          </a:prstGeom>
          <a:solidFill>
            <a:srgbClr val="512BD4"/>
          </a:solidFill>
          <a:ln w="12700">
            <a:solidFill>
              <a:srgbClr val="512BD4"/>
            </a:solidFill>
            <a:prstDash val="solid"/>
          </a:ln>
        </p:spPr>
      </p:sp>
      <p:pic>
        <p:nvPicPr>
          <p:cNvPr id="24" name="Image 4" descr="preencoded.png">    </p:cNvPr>
          <p:cNvPicPr>
            <a:picLocks noChangeAspect="1"/>
          </p:cNvPicPr>
          <p:nvPr/>
        </p:nvPicPr>
        <p:blipFill>
          <a:blip r:embed="rId5"/>
          <a:stretch>
            <a:fillRect/>
          </a:stretch>
        </p:blipFill>
        <p:spPr>
          <a:xfrm>
            <a:off x="5338633" y="3893881"/>
            <a:ext cx="149230" cy="149230"/>
          </a:xfrm>
          <a:prstGeom prst="rect">
            <a:avLst/>
          </a:prstGeom>
        </p:spPr>
      </p:pic>
      <p:sp>
        <p:nvSpPr>
          <p:cNvPr id="25" name="Text 18"/>
          <p:cNvSpPr txBox="1"/>
          <p:nvPr/>
        </p:nvSpPr>
        <p:spPr>
          <a:xfrm>
            <a:off x="5715000" y="379476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Survive a failed or unparseable sample</a:t>
            </a:r>
            <a:endParaRPr lang="en-US" sz="1300" dirty="0"/>
          </a:p>
        </p:txBody>
      </p:sp>
      <p:sp>
        <p:nvSpPr>
          <p:cNvPr id="26" name="Text 19"/>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B8B2E6"/>
                </a:solidFill>
                <a:latin typeface="Calibri" pitchFamily="34" charset="0"/>
                <a:ea typeface="Calibri" pitchFamily="34" charset="-122"/>
                <a:cs typeface="Calibri" pitchFamily="34" charset="-120"/>
              </a:rPr>
              <a:t>Applied Agentic Orchestration with Semantic Kernel  ·  Lesson 33 — Voting &amp; Self-Consistency Ensembles</a:t>
            </a:r>
            <a:endParaRPr lang="en-US" sz="900" dirty="0"/>
          </a:p>
        </p:txBody>
      </p:sp>
      <p:sp>
        <p:nvSpPr>
          <p:cNvPr id="27" name="Text 20"/>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B8B2E6"/>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WHAT CHANGES</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750" b="1" dirty="0">
                <a:solidFill>
                  <a:srgbClr val="1F2937"/>
                </a:solidFill>
                <a:latin typeface="Cambria" pitchFamily="34" charset="0"/>
                <a:ea typeface="Cambria" pitchFamily="34" charset="-122"/>
                <a:cs typeface="Cambria" pitchFamily="34" charset="-120"/>
              </a:rPr>
              <a:t>Same fan-out as Lesson 32, a different fan-in</a:t>
            </a:r>
            <a:endParaRPr lang="en-US" sz="2750" dirty="0"/>
          </a:p>
        </p:txBody>
      </p:sp>
      <p:sp>
        <p:nvSpPr>
          <p:cNvPr id="4" name="Shape 2"/>
          <p:cNvSpPr/>
          <p:nvPr/>
        </p:nvSpPr>
        <p:spPr>
          <a:xfrm>
            <a:off x="457200" y="1371600"/>
            <a:ext cx="3931920" cy="1828800"/>
          </a:xfrm>
          <a:prstGeom prst="roundRect">
            <a:avLst>
              <a:gd name="adj" fmla="val 4000"/>
            </a:avLst>
          </a:prstGeom>
          <a:solidFill>
            <a:srgbClr val="F6F4FE"/>
          </a:solidFill>
          <a:ln w="12700">
            <a:solidFill>
              <a:srgbClr val="F6F4FE"/>
            </a:solidFill>
            <a:prstDash val="solid"/>
          </a:ln>
        </p:spPr>
      </p:sp>
      <p:sp>
        <p:nvSpPr>
          <p:cNvPr id="5" name="Shape 3"/>
          <p:cNvSpPr/>
          <p:nvPr/>
        </p:nvSpPr>
        <p:spPr>
          <a:xfrm>
            <a:off x="685800" y="1600200"/>
            <a:ext cx="438912" cy="438912"/>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99917" y="1714317"/>
            <a:ext cx="210678" cy="210678"/>
          </a:xfrm>
          <a:prstGeom prst="rect">
            <a:avLst/>
          </a:prstGeom>
        </p:spPr>
      </p:pic>
      <p:sp>
        <p:nvSpPr>
          <p:cNvPr id="7" name="Text 4"/>
          <p:cNvSpPr txBox="1"/>
          <p:nvPr/>
        </p:nvSpPr>
        <p:spPr>
          <a:xfrm>
            <a:off x="126187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Lesson 32: synthesize</a:t>
            </a:r>
            <a:endParaRPr lang="en-US" sz="1700" dirty="0"/>
          </a:p>
        </p:txBody>
      </p:sp>
      <p:sp>
        <p:nvSpPr>
          <p:cNvPr id="8" name="Text 5"/>
          <p:cNvSpPr txBox="1"/>
          <p:nvPr/>
        </p:nvSpPr>
        <p:spPr>
          <a:xfrm>
            <a:off x="68580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Open-ended prose, no single right answer</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An LLM reducer blends the best parts</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Result is new text no draft contained</a:t>
            </a:r>
            <a:endParaRPr lang="en-US" sz="1300" dirty="0"/>
          </a:p>
        </p:txBody>
      </p:sp>
      <p:sp>
        <p:nvSpPr>
          <p:cNvPr id="9" name="Shape 6"/>
          <p:cNvSpPr/>
          <p:nvPr/>
        </p:nvSpPr>
        <p:spPr>
          <a:xfrm>
            <a:off x="4754880" y="1371600"/>
            <a:ext cx="3931920" cy="1828800"/>
          </a:xfrm>
          <a:prstGeom prst="roundRect">
            <a:avLst>
              <a:gd name="adj" fmla="val 4000"/>
            </a:avLst>
          </a:prstGeom>
          <a:solidFill>
            <a:srgbClr val="EFEBFC"/>
          </a:solidFill>
          <a:ln w="12700">
            <a:solidFill>
              <a:srgbClr val="EFEBFC"/>
            </a:solidFill>
            <a:prstDash val="solid"/>
          </a:ln>
        </p:spPr>
      </p:sp>
      <p:sp>
        <p:nvSpPr>
          <p:cNvPr id="10" name="Shape 7"/>
          <p:cNvSpPr/>
          <p:nvPr/>
        </p:nvSpPr>
        <p:spPr>
          <a:xfrm>
            <a:off x="4983480" y="1600200"/>
            <a:ext cx="438912" cy="438912"/>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5097597" y="1714317"/>
            <a:ext cx="210678" cy="210678"/>
          </a:xfrm>
          <a:prstGeom prst="rect">
            <a:avLst/>
          </a:prstGeom>
        </p:spPr>
      </p:pic>
      <p:sp>
        <p:nvSpPr>
          <p:cNvPr id="12" name="Text 8"/>
          <p:cNvSpPr txBox="1"/>
          <p:nvPr/>
        </p:nvSpPr>
        <p:spPr>
          <a:xfrm>
            <a:off x="555955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Lesson 33: vote</a:t>
            </a:r>
            <a:endParaRPr lang="en-US" sz="1700" dirty="0"/>
          </a:p>
        </p:txBody>
      </p:sp>
      <p:sp>
        <p:nvSpPr>
          <p:cNvPr id="13" name="Text 9"/>
          <p:cNvSpPr txBox="1"/>
          <p:nvPr/>
        </p:nvSpPr>
        <p:spPr>
          <a:xfrm>
            <a:off x="498348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One checkable answer, like 0.05</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Plain C# counts matching answers</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Result is the answer most samples gave</a:t>
            </a:r>
            <a:endParaRPr lang="en-US" sz="1300" dirty="0"/>
          </a:p>
        </p:txBody>
      </p:sp>
      <p:sp>
        <p:nvSpPr>
          <p:cNvPr id="14" name="Text 10"/>
          <p:cNvSpPr txBox="1"/>
          <p:nvPr/>
        </p:nvSpPr>
        <p:spPr>
          <a:xfrm>
            <a:off x="457200" y="347472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Averaging $0.05 and $0.10 isn't more correct. It's nonsense.</a:t>
            </a:r>
            <a:endParaRPr lang="en-US" sz="1400" dirty="0"/>
          </a:p>
        </p:txBody>
      </p:sp>
      <p:sp>
        <p:nvSpPr>
          <p:cNvPr id="15" name="Text 11"/>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33 — Voting &amp; Self-Consistency Ensembles</a:t>
            </a:r>
            <a:endParaRPr lang="en-US" sz="900" dirty="0"/>
          </a:p>
        </p:txBody>
      </p:sp>
      <p:sp>
        <p:nvSpPr>
          <p:cNvPr id="16" name="Text 12"/>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SETUP</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What you need before writing any code</a:t>
            </a:r>
            <a:endParaRPr lang="en-US" sz="2800" dirty="0"/>
          </a:p>
        </p:txBody>
      </p:sp>
      <p:sp>
        <p:nvSpPr>
          <p:cNvPr id="4" name="Shape 2"/>
          <p:cNvSpPr/>
          <p:nvPr/>
        </p:nvSpPr>
        <p:spPr>
          <a:xfrm>
            <a:off x="457200" y="1371600"/>
            <a:ext cx="3977640" cy="1394460"/>
          </a:xfrm>
          <a:prstGeom prst="roundRect">
            <a:avLst>
              <a:gd name="adj" fmla="val 5246"/>
            </a:avLst>
          </a:prstGeom>
          <a:solidFill>
            <a:srgbClr val="EFEBFC"/>
          </a:solidFill>
          <a:ln w="12700">
            <a:solidFill>
              <a:srgbClr val="EFEBFC"/>
            </a:solidFill>
            <a:prstDash val="solid"/>
          </a:ln>
        </p:spPr>
      </p:sp>
      <p:sp>
        <p:nvSpPr>
          <p:cNvPr id="5" name="Shape 3"/>
          <p:cNvSpPr/>
          <p:nvPr/>
        </p:nvSpPr>
        <p:spPr>
          <a:xfrm>
            <a:off x="640080" y="1554480"/>
            <a:ext cx="384048" cy="384048"/>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39932" y="1654332"/>
            <a:ext cx="184343" cy="184343"/>
          </a:xfrm>
          <a:prstGeom prst="rect">
            <a:avLst/>
          </a:prstGeom>
        </p:spPr>
      </p:pic>
      <p:sp>
        <p:nvSpPr>
          <p:cNvPr id="7" name="Text 4"/>
          <p:cNvSpPr txBox="1"/>
          <p:nvPr/>
        </p:nvSpPr>
        <p:spPr>
          <a:xfrm>
            <a:off x="1143000" y="15544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.NET 10 SDK</a:t>
            </a:r>
            <a:endParaRPr lang="en-US" sz="1500" dirty="0"/>
          </a:p>
        </p:txBody>
      </p:sp>
      <p:sp>
        <p:nvSpPr>
          <p:cNvPr id="8" name="Text 5"/>
          <p:cNvSpPr txBox="1"/>
          <p:nvPr/>
        </p:nvSpPr>
        <p:spPr>
          <a:xfrm>
            <a:off x="640080" y="205740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 console app targeting net10.0, opened from VotingEnsembles.slnx in Visual Studio 2026.</a:t>
            </a:r>
            <a:endParaRPr lang="en-US" sz="1200" dirty="0"/>
          </a:p>
        </p:txBody>
      </p:sp>
      <p:sp>
        <p:nvSpPr>
          <p:cNvPr id="9" name="Shape 6"/>
          <p:cNvSpPr/>
          <p:nvPr/>
        </p:nvSpPr>
        <p:spPr>
          <a:xfrm>
            <a:off x="4709160" y="1371600"/>
            <a:ext cx="3977640" cy="1394460"/>
          </a:xfrm>
          <a:prstGeom prst="roundRect">
            <a:avLst>
              <a:gd name="adj" fmla="val 5246"/>
            </a:avLst>
          </a:prstGeom>
          <a:solidFill>
            <a:srgbClr val="EFEBFC"/>
          </a:solidFill>
          <a:ln w="12700">
            <a:solidFill>
              <a:srgbClr val="EFEBFC"/>
            </a:solidFill>
            <a:prstDash val="solid"/>
          </a:ln>
        </p:spPr>
      </p:sp>
      <p:sp>
        <p:nvSpPr>
          <p:cNvPr id="10" name="Shape 7"/>
          <p:cNvSpPr/>
          <p:nvPr/>
        </p:nvSpPr>
        <p:spPr>
          <a:xfrm>
            <a:off x="4892040" y="155448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4991892" y="1654332"/>
            <a:ext cx="184343" cy="184343"/>
          </a:xfrm>
          <a:prstGeom prst="rect">
            <a:avLst/>
          </a:prstGeom>
        </p:spPr>
      </p:pic>
      <p:sp>
        <p:nvSpPr>
          <p:cNvPr id="12" name="Text 8"/>
          <p:cNvSpPr txBox="1"/>
          <p:nvPr/>
        </p:nvSpPr>
        <p:spPr>
          <a:xfrm>
            <a:off x="5394960" y="15544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Two NuGet packages</a:t>
            </a:r>
            <a:endParaRPr lang="en-US" sz="1500" dirty="0"/>
          </a:p>
        </p:txBody>
      </p:sp>
      <p:sp>
        <p:nvSpPr>
          <p:cNvPr id="13" name="Text 9"/>
          <p:cNvSpPr txBox="1"/>
          <p:nvPr/>
        </p:nvSpPr>
        <p:spPr>
          <a:xfrm>
            <a:off x="4892040" y="205740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Microsoft.SemanticKernel and Microsoft.SemanticKernel.Connectors.OpenAI, both 1.78.0.</a:t>
            </a:r>
            <a:endParaRPr lang="en-US" sz="1200" dirty="0"/>
          </a:p>
        </p:txBody>
      </p:sp>
      <p:sp>
        <p:nvSpPr>
          <p:cNvPr id="14" name="Shape 10"/>
          <p:cNvSpPr/>
          <p:nvPr/>
        </p:nvSpPr>
        <p:spPr>
          <a:xfrm>
            <a:off x="457200" y="2994660"/>
            <a:ext cx="3977640" cy="1394460"/>
          </a:xfrm>
          <a:prstGeom prst="roundRect">
            <a:avLst>
              <a:gd name="adj" fmla="val 5246"/>
            </a:avLst>
          </a:prstGeom>
          <a:solidFill>
            <a:srgbClr val="EFEBFC"/>
          </a:solidFill>
          <a:ln w="12700">
            <a:solidFill>
              <a:srgbClr val="EFEBFC"/>
            </a:solidFill>
            <a:prstDash val="solid"/>
          </a:ln>
        </p:spPr>
      </p:sp>
      <p:sp>
        <p:nvSpPr>
          <p:cNvPr id="15" name="Shape 11"/>
          <p:cNvSpPr/>
          <p:nvPr/>
        </p:nvSpPr>
        <p:spPr>
          <a:xfrm>
            <a:off x="640080" y="3177540"/>
            <a:ext cx="384048" cy="384048"/>
          </a:xfrm>
          <a:prstGeom prst="ellipse">
            <a:avLst/>
          </a:prstGeom>
          <a:solidFill>
            <a:srgbClr val="512BD4"/>
          </a:solidFill>
          <a:ln w="12700">
            <a:solidFill>
              <a:srgbClr val="512BD4"/>
            </a:solidFill>
            <a:prstDash val="solid"/>
          </a:ln>
        </p:spPr>
      </p:sp>
      <p:pic>
        <p:nvPicPr>
          <p:cNvPr id="16" name="Image 2" descr="preencoded.png">    </p:cNvPr>
          <p:cNvPicPr>
            <a:picLocks noChangeAspect="1"/>
          </p:cNvPicPr>
          <p:nvPr/>
        </p:nvPicPr>
        <p:blipFill>
          <a:blip r:embed="rId3"/>
          <a:stretch>
            <a:fillRect/>
          </a:stretch>
        </p:blipFill>
        <p:spPr>
          <a:xfrm>
            <a:off x="739932" y="3277392"/>
            <a:ext cx="184343" cy="184343"/>
          </a:xfrm>
          <a:prstGeom prst="rect">
            <a:avLst/>
          </a:prstGeom>
        </p:spPr>
      </p:pic>
      <p:sp>
        <p:nvSpPr>
          <p:cNvPr id="17" name="Text 12"/>
          <p:cNvSpPr txBox="1"/>
          <p:nvPr/>
        </p:nvSpPr>
        <p:spPr>
          <a:xfrm>
            <a:off x="1143000" y="317754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ourier New" pitchFamily="34" charset="0"/>
                <a:ea typeface="Courier New" pitchFamily="34" charset="-122"/>
                <a:cs typeface="Courier New" pitchFamily="34" charset="-120"/>
              </a:rPr>
              <a:t>OPENAI_API_KEY</a:t>
            </a:r>
            <a:endParaRPr lang="en-US" sz="1500" dirty="0"/>
          </a:p>
        </p:txBody>
      </p:sp>
      <p:sp>
        <p:nvSpPr>
          <p:cNvPr id="18" name="Text 13"/>
          <p:cNvSpPr txBox="1"/>
          <p:nvPr/>
        </p:nvSpPr>
        <p:spPr>
          <a:xfrm>
            <a:off x="640080" y="368046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Read from the environment. The program throws at startup if it is missing.</a:t>
            </a:r>
            <a:endParaRPr lang="en-US" sz="1200" dirty="0"/>
          </a:p>
        </p:txBody>
      </p:sp>
      <p:sp>
        <p:nvSpPr>
          <p:cNvPr id="19" name="Shape 14"/>
          <p:cNvSpPr/>
          <p:nvPr/>
        </p:nvSpPr>
        <p:spPr>
          <a:xfrm>
            <a:off x="4709160" y="2994660"/>
            <a:ext cx="3977640" cy="1394460"/>
          </a:xfrm>
          <a:prstGeom prst="roundRect">
            <a:avLst>
              <a:gd name="adj" fmla="val 5246"/>
            </a:avLst>
          </a:prstGeom>
          <a:solidFill>
            <a:srgbClr val="EFEBFC"/>
          </a:solidFill>
          <a:ln w="12700">
            <a:solidFill>
              <a:srgbClr val="EFEBFC"/>
            </a:solidFill>
            <a:prstDash val="solid"/>
          </a:ln>
        </p:spPr>
      </p:sp>
      <p:sp>
        <p:nvSpPr>
          <p:cNvPr id="20" name="Shape 15"/>
          <p:cNvSpPr/>
          <p:nvPr/>
        </p:nvSpPr>
        <p:spPr>
          <a:xfrm>
            <a:off x="4892040" y="3177540"/>
            <a:ext cx="384048" cy="384048"/>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4991892" y="3277392"/>
            <a:ext cx="184343" cy="184343"/>
          </a:xfrm>
          <a:prstGeom prst="rect">
            <a:avLst/>
          </a:prstGeom>
        </p:spPr>
      </p:pic>
      <p:sp>
        <p:nvSpPr>
          <p:cNvPr id="22" name="Text 16"/>
          <p:cNvSpPr txBox="1"/>
          <p:nvPr/>
        </p:nvSpPr>
        <p:spPr>
          <a:xfrm>
            <a:off x="5394960" y="317754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ourier New" pitchFamily="34" charset="0"/>
                <a:ea typeface="Courier New" pitchFamily="34" charset="-122"/>
                <a:cs typeface="Courier New" pitchFamily="34" charset="-120"/>
              </a:rPr>
              <a:t>gpt-4.1-mini</a:t>
            </a:r>
            <a:endParaRPr lang="en-US" sz="1500" dirty="0"/>
          </a:p>
        </p:txBody>
      </p:sp>
      <p:sp>
        <p:nvSpPr>
          <p:cNvPr id="23" name="Text 17"/>
          <p:cNvSpPr txBox="1"/>
          <p:nvPr/>
        </p:nvSpPr>
        <p:spPr>
          <a:xfrm>
            <a:off x="4892040" y="368046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Every sample uses the same model, prompt and temperature.</a:t>
            </a:r>
            <a:endParaRPr lang="en-US" sz="1200" dirty="0"/>
          </a:p>
        </p:txBody>
      </p:sp>
      <p:sp>
        <p:nvSpPr>
          <p:cNvPr id="24" name="Text 18"/>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33 — Voting &amp; Self-Consistency Ensembles</a:t>
            </a:r>
            <a:endParaRPr lang="en-US" sz="900" dirty="0"/>
          </a:p>
        </p:txBody>
      </p:sp>
      <p:sp>
        <p:nvSpPr>
          <p:cNvPr id="25" name="Text 19"/>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THE PIPELINE</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Five independent samples, one vote</a:t>
            </a:r>
            <a:endParaRPr lang="en-US" sz="2800" dirty="0"/>
          </a:p>
        </p:txBody>
      </p:sp>
      <p:sp>
        <p:nvSpPr>
          <p:cNvPr id="4" name="Shape 2"/>
          <p:cNvSpPr/>
          <p:nvPr/>
        </p:nvSpPr>
        <p:spPr>
          <a:xfrm>
            <a:off x="457200" y="1417320"/>
            <a:ext cx="1367942" cy="2185416"/>
          </a:xfrm>
          <a:prstGeom prst="roundRect">
            <a:avLst>
              <a:gd name="adj" fmla="val 5348"/>
            </a:avLst>
          </a:prstGeom>
          <a:solidFill>
            <a:srgbClr val="EFEBFC"/>
          </a:solidFill>
          <a:ln w="12700">
            <a:solidFill>
              <a:srgbClr val="EFEBFC"/>
            </a:solidFill>
            <a:prstDash val="solid"/>
          </a:ln>
        </p:spPr>
      </p:sp>
      <p:sp>
        <p:nvSpPr>
          <p:cNvPr id="5" name="Shape 3"/>
          <p:cNvSpPr/>
          <p:nvPr/>
        </p:nvSpPr>
        <p:spPr>
          <a:xfrm>
            <a:off x="640080" y="1618488"/>
            <a:ext cx="457200" cy="457200"/>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58952" y="1737360"/>
            <a:ext cx="219456" cy="219456"/>
          </a:xfrm>
          <a:prstGeom prst="rect">
            <a:avLst/>
          </a:prstGeom>
        </p:spPr>
      </p:pic>
      <p:sp>
        <p:nvSpPr>
          <p:cNvPr id="7" name="Text 4"/>
          <p:cNvSpPr txBox="1"/>
          <p:nvPr/>
        </p:nvSpPr>
        <p:spPr>
          <a:xfrm>
            <a:off x="640080"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Question</a:t>
            </a:r>
            <a:endParaRPr lang="en-US" sz="1300" dirty="0"/>
          </a:p>
        </p:txBody>
      </p:sp>
      <p:sp>
        <p:nvSpPr>
          <p:cNvPr id="8" name="Text 5"/>
          <p:cNvSpPr txBox="1"/>
          <p:nvPr/>
        </p:nvSpPr>
        <p:spPr>
          <a:xfrm>
            <a:off x="640080" y="2606040"/>
            <a:ext cx="1047902" cy="905256"/>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Bat and ball cost $1.10 in total.</a:t>
            </a:r>
            <a:endParaRPr lang="en-US" sz="1200" dirty="0"/>
          </a:p>
        </p:txBody>
      </p:sp>
      <p:sp>
        <p:nvSpPr>
          <p:cNvPr id="9" name="Shape 6"/>
          <p:cNvSpPr/>
          <p:nvPr/>
        </p:nvSpPr>
        <p:spPr>
          <a:xfrm>
            <a:off x="1889150" y="2400300"/>
            <a:ext cx="219456" cy="219456"/>
          </a:xfrm>
          <a:prstGeom prst="rightArrow">
            <a:avLst/>
          </a:prstGeom>
          <a:solidFill>
            <a:srgbClr val="F5A623"/>
          </a:solidFill>
          <a:ln w="12700">
            <a:solidFill>
              <a:srgbClr val="F5A623"/>
            </a:solidFill>
            <a:prstDash val="solid"/>
          </a:ln>
        </p:spPr>
      </p:sp>
      <p:sp>
        <p:nvSpPr>
          <p:cNvPr id="10" name="Shape 7"/>
          <p:cNvSpPr/>
          <p:nvPr/>
        </p:nvSpPr>
        <p:spPr>
          <a:xfrm>
            <a:off x="2172614" y="1417320"/>
            <a:ext cx="1367942" cy="2185416"/>
          </a:xfrm>
          <a:prstGeom prst="roundRect">
            <a:avLst>
              <a:gd name="adj" fmla="val 5348"/>
            </a:avLst>
          </a:prstGeom>
          <a:solidFill>
            <a:srgbClr val="EFEBFC"/>
          </a:solidFill>
          <a:ln w="12700">
            <a:solidFill>
              <a:srgbClr val="EFEBFC"/>
            </a:solidFill>
            <a:prstDash val="solid"/>
          </a:ln>
        </p:spPr>
      </p:sp>
      <p:sp>
        <p:nvSpPr>
          <p:cNvPr id="11" name="Shape 8"/>
          <p:cNvSpPr/>
          <p:nvPr/>
        </p:nvSpPr>
        <p:spPr>
          <a:xfrm>
            <a:off x="2355494" y="1618488"/>
            <a:ext cx="457200" cy="457200"/>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2474366" y="1737360"/>
            <a:ext cx="219456" cy="219456"/>
          </a:xfrm>
          <a:prstGeom prst="rect">
            <a:avLst/>
          </a:prstGeom>
        </p:spPr>
      </p:pic>
      <p:sp>
        <p:nvSpPr>
          <p:cNvPr id="13" name="Text 9"/>
          <p:cNvSpPr txBox="1"/>
          <p:nvPr/>
        </p:nvSpPr>
        <p:spPr>
          <a:xfrm>
            <a:off x="2355494"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Sample ×5</a:t>
            </a:r>
            <a:endParaRPr lang="en-US" sz="1300" dirty="0"/>
          </a:p>
        </p:txBody>
      </p:sp>
      <p:sp>
        <p:nvSpPr>
          <p:cNvPr id="14" name="Text 10"/>
          <p:cNvSpPr txBox="1"/>
          <p:nvPr/>
        </p:nvSpPr>
        <p:spPr>
          <a:xfrm>
            <a:off x="2355494" y="2606040"/>
            <a:ext cx="1047902" cy="905256"/>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Task.WhenAll; temperature 0.8, JSON out.</a:t>
            </a:r>
            <a:endParaRPr lang="en-US" sz="1200" dirty="0"/>
          </a:p>
        </p:txBody>
      </p:sp>
      <p:sp>
        <p:nvSpPr>
          <p:cNvPr id="15" name="Shape 11"/>
          <p:cNvSpPr/>
          <p:nvPr/>
        </p:nvSpPr>
        <p:spPr>
          <a:xfrm>
            <a:off x="3604565" y="2400300"/>
            <a:ext cx="219456" cy="219456"/>
          </a:xfrm>
          <a:prstGeom prst="rightArrow">
            <a:avLst/>
          </a:prstGeom>
          <a:solidFill>
            <a:srgbClr val="F5A623"/>
          </a:solidFill>
          <a:ln w="12700">
            <a:solidFill>
              <a:srgbClr val="F5A623"/>
            </a:solidFill>
            <a:prstDash val="solid"/>
          </a:ln>
        </p:spPr>
      </p:sp>
      <p:sp>
        <p:nvSpPr>
          <p:cNvPr id="16" name="Shape 12"/>
          <p:cNvSpPr/>
          <p:nvPr/>
        </p:nvSpPr>
        <p:spPr>
          <a:xfrm>
            <a:off x="3888029" y="1417320"/>
            <a:ext cx="1367942" cy="2185416"/>
          </a:xfrm>
          <a:prstGeom prst="roundRect">
            <a:avLst>
              <a:gd name="adj" fmla="val 5348"/>
            </a:avLst>
          </a:prstGeom>
          <a:solidFill>
            <a:srgbClr val="EFEBFC"/>
          </a:solidFill>
          <a:ln w="12700">
            <a:solidFill>
              <a:srgbClr val="EFEBFC"/>
            </a:solidFill>
            <a:prstDash val="solid"/>
          </a:ln>
        </p:spPr>
      </p:sp>
      <p:sp>
        <p:nvSpPr>
          <p:cNvPr id="17" name="Shape 13"/>
          <p:cNvSpPr/>
          <p:nvPr/>
        </p:nvSpPr>
        <p:spPr>
          <a:xfrm>
            <a:off x="4070909" y="1618488"/>
            <a:ext cx="457200" cy="457200"/>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4189781" y="1737360"/>
            <a:ext cx="219456" cy="219456"/>
          </a:xfrm>
          <a:prstGeom prst="rect">
            <a:avLst/>
          </a:prstGeom>
        </p:spPr>
      </p:pic>
      <p:sp>
        <p:nvSpPr>
          <p:cNvPr id="19" name="Text 14"/>
          <p:cNvSpPr txBox="1"/>
          <p:nvPr/>
        </p:nvSpPr>
        <p:spPr>
          <a:xfrm>
            <a:off x="4070909"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Filter</a:t>
            </a:r>
            <a:endParaRPr lang="en-US" sz="1300" dirty="0"/>
          </a:p>
        </p:txBody>
      </p:sp>
      <p:sp>
        <p:nvSpPr>
          <p:cNvPr id="20" name="Text 15"/>
          <p:cNvSpPr txBox="1"/>
          <p:nvPr/>
        </p:nvSpPr>
        <p:spPr>
          <a:xfrm>
            <a:off x="4070909" y="2606040"/>
            <a:ext cx="1047902" cy="905256"/>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Drop failed and UNPARSEABLE samples.</a:t>
            </a:r>
            <a:endParaRPr lang="en-US" sz="1200" dirty="0"/>
          </a:p>
        </p:txBody>
      </p:sp>
      <p:sp>
        <p:nvSpPr>
          <p:cNvPr id="21" name="Shape 16"/>
          <p:cNvSpPr/>
          <p:nvPr/>
        </p:nvSpPr>
        <p:spPr>
          <a:xfrm>
            <a:off x="5319979" y="2400300"/>
            <a:ext cx="219456" cy="219456"/>
          </a:xfrm>
          <a:prstGeom prst="rightArrow">
            <a:avLst/>
          </a:prstGeom>
          <a:solidFill>
            <a:srgbClr val="F5A623"/>
          </a:solidFill>
          <a:ln w="12700">
            <a:solidFill>
              <a:srgbClr val="F5A623"/>
            </a:solidFill>
            <a:prstDash val="solid"/>
          </a:ln>
        </p:spPr>
      </p:sp>
      <p:sp>
        <p:nvSpPr>
          <p:cNvPr id="22" name="Shape 17"/>
          <p:cNvSpPr/>
          <p:nvPr/>
        </p:nvSpPr>
        <p:spPr>
          <a:xfrm>
            <a:off x="5603443" y="1417320"/>
            <a:ext cx="1367942" cy="2185416"/>
          </a:xfrm>
          <a:prstGeom prst="roundRect">
            <a:avLst>
              <a:gd name="adj" fmla="val 5348"/>
            </a:avLst>
          </a:prstGeom>
          <a:solidFill>
            <a:srgbClr val="EFEBFC"/>
          </a:solidFill>
          <a:ln w="12700">
            <a:solidFill>
              <a:srgbClr val="EFEBFC"/>
            </a:solidFill>
            <a:prstDash val="solid"/>
          </a:ln>
        </p:spPr>
      </p:sp>
      <p:sp>
        <p:nvSpPr>
          <p:cNvPr id="23" name="Shape 18"/>
          <p:cNvSpPr/>
          <p:nvPr/>
        </p:nvSpPr>
        <p:spPr>
          <a:xfrm>
            <a:off x="5786323" y="1618488"/>
            <a:ext cx="457200" cy="457200"/>
          </a:xfrm>
          <a:prstGeom prst="ellipse">
            <a:avLst/>
          </a:prstGeom>
          <a:solidFill>
            <a:srgbClr val="512BD4"/>
          </a:solidFill>
          <a:ln w="12700">
            <a:solidFill>
              <a:srgbClr val="512BD4"/>
            </a:solidFill>
            <a:prstDash val="solid"/>
          </a:ln>
        </p:spPr>
      </p:sp>
      <p:pic>
        <p:nvPicPr>
          <p:cNvPr id="24" name="Image 3" descr="preencoded.png">    </p:cNvPr>
          <p:cNvPicPr>
            <a:picLocks noChangeAspect="1"/>
          </p:cNvPicPr>
          <p:nvPr/>
        </p:nvPicPr>
        <p:blipFill>
          <a:blip r:embed="rId4"/>
          <a:stretch>
            <a:fillRect/>
          </a:stretch>
        </p:blipFill>
        <p:spPr>
          <a:xfrm>
            <a:off x="5905195" y="1737360"/>
            <a:ext cx="219456" cy="219456"/>
          </a:xfrm>
          <a:prstGeom prst="rect">
            <a:avLst/>
          </a:prstGeom>
        </p:spPr>
      </p:pic>
      <p:sp>
        <p:nvSpPr>
          <p:cNvPr id="25" name="Text 19"/>
          <p:cNvSpPr txBox="1"/>
          <p:nvPr/>
        </p:nvSpPr>
        <p:spPr>
          <a:xfrm>
            <a:off x="5786323"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Normalize</a:t>
            </a:r>
            <a:endParaRPr lang="en-US" sz="1300" dirty="0"/>
          </a:p>
        </p:txBody>
      </p:sp>
      <p:sp>
        <p:nvSpPr>
          <p:cNvPr id="26" name="Text 20"/>
          <p:cNvSpPr txBox="1"/>
          <p:nvPr/>
        </p:nvSpPr>
        <p:spPr>
          <a:xfrm>
            <a:off x="5786323" y="2606040"/>
            <a:ext cx="1047902" cy="905256"/>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Trim spaces and a leading $ sign.</a:t>
            </a:r>
            <a:endParaRPr lang="en-US" sz="1200" dirty="0"/>
          </a:p>
        </p:txBody>
      </p:sp>
      <p:sp>
        <p:nvSpPr>
          <p:cNvPr id="27" name="Shape 21"/>
          <p:cNvSpPr/>
          <p:nvPr/>
        </p:nvSpPr>
        <p:spPr>
          <a:xfrm>
            <a:off x="7035394" y="2400300"/>
            <a:ext cx="219456" cy="219456"/>
          </a:xfrm>
          <a:prstGeom prst="rightArrow">
            <a:avLst/>
          </a:prstGeom>
          <a:solidFill>
            <a:srgbClr val="F5A623"/>
          </a:solidFill>
          <a:ln w="12700">
            <a:solidFill>
              <a:srgbClr val="F5A623"/>
            </a:solidFill>
            <a:prstDash val="solid"/>
          </a:ln>
        </p:spPr>
      </p:sp>
      <p:sp>
        <p:nvSpPr>
          <p:cNvPr id="28" name="Shape 22"/>
          <p:cNvSpPr/>
          <p:nvPr/>
        </p:nvSpPr>
        <p:spPr>
          <a:xfrm>
            <a:off x="7318858" y="1417320"/>
            <a:ext cx="1367942" cy="2185416"/>
          </a:xfrm>
          <a:prstGeom prst="roundRect">
            <a:avLst>
              <a:gd name="adj" fmla="val 5348"/>
            </a:avLst>
          </a:prstGeom>
          <a:solidFill>
            <a:srgbClr val="512BD4"/>
          </a:solidFill>
          <a:ln w="12700">
            <a:solidFill>
              <a:srgbClr val="512BD4"/>
            </a:solidFill>
            <a:prstDash val="solid"/>
          </a:ln>
        </p:spPr>
      </p:sp>
      <p:sp>
        <p:nvSpPr>
          <p:cNvPr id="29" name="Shape 23"/>
          <p:cNvSpPr/>
          <p:nvPr/>
        </p:nvSpPr>
        <p:spPr>
          <a:xfrm>
            <a:off x="7501738" y="1618488"/>
            <a:ext cx="457200" cy="457200"/>
          </a:xfrm>
          <a:prstGeom prst="ellipse">
            <a:avLst/>
          </a:prstGeom>
          <a:solidFill>
            <a:srgbClr val="FFFFFF"/>
          </a:solidFill>
          <a:ln w="12700">
            <a:solidFill>
              <a:srgbClr val="FFFFFF"/>
            </a:solidFill>
            <a:prstDash val="solid"/>
          </a:ln>
        </p:spPr>
      </p:sp>
      <p:pic>
        <p:nvPicPr>
          <p:cNvPr id="30" name="Image 4" descr="preencoded.png">    </p:cNvPr>
          <p:cNvPicPr>
            <a:picLocks noChangeAspect="1"/>
          </p:cNvPicPr>
          <p:nvPr/>
        </p:nvPicPr>
        <p:blipFill>
          <a:blip r:embed="rId5"/>
          <a:stretch>
            <a:fillRect/>
          </a:stretch>
        </p:blipFill>
        <p:spPr>
          <a:xfrm>
            <a:off x="7620610" y="1737360"/>
            <a:ext cx="219456" cy="219456"/>
          </a:xfrm>
          <a:prstGeom prst="rect">
            <a:avLst/>
          </a:prstGeom>
        </p:spPr>
      </p:pic>
      <p:sp>
        <p:nvSpPr>
          <p:cNvPr id="31" name="Text 24"/>
          <p:cNvSpPr txBox="1"/>
          <p:nvPr/>
        </p:nvSpPr>
        <p:spPr>
          <a:xfrm>
            <a:off x="7501738" y="2194560"/>
            <a:ext cx="1047902" cy="41148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Tally</a:t>
            </a:r>
            <a:endParaRPr lang="en-US" sz="1300" dirty="0"/>
          </a:p>
        </p:txBody>
      </p:sp>
      <p:sp>
        <p:nvSpPr>
          <p:cNvPr id="32" name="Text 25"/>
          <p:cNvSpPr txBox="1"/>
          <p:nvPr/>
        </p:nvSpPr>
        <p:spPr>
          <a:xfrm>
            <a:off x="7501738" y="2606040"/>
            <a:ext cx="1047902" cy="9052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Most votes wins; ties are flagged.</a:t>
            </a:r>
            <a:endParaRPr lang="en-US" sz="1200" dirty="0"/>
          </a:p>
        </p:txBody>
      </p:sp>
      <p:sp>
        <p:nvSpPr>
          <p:cNvPr id="33" name="Text 26"/>
          <p:cNvSpPr txBox="1"/>
          <p:nvPr/>
        </p:nvSpPr>
        <p:spPr>
          <a:xfrm>
            <a:off x="457200" y="3922776"/>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One sample that takes a wrong turn is just one vote among five.</a:t>
            </a:r>
            <a:endParaRPr lang="en-US" sz="1400" dirty="0"/>
          </a:p>
        </p:txBody>
      </p:sp>
      <p:sp>
        <p:nvSpPr>
          <p:cNvPr id="34" name="Text 27"/>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33 — Voting &amp; Self-Consistency Ensembles</a:t>
            </a:r>
            <a:endParaRPr lang="en-US" sz="900" dirty="0"/>
          </a:p>
        </p:txBody>
      </p:sp>
      <p:sp>
        <p:nvSpPr>
          <p:cNvPr id="35" name="Text 28"/>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CORE CONCEPT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The vote is plain code, on purpose</a:t>
            </a:r>
            <a:endParaRPr lang="en-US" sz="2800" dirty="0"/>
          </a:p>
        </p:txBody>
      </p:sp>
      <p:sp>
        <p:nvSpPr>
          <p:cNvPr id="4" name="Shape 2"/>
          <p:cNvSpPr/>
          <p:nvPr/>
        </p:nvSpPr>
        <p:spPr>
          <a:xfrm>
            <a:off x="457200" y="1417320"/>
            <a:ext cx="2468880" cy="2377440"/>
          </a:xfrm>
          <a:prstGeom prst="roundRect">
            <a:avLst>
              <a:gd name="adj" fmla="val 3077"/>
            </a:avLst>
          </a:prstGeom>
          <a:solidFill>
            <a:srgbClr val="512BD4"/>
          </a:solidFill>
          <a:ln w="12700">
            <a:solidFill>
              <a:srgbClr val="512BD4"/>
            </a:solidFill>
            <a:prstDash val="solid"/>
          </a:ln>
        </p:spPr>
      </p:sp>
      <p:sp>
        <p:nvSpPr>
          <p:cNvPr id="5" name="Shape 3"/>
          <p:cNvSpPr/>
          <p:nvPr/>
        </p:nvSpPr>
        <p:spPr>
          <a:xfrm>
            <a:off x="685800" y="1645920"/>
            <a:ext cx="502920" cy="50292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16559" y="1776679"/>
            <a:ext cx="241402" cy="241402"/>
          </a:xfrm>
          <a:prstGeom prst="rect">
            <a:avLst/>
          </a:prstGeom>
        </p:spPr>
      </p:pic>
      <p:sp>
        <p:nvSpPr>
          <p:cNvPr id="7" name="Text 4"/>
          <p:cNvSpPr txBox="1"/>
          <p:nvPr/>
        </p:nvSpPr>
        <p:spPr>
          <a:xfrm>
            <a:off x="685800" y="2286000"/>
            <a:ext cx="2057400" cy="4572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ConsensusVoter</a:t>
            </a:r>
            <a:endParaRPr lang="en-US" sz="1800" dirty="0"/>
          </a:p>
        </p:txBody>
      </p:sp>
      <p:sp>
        <p:nvSpPr>
          <p:cNvPr id="8" name="Text 5"/>
          <p:cNvSpPr txBox="1"/>
          <p:nvPr/>
        </p:nvSpPr>
        <p:spPr>
          <a:xfrm>
            <a:off x="685800" y="2743200"/>
            <a:ext cx="2057400" cy="96012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A static class. No model call anywhere in the file.</a:t>
            </a:r>
            <a:endParaRPr lang="en-US" sz="1300" dirty="0"/>
          </a:p>
        </p:txBody>
      </p:sp>
      <p:sp>
        <p:nvSpPr>
          <p:cNvPr id="9" name="Shape 6"/>
          <p:cNvSpPr/>
          <p:nvPr/>
        </p:nvSpPr>
        <p:spPr>
          <a:xfrm>
            <a:off x="2926080" y="1645920"/>
            <a:ext cx="502920" cy="0"/>
          </a:xfrm>
          <a:prstGeom prst="line">
            <a:avLst/>
          </a:prstGeom>
          <a:noFill/>
          <a:ln w="25400">
            <a:solidFill>
              <a:srgbClr val="F5A623"/>
            </a:solidFill>
            <a:prstDash val="solid"/>
          </a:ln>
        </p:spPr>
      </p:sp>
      <p:sp>
        <p:nvSpPr>
          <p:cNvPr id="10" name="Shape 7"/>
          <p:cNvSpPr/>
          <p:nvPr/>
        </p:nvSpPr>
        <p:spPr>
          <a:xfrm>
            <a:off x="3429000" y="1417320"/>
            <a:ext cx="5257800" cy="457200"/>
          </a:xfrm>
          <a:prstGeom prst="roundRect">
            <a:avLst>
              <a:gd name="adj" fmla="val 16000"/>
            </a:avLst>
          </a:prstGeom>
          <a:solidFill>
            <a:srgbClr val="EFEBFC"/>
          </a:solidFill>
          <a:ln w="12700">
            <a:solidFill>
              <a:srgbClr val="EFEBFC"/>
            </a:solidFill>
            <a:prstDash val="solid"/>
          </a:ln>
        </p:spPr>
      </p:sp>
      <p:sp>
        <p:nvSpPr>
          <p:cNvPr id="11" name="Shape 8"/>
          <p:cNvSpPr/>
          <p:nvPr/>
        </p:nvSpPr>
        <p:spPr>
          <a:xfrm>
            <a:off x="3593592" y="1453896"/>
            <a:ext cx="384048" cy="384048"/>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3693444" y="1553748"/>
            <a:ext cx="184343" cy="184343"/>
          </a:xfrm>
          <a:prstGeom prst="rect">
            <a:avLst/>
          </a:prstGeom>
        </p:spPr>
      </p:pic>
      <p:sp>
        <p:nvSpPr>
          <p:cNvPr id="13" name="Text 9"/>
          <p:cNvSpPr txBox="1"/>
          <p:nvPr/>
        </p:nvSpPr>
        <p:spPr>
          <a:xfrm>
            <a:off x="4142232" y="1508760"/>
            <a:ext cx="1463040" cy="27432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Normalize</a:t>
            </a:r>
            <a:endParaRPr lang="en-US" sz="1500" dirty="0"/>
          </a:p>
        </p:txBody>
      </p:sp>
      <p:sp>
        <p:nvSpPr>
          <p:cNvPr id="14" name="Text 10"/>
          <p:cNvSpPr txBox="1"/>
          <p:nvPr/>
        </p:nvSpPr>
        <p:spPr>
          <a:xfrm>
            <a:off x="5577840" y="1508760"/>
            <a:ext cx="2971800"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"$0.05" and "0.05" count as one answer.</a:t>
            </a:r>
            <a:endParaRPr lang="en-US" sz="1200" dirty="0"/>
          </a:p>
        </p:txBody>
      </p:sp>
      <p:sp>
        <p:nvSpPr>
          <p:cNvPr id="15" name="Shape 11"/>
          <p:cNvSpPr/>
          <p:nvPr/>
        </p:nvSpPr>
        <p:spPr>
          <a:xfrm>
            <a:off x="2926080" y="2286000"/>
            <a:ext cx="502920" cy="0"/>
          </a:xfrm>
          <a:prstGeom prst="line">
            <a:avLst/>
          </a:prstGeom>
          <a:noFill/>
          <a:ln w="25400">
            <a:solidFill>
              <a:srgbClr val="F5A623"/>
            </a:solidFill>
            <a:prstDash val="solid"/>
          </a:ln>
        </p:spPr>
      </p:sp>
      <p:sp>
        <p:nvSpPr>
          <p:cNvPr id="16" name="Shape 12"/>
          <p:cNvSpPr/>
          <p:nvPr/>
        </p:nvSpPr>
        <p:spPr>
          <a:xfrm>
            <a:off x="3429000" y="2057400"/>
            <a:ext cx="5257800" cy="457200"/>
          </a:xfrm>
          <a:prstGeom prst="roundRect">
            <a:avLst>
              <a:gd name="adj" fmla="val 16000"/>
            </a:avLst>
          </a:prstGeom>
          <a:solidFill>
            <a:srgbClr val="EFEBFC"/>
          </a:solidFill>
          <a:ln w="12700">
            <a:solidFill>
              <a:srgbClr val="EFEBFC"/>
            </a:solidFill>
            <a:prstDash val="solid"/>
          </a:ln>
        </p:spPr>
      </p:sp>
      <p:sp>
        <p:nvSpPr>
          <p:cNvPr id="17" name="Shape 13"/>
          <p:cNvSpPr/>
          <p:nvPr/>
        </p:nvSpPr>
        <p:spPr>
          <a:xfrm>
            <a:off x="3593592" y="2093976"/>
            <a:ext cx="384048" cy="384048"/>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3693444" y="2193828"/>
            <a:ext cx="184343" cy="184343"/>
          </a:xfrm>
          <a:prstGeom prst="rect">
            <a:avLst/>
          </a:prstGeom>
        </p:spPr>
      </p:pic>
      <p:sp>
        <p:nvSpPr>
          <p:cNvPr id="19" name="Text 14"/>
          <p:cNvSpPr txBox="1"/>
          <p:nvPr/>
        </p:nvSpPr>
        <p:spPr>
          <a:xfrm>
            <a:off x="4142232" y="2148840"/>
            <a:ext cx="1463040" cy="27432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Group &amp; count</a:t>
            </a:r>
            <a:endParaRPr lang="en-US" sz="1500" dirty="0"/>
          </a:p>
        </p:txBody>
      </p:sp>
      <p:sp>
        <p:nvSpPr>
          <p:cNvPr id="20" name="Text 15"/>
          <p:cNvSpPr txBox="1"/>
          <p:nvPr/>
        </p:nvSpPr>
        <p:spPr>
          <a:xfrm>
            <a:off x="5577840" y="2148840"/>
            <a:ext cx="2971800"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GroupBy the normalized answer, ignoring case.</a:t>
            </a:r>
            <a:endParaRPr lang="en-US" sz="1200" dirty="0"/>
          </a:p>
        </p:txBody>
      </p:sp>
      <p:sp>
        <p:nvSpPr>
          <p:cNvPr id="21" name="Shape 16"/>
          <p:cNvSpPr/>
          <p:nvPr/>
        </p:nvSpPr>
        <p:spPr>
          <a:xfrm>
            <a:off x="2926080" y="2926080"/>
            <a:ext cx="502920" cy="0"/>
          </a:xfrm>
          <a:prstGeom prst="line">
            <a:avLst/>
          </a:prstGeom>
          <a:noFill/>
          <a:ln w="25400">
            <a:solidFill>
              <a:srgbClr val="F5A623"/>
            </a:solidFill>
            <a:prstDash val="solid"/>
          </a:ln>
        </p:spPr>
      </p:sp>
      <p:sp>
        <p:nvSpPr>
          <p:cNvPr id="22" name="Shape 17"/>
          <p:cNvSpPr/>
          <p:nvPr/>
        </p:nvSpPr>
        <p:spPr>
          <a:xfrm>
            <a:off x="3429000" y="2697480"/>
            <a:ext cx="5257800" cy="457200"/>
          </a:xfrm>
          <a:prstGeom prst="roundRect">
            <a:avLst>
              <a:gd name="adj" fmla="val 16000"/>
            </a:avLst>
          </a:prstGeom>
          <a:solidFill>
            <a:srgbClr val="EFEBFC"/>
          </a:solidFill>
          <a:ln w="12700">
            <a:solidFill>
              <a:srgbClr val="EFEBFC"/>
            </a:solidFill>
            <a:prstDash val="solid"/>
          </a:ln>
        </p:spPr>
      </p:sp>
      <p:sp>
        <p:nvSpPr>
          <p:cNvPr id="23" name="Shape 18"/>
          <p:cNvSpPr/>
          <p:nvPr/>
        </p:nvSpPr>
        <p:spPr>
          <a:xfrm>
            <a:off x="3593592" y="2734056"/>
            <a:ext cx="384048" cy="384048"/>
          </a:xfrm>
          <a:prstGeom prst="ellipse">
            <a:avLst/>
          </a:prstGeom>
          <a:solidFill>
            <a:srgbClr val="512BD4"/>
          </a:solidFill>
          <a:ln w="12700">
            <a:solidFill>
              <a:srgbClr val="512BD4"/>
            </a:solidFill>
            <a:prstDash val="solid"/>
          </a:ln>
        </p:spPr>
      </p:sp>
      <p:pic>
        <p:nvPicPr>
          <p:cNvPr id="24" name="Image 3" descr="preencoded.png">    </p:cNvPr>
          <p:cNvPicPr>
            <a:picLocks noChangeAspect="1"/>
          </p:cNvPicPr>
          <p:nvPr/>
        </p:nvPicPr>
        <p:blipFill>
          <a:blip r:embed="rId4"/>
          <a:stretch>
            <a:fillRect/>
          </a:stretch>
        </p:blipFill>
        <p:spPr>
          <a:xfrm>
            <a:off x="3693444" y="2833908"/>
            <a:ext cx="184343" cy="184343"/>
          </a:xfrm>
          <a:prstGeom prst="rect">
            <a:avLst/>
          </a:prstGeom>
        </p:spPr>
      </p:pic>
      <p:sp>
        <p:nvSpPr>
          <p:cNvPr id="25" name="Text 19"/>
          <p:cNvSpPr txBox="1"/>
          <p:nvPr/>
        </p:nvSpPr>
        <p:spPr>
          <a:xfrm>
            <a:off x="4142232" y="2788920"/>
            <a:ext cx="1463040" cy="27432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Highest count</a:t>
            </a:r>
            <a:endParaRPr lang="en-US" sz="1500" dirty="0"/>
          </a:p>
        </p:txBody>
      </p:sp>
      <p:sp>
        <p:nvSpPr>
          <p:cNvPr id="26" name="Text 20"/>
          <p:cNvSpPr txBox="1"/>
          <p:nvPr/>
        </p:nvSpPr>
        <p:spPr>
          <a:xfrm>
            <a:off x="5577840" y="2788920"/>
            <a:ext cx="2971800"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Max finds the top count; that answer wins.</a:t>
            </a:r>
            <a:endParaRPr lang="en-US" sz="1200" dirty="0"/>
          </a:p>
        </p:txBody>
      </p:sp>
      <p:sp>
        <p:nvSpPr>
          <p:cNvPr id="27" name="Shape 21"/>
          <p:cNvSpPr/>
          <p:nvPr/>
        </p:nvSpPr>
        <p:spPr>
          <a:xfrm>
            <a:off x="2926080" y="3566160"/>
            <a:ext cx="502920" cy="0"/>
          </a:xfrm>
          <a:prstGeom prst="line">
            <a:avLst/>
          </a:prstGeom>
          <a:noFill/>
          <a:ln w="25400">
            <a:solidFill>
              <a:srgbClr val="F5A623"/>
            </a:solidFill>
            <a:prstDash val="solid"/>
          </a:ln>
        </p:spPr>
      </p:sp>
      <p:sp>
        <p:nvSpPr>
          <p:cNvPr id="28" name="Shape 22"/>
          <p:cNvSpPr/>
          <p:nvPr/>
        </p:nvSpPr>
        <p:spPr>
          <a:xfrm>
            <a:off x="3429000" y="3337560"/>
            <a:ext cx="5257800" cy="457200"/>
          </a:xfrm>
          <a:prstGeom prst="roundRect">
            <a:avLst>
              <a:gd name="adj" fmla="val 16000"/>
            </a:avLst>
          </a:prstGeom>
          <a:solidFill>
            <a:srgbClr val="EFEBFC"/>
          </a:solidFill>
          <a:ln w="12700">
            <a:solidFill>
              <a:srgbClr val="EFEBFC"/>
            </a:solidFill>
            <a:prstDash val="solid"/>
          </a:ln>
        </p:spPr>
      </p:sp>
      <p:sp>
        <p:nvSpPr>
          <p:cNvPr id="29" name="Shape 23"/>
          <p:cNvSpPr/>
          <p:nvPr/>
        </p:nvSpPr>
        <p:spPr>
          <a:xfrm>
            <a:off x="3593592" y="3374136"/>
            <a:ext cx="384048" cy="384048"/>
          </a:xfrm>
          <a:prstGeom prst="ellipse">
            <a:avLst/>
          </a:prstGeom>
          <a:solidFill>
            <a:srgbClr val="512BD4"/>
          </a:solidFill>
          <a:ln w="12700">
            <a:solidFill>
              <a:srgbClr val="512BD4"/>
            </a:solidFill>
            <a:prstDash val="solid"/>
          </a:ln>
        </p:spPr>
      </p:sp>
      <p:pic>
        <p:nvPicPr>
          <p:cNvPr id="30" name="Image 4" descr="preencoded.png">    </p:cNvPr>
          <p:cNvPicPr>
            <a:picLocks noChangeAspect="1"/>
          </p:cNvPicPr>
          <p:nvPr/>
        </p:nvPicPr>
        <p:blipFill>
          <a:blip r:embed="rId5"/>
          <a:stretch>
            <a:fillRect/>
          </a:stretch>
        </p:blipFill>
        <p:spPr>
          <a:xfrm>
            <a:off x="3693444" y="3473988"/>
            <a:ext cx="184343" cy="184343"/>
          </a:xfrm>
          <a:prstGeom prst="rect">
            <a:avLst/>
          </a:prstGeom>
        </p:spPr>
      </p:pic>
      <p:sp>
        <p:nvSpPr>
          <p:cNvPr id="31" name="Text 24"/>
          <p:cNvSpPr txBox="1"/>
          <p:nvPr/>
        </p:nvSpPr>
        <p:spPr>
          <a:xfrm>
            <a:off x="4142232" y="3429000"/>
            <a:ext cx="1463040" cy="27432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Tie flag</a:t>
            </a:r>
            <a:endParaRPr lang="en-US" sz="1500" dirty="0"/>
          </a:p>
        </p:txBody>
      </p:sp>
      <p:sp>
        <p:nvSpPr>
          <p:cNvPr id="32" name="Text 25"/>
          <p:cNvSpPr txBox="1"/>
          <p:nvPr/>
        </p:nvSpPr>
        <p:spPr>
          <a:xfrm>
            <a:off x="5577840" y="3429000"/>
            <a:ext cx="2971800"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IsTie: two answers share the top count.</a:t>
            </a:r>
            <a:endParaRPr lang="en-US" sz="1200" dirty="0"/>
          </a:p>
        </p:txBody>
      </p:sp>
      <p:sp>
        <p:nvSpPr>
          <p:cNvPr id="33" name="Text 26"/>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An LLM judge would bring back the single point of failure the vote removes.</a:t>
            </a:r>
            <a:endParaRPr lang="en-US" sz="1400" dirty="0"/>
          </a:p>
        </p:txBody>
      </p:sp>
      <p:sp>
        <p:nvSpPr>
          <p:cNvPr id="34" name="Text 27"/>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33 — Voting &amp; Self-Consistency Ensembles</a:t>
            </a:r>
            <a:endParaRPr lang="en-US" sz="900" dirty="0"/>
          </a:p>
        </p:txBody>
      </p:sp>
      <p:sp>
        <p:nvSpPr>
          <p:cNvPr id="35" name="Text 28"/>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FIELD ORDER</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Ask for the answer before the reasoning</a:t>
            </a:r>
            <a:endParaRPr lang="en-US" sz="2800" dirty="0"/>
          </a:p>
        </p:txBody>
      </p:sp>
      <p:sp>
        <p:nvSpPr>
          <p:cNvPr id="4" name="Shape 2"/>
          <p:cNvSpPr/>
          <p:nvPr/>
        </p:nvSpPr>
        <p:spPr>
          <a:xfrm>
            <a:off x="457200" y="1371600"/>
            <a:ext cx="3931920" cy="1828800"/>
          </a:xfrm>
          <a:prstGeom prst="roundRect">
            <a:avLst>
              <a:gd name="adj" fmla="val 4000"/>
            </a:avLst>
          </a:prstGeom>
          <a:solidFill>
            <a:srgbClr val="F6F4FE"/>
          </a:solidFill>
          <a:ln w="12700">
            <a:solidFill>
              <a:srgbClr val="F6F4FE"/>
            </a:solidFill>
            <a:prstDash val="solid"/>
          </a:ln>
        </p:spPr>
      </p:sp>
      <p:sp>
        <p:nvSpPr>
          <p:cNvPr id="5" name="Shape 3"/>
          <p:cNvSpPr/>
          <p:nvPr/>
        </p:nvSpPr>
        <p:spPr>
          <a:xfrm>
            <a:off x="685800" y="1600200"/>
            <a:ext cx="438912" cy="438912"/>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99917" y="1714317"/>
            <a:ext cx="210678" cy="210678"/>
          </a:xfrm>
          <a:prstGeom prst="rect">
            <a:avLst/>
          </a:prstGeom>
        </p:spPr>
      </p:pic>
      <p:sp>
        <p:nvSpPr>
          <p:cNvPr id="7" name="Text 4"/>
          <p:cNvSpPr txBox="1"/>
          <p:nvPr/>
        </p:nvSpPr>
        <p:spPr>
          <a:xfrm>
            <a:off x="126187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Reasoning first</a:t>
            </a:r>
            <a:endParaRPr lang="en-US" sz="1700" dirty="0"/>
          </a:p>
        </p:txBody>
      </p:sp>
      <p:sp>
        <p:nvSpPr>
          <p:cNvPr id="8" name="Text 5"/>
          <p:cNvSpPr txBox="1"/>
          <p:nvPr/>
        </p:nvSpPr>
        <p:spPr>
          <a:xfrm>
            <a:off x="68580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An earlier version rambled on and on</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finalAnswer came back empty</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Five empty votes looked unanimous</a:t>
            </a:r>
            <a:endParaRPr lang="en-US" sz="1300" dirty="0"/>
          </a:p>
        </p:txBody>
      </p:sp>
      <p:sp>
        <p:nvSpPr>
          <p:cNvPr id="9" name="Shape 6"/>
          <p:cNvSpPr/>
          <p:nvPr/>
        </p:nvSpPr>
        <p:spPr>
          <a:xfrm>
            <a:off x="4754880" y="1371600"/>
            <a:ext cx="3931920" cy="1828800"/>
          </a:xfrm>
          <a:prstGeom prst="roundRect">
            <a:avLst>
              <a:gd name="adj" fmla="val 4000"/>
            </a:avLst>
          </a:prstGeom>
          <a:solidFill>
            <a:srgbClr val="EFEBFC"/>
          </a:solidFill>
          <a:ln w="12700">
            <a:solidFill>
              <a:srgbClr val="EFEBFC"/>
            </a:solidFill>
            <a:prstDash val="solid"/>
          </a:ln>
        </p:spPr>
      </p:sp>
      <p:sp>
        <p:nvSpPr>
          <p:cNvPr id="10" name="Shape 7"/>
          <p:cNvSpPr/>
          <p:nvPr/>
        </p:nvSpPr>
        <p:spPr>
          <a:xfrm>
            <a:off x="4983480" y="1600200"/>
            <a:ext cx="438912" cy="438912"/>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5097597" y="1714317"/>
            <a:ext cx="210678" cy="210678"/>
          </a:xfrm>
          <a:prstGeom prst="rect">
            <a:avLst/>
          </a:prstGeom>
        </p:spPr>
      </p:pic>
      <p:sp>
        <p:nvSpPr>
          <p:cNvPr id="12" name="Text 8"/>
          <p:cNvSpPr txBox="1"/>
          <p:nvPr/>
        </p:nvSpPr>
        <p:spPr>
          <a:xfrm>
            <a:off x="555955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Answer first</a:t>
            </a:r>
            <a:endParaRPr lang="en-US" sz="1700" dirty="0"/>
          </a:p>
        </p:txBody>
      </p:sp>
      <p:sp>
        <p:nvSpPr>
          <p:cNvPr id="13" name="Text 9"/>
          <p:cNvSpPr txBox="1"/>
          <p:nvPr/>
        </p:nvSpPr>
        <p:spPr>
          <a:xfrm>
            <a:off x="498348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finalAnswer is declared and requested first</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Reasoning is capped at 3 sentences</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The answer is committed before any ramble</a:t>
            </a:r>
            <a:endParaRPr lang="en-US" sz="1300" dirty="0"/>
          </a:p>
        </p:txBody>
      </p:sp>
      <p:sp>
        <p:nvSpPr>
          <p:cNvPr id="14" name="Text 10"/>
          <p:cNvSpPr txBox="1"/>
          <p:nvPr/>
        </p:nvSpPr>
        <p:spPr>
          <a:xfrm>
            <a:off x="457200" y="347472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Cheap insurance against any model's urge to over-explain.</a:t>
            </a:r>
            <a:endParaRPr lang="en-US" sz="1400" dirty="0"/>
          </a:p>
        </p:txBody>
      </p:sp>
      <p:sp>
        <p:nvSpPr>
          <p:cNvPr id="15" name="Text 11"/>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33 — Voting &amp; Self-Consistency Ensembles</a:t>
            </a:r>
            <a:endParaRPr lang="en-US" sz="900" dirty="0"/>
          </a:p>
        </p:txBody>
      </p:sp>
      <p:sp>
        <p:nvSpPr>
          <p:cNvPr id="16" name="Text 12"/>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ROBUSTNESS</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An ensemble should survive losing a member</a:t>
            </a:r>
            <a:endParaRPr lang="en-US" sz="2800" dirty="0"/>
          </a:p>
        </p:txBody>
      </p:sp>
      <p:sp>
        <p:nvSpPr>
          <p:cNvPr id="4" name="Shape 2"/>
          <p:cNvSpPr/>
          <p:nvPr/>
        </p:nvSpPr>
        <p:spPr>
          <a:xfrm>
            <a:off x="457200" y="1371600"/>
            <a:ext cx="1851660" cy="1600200"/>
          </a:xfrm>
          <a:prstGeom prst="roundRect">
            <a:avLst>
              <a:gd name="adj" fmla="val 4571"/>
            </a:avLst>
          </a:prstGeom>
          <a:solidFill>
            <a:srgbClr val="512BD4"/>
          </a:solidFill>
          <a:ln w="12700">
            <a:solidFill>
              <a:srgbClr val="512BD4"/>
            </a:solidFill>
            <a:prstDash val="solid"/>
          </a:ln>
        </p:spPr>
      </p:sp>
      <p:sp>
        <p:nvSpPr>
          <p:cNvPr id="5" name="Shape 3"/>
          <p:cNvSpPr/>
          <p:nvPr/>
        </p:nvSpPr>
        <p:spPr>
          <a:xfrm>
            <a:off x="640080" y="1554480"/>
            <a:ext cx="384048" cy="384048"/>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739932" y="1654332"/>
            <a:ext cx="184343" cy="184343"/>
          </a:xfrm>
          <a:prstGeom prst="rect">
            <a:avLst/>
          </a:prstGeom>
        </p:spPr>
      </p:pic>
      <p:sp>
        <p:nvSpPr>
          <p:cNvPr id="7" name="Text 4"/>
          <p:cNvSpPr txBox="1"/>
          <p:nvPr/>
        </p:nvSpPr>
        <p:spPr>
          <a:xfrm>
            <a:off x="1143000" y="1554480"/>
            <a:ext cx="1028700" cy="384048"/>
          </a:xfrm>
          <a:prstGeom prst="rect">
            <a:avLst/>
          </a:prstGeom>
          <a:noFill/>
          <a:ln/>
        </p:spPr>
        <p:txBody>
          <a:bodyPr wrap="square" lIns="0" tIns="0" rIns="0" bIns="0" rtlCol="0" anchor="ctr">
            <a:normAutofit/>
          </a:bodyPr>
          <a:lstStyle/>
          <a:p>
            <a:pPr indent="0" marL="0">
              <a:buNone/>
            </a:pPr>
            <a:r>
              <a:rPr lang="en-US" sz="1300" b="1" dirty="0">
                <a:solidFill>
                  <a:srgbClr val="FFFFFF"/>
                </a:solidFill>
                <a:latin typeface="Calibri" pitchFamily="34" charset="0"/>
                <a:ea typeface="Calibri" pitchFamily="34" charset="-122"/>
                <a:cs typeface="Calibri" pitchFamily="34" charset="-120"/>
              </a:rPr>
              <a:t>Per-sample</a:t>
            </a:r>
            <a:endParaRPr lang="en-US" sz="1300" dirty="0"/>
          </a:p>
        </p:txBody>
      </p:sp>
      <p:sp>
        <p:nvSpPr>
          <p:cNvPr id="8" name="Text 5"/>
          <p:cNvSpPr txBox="1"/>
          <p:nvPr/>
        </p:nvSpPr>
        <p:spPr>
          <a:xfrm>
            <a:off x="640080" y="2057400"/>
            <a:ext cx="1485900" cy="8229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Each call has its own try/catch; a failure costs one vote.</a:t>
            </a:r>
            <a:endParaRPr lang="en-US" sz="1200" dirty="0"/>
          </a:p>
        </p:txBody>
      </p:sp>
      <p:sp>
        <p:nvSpPr>
          <p:cNvPr id="9" name="Shape 6"/>
          <p:cNvSpPr/>
          <p:nvPr/>
        </p:nvSpPr>
        <p:spPr>
          <a:xfrm>
            <a:off x="2583180" y="1371600"/>
            <a:ext cx="1851660" cy="1600200"/>
          </a:xfrm>
          <a:prstGeom prst="roundRect">
            <a:avLst>
              <a:gd name="adj" fmla="val 4571"/>
            </a:avLst>
          </a:prstGeom>
          <a:solidFill>
            <a:srgbClr val="EFEBFC"/>
          </a:solidFill>
          <a:ln w="12700">
            <a:solidFill>
              <a:srgbClr val="EFEBFC"/>
            </a:solidFill>
            <a:prstDash val="solid"/>
          </a:ln>
        </p:spPr>
      </p:sp>
      <p:sp>
        <p:nvSpPr>
          <p:cNvPr id="10" name="Shape 7"/>
          <p:cNvSpPr/>
          <p:nvPr/>
        </p:nvSpPr>
        <p:spPr>
          <a:xfrm>
            <a:off x="2766060" y="155448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2865912" y="1654332"/>
            <a:ext cx="184343" cy="184343"/>
          </a:xfrm>
          <a:prstGeom prst="rect">
            <a:avLst/>
          </a:prstGeom>
        </p:spPr>
      </p:pic>
      <p:sp>
        <p:nvSpPr>
          <p:cNvPr id="12" name="Text 8"/>
          <p:cNvSpPr txBox="1"/>
          <p:nvPr/>
        </p:nvSpPr>
        <p:spPr>
          <a:xfrm>
            <a:off x="3268980" y="1554480"/>
            <a:ext cx="1028700" cy="384048"/>
          </a:xfrm>
          <a:prstGeom prst="rect">
            <a:avLst/>
          </a:prstGeom>
          <a:noFill/>
          <a:ln/>
        </p:spPr>
        <p:txBody>
          <a:bodyPr wrap="square" lIns="0" tIns="0" rIns="0" bIns="0" rtlCol="0" anchor="ctr">
            <a:normAutofit/>
          </a:bodyPr>
          <a:lstStyle/>
          <a:p>
            <a:pPr indent="0" marL="0">
              <a:buNone/>
            </a:pPr>
            <a:r>
              <a:rPr lang="en-US" sz="1300" b="1" dirty="0">
                <a:solidFill>
                  <a:srgbClr val="1F2937"/>
                </a:solidFill>
                <a:latin typeface="Calibri" pitchFamily="34" charset="0"/>
                <a:ea typeface="Calibri" pitchFamily="34" charset="-122"/>
                <a:cs typeface="Calibri" pitchFamily="34" charset="-120"/>
              </a:rPr>
              <a:t>Sentinel</a:t>
            </a:r>
            <a:endParaRPr lang="en-US" sz="1300" dirty="0"/>
          </a:p>
        </p:txBody>
      </p:sp>
      <p:sp>
        <p:nvSpPr>
          <p:cNvPr id="13" name="Text 9"/>
          <p:cNvSpPr txBox="1"/>
          <p:nvPr/>
        </p:nvSpPr>
        <p:spPr>
          <a:xfrm>
            <a:off x="2766060" y="2057400"/>
            <a:ext cx="1485900" cy="82296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Bad JSON returns finalAnswer UNPARSEABLE.</a:t>
            </a:r>
            <a:endParaRPr lang="en-US" sz="1200" dirty="0"/>
          </a:p>
        </p:txBody>
      </p:sp>
      <p:sp>
        <p:nvSpPr>
          <p:cNvPr id="14" name="Shape 10"/>
          <p:cNvSpPr/>
          <p:nvPr/>
        </p:nvSpPr>
        <p:spPr>
          <a:xfrm>
            <a:off x="4709160" y="1371600"/>
            <a:ext cx="1851660" cy="1600200"/>
          </a:xfrm>
          <a:prstGeom prst="roundRect">
            <a:avLst>
              <a:gd name="adj" fmla="val 4571"/>
            </a:avLst>
          </a:prstGeom>
          <a:solidFill>
            <a:srgbClr val="EFEBFC"/>
          </a:solidFill>
          <a:ln w="12700">
            <a:solidFill>
              <a:srgbClr val="EFEBFC"/>
            </a:solidFill>
            <a:prstDash val="solid"/>
          </a:ln>
        </p:spPr>
      </p:sp>
      <p:sp>
        <p:nvSpPr>
          <p:cNvPr id="15" name="Shape 11"/>
          <p:cNvSpPr/>
          <p:nvPr/>
        </p:nvSpPr>
        <p:spPr>
          <a:xfrm>
            <a:off x="4892040" y="1554480"/>
            <a:ext cx="384048" cy="384048"/>
          </a:xfrm>
          <a:prstGeom prst="ellipse">
            <a:avLst/>
          </a:prstGeom>
          <a:solidFill>
            <a:srgbClr val="512BD4"/>
          </a:solidFill>
          <a:ln w="12700">
            <a:solidFill>
              <a:srgbClr val="512BD4"/>
            </a:solidFill>
            <a:prstDash val="solid"/>
          </a:ln>
        </p:spPr>
      </p:sp>
      <p:pic>
        <p:nvPicPr>
          <p:cNvPr id="16" name="Image 2" descr="preencoded.png">    </p:cNvPr>
          <p:cNvPicPr>
            <a:picLocks noChangeAspect="1"/>
          </p:cNvPicPr>
          <p:nvPr/>
        </p:nvPicPr>
        <p:blipFill>
          <a:blip r:embed="rId3"/>
          <a:stretch>
            <a:fillRect/>
          </a:stretch>
        </p:blipFill>
        <p:spPr>
          <a:xfrm>
            <a:off x="4991892" y="1654332"/>
            <a:ext cx="184343" cy="184343"/>
          </a:xfrm>
          <a:prstGeom prst="rect">
            <a:avLst/>
          </a:prstGeom>
        </p:spPr>
      </p:pic>
      <p:sp>
        <p:nvSpPr>
          <p:cNvPr id="17" name="Text 12"/>
          <p:cNvSpPr txBox="1"/>
          <p:nvPr/>
        </p:nvSpPr>
        <p:spPr>
          <a:xfrm>
            <a:off x="5394960" y="1554480"/>
            <a:ext cx="1028700" cy="384048"/>
          </a:xfrm>
          <a:prstGeom prst="rect">
            <a:avLst/>
          </a:prstGeom>
          <a:noFill/>
          <a:ln/>
        </p:spPr>
        <p:txBody>
          <a:bodyPr wrap="square" lIns="0" tIns="0" rIns="0" bIns="0" rtlCol="0" anchor="ctr">
            <a:normAutofit/>
          </a:bodyPr>
          <a:lstStyle/>
          <a:p>
            <a:pPr indent="0" marL="0">
              <a:buNone/>
            </a:pPr>
            <a:r>
              <a:rPr lang="en-US" sz="1300" b="1" dirty="0">
                <a:solidFill>
                  <a:srgbClr val="1F2937"/>
                </a:solidFill>
                <a:latin typeface="Calibri" pitchFamily="34" charset="0"/>
                <a:ea typeface="Calibri" pitchFamily="34" charset="-122"/>
                <a:cs typeface="Calibri" pitchFamily="34" charset="-120"/>
              </a:rPr>
              <a:t>Excluded</a:t>
            </a:r>
            <a:endParaRPr lang="en-US" sz="1300" dirty="0"/>
          </a:p>
        </p:txBody>
      </p:sp>
      <p:sp>
        <p:nvSpPr>
          <p:cNvPr id="18" name="Text 13"/>
          <p:cNvSpPr txBox="1"/>
          <p:nvPr/>
        </p:nvSpPr>
        <p:spPr>
          <a:xfrm>
            <a:off x="4892040" y="2057400"/>
            <a:ext cx="1485900" cy="82296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UNPARSEABLE samples never cast a vote.</a:t>
            </a:r>
            <a:endParaRPr lang="en-US" sz="1200" dirty="0"/>
          </a:p>
        </p:txBody>
      </p:sp>
      <p:sp>
        <p:nvSpPr>
          <p:cNvPr id="19" name="Shape 14"/>
          <p:cNvSpPr/>
          <p:nvPr/>
        </p:nvSpPr>
        <p:spPr>
          <a:xfrm>
            <a:off x="6835140" y="1371600"/>
            <a:ext cx="1851660" cy="1600200"/>
          </a:xfrm>
          <a:prstGeom prst="roundRect">
            <a:avLst>
              <a:gd name="adj" fmla="val 4571"/>
            </a:avLst>
          </a:prstGeom>
          <a:solidFill>
            <a:srgbClr val="EFEBFC"/>
          </a:solidFill>
          <a:ln w="12700">
            <a:solidFill>
              <a:srgbClr val="EFEBFC"/>
            </a:solidFill>
            <a:prstDash val="solid"/>
          </a:ln>
        </p:spPr>
      </p:sp>
      <p:sp>
        <p:nvSpPr>
          <p:cNvPr id="20" name="Shape 15"/>
          <p:cNvSpPr/>
          <p:nvPr/>
        </p:nvSpPr>
        <p:spPr>
          <a:xfrm>
            <a:off x="7018020" y="1554480"/>
            <a:ext cx="384048" cy="384048"/>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7117872" y="1654332"/>
            <a:ext cx="184343" cy="184343"/>
          </a:xfrm>
          <a:prstGeom prst="rect">
            <a:avLst/>
          </a:prstGeom>
        </p:spPr>
      </p:pic>
      <p:sp>
        <p:nvSpPr>
          <p:cNvPr id="22" name="Text 16"/>
          <p:cNvSpPr txBox="1"/>
          <p:nvPr/>
        </p:nvSpPr>
        <p:spPr>
          <a:xfrm>
            <a:off x="7520940" y="1554480"/>
            <a:ext cx="1028700" cy="384048"/>
          </a:xfrm>
          <a:prstGeom prst="rect">
            <a:avLst/>
          </a:prstGeom>
          <a:noFill/>
          <a:ln/>
        </p:spPr>
        <p:txBody>
          <a:bodyPr wrap="square" lIns="0" tIns="0" rIns="0" bIns="0" rtlCol="0" anchor="ctr">
            <a:normAutofit/>
          </a:bodyPr>
          <a:lstStyle/>
          <a:p>
            <a:pPr indent="0" marL="0">
              <a:buNone/>
            </a:pPr>
            <a:r>
              <a:rPr lang="en-US" sz="1300" b="1" dirty="0">
                <a:solidFill>
                  <a:srgbClr val="1F2937"/>
                </a:solidFill>
                <a:latin typeface="Calibri" pitchFamily="34" charset="0"/>
                <a:ea typeface="Calibri" pitchFamily="34" charset="-122"/>
                <a:cs typeface="Calibri" pitchFamily="34" charset="-120"/>
              </a:rPr>
              <a:t>Honest tie</a:t>
            </a:r>
            <a:endParaRPr lang="en-US" sz="1300" dirty="0"/>
          </a:p>
        </p:txBody>
      </p:sp>
      <p:sp>
        <p:nvSpPr>
          <p:cNvPr id="23" name="Text 17"/>
          <p:cNvSpPr txBox="1"/>
          <p:nvPr/>
        </p:nvSpPr>
        <p:spPr>
          <a:xfrm>
            <a:off x="7018020" y="2057400"/>
            <a:ext cx="1485900" cy="82296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 tie prints NO CONSENSUS before one tied answer.</a:t>
            </a:r>
            <a:endParaRPr lang="en-US" sz="1200" dirty="0"/>
          </a:p>
        </p:txBody>
      </p:sp>
      <p:sp>
        <p:nvSpPr>
          <p:cNvPr id="24" name="Text 18"/>
          <p:cNvSpPr txBox="1"/>
          <p:nvPr/>
        </p:nvSpPr>
        <p:spPr>
          <a:xfrm>
            <a:off x="457200" y="320040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If no votable samples remain, the program says so and stops.</a:t>
            </a:r>
            <a:endParaRPr lang="en-US" sz="1400" dirty="0"/>
          </a:p>
        </p:txBody>
      </p:sp>
      <p:sp>
        <p:nvSpPr>
          <p:cNvPr id="25" name="Text 19"/>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33 — Voting &amp; Self-Consistency Ensembles</a:t>
            </a:r>
            <a:endParaRPr lang="en-US" sz="900" dirty="0"/>
          </a:p>
        </p:txBody>
      </p:sp>
      <p:sp>
        <p:nvSpPr>
          <p:cNvPr id="26" name="Text 20"/>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EXPECTED RESULT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Run it: five samples, one consensus</a:t>
            </a:r>
            <a:endParaRPr lang="en-US" sz="2800" dirty="0"/>
          </a:p>
        </p:txBody>
      </p:sp>
      <p:sp>
        <p:nvSpPr>
          <p:cNvPr id="4" name="Shape 2"/>
          <p:cNvSpPr/>
          <p:nvPr/>
        </p:nvSpPr>
        <p:spPr>
          <a:xfrm>
            <a:off x="457200" y="1325880"/>
            <a:ext cx="5257800" cy="2697480"/>
          </a:xfrm>
          <a:prstGeom prst="roundRect">
            <a:avLst>
              <a:gd name="adj" fmla="val 2712"/>
            </a:avLst>
          </a:prstGeom>
          <a:solidFill>
            <a:srgbClr val="0F1420"/>
          </a:solidFill>
          <a:ln w="12700">
            <a:solidFill>
              <a:srgbClr val="0F1420"/>
            </a:solidFill>
            <a:prstDash val="solid"/>
          </a:ln>
        </p:spPr>
      </p:sp>
      <p:sp>
        <p:nvSpPr>
          <p:cNvPr id="5" name="Text 3"/>
          <p:cNvSpPr txBox="1"/>
          <p:nvPr/>
        </p:nvSpPr>
        <p:spPr>
          <a:xfrm>
            <a:off x="640080" y="1463040"/>
            <a:ext cx="4892040" cy="2423160"/>
          </a:xfrm>
          <a:prstGeom prst="rect">
            <a:avLst/>
          </a:prstGeom>
          <a:noFill/>
          <a:ln/>
        </p:spPr>
        <p:txBody>
          <a:bodyPr wrap="square" lIns="0" tIns="0" rIns="0" bIns="0" rtlCol="0" anchor="t"/>
          <a:lstStyle/>
          <a:p>
            <a:pPr indent="0" marL="0">
              <a:buNone/>
            </a:pPr>
            <a:r>
              <a:rPr lang="en-US" sz="1100" dirty="0">
                <a:solidFill>
                  <a:srgbClr val="D7E3F4"/>
                </a:solidFill>
                <a:latin typeface="Courier New" pitchFamily="34" charset="0"/>
                <a:ea typeface="Courier New" pitchFamily="34" charset="-122"/>
                <a:cs typeface="Courier New" pitchFamily="34" charset="-120"/>
              </a:rPr>
              <a:t>PROBLEM: A bat and a ball cost $1.10 in total...</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 Sample 1 (answer: 0.05) ---</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Let the ball's cost be L and the bat's cost be B.</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We have B + L = 1.10 and B = L + 1.00. Substituting</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gives 2L + 1.00 = 1.10, so L = 0.05.</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 Sample 2 (answer: 0.05) ---</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[similar reasoning, same answer]</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 samples 3 to 5 likewise ...</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 Vote Tally ---</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  0.05: 5 vote(s)</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 CONSENSUS ANSWER ---</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0.05</a:t>
            </a:r>
            <a:endParaRPr lang="en-US" sz="1100" dirty="0"/>
          </a:p>
        </p:txBody>
      </p:sp>
      <p:sp>
        <p:nvSpPr>
          <p:cNvPr id="6" name="Shape 4"/>
          <p:cNvSpPr/>
          <p:nvPr/>
        </p:nvSpPr>
        <p:spPr>
          <a:xfrm>
            <a:off x="6035040" y="1325880"/>
            <a:ext cx="384048" cy="384048"/>
          </a:xfrm>
          <a:prstGeom prst="ellipse">
            <a:avLst/>
          </a:prstGeom>
          <a:solidFill>
            <a:srgbClr val="512BD4"/>
          </a:solidFill>
          <a:ln w="12700">
            <a:solidFill>
              <a:srgbClr val="512BD4"/>
            </a:solidFill>
            <a:prstDash val="solid"/>
          </a:ln>
        </p:spPr>
      </p:sp>
      <p:pic>
        <p:nvPicPr>
          <p:cNvPr id="7" name="Image 0" descr="preencoded.png">    </p:cNvPr>
          <p:cNvPicPr>
            <a:picLocks noChangeAspect="1"/>
          </p:cNvPicPr>
          <p:nvPr/>
        </p:nvPicPr>
        <p:blipFill>
          <a:blip r:embed="rId1"/>
          <a:stretch>
            <a:fillRect/>
          </a:stretch>
        </p:blipFill>
        <p:spPr>
          <a:xfrm>
            <a:off x="6134892" y="1425732"/>
            <a:ext cx="184343" cy="184343"/>
          </a:xfrm>
          <a:prstGeom prst="rect">
            <a:avLst/>
          </a:prstGeom>
        </p:spPr>
      </p:pic>
      <p:sp>
        <p:nvSpPr>
          <p:cNvPr id="8" name="Text 5"/>
          <p:cNvSpPr txBox="1"/>
          <p:nvPr/>
        </p:nvSpPr>
        <p:spPr>
          <a:xfrm>
            <a:off x="6537960" y="132588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Unanimous is fine</a:t>
            </a:r>
            <a:endParaRPr lang="en-US" sz="1400" dirty="0"/>
          </a:p>
        </p:txBody>
      </p:sp>
      <p:sp>
        <p:nvSpPr>
          <p:cNvPr id="9" name="Text 6"/>
          <p:cNvSpPr txBox="1"/>
          <p:nvPr/>
        </p:nvSpPr>
        <p:spPr>
          <a:xfrm>
            <a:off x="6537960" y="170992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All five on 0.05 means the model reasons this reliably.</a:t>
            </a:r>
            <a:endParaRPr lang="en-US" sz="1200" dirty="0"/>
          </a:p>
        </p:txBody>
      </p:sp>
      <p:sp>
        <p:nvSpPr>
          <p:cNvPr id="10" name="Shape 7"/>
          <p:cNvSpPr/>
          <p:nvPr/>
        </p:nvSpPr>
        <p:spPr>
          <a:xfrm>
            <a:off x="6035040" y="242316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6134892" y="2523012"/>
            <a:ext cx="184343" cy="184343"/>
          </a:xfrm>
          <a:prstGeom prst="rect">
            <a:avLst/>
          </a:prstGeom>
        </p:spPr>
      </p:pic>
      <p:sp>
        <p:nvSpPr>
          <p:cNvPr id="12" name="Text 8"/>
          <p:cNvSpPr txBox="1"/>
          <p:nvPr/>
        </p:nvSpPr>
        <p:spPr>
          <a:xfrm>
            <a:off x="6537960" y="242316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Or 4 to 1</a:t>
            </a:r>
            <a:endParaRPr lang="en-US" sz="1400" dirty="0"/>
          </a:p>
        </p:txBody>
      </p:sp>
      <p:sp>
        <p:nvSpPr>
          <p:cNvPr id="13" name="Text 9"/>
          <p:cNvSpPr txBox="1"/>
          <p:nvPr/>
        </p:nvSpPr>
        <p:spPr>
          <a:xfrm>
            <a:off x="6537960" y="280720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 stray 0.10 gets outvoted; the answer is still 0.05.</a:t>
            </a:r>
            <a:endParaRPr lang="en-US" sz="1200" dirty="0"/>
          </a:p>
        </p:txBody>
      </p:sp>
      <p:sp>
        <p:nvSpPr>
          <p:cNvPr id="14" name="Shape 10"/>
          <p:cNvSpPr/>
          <p:nvPr/>
        </p:nvSpPr>
        <p:spPr>
          <a:xfrm>
            <a:off x="6035040" y="3520440"/>
            <a:ext cx="384048" cy="384048"/>
          </a:xfrm>
          <a:prstGeom prst="ellipse">
            <a:avLst/>
          </a:prstGeom>
          <a:solidFill>
            <a:srgbClr val="512BD4"/>
          </a:solidFill>
          <a:ln w="12700">
            <a:solidFill>
              <a:srgbClr val="512BD4"/>
            </a:solidFill>
            <a:prstDash val="solid"/>
          </a:ln>
        </p:spPr>
      </p:sp>
      <p:pic>
        <p:nvPicPr>
          <p:cNvPr id="15" name="Image 2" descr="preencoded.png">    </p:cNvPr>
          <p:cNvPicPr>
            <a:picLocks noChangeAspect="1"/>
          </p:cNvPicPr>
          <p:nvPr/>
        </p:nvPicPr>
        <p:blipFill>
          <a:blip r:embed="rId3"/>
          <a:stretch>
            <a:fillRect/>
          </a:stretch>
        </p:blipFill>
        <p:spPr>
          <a:xfrm>
            <a:off x="6134892" y="3620292"/>
            <a:ext cx="184343" cy="184343"/>
          </a:xfrm>
          <a:prstGeom prst="rect">
            <a:avLst/>
          </a:prstGeom>
        </p:spPr>
      </p:pic>
      <p:sp>
        <p:nvSpPr>
          <p:cNvPr id="16" name="Text 11"/>
          <p:cNvSpPr txBox="1"/>
          <p:nvPr/>
        </p:nvSpPr>
        <p:spPr>
          <a:xfrm>
            <a:off x="6537960" y="352044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Wording varies</a:t>
            </a:r>
            <a:endParaRPr lang="en-US" sz="1400" dirty="0"/>
          </a:p>
        </p:txBody>
      </p:sp>
      <p:sp>
        <p:nvSpPr>
          <p:cNvPr id="17" name="Text 12"/>
          <p:cNvSpPr txBox="1"/>
          <p:nvPr/>
        </p:nvSpPr>
        <p:spPr>
          <a:xfrm>
            <a:off x="6537960" y="390448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Abridged from the lesson's sample run. Yours will differ.</a:t>
            </a:r>
            <a:endParaRPr lang="en-US" sz="1200" dirty="0"/>
          </a:p>
        </p:txBody>
      </p:sp>
      <p:sp>
        <p:nvSpPr>
          <p:cNvPr id="18" name="Text 13"/>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33 — Voting &amp; Self-Consistency Ensembles</a:t>
            </a:r>
            <a:endParaRPr lang="en-US" sz="900" dirty="0"/>
          </a:p>
        </p:txBody>
      </p:sp>
      <p:sp>
        <p:nvSpPr>
          <p:cNvPr id="19" name="Text 14"/>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EXERCISE</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Report how strong the consensus is</a:t>
            </a:r>
            <a:endParaRPr lang="en-US" sz="2800" dirty="0"/>
          </a:p>
        </p:txBody>
      </p:sp>
      <p:sp>
        <p:nvSpPr>
          <p:cNvPr id="4" name="Shape 2"/>
          <p:cNvSpPr/>
          <p:nvPr/>
        </p:nvSpPr>
        <p:spPr>
          <a:xfrm>
            <a:off x="457200" y="1371600"/>
            <a:ext cx="3108960" cy="3017520"/>
          </a:xfrm>
          <a:prstGeom prst="roundRect">
            <a:avLst>
              <a:gd name="adj" fmla="val 2424"/>
            </a:avLst>
          </a:prstGeom>
          <a:solidFill>
            <a:srgbClr val="512BD4"/>
          </a:solidFill>
          <a:ln w="12700">
            <a:solidFill>
              <a:srgbClr val="512BD4"/>
            </a:solidFill>
            <a:prstDash val="solid"/>
          </a:ln>
        </p:spPr>
      </p:sp>
      <p:sp>
        <p:nvSpPr>
          <p:cNvPr id="5" name="Shape 3"/>
          <p:cNvSpPr/>
          <p:nvPr/>
        </p:nvSpPr>
        <p:spPr>
          <a:xfrm>
            <a:off x="685800" y="1600200"/>
            <a:ext cx="457200" cy="45720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04672" y="1719072"/>
            <a:ext cx="219456" cy="219456"/>
          </a:xfrm>
          <a:prstGeom prst="rect">
            <a:avLst/>
          </a:prstGeom>
        </p:spPr>
      </p:pic>
      <p:sp>
        <p:nvSpPr>
          <p:cNvPr id="7" name="Text 4"/>
          <p:cNvSpPr txBox="1"/>
          <p:nvPr/>
        </p:nvSpPr>
        <p:spPr>
          <a:xfrm>
            <a:off x="685800" y="2194560"/>
            <a:ext cx="2651760" cy="137160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Print the winning share, such as 4/5 (80%), and treat any winner below a 60% share as no consensus.</a:t>
            </a:r>
            <a:endParaRPr lang="en-US" sz="1400" dirty="0"/>
          </a:p>
        </p:txBody>
      </p:sp>
      <p:sp>
        <p:nvSpPr>
          <p:cNvPr id="8" name="Text 5"/>
          <p:cNvSpPr txBox="1"/>
          <p:nvPr/>
        </p:nvSpPr>
        <p:spPr>
          <a:xfrm>
            <a:off x="685800" y="3611880"/>
            <a:ext cx="2743200" cy="640080"/>
          </a:xfrm>
          <a:prstGeom prst="rect">
            <a:avLst/>
          </a:prstGeom>
          <a:noFill/>
          <a:ln/>
        </p:spPr>
        <p:txBody>
          <a:bodyPr wrap="square" lIns="0" tIns="0" rIns="0" bIns="0" rtlCol="0" anchor="b"/>
          <a:lstStyle/>
          <a:p>
            <a:pPr indent="0" marL="0">
              <a:buNone/>
            </a:pPr>
            <a:r>
              <a:rPr lang="en-US" sz="850" dirty="0">
                <a:solidFill>
                  <a:srgbClr val="B8B2E6"/>
                </a:solidFill>
                <a:latin typeface="Courier New" pitchFamily="34" charset="0"/>
                <a:ea typeface="Courier New" pitchFamily="34" charset="-122"/>
                <a:cs typeface="Courier New" pitchFamily="34" charset="-120"/>
              </a:rPr>
              <a:t>Lesson33-VotingEnsembles/</a:t>
            </a:r>
            <a:endParaRPr lang="en-US" sz="850" dirty="0"/>
          </a:p>
          <a:p>
            <a:pPr indent="0" marL="0">
              <a:buNone/>
            </a:pPr>
            <a:r>
              <a:rPr lang="en-US" sz="850" dirty="0">
                <a:solidFill>
                  <a:srgbClr val="B8B2E6"/>
                </a:solidFill>
                <a:latin typeface="Courier New" pitchFamily="34" charset="0"/>
                <a:ea typeface="Courier New" pitchFamily="34" charset="-122"/>
                <a:cs typeface="Courier New" pitchFamily="34" charset="-120"/>
              </a:rPr>
              <a:t>VotingEnsembles/Program.cs</a:t>
            </a:r>
            <a:endParaRPr lang="en-US" sz="850" dirty="0"/>
          </a:p>
        </p:txBody>
      </p:sp>
      <p:sp>
        <p:nvSpPr>
          <p:cNvPr id="9" name="Text 6"/>
          <p:cNvSpPr txBox="1"/>
          <p:nvPr/>
        </p:nvSpPr>
        <p:spPr>
          <a:xfrm>
            <a:off x="3931920" y="1371600"/>
            <a:ext cx="4754880" cy="320040"/>
          </a:xfrm>
          <a:prstGeom prst="rect">
            <a:avLst/>
          </a:prstGeom>
          <a:noFill/>
          <a:ln/>
        </p:spPr>
        <p:txBody>
          <a:bodyPr wrap="square" lIns="0" tIns="0" rIns="0" bIns="0" rtlCol="0" anchor="t"/>
          <a:lstStyle/>
          <a:p>
            <a:pPr indent="0" marL="0">
              <a:buNone/>
            </a:pPr>
            <a:r>
              <a:rPr lang="en-US" sz="1600" b="1" dirty="0">
                <a:solidFill>
                  <a:srgbClr val="1F2937"/>
                </a:solidFill>
                <a:latin typeface="Cambria" pitchFamily="34" charset="0"/>
                <a:ea typeface="Cambria" pitchFamily="34" charset="-122"/>
                <a:cs typeface="Cambria" pitchFamily="34" charset="-120"/>
              </a:rPr>
              <a:t>Done when</a:t>
            </a:r>
            <a:endParaRPr lang="en-US" sz="1600" dirty="0"/>
          </a:p>
        </p:txBody>
      </p:sp>
      <p:sp>
        <p:nvSpPr>
          <p:cNvPr id="10" name="Shape 7"/>
          <p:cNvSpPr/>
          <p:nvPr/>
        </p:nvSpPr>
        <p:spPr>
          <a:xfrm>
            <a:off x="3931920" y="1801368"/>
            <a:ext cx="292608" cy="292608"/>
          </a:xfrm>
          <a:prstGeom prst="ellipse">
            <a:avLst/>
          </a:prstGeom>
          <a:solidFill>
            <a:srgbClr val="F5A623"/>
          </a:solidFill>
          <a:ln w="12700">
            <a:solidFill>
              <a:srgbClr val="F5A623"/>
            </a:solidFill>
            <a:prstDash val="solid"/>
          </a:ln>
        </p:spPr>
      </p:sp>
      <p:pic>
        <p:nvPicPr>
          <p:cNvPr id="11" name="Image 1" descr="preencoded.png">    </p:cNvPr>
          <p:cNvPicPr>
            <a:picLocks noChangeAspect="1"/>
          </p:cNvPicPr>
          <p:nvPr/>
        </p:nvPicPr>
        <p:blipFill>
          <a:blip r:embed="rId2"/>
          <a:stretch>
            <a:fillRect/>
          </a:stretch>
        </p:blipFill>
        <p:spPr>
          <a:xfrm>
            <a:off x="4007998" y="1877446"/>
            <a:ext cx="140452" cy="140452"/>
          </a:xfrm>
          <a:prstGeom prst="rect">
            <a:avLst/>
          </a:prstGeom>
        </p:spPr>
      </p:pic>
      <p:sp>
        <p:nvSpPr>
          <p:cNvPr id="12" name="Text 8"/>
          <p:cNvSpPr txBox="1"/>
          <p:nvPr/>
        </p:nvSpPr>
        <p:spPr>
          <a:xfrm>
            <a:off x="4361688" y="178308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A unanimous run prints 5/5 (100%)</a:t>
            </a:r>
            <a:endParaRPr lang="en-US" sz="1300" dirty="0"/>
          </a:p>
        </p:txBody>
      </p:sp>
      <p:sp>
        <p:nvSpPr>
          <p:cNvPr id="13" name="Shape 9"/>
          <p:cNvSpPr/>
          <p:nvPr/>
        </p:nvSpPr>
        <p:spPr>
          <a:xfrm>
            <a:off x="3931920" y="2441448"/>
            <a:ext cx="292608" cy="292608"/>
          </a:xfrm>
          <a:prstGeom prst="ellipse">
            <a:avLst/>
          </a:prstGeom>
          <a:solidFill>
            <a:srgbClr val="F5A623"/>
          </a:solidFill>
          <a:ln w="12700">
            <a:solidFill>
              <a:srgbClr val="F5A623"/>
            </a:solidFill>
            <a:prstDash val="solid"/>
          </a:ln>
        </p:spPr>
      </p:sp>
      <p:pic>
        <p:nvPicPr>
          <p:cNvPr id="14" name="Image 2" descr="preencoded.png">    </p:cNvPr>
          <p:cNvPicPr>
            <a:picLocks noChangeAspect="1"/>
          </p:cNvPicPr>
          <p:nvPr/>
        </p:nvPicPr>
        <p:blipFill>
          <a:blip r:embed="rId3"/>
          <a:stretch>
            <a:fillRect/>
          </a:stretch>
        </p:blipFill>
        <p:spPr>
          <a:xfrm>
            <a:off x="4007998" y="2517526"/>
            <a:ext cx="140452" cy="140452"/>
          </a:xfrm>
          <a:prstGeom prst="rect">
            <a:avLst/>
          </a:prstGeom>
        </p:spPr>
      </p:pic>
      <p:sp>
        <p:nvSpPr>
          <p:cNvPr id="15" name="Text 10"/>
          <p:cNvSpPr txBox="1"/>
          <p:nvPr/>
        </p:nvSpPr>
        <p:spPr>
          <a:xfrm>
            <a:off x="4361688" y="242316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The share uses votable samples, not the 5 requested</a:t>
            </a:r>
            <a:endParaRPr lang="en-US" sz="1300" dirty="0"/>
          </a:p>
        </p:txBody>
      </p:sp>
      <p:sp>
        <p:nvSpPr>
          <p:cNvPr id="16" name="Shape 11"/>
          <p:cNvSpPr/>
          <p:nvPr/>
        </p:nvSpPr>
        <p:spPr>
          <a:xfrm>
            <a:off x="3931920" y="3081528"/>
            <a:ext cx="292608" cy="292608"/>
          </a:xfrm>
          <a:prstGeom prst="ellipse">
            <a:avLst/>
          </a:prstGeom>
          <a:solidFill>
            <a:srgbClr val="F5A623"/>
          </a:solidFill>
          <a:ln w="12700">
            <a:solidFill>
              <a:srgbClr val="F5A623"/>
            </a:solidFill>
            <a:prstDash val="solid"/>
          </a:ln>
        </p:spPr>
      </p:sp>
      <p:pic>
        <p:nvPicPr>
          <p:cNvPr id="17" name="Image 3" descr="preencoded.png">    </p:cNvPr>
          <p:cNvPicPr>
            <a:picLocks noChangeAspect="1"/>
          </p:cNvPicPr>
          <p:nvPr/>
        </p:nvPicPr>
        <p:blipFill>
          <a:blip r:embed="rId4"/>
          <a:stretch>
            <a:fillRect/>
          </a:stretch>
        </p:blipFill>
        <p:spPr>
          <a:xfrm>
            <a:off x="4007998" y="3157606"/>
            <a:ext cx="140452" cy="140452"/>
          </a:xfrm>
          <a:prstGeom prst="rect">
            <a:avLst/>
          </a:prstGeom>
        </p:spPr>
      </p:pic>
      <p:sp>
        <p:nvSpPr>
          <p:cNvPr id="18" name="Text 12"/>
          <p:cNvSpPr txBox="1"/>
          <p:nvPr/>
        </p:nvSpPr>
        <p:spPr>
          <a:xfrm>
            <a:off x="4361688" y="306324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A 2-2-1 split prints NO CONSENSUS</a:t>
            </a:r>
            <a:endParaRPr lang="en-US" sz="1300" dirty="0"/>
          </a:p>
        </p:txBody>
      </p:sp>
      <p:sp>
        <p:nvSpPr>
          <p:cNvPr id="19" name="Shape 13"/>
          <p:cNvSpPr/>
          <p:nvPr/>
        </p:nvSpPr>
        <p:spPr>
          <a:xfrm>
            <a:off x="3931920" y="3721608"/>
            <a:ext cx="292608" cy="292608"/>
          </a:xfrm>
          <a:prstGeom prst="ellipse">
            <a:avLst/>
          </a:prstGeom>
          <a:solidFill>
            <a:srgbClr val="F5A623"/>
          </a:solidFill>
          <a:ln w="12700">
            <a:solidFill>
              <a:srgbClr val="F5A623"/>
            </a:solidFill>
            <a:prstDash val="solid"/>
          </a:ln>
        </p:spPr>
      </p:sp>
      <p:pic>
        <p:nvPicPr>
          <p:cNvPr id="20" name="Image 4" descr="preencoded.png">    </p:cNvPr>
          <p:cNvPicPr>
            <a:picLocks noChangeAspect="1"/>
          </p:cNvPicPr>
          <p:nvPr/>
        </p:nvPicPr>
        <p:blipFill>
          <a:blip r:embed="rId5"/>
          <a:stretch>
            <a:fillRect/>
          </a:stretch>
        </p:blipFill>
        <p:spPr>
          <a:xfrm>
            <a:off x="4007998" y="3797686"/>
            <a:ext cx="140452" cy="140452"/>
          </a:xfrm>
          <a:prstGeom prst="rect">
            <a:avLst/>
          </a:prstGeom>
        </p:spPr>
      </p:pic>
      <p:sp>
        <p:nvSpPr>
          <p:cNvPr id="21" name="Text 14"/>
          <p:cNvSpPr txBox="1"/>
          <p:nvPr/>
        </p:nvSpPr>
        <p:spPr>
          <a:xfrm>
            <a:off x="4361688" y="370332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SampleCount = 9 still works with no other changes</a:t>
            </a:r>
            <a:endParaRPr lang="en-US" sz="1300" dirty="0"/>
          </a:p>
        </p:txBody>
      </p:sp>
      <p:sp>
        <p:nvSpPr>
          <p:cNvPr id="22" name="Text 15"/>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33 — Voting &amp; Self-Consistency Ensembles</a:t>
            </a:r>
            <a:endParaRPr lang="en-US" sz="900" dirty="0"/>
          </a:p>
        </p:txBody>
      </p:sp>
      <p:sp>
        <p:nvSpPr>
          <p:cNvPr id="23" name="Text 16"/>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B2D"/>
        </a:solidFill>
      </p:bgPr>
    </p:bg>
    <p:spTree>
      <p:nvGrpSpPr>
        <p:cNvPr id="1" name=""/>
        <p:cNvGrpSpPr/>
        <p:nvPr/>
      </p:nvGrpSpPr>
      <p:grpSpPr>
        <a:xfrm>
          <a:off x="0" y="0"/>
          <a:ext cx="0" cy="0"/>
          <a:chOff x="0" y="0"/>
          <a:chExt cx="0" cy="0"/>
        </a:xfrm>
      </p:grpSpPr>
      <p:sp>
        <p:nvSpPr>
          <p:cNvPr id="2" name="Text 0"/>
          <p:cNvSpPr txBox="1"/>
          <p:nvPr/>
        </p:nvSpPr>
        <p:spPr>
          <a:xfrm>
            <a:off x="457200" y="347472"/>
            <a:ext cx="4572000" cy="228600"/>
          </a:xfrm>
          <a:prstGeom prst="rect">
            <a:avLst/>
          </a:prstGeom>
          <a:noFill/>
          <a:ln/>
        </p:spPr>
        <p:txBody>
          <a:bodyPr wrap="square" lIns="0" tIns="0" rIns="0" bIns="0" rtlCol="0" anchor="t"/>
          <a:lstStyle/>
          <a:p>
            <a:pPr indent="0" marL="0">
              <a:buNone/>
            </a:pPr>
            <a:r>
              <a:rPr lang="en-US" sz="1100" b="1" spc="200" kern="0" dirty="0">
                <a:solidFill>
                  <a:srgbClr val="F5A623"/>
                </a:solidFill>
                <a:latin typeface="Calibri" pitchFamily="34" charset="0"/>
                <a:ea typeface="Calibri" pitchFamily="34" charset="-122"/>
                <a:cs typeface="Calibri" pitchFamily="34" charset="-120"/>
              </a:rPr>
              <a:t>SUMMARY</a:t>
            </a:r>
            <a:endParaRPr lang="en-US" sz="1100" dirty="0"/>
          </a:p>
        </p:txBody>
      </p:sp>
      <p:sp>
        <p:nvSpPr>
          <p:cNvPr id="3" name="Text 1"/>
          <p:cNvSpPr txBox="1"/>
          <p:nvPr/>
        </p:nvSpPr>
        <p:spPr>
          <a:xfrm>
            <a:off x="457200" y="566928"/>
            <a:ext cx="8229600" cy="50292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What we learned, and where it goes</a:t>
            </a:r>
            <a:endParaRPr lang="en-US" sz="2600" dirty="0"/>
          </a:p>
        </p:txBody>
      </p:sp>
      <p:sp>
        <p:nvSpPr>
          <p:cNvPr id="4" name="Shape 2"/>
          <p:cNvSpPr/>
          <p:nvPr/>
        </p:nvSpPr>
        <p:spPr>
          <a:xfrm>
            <a:off x="457200" y="1234440"/>
            <a:ext cx="2926080" cy="493776"/>
          </a:xfrm>
          <a:prstGeom prst="roundRect">
            <a:avLst>
              <a:gd name="adj" fmla="val 14815"/>
            </a:avLst>
          </a:prstGeom>
          <a:solidFill>
            <a:srgbClr val="1F2943"/>
          </a:solidFill>
          <a:ln w="12700">
            <a:solidFill>
              <a:srgbClr val="1F2943"/>
            </a:solidFill>
            <a:prstDash val="solid"/>
          </a:ln>
        </p:spPr>
      </p:sp>
      <p:sp>
        <p:nvSpPr>
          <p:cNvPr id="5" name="Text 3"/>
          <p:cNvSpPr txBox="1"/>
          <p:nvPr/>
        </p:nvSpPr>
        <p:spPr>
          <a:xfrm>
            <a:off x="621792" y="1234440"/>
            <a:ext cx="2651760" cy="49377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 decision belongs in code</a:t>
            </a:r>
            <a:endParaRPr lang="en-US" sz="1300" dirty="0"/>
          </a:p>
        </p:txBody>
      </p:sp>
      <p:sp>
        <p:nvSpPr>
          <p:cNvPr id="6" name="Shape 4"/>
          <p:cNvSpPr/>
          <p:nvPr/>
        </p:nvSpPr>
        <p:spPr>
          <a:xfrm>
            <a:off x="3493008" y="1389888"/>
            <a:ext cx="329184" cy="182880"/>
          </a:xfrm>
          <a:prstGeom prst="rightArrow">
            <a:avLst/>
          </a:prstGeom>
          <a:solidFill>
            <a:srgbClr val="F5A623"/>
          </a:solidFill>
          <a:ln w="12700">
            <a:solidFill>
              <a:srgbClr val="F5A623"/>
            </a:solidFill>
            <a:prstDash val="solid"/>
          </a:ln>
        </p:spPr>
      </p:sp>
      <p:sp>
        <p:nvSpPr>
          <p:cNvPr id="7" name="Text 5"/>
          <p:cNvSpPr txBox="1"/>
          <p:nvPr/>
        </p:nvSpPr>
        <p:spPr>
          <a:xfrm>
            <a:off x="3977640" y="1234440"/>
            <a:ext cx="4709160" cy="49377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35  </a:t>
            </a:r>
            <a:pPr indent="0" marL="0">
              <a:buNone/>
            </a:pPr>
            <a:r>
              <a:rPr lang="en-US" sz="1250" dirty="0">
                <a:solidFill>
                  <a:srgbClr val="FFFFFF"/>
                </a:solidFill>
                <a:latin typeface="Calibri" pitchFamily="34" charset="0"/>
                <a:ea typeface="Calibri" pitchFamily="34" charset="-122"/>
                <a:cs typeface="Calibri" pitchFamily="34" charset="-120"/>
              </a:rPr>
              <a:t>Budget arithmetic is plain C#, for the same reason</a:t>
            </a:r>
            <a:endParaRPr lang="en-US" sz="1250" dirty="0"/>
          </a:p>
        </p:txBody>
      </p:sp>
      <p:sp>
        <p:nvSpPr>
          <p:cNvPr id="8" name="Shape 6"/>
          <p:cNvSpPr/>
          <p:nvPr/>
        </p:nvSpPr>
        <p:spPr>
          <a:xfrm>
            <a:off x="457200" y="1837944"/>
            <a:ext cx="2926080" cy="493776"/>
          </a:xfrm>
          <a:prstGeom prst="roundRect">
            <a:avLst>
              <a:gd name="adj" fmla="val 14815"/>
            </a:avLst>
          </a:prstGeom>
          <a:solidFill>
            <a:srgbClr val="1F2943"/>
          </a:solidFill>
          <a:ln w="12700">
            <a:solidFill>
              <a:srgbClr val="1F2943"/>
            </a:solidFill>
            <a:prstDash val="solid"/>
          </a:ln>
        </p:spPr>
      </p:sp>
      <p:sp>
        <p:nvSpPr>
          <p:cNvPr id="9" name="Text 7"/>
          <p:cNvSpPr txBox="1"/>
          <p:nvPr/>
        </p:nvSpPr>
        <p:spPr>
          <a:xfrm>
            <a:off x="621792" y="1837944"/>
            <a:ext cx="2651760" cy="49377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Fallback for a bad response</a:t>
            </a:r>
            <a:endParaRPr lang="en-US" sz="1300" dirty="0"/>
          </a:p>
        </p:txBody>
      </p:sp>
      <p:sp>
        <p:nvSpPr>
          <p:cNvPr id="10" name="Shape 8"/>
          <p:cNvSpPr/>
          <p:nvPr/>
        </p:nvSpPr>
        <p:spPr>
          <a:xfrm>
            <a:off x="3493008" y="1993392"/>
            <a:ext cx="329184" cy="182880"/>
          </a:xfrm>
          <a:prstGeom prst="rightArrow">
            <a:avLst/>
          </a:prstGeom>
          <a:solidFill>
            <a:srgbClr val="F5A623"/>
          </a:solidFill>
          <a:ln w="12700">
            <a:solidFill>
              <a:srgbClr val="F5A623"/>
            </a:solidFill>
            <a:prstDash val="solid"/>
          </a:ln>
        </p:spPr>
      </p:sp>
      <p:sp>
        <p:nvSpPr>
          <p:cNvPr id="11" name="Text 9"/>
          <p:cNvSpPr txBox="1"/>
          <p:nvPr/>
        </p:nvSpPr>
        <p:spPr>
          <a:xfrm>
            <a:off x="3977640" y="1837944"/>
            <a:ext cx="4709160" cy="49377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34  </a:t>
            </a:r>
            <a:pPr indent="0" marL="0">
              <a:buNone/>
            </a:pPr>
            <a:r>
              <a:rPr lang="en-US" sz="1250" dirty="0">
                <a:solidFill>
                  <a:srgbClr val="FFFFFF"/>
                </a:solidFill>
                <a:latin typeface="Calibri" pitchFamily="34" charset="0"/>
                <a:ea typeface="Calibri" pitchFamily="34" charset="-122"/>
                <a:cs typeface="Calibri" pitchFamily="34" charset="-120"/>
              </a:rPr>
              <a:t>A moderator falls back when its JSON is unusable</a:t>
            </a:r>
            <a:endParaRPr lang="en-US" sz="1250" dirty="0"/>
          </a:p>
        </p:txBody>
      </p:sp>
      <p:sp>
        <p:nvSpPr>
          <p:cNvPr id="12" name="Shape 10"/>
          <p:cNvSpPr/>
          <p:nvPr/>
        </p:nvSpPr>
        <p:spPr>
          <a:xfrm>
            <a:off x="457200" y="2441448"/>
            <a:ext cx="2926080" cy="493776"/>
          </a:xfrm>
          <a:prstGeom prst="roundRect">
            <a:avLst>
              <a:gd name="adj" fmla="val 14815"/>
            </a:avLst>
          </a:prstGeom>
          <a:solidFill>
            <a:srgbClr val="1F2943"/>
          </a:solidFill>
          <a:ln w="12700">
            <a:solidFill>
              <a:srgbClr val="1F2943"/>
            </a:solidFill>
            <a:prstDash val="solid"/>
          </a:ln>
        </p:spPr>
      </p:sp>
      <p:sp>
        <p:nvSpPr>
          <p:cNvPr id="13" name="Text 11"/>
          <p:cNvSpPr txBox="1"/>
          <p:nvPr/>
        </p:nvSpPr>
        <p:spPr>
          <a:xfrm>
            <a:off x="621792" y="2441448"/>
            <a:ext cx="2651760" cy="49377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Defensive field order</a:t>
            </a:r>
            <a:endParaRPr lang="en-US" sz="1300" dirty="0"/>
          </a:p>
        </p:txBody>
      </p:sp>
      <p:sp>
        <p:nvSpPr>
          <p:cNvPr id="14" name="Shape 12"/>
          <p:cNvSpPr/>
          <p:nvPr/>
        </p:nvSpPr>
        <p:spPr>
          <a:xfrm>
            <a:off x="3493008" y="2596896"/>
            <a:ext cx="329184" cy="182880"/>
          </a:xfrm>
          <a:prstGeom prst="rightArrow">
            <a:avLst/>
          </a:prstGeom>
          <a:solidFill>
            <a:srgbClr val="F5A623"/>
          </a:solidFill>
          <a:ln w="12700">
            <a:solidFill>
              <a:srgbClr val="F5A623"/>
            </a:solidFill>
            <a:prstDash val="solid"/>
          </a:ln>
        </p:spPr>
      </p:sp>
      <p:sp>
        <p:nvSpPr>
          <p:cNvPr id="15" name="Text 13"/>
          <p:cNvSpPr txBox="1"/>
          <p:nvPr/>
        </p:nvSpPr>
        <p:spPr>
          <a:xfrm>
            <a:off x="3977640" y="2441448"/>
            <a:ext cx="4709160" cy="49377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38  </a:t>
            </a:r>
            <a:pPr indent="0" marL="0">
              <a:buNone/>
            </a:pPr>
            <a:r>
              <a:rPr lang="en-US" sz="1250" dirty="0">
                <a:solidFill>
                  <a:srgbClr val="FFFFFF"/>
                </a:solidFill>
                <a:latin typeface="Calibri" pitchFamily="34" charset="0"/>
                <a:ea typeface="Calibri" pitchFamily="34" charset="-122"/>
                <a:cs typeface="Calibri" pitchFamily="34" charset="-120"/>
              </a:rPr>
              <a:t>A different schema bug gets a different fix</a:t>
            </a:r>
            <a:endParaRPr lang="en-US" sz="1250" dirty="0"/>
          </a:p>
        </p:txBody>
      </p:sp>
      <p:sp>
        <p:nvSpPr>
          <p:cNvPr id="16" name="Shape 14"/>
          <p:cNvSpPr/>
          <p:nvPr/>
        </p:nvSpPr>
        <p:spPr>
          <a:xfrm>
            <a:off x="457200" y="3044952"/>
            <a:ext cx="2926080" cy="493776"/>
          </a:xfrm>
          <a:prstGeom prst="roundRect">
            <a:avLst>
              <a:gd name="adj" fmla="val 14815"/>
            </a:avLst>
          </a:prstGeom>
          <a:solidFill>
            <a:srgbClr val="1F2943"/>
          </a:solidFill>
          <a:ln w="12700">
            <a:solidFill>
              <a:srgbClr val="1F2943"/>
            </a:solidFill>
            <a:prstDash val="solid"/>
          </a:ln>
        </p:spPr>
      </p:sp>
      <p:sp>
        <p:nvSpPr>
          <p:cNvPr id="17" name="Text 15"/>
          <p:cNvSpPr txBox="1"/>
          <p:nvPr/>
        </p:nvSpPr>
        <p:spPr>
          <a:xfrm>
            <a:off x="621792" y="3044952"/>
            <a:ext cx="2651760" cy="49377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Treat failure as data</a:t>
            </a:r>
            <a:endParaRPr lang="en-US" sz="1300" dirty="0"/>
          </a:p>
        </p:txBody>
      </p:sp>
      <p:sp>
        <p:nvSpPr>
          <p:cNvPr id="18" name="Shape 16"/>
          <p:cNvSpPr/>
          <p:nvPr/>
        </p:nvSpPr>
        <p:spPr>
          <a:xfrm>
            <a:off x="3493008" y="3200400"/>
            <a:ext cx="329184" cy="182880"/>
          </a:xfrm>
          <a:prstGeom prst="rightArrow">
            <a:avLst/>
          </a:prstGeom>
          <a:solidFill>
            <a:srgbClr val="F5A623"/>
          </a:solidFill>
          <a:ln w="12700">
            <a:solidFill>
              <a:srgbClr val="F5A623"/>
            </a:solidFill>
            <a:prstDash val="solid"/>
          </a:ln>
        </p:spPr>
      </p:sp>
      <p:sp>
        <p:nvSpPr>
          <p:cNvPr id="19" name="Text 17"/>
          <p:cNvSpPr txBox="1"/>
          <p:nvPr/>
        </p:nvSpPr>
        <p:spPr>
          <a:xfrm>
            <a:off x="3977640" y="3044952"/>
            <a:ext cx="4709160" cy="49377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36  </a:t>
            </a:r>
            <a:pPr indent="0" marL="0">
              <a:buNone/>
            </a:pPr>
            <a:r>
              <a:rPr lang="en-US" sz="1250" dirty="0">
                <a:solidFill>
                  <a:srgbClr val="FFFFFF"/>
                </a:solidFill>
                <a:latin typeface="Calibri" pitchFamily="34" charset="0"/>
                <a:ea typeface="Calibri" pitchFamily="34" charset="-122"/>
                <a:cs typeface="Calibri" pitchFamily="34" charset="-120"/>
              </a:rPr>
              <a:t>A failed step triggers replanning, not a crash</a:t>
            </a:r>
            <a:endParaRPr lang="en-US" sz="1250" dirty="0"/>
          </a:p>
        </p:txBody>
      </p:sp>
      <p:sp>
        <p:nvSpPr>
          <p:cNvPr id="20" name="Text 18"/>
          <p:cNvSpPr txBox="1"/>
          <p:nvPr/>
        </p:nvSpPr>
        <p:spPr>
          <a:xfrm>
            <a:off x="457200" y="4224528"/>
            <a:ext cx="8229600" cy="320040"/>
          </a:xfrm>
          <a:prstGeom prst="rect">
            <a:avLst/>
          </a:prstGeom>
          <a:noFill/>
          <a:ln/>
        </p:spPr>
        <p:txBody>
          <a:bodyPr wrap="square" lIns="0" tIns="0" rIns="0" bIns="0" rtlCol="0" anchor="t"/>
          <a:lstStyle/>
          <a:p>
            <a:pPr indent="0" marL="0">
              <a:buNone/>
            </a:pPr>
            <a:r>
              <a:rPr lang="en-US" sz="1300" dirty="0">
                <a:solidFill>
                  <a:srgbClr val="B8B2E6"/>
                </a:solidFill>
                <a:latin typeface="Calibri" pitchFamily="34" charset="0"/>
                <a:ea typeface="Calibri" pitchFamily="34" charset="-122"/>
                <a:cs typeface="Calibri" pitchFamily="34" charset="-120"/>
              </a:rPr>
              <a:t>Ships in  </a:t>
            </a:r>
            <a:pPr indent="0" marL="0">
              <a:buNone/>
            </a:pPr>
            <a:r>
              <a:rPr lang="en-US" sz="1300" b="1" dirty="0">
                <a:solidFill>
                  <a:srgbClr val="FFFFFF"/>
                </a:solidFill>
                <a:latin typeface="Calibri" pitchFamily="34" charset="0"/>
                <a:ea typeface="Calibri" pitchFamily="34" charset="-122"/>
                <a:cs typeface="Calibri" pitchFamily="34" charset="-120"/>
              </a:rPr>
              <a:t>Part 2: Self-Directed Reasoning</a:t>
            </a:r>
            <a:endParaRPr lang="en-US" sz="1300" dirty="0"/>
          </a:p>
        </p:txBody>
      </p:sp>
      <p:sp>
        <p:nvSpPr>
          <p:cNvPr id="21" name="Text 19"/>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B8B2E6"/>
                </a:solidFill>
                <a:latin typeface="Calibri" pitchFamily="34" charset="0"/>
                <a:ea typeface="Calibri" pitchFamily="34" charset="-122"/>
                <a:cs typeface="Calibri" pitchFamily="34" charset="-120"/>
              </a:rPr>
              <a:t>Applied Agentic Orchestration with Semantic Kernel  ·  Lesson 33 — Voting &amp; Self-Consistency Ensembles</a:t>
            </a:r>
            <a:endParaRPr lang="en-US" sz="900" dirty="0"/>
          </a:p>
        </p:txBody>
      </p:sp>
      <p:sp>
        <p:nvSpPr>
          <p:cNvPr id="22" name="Text 20"/>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B8B2E6"/>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33 — Voting &amp; Self-Consistency Ensembles</dc:title>
  <dc:subject>PptxGenJS Presentation</dc:subject>
  <dc:creator>Media Six LLC</dc:creator>
  <cp:lastModifiedBy>Media Six LLC</cp:lastModifiedBy>
  <cp:revision>1</cp:revision>
  <dcterms:created xsi:type="dcterms:W3CDTF">2026-10-21T23:26:42Z</dcterms:created>
  <dcterms:modified xsi:type="dcterms:W3CDTF">2026-10-21T23:26:42Z</dcterms:modified>
</cp:coreProperties>
</file>