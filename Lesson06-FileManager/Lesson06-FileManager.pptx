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earlier lesson only produced text, or at most did arithmetic. This one gives the agent hands. We write a FileSystemPlugin that can list, read and write real files on disk. The program seeds a demo server log, then hands the model a deliberately vague goal: find the log file, work out what errors occurred, and write a summary to a new file called error_summary.txt. It never names the log file, so the model has to chain ListFiles, ReadFile and WriteFile on its own. When the model says it's done, the program reads error_summary.txt back off disk with plain C# to prove the file really exists. This is the pivot from an agent that talks to an agent that 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4's tools were pure functions: they took two numbers and returned a third, and the worst case was a wrong answer. Lesson 6's tools change the state of a real system. Once a plugin can create or overwrite files, the cost of a mistake, whether the model's own or one caused by a malicious instruction hidden inside a file it reads, goes from a bad sentence to a damaged filesystem. That is why this lesson introduces sandboxing alongside multi-step tool chaining. Everything later in the course that involves side effects builds on these two ideas.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is called FileManager and uses the same two packages at version 1.78.0. Like Lesson 4, it has two source files: FileSystemPlugin.cs holds the plugin, and Program.cs wires the kernel and runs the task. The key comes from OPENAI_API_KEY and the model is gpt-4.1-mini, run at temperature zero with AutoInvokeKernelFunctions so the tool chain behaves as consistently as possible. Before the kernel is even built, Step 2 calls SetupDummyLogFile, which writes server_logs.txt into the current directory. It has six lines: four INFO entries and two ERRORs, a DatabaseConnectionException timing out against 192.168.1.50 and a NullReferenceException in PaymentProcessingModule.cs on line 42.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FileSystemPlugin exposes three tools. ListFiles returns the names of all the files in the sandbox directory, or a message saying it is empty. ReadFile takes a file name and returns that file's text. WriteFile takes a file name and content, creates or overwrites the file, and returns a success message. Notice that ReadFile and WriteFile are async methods returning Task of string: KernelFunction methods don't have to be synchronous. Each tool also prints a PLUGIN EXECUTING line so we can watch the chain happen. The constructor captures Directory.GetCurrentDirectory as the sandbox root, and every path the model asks for is checked against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prompt says: look in the current directory for a server log file, read its contents, figure out what errors occurred, and write a summary of those errors into a new file called error_summary.txt. Because it never names the log file, the model can't jump straight to reading. It has to call ListFiles first, spot server_logs.txt, call ReadFile on it, reason about the two errors, and then call WriteFile with its summary. All of that happens inside one InvokePromptAsync call through auto tool invocation. The highlighted last step is ours, not the model's: after the call returns, Program.cs reads error_summary.txt directly from disk and prints it, so we trust the file, not the model's own report of success.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Path.Combine alone is not a sandbox: a file name like dot dot slash secrets.txt, or an absolute path, would happily escape the folder. So both ReadFile and WriteFile go through TryResolveSandboxedPath. It combines the sandbox directory with the requested name and resolves it with Path.GetFullPath, which collapses any dot-dot segments into a real location. Then it checks that the full path still starts with the sandbox root, ignoring case. If it doesn't, the tool returns an error string saying the path resolves outside the sandboxed directory and was blocked. Finally, the actual disk access is wrapped in a catch for IOException, UnauthorizedAccessException and similar, so a locked or permission-denied file comes back to the model as a normal tool error instead of crashing the whole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4 registered MathPlugin with AddFromType, letting Semantic Kernel construct the class itself. That is fine when the constructor does nothing interesting. FileSystemPlugin's constructor does real work: it captures the directory that becomes the sandbox root. So Step 4 constructs the plugin ourselves with new FileSystemPlugin and registers that instance with AddFromObject under the name FileSystem. The setup runs exactly once, under the program's control, and you could just as easily pass in a different sandbox folder if you changed the constructor.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OPENAI_API_KEY and run the project. After echoing the task, you should see three PLUGIN EXECUTING lines in order: listing files, reading server_logs.txt, and writing error_summary.txt. Then comes the model's task report, and finally the VERIFICATION block, which is the content of error_summary.txt read straight from disk. The report and summary text on this slide are illustrative; the model writes them in its own words. What should be consistent is that both errors appear: the database connection timeout at 08:45 and the NullReferenceException in PaymentProcessingModule.cs at line 42. Check your output folder too: error_summary.txt is a real file you can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this on your own. Add a bool overwrite parameter to WriteFileAsync with a Description that explains when to use it. If the resolved file already exists and overwrite is false, return an error string instead of writing. Run the program twice: on the second run, error_summary.txt already exists, so the model should either retry with overwrite set to true or report the problem. Either outcome is fine as long as nothing is replaced silently. Finally, confirm the sandbox still blocks a path like dot dot slash outside.txt.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recap: we gave an agent real side effects, let it chain ListFiles, ReadFile and WriteFile toward a vague goal, registered the plugin as an instance with AddFromObject, sandboxed every path, and verified the result from C#. Lesson 20 puts a human approval gate in front of anything the agent produces. Lesson 21 isolates specialist agents on their own kernels so each can reach only its own tool. Lesson 16 drives a tool chain with a hand-written loop. Lesson 22 replaces our console tracing with filters that audit every function call. And Lesson 37 adds safety guardrails as filters: one strips personal information out of a prompt before it reaches the model, and another replaces a response that breaks a content policy with a safe refusal.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LESSON 6  ·  PART 1</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The File Manager</a:t>
            </a:r>
            <a:endParaRPr lang="en-US" sz="40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An OS agent: the model lists, reads and writes real files</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server_logs.txt</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error_summary.txt</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Give an agent real side effects on disk</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Let the model chain tools toward a vague goal</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Register an instance with AddFromObject</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Sandbox every path the model asks for</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Verify the side effect yourself, from C#</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6 — The File Manager</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WHAT CHANGES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From tools that compute to tools that act</a:t>
            </a:r>
            <a:endParaRPr lang="en-US" sz="2800" dirty="0"/>
          </a:p>
        </p:txBody>
      </p:sp>
      <p:sp>
        <p:nvSpPr>
          <p:cNvPr id="4" name="Shape 2"/>
          <p:cNvSpPr/>
          <p:nvPr/>
        </p:nvSpPr>
        <p:spPr>
          <a:xfrm>
            <a:off x="457200" y="1371600"/>
            <a:ext cx="3931920" cy="2286000"/>
          </a:xfrm>
          <a:prstGeom prst="roundRect">
            <a:avLst>
              <a:gd name="adj" fmla="val 3200"/>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4: pure functions</a:t>
            </a:r>
            <a:endParaRPr lang="en-US" sz="1700" dirty="0"/>
          </a:p>
        </p:txBody>
      </p:sp>
      <p:sp>
        <p:nvSpPr>
          <p:cNvPr id="8" name="Text 5"/>
          <p:cNvSpPr txBox="1"/>
          <p:nvPr/>
        </p:nvSpPr>
        <p:spPr>
          <a:xfrm>
            <a:off x="685800" y="2194560"/>
            <a:ext cx="3474720" cy="6400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Tools return numbers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 mistake is a wrong answer</a:t>
            </a:r>
            <a:endParaRPr lang="en-US" sz="1300" dirty="0"/>
          </a:p>
        </p:txBody>
      </p:sp>
      <p:sp>
        <p:nvSpPr>
          <p:cNvPr id="9" name="Shape 6"/>
          <p:cNvSpPr/>
          <p:nvPr/>
        </p:nvSpPr>
        <p:spPr>
          <a:xfrm>
            <a:off x="685800" y="2907792"/>
            <a:ext cx="3474720" cy="548640"/>
          </a:xfrm>
          <a:prstGeom prst="roundRect">
            <a:avLst>
              <a:gd name="adj" fmla="val 13333"/>
            </a:avLst>
          </a:prstGeom>
          <a:solidFill>
            <a:srgbClr val="0F1420"/>
          </a:solidFill>
          <a:ln w="12700">
            <a:solidFill>
              <a:srgbClr val="0F1420"/>
            </a:solidFill>
            <a:prstDash val="solid"/>
          </a:ln>
        </p:spPr>
      </p:sp>
      <p:sp>
        <p:nvSpPr>
          <p:cNvPr id="10" name="Text 7"/>
          <p:cNvSpPr txBox="1"/>
          <p:nvPr/>
        </p:nvSpPr>
        <p:spPr>
          <a:xfrm>
            <a:off x="868680" y="3044952"/>
            <a:ext cx="3108960" cy="274320"/>
          </a:xfrm>
          <a:prstGeom prst="rect">
            <a:avLst/>
          </a:prstGeom>
          <a:noFill/>
          <a:ln/>
        </p:spPr>
        <p:txBody>
          <a:bodyPr wrap="square" lIns="0" tIns="0" rIns="0" bIns="0" rtlCol="0" anchor="t"/>
          <a:lstStyle/>
          <a:p>
            <a:pPr indent="0" marL="0">
              <a:buNone/>
            </a:pPr>
            <a:r>
              <a:rPr lang="en-US" sz="1100" dirty="0">
                <a:solidFill>
                  <a:srgbClr val="D7E3F4"/>
                </a:solidFill>
                <a:latin typeface="Courier New" pitchFamily="34" charset="0"/>
                <a:ea typeface="Courier New" pitchFamily="34" charset="-122"/>
                <a:cs typeface="Courier New" pitchFamily="34" charset="-120"/>
              </a:rPr>
              <a:t>[NATIVE CODE EXECUTION] Adding...</a:t>
            </a:r>
            <a:endParaRPr lang="en-US" sz="1100" dirty="0"/>
          </a:p>
        </p:txBody>
      </p:sp>
      <p:sp>
        <p:nvSpPr>
          <p:cNvPr id="11" name="Shape 8"/>
          <p:cNvSpPr/>
          <p:nvPr/>
        </p:nvSpPr>
        <p:spPr>
          <a:xfrm>
            <a:off x="4754880" y="1371600"/>
            <a:ext cx="3931920" cy="2286000"/>
          </a:xfrm>
          <a:prstGeom prst="roundRect">
            <a:avLst>
              <a:gd name="adj" fmla="val 3200"/>
            </a:avLst>
          </a:prstGeom>
          <a:solidFill>
            <a:srgbClr val="EFEBFC"/>
          </a:solidFill>
          <a:ln w="12700">
            <a:solidFill>
              <a:srgbClr val="EFEBFC"/>
            </a:solidFill>
            <a:prstDash val="solid"/>
          </a:ln>
        </p:spPr>
      </p:sp>
      <p:sp>
        <p:nvSpPr>
          <p:cNvPr id="12" name="Shape 9"/>
          <p:cNvSpPr/>
          <p:nvPr/>
        </p:nvSpPr>
        <p:spPr>
          <a:xfrm>
            <a:off x="4983480" y="1600200"/>
            <a:ext cx="438912" cy="438912"/>
          </a:xfrm>
          <a:prstGeom prst="ellipse">
            <a:avLst/>
          </a:prstGeom>
          <a:solidFill>
            <a:srgbClr val="512BD4"/>
          </a:solidFill>
          <a:ln w="12700">
            <a:solidFill>
              <a:srgbClr val="512BD4"/>
            </a:solidFill>
            <a:prstDash val="solid"/>
          </a:ln>
        </p:spPr>
      </p:sp>
      <p:pic>
        <p:nvPicPr>
          <p:cNvPr id="13"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4" name="Text 10"/>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6: side effects</a:t>
            </a:r>
            <a:endParaRPr lang="en-US" sz="1700" dirty="0"/>
          </a:p>
        </p:txBody>
      </p:sp>
      <p:sp>
        <p:nvSpPr>
          <p:cNvPr id="15" name="Text 11"/>
          <p:cNvSpPr txBox="1"/>
          <p:nvPr/>
        </p:nvSpPr>
        <p:spPr>
          <a:xfrm>
            <a:off x="4983480" y="2194560"/>
            <a:ext cx="3474720" cy="6400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Tools change files on disk</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 mistake can damage the system</a:t>
            </a:r>
            <a:endParaRPr lang="en-US" sz="1300" dirty="0"/>
          </a:p>
        </p:txBody>
      </p:sp>
      <p:sp>
        <p:nvSpPr>
          <p:cNvPr id="16" name="Shape 12"/>
          <p:cNvSpPr/>
          <p:nvPr/>
        </p:nvSpPr>
        <p:spPr>
          <a:xfrm>
            <a:off x="4983480" y="2907792"/>
            <a:ext cx="3474720" cy="548640"/>
          </a:xfrm>
          <a:prstGeom prst="roundRect">
            <a:avLst>
              <a:gd name="adj" fmla="val 13333"/>
            </a:avLst>
          </a:prstGeom>
          <a:solidFill>
            <a:srgbClr val="0F1420"/>
          </a:solidFill>
          <a:ln w="12700">
            <a:solidFill>
              <a:srgbClr val="0F1420"/>
            </a:solidFill>
            <a:prstDash val="solid"/>
          </a:ln>
        </p:spPr>
      </p:sp>
      <p:sp>
        <p:nvSpPr>
          <p:cNvPr id="17" name="Text 13"/>
          <p:cNvSpPr txBox="1"/>
          <p:nvPr/>
        </p:nvSpPr>
        <p:spPr>
          <a:xfrm>
            <a:off x="5166360" y="3044952"/>
            <a:ext cx="3108960" cy="274320"/>
          </a:xfrm>
          <a:prstGeom prst="rect">
            <a:avLst/>
          </a:prstGeom>
          <a:noFill/>
          <a:ln/>
        </p:spPr>
        <p:txBody>
          <a:bodyPr wrap="square" lIns="0" tIns="0" rIns="0" bIns="0" rtlCol="0" anchor="t"/>
          <a:lstStyle/>
          <a:p>
            <a:pPr indent="0" marL="0">
              <a:buNone/>
            </a:pPr>
            <a:r>
              <a:rPr lang="en-US" sz="1100" dirty="0">
                <a:solidFill>
                  <a:srgbClr val="D7E3F4"/>
                </a:solidFill>
                <a:latin typeface="Courier New" pitchFamily="34" charset="0"/>
                <a:ea typeface="Courier New" pitchFamily="34" charset="-122"/>
                <a:cs typeface="Courier New" pitchFamily="34" charset="-120"/>
              </a:rPr>
              <a:t>[PLUGIN EXECUTING] AI is writing</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data to file: 'error_summary.txt'</a:t>
            </a:r>
            <a:endParaRPr lang="en-US" sz="1100" dirty="0"/>
          </a:p>
        </p:txBody>
      </p:sp>
      <p:sp>
        <p:nvSpPr>
          <p:cNvPr id="18" name="Text 14"/>
          <p:cNvSpPr txBox="1"/>
          <p:nvPr/>
        </p:nvSpPr>
        <p:spPr>
          <a:xfrm>
            <a:off x="457200" y="393192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Once a tool can write, what it is allowed to touch matters as much as what it does.</a:t>
            </a:r>
            <a:endParaRPr lang="en-US" sz="1400" dirty="0"/>
          </a:p>
        </p:txBody>
      </p:sp>
      <p:sp>
        <p:nvSpPr>
          <p:cNvPr id="19"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6 — The File Manager</a:t>
            </a:r>
            <a:endParaRPr lang="en-US" sz="900" dirty="0"/>
          </a:p>
        </p:txBody>
      </p:sp>
      <p:sp>
        <p:nvSpPr>
          <p:cNvPr id="20"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SETUP</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What you need before writing any code</a:t>
            </a:r>
            <a:endParaRPr lang="en-US" sz="2800" dirty="0"/>
          </a:p>
        </p:txBody>
      </p:sp>
      <p:sp>
        <p:nvSpPr>
          <p:cNvPr id="4" name="Shape 2"/>
          <p:cNvSpPr/>
          <p:nvPr/>
        </p:nvSpPr>
        <p:spPr>
          <a:xfrm>
            <a:off x="457200" y="1371600"/>
            <a:ext cx="3977640" cy="1394460"/>
          </a:xfrm>
          <a:prstGeom prst="roundRect">
            <a:avLst>
              <a:gd name="adj" fmla="val 5246"/>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Two NuGet packages</a:t>
            </a:r>
            <a:endParaRPr lang="en-US" sz="1500" dirty="0"/>
          </a:p>
        </p:txBody>
      </p:sp>
      <p:sp>
        <p:nvSpPr>
          <p:cNvPr id="8" name="Text 5"/>
          <p:cNvSpPr txBox="1"/>
          <p:nvPr/>
        </p:nvSpPr>
        <p:spPr>
          <a:xfrm>
            <a:off x="64008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Microsoft.SemanticKernel and Connectors.OpenAI 1.78.0, in a net10.0 console app opened from FileManager.slnx.</a:t>
            </a:r>
            <a:endParaRPr lang="en-US" sz="1200" dirty="0"/>
          </a:p>
        </p:txBody>
      </p:sp>
      <p:sp>
        <p:nvSpPr>
          <p:cNvPr id="9" name="Shape 6"/>
          <p:cNvSpPr/>
          <p:nvPr/>
        </p:nvSpPr>
        <p:spPr>
          <a:xfrm>
            <a:off x="4709160" y="1371600"/>
            <a:ext cx="3977640" cy="1394460"/>
          </a:xfrm>
          <a:prstGeom prst="roundRect">
            <a:avLst>
              <a:gd name="adj" fmla="val 5246"/>
            </a:avLst>
          </a:prstGeom>
          <a:solidFill>
            <a:srgbClr val="EFEBFC"/>
          </a:solidFill>
          <a:ln w="12700">
            <a:solidFill>
              <a:srgbClr val="EFEBFC"/>
            </a:solidFill>
            <a:prstDash val="solid"/>
          </a:ln>
        </p:spPr>
      </p:sp>
      <p:sp>
        <p:nvSpPr>
          <p:cNvPr id="10" name="Shape 7"/>
          <p:cNvSpPr/>
          <p:nvPr/>
        </p:nvSpPr>
        <p:spPr>
          <a:xfrm>
            <a:off x="489204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4991892" y="1654332"/>
            <a:ext cx="184343" cy="184343"/>
          </a:xfrm>
          <a:prstGeom prst="rect">
            <a:avLst/>
          </a:prstGeom>
        </p:spPr>
      </p:pic>
      <p:sp>
        <p:nvSpPr>
          <p:cNvPr id="12" name="Text 8"/>
          <p:cNvSpPr txBox="1"/>
          <p:nvPr/>
        </p:nvSpPr>
        <p:spPr>
          <a:xfrm>
            <a:off x="539496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ourier New" pitchFamily="34" charset="0"/>
                <a:ea typeface="Courier New" pitchFamily="34" charset="-122"/>
                <a:cs typeface="Courier New" pitchFamily="34" charset="-120"/>
              </a:rPr>
              <a:t>OPENAI_API_KEY</a:t>
            </a:r>
            <a:endParaRPr lang="en-US" sz="1500" dirty="0"/>
          </a:p>
        </p:txBody>
      </p:sp>
      <p:sp>
        <p:nvSpPr>
          <p:cNvPr id="13" name="Text 9"/>
          <p:cNvSpPr txBox="1"/>
          <p:nvPr/>
        </p:nvSpPr>
        <p:spPr>
          <a:xfrm>
            <a:off x="489204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Read from the environment, never hard-coded. The app throws at startup if it is missing.</a:t>
            </a:r>
            <a:endParaRPr lang="en-US" sz="1200" dirty="0"/>
          </a:p>
        </p:txBody>
      </p:sp>
      <p:sp>
        <p:nvSpPr>
          <p:cNvPr id="14" name="Shape 10"/>
          <p:cNvSpPr/>
          <p:nvPr/>
        </p:nvSpPr>
        <p:spPr>
          <a:xfrm>
            <a:off x="457200" y="2994660"/>
            <a:ext cx="3977640" cy="1394460"/>
          </a:xfrm>
          <a:prstGeom prst="roundRect">
            <a:avLst>
              <a:gd name="adj" fmla="val 5246"/>
            </a:avLst>
          </a:prstGeom>
          <a:solidFill>
            <a:srgbClr val="EFEBFC"/>
          </a:solidFill>
          <a:ln w="12700">
            <a:solidFill>
              <a:srgbClr val="EFEBFC"/>
            </a:solidFill>
            <a:prstDash val="solid"/>
          </a:ln>
        </p:spPr>
      </p:sp>
      <p:sp>
        <p:nvSpPr>
          <p:cNvPr id="15" name="Shape 11"/>
          <p:cNvSpPr/>
          <p:nvPr/>
        </p:nvSpPr>
        <p:spPr>
          <a:xfrm>
            <a:off x="640080" y="317754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739932" y="3277392"/>
            <a:ext cx="184343" cy="184343"/>
          </a:xfrm>
          <a:prstGeom prst="rect">
            <a:avLst/>
          </a:prstGeom>
        </p:spPr>
      </p:pic>
      <p:sp>
        <p:nvSpPr>
          <p:cNvPr id="17" name="Text 12"/>
          <p:cNvSpPr txBox="1"/>
          <p:nvPr/>
        </p:nvSpPr>
        <p:spPr>
          <a:xfrm>
            <a:off x="1143000" y="317754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ourier New" pitchFamily="34" charset="0"/>
                <a:ea typeface="Courier New" pitchFamily="34" charset="-122"/>
                <a:cs typeface="Courier New" pitchFamily="34" charset="-120"/>
              </a:rPr>
              <a:t>gpt-4.1-mini</a:t>
            </a:r>
            <a:endParaRPr lang="en-US" sz="1500" dirty="0"/>
          </a:p>
        </p:txBody>
      </p:sp>
      <p:sp>
        <p:nvSpPr>
          <p:cNvPr id="18" name="Text 13"/>
          <p:cNvSpPr txBox="1"/>
          <p:nvPr/>
        </p:nvSpPr>
        <p:spPr>
          <a:xfrm>
            <a:off x="64008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Run at Temperature 0.0 with auto tool invocation, so the tool chain is as repeatable as possible.</a:t>
            </a:r>
            <a:endParaRPr lang="en-US" sz="1200" dirty="0"/>
          </a:p>
        </p:txBody>
      </p:sp>
      <p:sp>
        <p:nvSpPr>
          <p:cNvPr id="19" name="Shape 14"/>
          <p:cNvSpPr/>
          <p:nvPr/>
        </p:nvSpPr>
        <p:spPr>
          <a:xfrm>
            <a:off x="4709160" y="2994660"/>
            <a:ext cx="3977640" cy="1394460"/>
          </a:xfrm>
          <a:prstGeom prst="roundRect">
            <a:avLst>
              <a:gd name="adj" fmla="val 5246"/>
            </a:avLst>
          </a:prstGeom>
          <a:solidFill>
            <a:srgbClr val="EFEBFC"/>
          </a:solidFill>
          <a:ln w="12700">
            <a:solidFill>
              <a:srgbClr val="EFEBFC"/>
            </a:solidFill>
            <a:prstDash val="solid"/>
          </a:ln>
        </p:spPr>
      </p:sp>
      <p:sp>
        <p:nvSpPr>
          <p:cNvPr id="20" name="Shape 15"/>
          <p:cNvSpPr/>
          <p:nvPr/>
        </p:nvSpPr>
        <p:spPr>
          <a:xfrm>
            <a:off x="4892040" y="317754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4991892" y="3277392"/>
            <a:ext cx="184343" cy="184343"/>
          </a:xfrm>
          <a:prstGeom prst="rect">
            <a:avLst/>
          </a:prstGeom>
        </p:spPr>
      </p:pic>
      <p:sp>
        <p:nvSpPr>
          <p:cNvPr id="22" name="Text 16"/>
          <p:cNvSpPr txBox="1"/>
          <p:nvPr/>
        </p:nvSpPr>
        <p:spPr>
          <a:xfrm>
            <a:off x="5394960" y="317754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A seeded log file</a:t>
            </a:r>
            <a:endParaRPr lang="en-US" sz="1500" dirty="0"/>
          </a:p>
        </p:txBody>
      </p:sp>
      <p:sp>
        <p:nvSpPr>
          <p:cNvPr id="23" name="Text 17"/>
          <p:cNvSpPr txBox="1"/>
          <p:nvPr/>
        </p:nvSpPr>
        <p:spPr>
          <a:xfrm>
            <a:off x="489204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SetupDummyLogFile writes server_logs.txt: six lines, two of them ERRORs, in the working folder.</a:t>
            </a:r>
            <a:endParaRPr lang="en-US" sz="1200" dirty="0"/>
          </a:p>
        </p:txBody>
      </p:sp>
      <p:sp>
        <p:nvSpPr>
          <p:cNvPr id="24" name="Text 18"/>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6 — The File Manager</a:t>
            </a:r>
            <a:endParaRPr lang="en-US" sz="900" dirty="0"/>
          </a:p>
        </p:txBody>
      </p:sp>
      <p:sp>
        <p:nvSpPr>
          <p:cNvPr id="25" name="Text 19"/>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NATIVE PLUGIN</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FileSystemPlugin: three tools and a sandbox</a:t>
            </a:r>
            <a:endParaRPr lang="en-US" sz="28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FileSystemPlugin</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Captures the current directory as its sandbox root when it is constructed.</a:t>
            </a:r>
            <a:endParaRPr lang="en-US" sz="1300" dirty="0"/>
          </a:p>
        </p:txBody>
      </p:sp>
      <p:sp>
        <p:nvSpPr>
          <p:cNvPr id="9" name="Shape 6"/>
          <p:cNvSpPr/>
          <p:nvPr/>
        </p:nvSpPr>
        <p:spPr>
          <a:xfrm>
            <a:off x="2926080" y="1752600"/>
            <a:ext cx="502920" cy="0"/>
          </a:xfrm>
          <a:prstGeom prst="line">
            <a:avLst/>
          </a:prstGeom>
          <a:noFill/>
          <a:ln w="25400">
            <a:solidFill>
              <a:srgbClr val="F5A623"/>
            </a:solidFill>
            <a:prstDash val="solid"/>
          </a:ln>
        </p:spPr>
      </p:sp>
      <p:sp>
        <p:nvSpPr>
          <p:cNvPr id="10" name="Shape 7"/>
          <p:cNvSpPr/>
          <p:nvPr/>
        </p:nvSpPr>
        <p:spPr>
          <a:xfrm>
            <a:off x="3429000" y="1417320"/>
            <a:ext cx="5257800" cy="670560"/>
          </a:xfrm>
          <a:prstGeom prst="roundRect">
            <a:avLst>
              <a:gd name="adj" fmla="val 10909"/>
            </a:avLst>
          </a:prstGeom>
          <a:solidFill>
            <a:srgbClr val="EFEBFC"/>
          </a:solidFill>
          <a:ln w="12700">
            <a:solidFill>
              <a:srgbClr val="EFEBFC"/>
            </a:solidFill>
            <a:prstDash val="solid"/>
          </a:ln>
        </p:spPr>
      </p:sp>
      <p:sp>
        <p:nvSpPr>
          <p:cNvPr id="11" name="Shape 8"/>
          <p:cNvSpPr/>
          <p:nvPr/>
        </p:nvSpPr>
        <p:spPr>
          <a:xfrm>
            <a:off x="3593592" y="156057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660428"/>
            <a:ext cx="184343" cy="184343"/>
          </a:xfrm>
          <a:prstGeom prst="rect">
            <a:avLst/>
          </a:prstGeom>
        </p:spPr>
      </p:pic>
      <p:sp>
        <p:nvSpPr>
          <p:cNvPr id="13" name="Text 9"/>
          <p:cNvSpPr txBox="1"/>
          <p:nvPr/>
        </p:nvSpPr>
        <p:spPr>
          <a:xfrm>
            <a:off x="4142232" y="150876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ListFiles</a:t>
            </a:r>
            <a:endParaRPr lang="en-US" sz="1500" dirty="0"/>
          </a:p>
        </p:txBody>
      </p:sp>
      <p:sp>
        <p:nvSpPr>
          <p:cNvPr id="14" name="Text 10"/>
          <p:cNvSpPr txBox="1"/>
          <p:nvPr/>
        </p:nvSpPr>
        <p:spPr>
          <a:xfrm>
            <a:off x="5577840" y="150876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Returns the names of every file in the sandbox folder.</a:t>
            </a:r>
            <a:endParaRPr lang="en-US" sz="1200" dirty="0"/>
          </a:p>
        </p:txBody>
      </p:sp>
      <p:sp>
        <p:nvSpPr>
          <p:cNvPr id="15" name="Shape 11"/>
          <p:cNvSpPr/>
          <p:nvPr/>
        </p:nvSpPr>
        <p:spPr>
          <a:xfrm>
            <a:off x="2926080" y="2606040"/>
            <a:ext cx="502920" cy="0"/>
          </a:xfrm>
          <a:prstGeom prst="line">
            <a:avLst/>
          </a:prstGeom>
          <a:noFill/>
          <a:ln w="25400">
            <a:solidFill>
              <a:srgbClr val="F5A623"/>
            </a:solidFill>
            <a:prstDash val="solid"/>
          </a:ln>
        </p:spPr>
      </p:sp>
      <p:sp>
        <p:nvSpPr>
          <p:cNvPr id="16" name="Shape 12"/>
          <p:cNvSpPr/>
          <p:nvPr/>
        </p:nvSpPr>
        <p:spPr>
          <a:xfrm>
            <a:off x="3429000" y="2270760"/>
            <a:ext cx="5257800" cy="670560"/>
          </a:xfrm>
          <a:prstGeom prst="roundRect">
            <a:avLst>
              <a:gd name="adj" fmla="val 10909"/>
            </a:avLst>
          </a:prstGeom>
          <a:solidFill>
            <a:srgbClr val="EFEBFC"/>
          </a:solidFill>
          <a:ln w="12700">
            <a:solidFill>
              <a:srgbClr val="EFEBFC"/>
            </a:solidFill>
            <a:prstDash val="solid"/>
          </a:ln>
        </p:spPr>
      </p:sp>
      <p:sp>
        <p:nvSpPr>
          <p:cNvPr id="17" name="Shape 13"/>
          <p:cNvSpPr/>
          <p:nvPr/>
        </p:nvSpPr>
        <p:spPr>
          <a:xfrm>
            <a:off x="3593592" y="241401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513868"/>
            <a:ext cx="184343" cy="184343"/>
          </a:xfrm>
          <a:prstGeom prst="rect">
            <a:avLst/>
          </a:prstGeom>
        </p:spPr>
      </p:pic>
      <p:sp>
        <p:nvSpPr>
          <p:cNvPr id="19" name="Text 14"/>
          <p:cNvSpPr txBox="1"/>
          <p:nvPr/>
        </p:nvSpPr>
        <p:spPr>
          <a:xfrm>
            <a:off x="4142232" y="236220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ReadFile</a:t>
            </a:r>
            <a:endParaRPr lang="en-US" sz="1500" dirty="0"/>
          </a:p>
        </p:txBody>
      </p:sp>
      <p:sp>
        <p:nvSpPr>
          <p:cNvPr id="20" name="Text 15"/>
          <p:cNvSpPr txBox="1"/>
          <p:nvPr/>
        </p:nvSpPr>
        <p:spPr>
          <a:xfrm>
            <a:off x="5577840" y="236220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async Task&lt;string&gt;: returns a file's text, or an error string.</a:t>
            </a:r>
            <a:endParaRPr lang="en-US" sz="1200" dirty="0"/>
          </a:p>
        </p:txBody>
      </p:sp>
      <p:sp>
        <p:nvSpPr>
          <p:cNvPr id="21" name="Shape 16"/>
          <p:cNvSpPr/>
          <p:nvPr/>
        </p:nvSpPr>
        <p:spPr>
          <a:xfrm>
            <a:off x="2926080" y="3459480"/>
            <a:ext cx="502920" cy="0"/>
          </a:xfrm>
          <a:prstGeom prst="line">
            <a:avLst/>
          </a:prstGeom>
          <a:noFill/>
          <a:ln w="25400">
            <a:solidFill>
              <a:srgbClr val="F5A623"/>
            </a:solidFill>
            <a:prstDash val="solid"/>
          </a:ln>
        </p:spPr>
      </p:sp>
      <p:sp>
        <p:nvSpPr>
          <p:cNvPr id="22" name="Shape 17"/>
          <p:cNvSpPr/>
          <p:nvPr/>
        </p:nvSpPr>
        <p:spPr>
          <a:xfrm>
            <a:off x="3429000" y="3124200"/>
            <a:ext cx="5257800" cy="670560"/>
          </a:xfrm>
          <a:prstGeom prst="roundRect">
            <a:avLst>
              <a:gd name="adj" fmla="val 10909"/>
            </a:avLst>
          </a:prstGeom>
          <a:solidFill>
            <a:srgbClr val="EFEBFC"/>
          </a:solidFill>
          <a:ln w="12700">
            <a:solidFill>
              <a:srgbClr val="EFEBFC"/>
            </a:solidFill>
            <a:prstDash val="solid"/>
          </a:ln>
        </p:spPr>
      </p:sp>
      <p:sp>
        <p:nvSpPr>
          <p:cNvPr id="23" name="Shape 18"/>
          <p:cNvSpPr/>
          <p:nvPr/>
        </p:nvSpPr>
        <p:spPr>
          <a:xfrm>
            <a:off x="3593592" y="32674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3367308"/>
            <a:ext cx="184343" cy="184343"/>
          </a:xfrm>
          <a:prstGeom prst="rect">
            <a:avLst/>
          </a:prstGeom>
        </p:spPr>
      </p:pic>
      <p:sp>
        <p:nvSpPr>
          <p:cNvPr id="25" name="Text 19"/>
          <p:cNvSpPr txBox="1"/>
          <p:nvPr/>
        </p:nvSpPr>
        <p:spPr>
          <a:xfrm>
            <a:off x="4142232" y="321564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WriteFile</a:t>
            </a:r>
            <a:endParaRPr lang="en-US" sz="1500" dirty="0"/>
          </a:p>
        </p:txBody>
      </p:sp>
      <p:sp>
        <p:nvSpPr>
          <p:cNvPr id="26" name="Text 20"/>
          <p:cNvSpPr txBox="1"/>
          <p:nvPr/>
        </p:nvSpPr>
        <p:spPr>
          <a:xfrm>
            <a:off x="5577840" y="321564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async Task&lt;string&gt;: creates or overwrites, then reports success.</a:t>
            </a:r>
            <a:endParaRPr lang="en-US" sz="1200" dirty="0"/>
          </a:p>
        </p:txBody>
      </p:sp>
      <p:sp>
        <p:nvSpPr>
          <p:cNvPr id="27" name="Text 21"/>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Native functions can be async: ReadFileAsync and WriteFileAsync return Task&lt;string&gt;.</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6 — The File Manager</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TOOL CHAINING</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The model finds its own way to the goal</a:t>
            </a:r>
            <a:endParaRPr lang="en-US" sz="2800" dirty="0"/>
          </a:p>
        </p:txBody>
      </p:sp>
      <p:sp>
        <p:nvSpPr>
          <p:cNvPr id="4" name="Shape 2"/>
          <p:cNvSpPr/>
          <p:nvPr/>
        </p:nvSpPr>
        <p:spPr>
          <a:xfrm>
            <a:off x="457200" y="1417320"/>
            <a:ext cx="1367942" cy="1993392"/>
          </a:xfrm>
          <a:prstGeom prst="roundRect">
            <a:avLst>
              <a:gd name="adj" fmla="val 5348"/>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Vague task</a:t>
            </a:r>
            <a:endParaRPr lang="en-US" sz="1300" dirty="0"/>
          </a:p>
        </p:txBody>
      </p:sp>
      <p:sp>
        <p:nvSpPr>
          <p:cNvPr id="8" name="Text 5"/>
          <p:cNvSpPr txBox="1"/>
          <p:nvPr/>
        </p:nvSpPr>
        <p:spPr>
          <a:xfrm>
            <a:off x="640080" y="2606040"/>
            <a:ext cx="1047902"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Find the log, summarize its errors.</a:t>
            </a:r>
            <a:endParaRPr lang="en-US" sz="1200" dirty="0"/>
          </a:p>
        </p:txBody>
      </p:sp>
      <p:sp>
        <p:nvSpPr>
          <p:cNvPr id="9" name="Shape 6"/>
          <p:cNvSpPr/>
          <p:nvPr/>
        </p:nvSpPr>
        <p:spPr>
          <a:xfrm>
            <a:off x="1889150" y="2304288"/>
            <a:ext cx="219456" cy="219456"/>
          </a:xfrm>
          <a:prstGeom prst="rightArrow">
            <a:avLst/>
          </a:prstGeom>
          <a:solidFill>
            <a:srgbClr val="F5A623"/>
          </a:solidFill>
          <a:ln w="12700">
            <a:solidFill>
              <a:srgbClr val="F5A623"/>
            </a:solidFill>
            <a:prstDash val="solid"/>
          </a:ln>
        </p:spPr>
      </p:sp>
      <p:sp>
        <p:nvSpPr>
          <p:cNvPr id="10" name="Shape 7"/>
          <p:cNvSpPr/>
          <p:nvPr/>
        </p:nvSpPr>
        <p:spPr>
          <a:xfrm>
            <a:off x="2172614" y="1417320"/>
            <a:ext cx="1367942" cy="1993392"/>
          </a:xfrm>
          <a:prstGeom prst="roundRect">
            <a:avLst>
              <a:gd name="adj" fmla="val 5348"/>
            </a:avLst>
          </a:prstGeom>
          <a:solidFill>
            <a:srgbClr val="EFEBFC"/>
          </a:solidFill>
          <a:ln w="12700">
            <a:solidFill>
              <a:srgbClr val="EFEBFC"/>
            </a:solidFill>
            <a:prstDash val="solid"/>
          </a:ln>
        </p:spPr>
      </p:sp>
      <p:sp>
        <p:nvSpPr>
          <p:cNvPr id="11" name="Shape 8"/>
          <p:cNvSpPr/>
          <p:nvPr/>
        </p:nvSpPr>
        <p:spPr>
          <a:xfrm>
            <a:off x="2355494"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474366" y="1737360"/>
            <a:ext cx="219456" cy="219456"/>
          </a:xfrm>
          <a:prstGeom prst="rect">
            <a:avLst/>
          </a:prstGeom>
        </p:spPr>
      </p:pic>
      <p:sp>
        <p:nvSpPr>
          <p:cNvPr id="13" name="Text 9"/>
          <p:cNvSpPr txBox="1"/>
          <p:nvPr/>
        </p:nvSpPr>
        <p:spPr>
          <a:xfrm>
            <a:off x="2355494"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ListFiles</a:t>
            </a:r>
            <a:endParaRPr lang="en-US" sz="1300" dirty="0"/>
          </a:p>
        </p:txBody>
      </p:sp>
      <p:sp>
        <p:nvSpPr>
          <p:cNvPr id="14" name="Text 10"/>
          <p:cNvSpPr txBox="1"/>
          <p:nvPr/>
        </p:nvSpPr>
        <p:spPr>
          <a:xfrm>
            <a:off x="2355494" y="2606040"/>
            <a:ext cx="1047902"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Discovers server_logs.txt.</a:t>
            </a:r>
            <a:endParaRPr lang="en-US" sz="1200" dirty="0"/>
          </a:p>
        </p:txBody>
      </p:sp>
      <p:sp>
        <p:nvSpPr>
          <p:cNvPr id="15" name="Shape 11"/>
          <p:cNvSpPr/>
          <p:nvPr/>
        </p:nvSpPr>
        <p:spPr>
          <a:xfrm>
            <a:off x="3604565" y="2304288"/>
            <a:ext cx="219456" cy="219456"/>
          </a:xfrm>
          <a:prstGeom prst="rightArrow">
            <a:avLst/>
          </a:prstGeom>
          <a:solidFill>
            <a:srgbClr val="F5A623"/>
          </a:solidFill>
          <a:ln w="12700">
            <a:solidFill>
              <a:srgbClr val="F5A623"/>
            </a:solidFill>
            <a:prstDash val="solid"/>
          </a:ln>
        </p:spPr>
      </p:sp>
      <p:sp>
        <p:nvSpPr>
          <p:cNvPr id="16" name="Shape 12"/>
          <p:cNvSpPr/>
          <p:nvPr/>
        </p:nvSpPr>
        <p:spPr>
          <a:xfrm>
            <a:off x="3888029" y="1417320"/>
            <a:ext cx="1367942" cy="1993392"/>
          </a:xfrm>
          <a:prstGeom prst="roundRect">
            <a:avLst>
              <a:gd name="adj" fmla="val 5348"/>
            </a:avLst>
          </a:prstGeom>
          <a:solidFill>
            <a:srgbClr val="EFEBFC"/>
          </a:solidFill>
          <a:ln w="12700">
            <a:solidFill>
              <a:srgbClr val="EFEBFC"/>
            </a:solidFill>
            <a:prstDash val="solid"/>
          </a:ln>
        </p:spPr>
      </p:sp>
      <p:sp>
        <p:nvSpPr>
          <p:cNvPr id="17" name="Shape 13"/>
          <p:cNvSpPr/>
          <p:nvPr/>
        </p:nvSpPr>
        <p:spPr>
          <a:xfrm>
            <a:off x="4070909"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4189781" y="1737360"/>
            <a:ext cx="219456" cy="219456"/>
          </a:xfrm>
          <a:prstGeom prst="rect">
            <a:avLst/>
          </a:prstGeom>
        </p:spPr>
      </p:pic>
      <p:sp>
        <p:nvSpPr>
          <p:cNvPr id="19" name="Text 14"/>
          <p:cNvSpPr txBox="1"/>
          <p:nvPr/>
        </p:nvSpPr>
        <p:spPr>
          <a:xfrm>
            <a:off x="4070909"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ReadFile</a:t>
            </a:r>
            <a:endParaRPr lang="en-US" sz="1300" dirty="0"/>
          </a:p>
        </p:txBody>
      </p:sp>
      <p:sp>
        <p:nvSpPr>
          <p:cNvPr id="20" name="Text 15"/>
          <p:cNvSpPr txBox="1"/>
          <p:nvPr/>
        </p:nvSpPr>
        <p:spPr>
          <a:xfrm>
            <a:off x="4070909" y="2606040"/>
            <a:ext cx="1047902"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Reads all six log lines.</a:t>
            </a:r>
            <a:endParaRPr lang="en-US" sz="1200" dirty="0"/>
          </a:p>
        </p:txBody>
      </p:sp>
      <p:sp>
        <p:nvSpPr>
          <p:cNvPr id="21" name="Shape 16"/>
          <p:cNvSpPr/>
          <p:nvPr/>
        </p:nvSpPr>
        <p:spPr>
          <a:xfrm>
            <a:off x="5319979" y="2304288"/>
            <a:ext cx="219456" cy="219456"/>
          </a:xfrm>
          <a:prstGeom prst="rightArrow">
            <a:avLst/>
          </a:prstGeom>
          <a:solidFill>
            <a:srgbClr val="F5A623"/>
          </a:solidFill>
          <a:ln w="12700">
            <a:solidFill>
              <a:srgbClr val="F5A623"/>
            </a:solidFill>
            <a:prstDash val="solid"/>
          </a:ln>
        </p:spPr>
      </p:sp>
      <p:sp>
        <p:nvSpPr>
          <p:cNvPr id="22" name="Shape 17"/>
          <p:cNvSpPr/>
          <p:nvPr/>
        </p:nvSpPr>
        <p:spPr>
          <a:xfrm>
            <a:off x="5603443" y="1417320"/>
            <a:ext cx="1367942" cy="1993392"/>
          </a:xfrm>
          <a:prstGeom prst="roundRect">
            <a:avLst>
              <a:gd name="adj" fmla="val 5348"/>
            </a:avLst>
          </a:prstGeom>
          <a:solidFill>
            <a:srgbClr val="EFEBFC"/>
          </a:solidFill>
          <a:ln w="12700">
            <a:solidFill>
              <a:srgbClr val="EFEBFC"/>
            </a:solidFill>
            <a:prstDash val="solid"/>
          </a:ln>
        </p:spPr>
      </p:sp>
      <p:sp>
        <p:nvSpPr>
          <p:cNvPr id="23" name="Shape 18"/>
          <p:cNvSpPr/>
          <p:nvPr/>
        </p:nvSpPr>
        <p:spPr>
          <a:xfrm>
            <a:off x="5786323" y="1618488"/>
            <a:ext cx="457200" cy="457200"/>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5905195" y="1737360"/>
            <a:ext cx="219456" cy="219456"/>
          </a:xfrm>
          <a:prstGeom prst="rect">
            <a:avLst/>
          </a:prstGeom>
        </p:spPr>
      </p:pic>
      <p:sp>
        <p:nvSpPr>
          <p:cNvPr id="25" name="Text 19"/>
          <p:cNvSpPr txBox="1"/>
          <p:nvPr/>
        </p:nvSpPr>
        <p:spPr>
          <a:xfrm>
            <a:off x="5786323"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WriteFile</a:t>
            </a:r>
            <a:endParaRPr lang="en-US" sz="1300" dirty="0"/>
          </a:p>
        </p:txBody>
      </p:sp>
      <p:sp>
        <p:nvSpPr>
          <p:cNvPr id="26" name="Text 20"/>
          <p:cNvSpPr txBox="1"/>
          <p:nvPr/>
        </p:nvSpPr>
        <p:spPr>
          <a:xfrm>
            <a:off x="5786323" y="2606040"/>
            <a:ext cx="1047902"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Writes the new summary file.</a:t>
            </a:r>
            <a:endParaRPr lang="en-US" sz="1200" dirty="0"/>
          </a:p>
        </p:txBody>
      </p:sp>
      <p:sp>
        <p:nvSpPr>
          <p:cNvPr id="27" name="Shape 21"/>
          <p:cNvSpPr/>
          <p:nvPr/>
        </p:nvSpPr>
        <p:spPr>
          <a:xfrm>
            <a:off x="7035394" y="2304288"/>
            <a:ext cx="219456" cy="219456"/>
          </a:xfrm>
          <a:prstGeom prst="rightArrow">
            <a:avLst/>
          </a:prstGeom>
          <a:solidFill>
            <a:srgbClr val="F5A623"/>
          </a:solidFill>
          <a:ln w="12700">
            <a:solidFill>
              <a:srgbClr val="F5A623"/>
            </a:solidFill>
            <a:prstDash val="solid"/>
          </a:ln>
        </p:spPr>
      </p:sp>
      <p:sp>
        <p:nvSpPr>
          <p:cNvPr id="28" name="Shape 22"/>
          <p:cNvSpPr/>
          <p:nvPr/>
        </p:nvSpPr>
        <p:spPr>
          <a:xfrm>
            <a:off x="7318858" y="1417320"/>
            <a:ext cx="1367942" cy="1993392"/>
          </a:xfrm>
          <a:prstGeom prst="roundRect">
            <a:avLst>
              <a:gd name="adj" fmla="val 5348"/>
            </a:avLst>
          </a:prstGeom>
          <a:solidFill>
            <a:srgbClr val="512BD4"/>
          </a:solidFill>
          <a:ln w="12700">
            <a:solidFill>
              <a:srgbClr val="512BD4"/>
            </a:solidFill>
            <a:prstDash val="solid"/>
          </a:ln>
        </p:spPr>
      </p:sp>
      <p:sp>
        <p:nvSpPr>
          <p:cNvPr id="29" name="Shape 23"/>
          <p:cNvSpPr/>
          <p:nvPr/>
        </p:nvSpPr>
        <p:spPr>
          <a:xfrm>
            <a:off x="7501738" y="1618488"/>
            <a:ext cx="457200" cy="457200"/>
          </a:xfrm>
          <a:prstGeom prst="ellipse">
            <a:avLst/>
          </a:prstGeom>
          <a:solidFill>
            <a:srgbClr val="FFFFFF"/>
          </a:solidFill>
          <a:ln w="12700">
            <a:solidFill>
              <a:srgbClr val="FFFFFF"/>
            </a:solidFill>
            <a:prstDash val="solid"/>
          </a:ln>
        </p:spPr>
      </p:sp>
      <p:pic>
        <p:nvPicPr>
          <p:cNvPr id="30" name="Image 4" descr="preencoded.png">    </p:cNvPr>
          <p:cNvPicPr>
            <a:picLocks noChangeAspect="1"/>
          </p:cNvPicPr>
          <p:nvPr/>
        </p:nvPicPr>
        <p:blipFill>
          <a:blip r:embed="rId5"/>
          <a:stretch>
            <a:fillRect/>
          </a:stretch>
        </p:blipFill>
        <p:spPr>
          <a:xfrm>
            <a:off x="7620610" y="1737360"/>
            <a:ext cx="219456" cy="219456"/>
          </a:xfrm>
          <a:prstGeom prst="rect">
            <a:avLst/>
          </a:prstGeom>
        </p:spPr>
      </p:pic>
      <p:sp>
        <p:nvSpPr>
          <p:cNvPr id="31" name="Text 24"/>
          <p:cNvSpPr txBox="1"/>
          <p:nvPr/>
        </p:nvSpPr>
        <p:spPr>
          <a:xfrm>
            <a:off x="7501738" y="2194560"/>
            <a:ext cx="1047902" cy="41148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Verify</a:t>
            </a:r>
            <a:endParaRPr lang="en-US" sz="1300" dirty="0"/>
          </a:p>
        </p:txBody>
      </p:sp>
      <p:sp>
        <p:nvSpPr>
          <p:cNvPr id="32" name="Text 25"/>
          <p:cNvSpPr txBox="1"/>
          <p:nvPr/>
        </p:nvSpPr>
        <p:spPr>
          <a:xfrm>
            <a:off x="7501738" y="2606040"/>
            <a:ext cx="1047902"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C# reads the file back from disk.</a:t>
            </a:r>
            <a:endParaRPr lang="en-US" sz="1200" dirty="0"/>
          </a:p>
        </p:txBody>
      </p:sp>
      <p:sp>
        <p:nvSpPr>
          <p:cNvPr id="33" name="Text 26"/>
          <p:cNvSpPr txBox="1"/>
          <p:nvPr/>
        </p:nvSpPr>
        <p:spPr>
          <a:xfrm>
            <a:off x="457200" y="3730752"/>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Nobody tells the model the file name; it has to list before it can read.</a:t>
            </a:r>
            <a:endParaRPr lang="en-US" sz="1400" dirty="0"/>
          </a:p>
        </p:txBody>
      </p:sp>
      <p:sp>
        <p:nvSpPr>
          <p:cNvPr id="34" name="Text 2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6 — The File Manager</a:t>
            </a:r>
            <a:endParaRPr lang="en-US" sz="900" dirty="0"/>
          </a:p>
        </p:txBody>
      </p:sp>
      <p:sp>
        <p:nvSpPr>
          <p:cNvPr id="35" name="Text 2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SANDBOXING</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Every path is checked before it touches disk</a:t>
            </a:r>
            <a:endParaRPr lang="en-US" sz="2800" dirty="0"/>
          </a:p>
        </p:txBody>
      </p:sp>
      <p:sp>
        <p:nvSpPr>
          <p:cNvPr id="4" name="Shape 2"/>
          <p:cNvSpPr/>
          <p:nvPr/>
        </p:nvSpPr>
        <p:spPr>
          <a:xfrm>
            <a:off x="457200" y="1371600"/>
            <a:ext cx="1851660" cy="1600200"/>
          </a:xfrm>
          <a:prstGeom prst="roundRect">
            <a:avLst>
              <a:gd name="adj" fmla="val 4571"/>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Resolve</a:t>
            </a:r>
            <a:endParaRPr lang="en-US" sz="1300" dirty="0"/>
          </a:p>
        </p:txBody>
      </p:sp>
      <p:sp>
        <p:nvSpPr>
          <p:cNvPr id="8" name="Text 5"/>
          <p:cNvSpPr txBox="1"/>
          <p:nvPr/>
        </p:nvSpPr>
        <p:spPr>
          <a:xfrm>
            <a:off x="640080" y="2057400"/>
            <a:ext cx="1485900" cy="8229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Path.GetFullPath on the combined path turns ../ into a real location.</a:t>
            </a:r>
            <a:endParaRPr lang="en-US" sz="1200" dirty="0"/>
          </a:p>
        </p:txBody>
      </p:sp>
      <p:sp>
        <p:nvSpPr>
          <p:cNvPr id="9" name="Shape 6"/>
          <p:cNvSpPr/>
          <p:nvPr/>
        </p:nvSpPr>
        <p:spPr>
          <a:xfrm>
            <a:off x="2583180" y="1371600"/>
            <a:ext cx="1851660" cy="1600200"/>
          </a:xfrm>
          <a:prstGeom prst="roundRect">
            <a:avLst>
              <a:gd name="adj" fmla="val 4571"/>
            </a:avLst>
          </a:prstGeom>
          <a:solidFill>
            <a:srgbClr val="512BD4"/>
          </a:solidFill>
          <a:ln w="12700">
            <a:solidFill>
              <a:srgbClr val="512BD4"/>
            </a:solidFill>
            <a:prstDash val="solid"/>
          </a:ln>
        </p:spPr>
      </p:sp>
      <p:sp>
        <p:nvSpPr>
          <p:cNvPr id="10" name="Shape 7"/>
          <p:cNvSpPr/>
          <p:nvPr/>
        </p:nvSpPr>
        <p:spPr>
          <a:xfrm>
            <a:off x="2766060" y="1554480"/>
            <a:ext cx="384048" cy="384048"/>
          </a:xfrm>
          <a:prstGeom prst="ellipse">
            <a:avLst/>
          </a:prstGeom>
          <a:solidFill>
            <a:srgbClr val="FFFFFF"/>
          </a:solidFill>
          <a:ln w="12700">
            <a:solidFill>
              <a:srgbClr val="FFFFFF"/>
            </a:solidFill>
            <a:prstDash val="solid"/>
          </a:ln>
        </p:spPr>
      </p:sp>
      <p:pic>
        <p:nvPicPr>
          <p:cNvPr id="11" name="Image 1" descr="preencoded.png">    </p:cNvPr>
          <p:cNvPicPr>
            <a:picLocks noChangeAspect="1"/>
          </p:cNvPicPr>
          <p:nvPr/>
        </p:nvPicPr>
        <p:blipFill>
          <a:blip r:embed="rId2"/>
          <a:stretch>
            <a:fillRect/>
          </a:stretch>
        </p:blipFill>
        <p:spPr>
          <a:xfrm>
            <a:off x="2865912" y="1654332"/>
            <a:ext cx="184343" cy="184343"/>
          </a:xfrm>
          <a:prstGeom prst="rect">
            <a:avLst/>
          </a:prstGeom>
        </p:spPr>
      </p:pic>
      <p:sp>
        <p:nvSpPr>
          <p:cNvPr id="12" name="Text 8"/>
          <p:cNvSpPr txBox="1"/>
          <p:nvPr/>
        </p:nvSpPr>
        <p:spPr>
          <a:xfrm>
            <a:off x="326898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FFFFFF"/>
                </a:solidFill>
                <a:latin typeface="Calibri" pitchFamily="34" charset="0"/>
                <a:ea typeface="Calibri" pitchFamily="34" charset="-122"/>
                <a:cs typeface="Calibri" pitchFamily="34" charset="-120"/>
              </a:rPr>
              <a:t>Check root</a:t>
            </a:r>
            <a:endParaRPr lang="en-US" sz="1300" dirty="0"/>
          </a:p>
        </p:txBody>
      </p:sp>
      <p:sp>
        <p:nvSpPr>
          <p:cNvPr id="13" name="Text 9"/>
          <p:cNvSpPr txBox="1"/>
          <p:nvPr/>
        </p:nvSpPr>
        <p:spPr>
          <a:xfrm>
            <a:off x="2766060" y="2057400"/>
            <a:ext cx="1485900" cy="82296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The result must still start with the sandbox root folder.</a:t>
            </a:r>
            <a:endParaRPr lang="en-US" sz="1200" dirty="0"/>
          </a:p>
        </p:txBody>
      </p:sp>
      <p:sp>
        <p:nvSpPr>
          <p:cNvPr id="14" name="Shape 10"/>
          <p:cNvSpPr/>
          <p:nvPr/>
        </p:nvSpPr>
        <p:spPr>
          <a:xfrm>
            <a:off x="4709160" y="1371600"/>
            <a:ext cx="1851660" cy="1600200"/>
          </a:xfrm>
          <a:prstGeom prst="roundRect">
            <a:avLst>
              <a:gd name="adj" fmla="val 4571"/>
            </a:avLst>
          </a:prstGeom>
          <a:solidFill>
            <a:srgbClr val="EFEBFC"/>
          </a:solidFill>
          <a:ln w="12700">
            <a:solidFill>
              <a:srgbClr val="EFEBFC"/>
            </a:solidFill>
            <a:prstDash val="solid"/>
          </a:ln>
        </p:spPr>
      </p:sp>
      <p:sp>
        <p:nvSpPr>
          <p:cNvPr id="15" name="Shape 11"/>
          <p:cNvSpPr/>
          <p:nvPr/>
        </p:nvSpPr>
        <p:spPr>
          <a:xfrm>
            <a:off x="4892040" y="155448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4991892" y="1654332"/>
            <a:ext cx="184343" cy="184343"/>
          </a:xfrm>
          <a:prstGeom prst="rect">
            <a:avLst/>
          </a:prstGeom>
        </p:spPr>
      </p:pic>
      <p:sp>
        <p:nvSpPr>
          <p:cNvPr id="17" name="Text 12"/>
          <p:cNvSpPr txBox="1"/>
          <p:nvPr/>
        </p:nvSpPr>
        <p:spPr>
          <a:xfrm>
            <a:off x="539496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Block</a:t>
            </a:r>
            <a:endParaRPr lang="en-US" sz="1300" dirty="0"/>
          </a:p>
        </p:txBody>
      </p:sp>
      <p:sp>
        <p:nvSpPr>
          <p:cNvPr id="18" name="Text 13"/>
          <p:cNvSpPr txBox="1"/>
          <p:nvPr/>
        </p:nvSpPr>
        <p:spPr>
          <a:xfrm>
            <a:off x="4892040" y="2057400"/>
            <a:ext cx="1485900" cy="8229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Outside the root? Return an error string; nothing is read.</a:t>
            </a:r>
            <a:endParaRPr lang="en-US" sz="1200" dirty="0"/>
          </a:p>
        </p:txBody>
      </p:sp>
      <p:sp>
        <p:nvSpPr>
          <p:cNvPr id="19" name="Shape 14"/>
          <p:cNvSpPr/>
          <p:nvPr/>
        </p:nvSpPr>
        <p:spPr>
          <a:xfrm>
            <a:off x="6835140" y="1371600"/>
            <a:ext cx="1851660" cy="1600200"/>
          </a:xfrm>
          <a:prstGeom prst="roundRect">
            <a:avLst>
              <a:gd name="adj" fmla="val 4571"/>
            </a:avLst>
          </a:prstGeom>
          <a:solidFill>
            <a:srgbClr val="EFEBFC"/>
          </a:solidFill>
          <a:ln w="12700">
            <a:solidFill>
              <a:srgbClr val="EFEBFC"/>
            </a:solidFill>
            <a:prstDash val="solid"/>
          </a:ln>
        </p:spPr>
      </p:sp>
      <p:sp>
        <p:nvSpPr>
          <p:cNvPr id="20" name="Shape 15"/>
          <p:cNvSpPr/>
          <p:nvPr/>
        </p:nvSpPr>
        <p:spPr>
          <a:xfrm>
            <a:off x="7018020" y="155448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7117872" y="1654332"/>
            <a:ext cx="184343" cy="184343"/>
          </a:xfrm>
          <a:prstGeom prst="rect">
            <a:avLst/>
          </a:prstGeom>
        </p:spPr>
      </p:pic>
      <p:sp>
        <p:nvSpPr>
          <p:cNvPr id="22" name="Text 16"/>
          <p:cNvSpPr txBox="1"/>
          <p:nvPr/>
        </p:nvSpPr>
        <p:spPr>
          <a:xfrm>
            <a:off x="752094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Catch I/O</a:t>
            </a:r>
            <a:endParaRPr lang="en-US" sz="1300" dirty="0"/>
          </a:p>
        </p:txBody>
      </p:sp>
      <p:sp>
        <p:nvSpPr>
          <p:cNvPr id="23" name="Text 17"/>
          <p:cNvSpPr txBox="1"/>
          <p:nvPr/>
        </p:nvSpPr>
        <p:spPr>
          <a:xfrm>
            <a:off x="7018020" y="2057400"/>
            <a:ext cx="1485900" cy="82296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Locked or denied files return a tool error, not a crash.</a:t>
            </a:r>
            <a:endParaRPr lang="en-US" sz="1200" dirty="0"/>
          </a:p>
        </p:txBody>
      </p:sp>
      <p:sp>
        <p:nvSpPr>
          <p:cNvPr id="24" name="Text 18"/>
          <p:cNvSpPr txBox="1"/>
          <p:nvPr/>
        </p:nvSpPr>
        <p:spPr>
          <a:xfrm>
            <a:off x="457200" y="32004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TryResolveSandboxedPath guards both ReadFile and WriteFile.</a:t>
            </a:r>
            <a:endParaRPr lang="en-US" sz="1400" dirty="0"/>
          </a:p>
        </p:txBody>
      </p:sp>
      <p:sp>
        <p:nvSpPr>
          <p:cNvPr id="25"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6 — The File Manager</a:t>
            </a:r>
            <a:endParaRPr lang="en-US" sz="900" dirty="0"/>
          </a:p>
        </p:txBody>
      </p:sp>
      <p:sp>
        <p:nvSpPr>
          <p:cNvPr id="26"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REGISTRATION</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Why this plugin is registered as an instance</a:t>
            </a:r>
            <a:endParaRPr lang="en-US" sz="2800" dirty="0"/>
          </a:p>
        </p:txBody>
      </p:sp>
      <p:sp>
        <p:nvSpPr>
          <p:cNvPr id="4" name="Shape 2"/>
          <p:cNvSpPr/>
          <p:nvPr/>
        </p:nvSpPr>
        <p:spPr>
          <a:xfrm>
            <a:off x="457200" y="1371600"/>
            <a:ext cx="3931920" cy="1874520"/>
          </a:xfrm>
          <a:prstGeom prst="roundRect">
            <a:avLst>
              <a:gd name="adj" fmla="val 3902"/>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AddFromType&lt;T&gt;()</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Used for MathPlugin in Lesson 4</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Semantic Kernel constructs the class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Fine when construction does nothing</a:t>
            </a:r>
            <a:endParaRPr lang="en-US" sz="1300" dirty="0"/>
          </a:p>
        </p:txBody>
      </p:sp>
      <p:sp>
        <p:nvSpPr>
          <p:cNvPr id="9" name="Shape 6"/>
          <p:cNvSpPr/>
          <p:nvPr/>
        </p:nvSpPr>
        <p:spPr>
          <a:xfrm>
            <a:off x="4754880" y="1371600"/>
            <a:ext cx="3931920" cy="1874520"/>
          </a:xfrm>
          <a:prstGeom prst="roundRect">
            <a:avLst>
              <a:gd name="adj" fmla="val 3902"/>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AddFromObject(instance)</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new FileSystemPlugin(), "FileSystem"</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You construct it, exactly once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Sandbox root is set under your control</a:t>
            </a:r>
            <a:endParaRPr lang="en-US" sz="1300" dirty="0"/>
          </a:p>
        </p:txBody>
      </p:sp>
      <p:sp>
        <p:nvSpPr>
          <p:cNvPr id="14" name="Text 10"/>
          <p:cNvSpPr txBox="1"/>
          <p:nvPr/>
        </p:nvSpPr>
        <p:spPr>
          <a:xfrm>
            <a:off x="457200" y="352044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When a constructor does real setup, build the object yourself and hand it over.</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6 — The File Manager</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RESULT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Run it: three tool calls and a real file</a:t>
            </a:r>
            <a:endParaRPr lang="en-US" sz="2800" dirty="0"/>
          </a:p>
        </p:txBody>
      </p:sp>
      <p:sp>
        <p:nvSpPr>
          <p:cNvPr id="4" name="Shape 2"/>
          <p:cNvSpPr/>
          <p:nvPr/>
        </p:nvSpPr>
        <p:spPr>
          <a:xfrm>
            <a:off x="457200" y="1325880"/>
            <a:ext cx="5257800" cy="2880360"/>
          </a:xfrm>
          <a:prstGeom prst="roundRect">
            <a:avLst>
              <a:gd name="adj" fmla="val 2540"/>
            </a:avLst>
          </a:prstGeom>
          <a:solidFill>
            <a:srgbClr val="0F1420"/>
          </a:solidFill>
          <a:ln w="12700">
            <a:solidFill>
              <a:srgbClr val="0F1420"/>
            </a:solidFill>
            <a:prstDash val="solid"/>
          </a:ln>
        </p:spPr>
      </p:sp>
      <p:sp>
        <p:nvSpPr>
          <p:cNvPr id="5" name="Text 3"/>
          <p:cNvSpPr txBox="1"/>
          <p:nvPr/>
        </p:nvSpPr>
        <p:spPr>
          <a:xfrm>
            <a:off x="640080" y="1463040"/>
            <a:ext cx="4892040" cy="2606040"/>
          </a:xfrm>
          <a:prstGeom prst="rect">
            <a:avLst/>
          </a:prstGeom>
          <a:noFill/>
          <a:ln/>
        </p:spPr>
        <p:txBody>
          <a:bodyPr wrap="square" lIns="0" tIns="0" rIns="0" bIns="0" rtlCol="0" anchor="t"/>
          <a:lstStyle/>
          <a:p>
            <a:pPr indent="0" marL="0">
              <a:buNone/>
            </a:pPr>
            <a:r>
              <a:rPr lang="en-US" sz="1000" b="1" dirty="0">
                <a:solidFill>
                  <a:srgbClr val="F5A623"/>
                </a:solidFill>
                <a:latin typeface="Courier New" pitchFamily="34" charset="0"/>
                <a:ea typeface="Courier New" pitchFamily="34" charset="-122"/>
                <a:cs typeface="Courier New" pitchFamily="34" charset="-120"/>
              </a:rPr>
              <a:t>Task: Look in the current directory for a server log file.  Read its contents, figure out what errors occurred, and write a summary of those errors into a new file called 'error_summary.txt'.</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Agent is thinking and interacting with the file system...</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[PLUGIN EXECUTING] AI is listing files in the directory...</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[PLUGIN EXECUTING] AI is reading file: 'server_logs.txt'...</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[PLUGIN EXECUTING] AI is writing data to file: 'error_summary.txt'...</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AI TASK REPORT ---</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I found two errors and wrote a summary to error_summary.txt.</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[VERIFICATION] Reading 'error_summary.txt' directly from the local filesystem</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1. 08:45:01 DatabaseConnectionException: DB timeout.</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2. 09:12:44 NullReferenceException, PaymentProcessingModule.cs:42.</a:t>
            </a:r>
            <a:endParaRPr lang="en-US" sz="10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Three tool calls</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List, read, write, in that order.</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Illustrative text</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report and summary wording are the model's own.</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Proof on disk</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last lines come from the file, not the model.</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6 — The File Manager</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EXERCISE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Stop the agent from overwriting files</a:t>
            </a:r>
            <a:endParaRPr lang="en-US" sz="2800" dirty="0"/>
          </a:p>
        </p:txBody>
      </p:sp>
      <p:sp>
        <p:nvSpPr>
          <p:cNvPr id="4" name="Shape 2"/>
          <p:cNvSpPr/>
          <p:nvPr/>
        </p:nvSpPr>
        <p:spPr>
          <a:xfrm>
            <a:off x="457200" y="1371600"/>
            <a:ext cx="3108960" cy="3017520"/>
          </a:xfrm>
          <a:prstGeom prst="roundRect">
            <a:avLst>
              <a:gd name="adj" fmla="val 2424"/>
            </a:avLst>
          </a:prstGeom>
          <a:solidFill>
            <a:srgbClr val="512BD4"/>
          </a:solidFill>
          <a:ln w="12700">
            <a:solidFill>
              <a:srgbClr val="512BD4"/>
            </a:solidFill>
            <a:prstDash val="solid"/>
          </a:ln>
        </p:spPr>
      </p:sp>
      <p:sp>
        <p:nvSpPr>
          <p:cNvPr id="5" name="Shape 3"/>
          <p:cNvSpPr/>
          <p:nvPr/>
        </p:nvSpPr>
        <p:spPr>
          <a:xfrm>
            <a:off x="685800" y="1600200"/>
            <a:ext cx="457200" cy="4572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04672" y="1719072"/>
            <a:ext cx="219456" cy="219456"/>
          </a:xfrm>
          <a:prstGeom prst="rect">
            <a:avLst/>
          </a:prstGeom>
        </p:spPr>
      </p:pic>
      <p:sp>
        <p:nvSpPr>
          <p:cNvPr id="7" name="Text 4"/>
          <p:cNvSpPr txBox="1"/>
          <p:nvPr/>
        </p:nvSpPr>
        <p:spPr>
          <a:xfrm>
            <a:off x="685800" y="2194560"/>
            <a:ext cx="2651760" cy="13716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Make WriteFile refuse to replace an existing file unless the model passes an overwrite flag set to true.</a:t>
            </a:r>
            <a:endParaRPr lang="en-US" sz="1400" dirty="0"/>
          </a:p>
        </p:txBody>
      </p:sp>
      <p:sp>
        <p:nvSpPr>
          <p:cNvPr id="8" name="Text 5"/>
          <p:cNvSpPr txBox="1"/>
          <p:nvPr/>
        </p:nvSpPr>
        <p:spPr>
          <a:xfrm>
            <a:off x="685800" y="3611880"/>
            <a:ext cx="2743200" cy="640080"/>
          </a:xfrm>
          <a:prstGeom prst="rect">
            <a:avLst/>
          </a:prstGeom>
          <a:noFill/>
          <a:ln/>
        </p:spPr>
        <p:txBody>
          <a:bodyPr wrap="square" lIns="0" tIns="0" rIns="0" bIns="0" rtlCol="0" anchor="b"/>
          <a:lstStyle/>
          <a:p>
            <a:pPr indent="0" marL="0">
              <a:buNone/>
            </a:pPr>
            <a:r>
              <a:rPr lang="en-US" sz="850" dirty="0">
                <a:solidFill>
                  <a:srgbClr val="B8B2E6"/>
                </a:solidFill>
                <a:latin typeface="Courier New" pitchFamily="34" charset="0"/>
                <a:ea typeface="Courier New" pitchFamily="34" charset="-122"/>
                <a:cs typeface="Courier New" pitchFamily="34" charset="-120"/>
              </a:rPr>
              <a:t>Lesson06-FileManager/</a:t>
            </a:r>
            <a:endParaRPr lang="en-US" sz="850" dirty="0"/>
          </a:p>
          <a:p>
            <a:pPr indent="0" marL="0">
              <a:buNone/>
            </a:pPr>
            <a:r>
              <a:rPr lang="en-US" sz="850" dirty="0">
                <a:solidFill>
                  <a:srgbClr val="B8B2E6"/>
                </a:solidFill>
                <a:latin typeface="Courier New" pitchFamily="34" charset="0"/>
                <a:ea typeface="Courier New" pitchFamily="34" charset="-122"/>
                <a:cs typeface="Courier New" pitchFamily="34" charset="-120"/>
              </a:rPr>
              <a:t>FileManager/FileSystemPlugin.cs</a:t>
            </a:r>
            <a:endParaRPr lang="en-US" sz="850" dirty="0"/>
          </a:p>
        </p:txBody>
      </p:sp>
      <p:sp>
        <p:nvSpPr>
          <p:cNvPr id="9" name="Text 6"/>
          <p:cNvSpPr txBox="1"/>
          <p:nvPr/>
        </p:nvSpPr>
        <p:spPr>
          <a:xfrm>
            <a:off x="3931920" y="1371600"/>
            <a:ext cx="4754880" cy="320040"/>
          </a:xfrm>
          <a:prstGeom prst="rect">
            <a:avLst/>
          </a:prstGeom>
          <a:noFill/>
          <a:ln/>
        </p:spPr>
        <p:txBody>
          <a:bodyPr wrap="square" lIns="0" tIns="0" rIns="0" bIns="0" rtlCol="0" anchor="t"/>
          <a:lstStyle/>
          <a:p>
            <a:pPr indent="0" marL="0">
              <a:buNone/>
            </a:pPr>
            <a:r>
              <a:rPr lang="en-US" sz="1600" b="1" dirty="0">
                <a:solidFill>
                  <a:srgbClr val="1F2937"/>
                </a:solidFill>
                <a:latin typeface="Cambria" pitchFamily="34" charset="0"/>
                <a:ea typeface="Cambria" pitchFamily="34" charset="-122"/>
                <a:cs typeface="Cambria" pitchFamily="34" charset="-120"/>
              </a:rPr>
              <a:t>Done when</a:t>
            </a:r>
            <a:endParaRPr lang="en-US" sz="1600" dirty="0"/>
          </a:p>
        </p:txBody>
      </p:sp>
      <p:sp>
        <p:nvSpPr>
          <p:cNvPr id="10" name="Shape 7"/>
          <p:cNvSpPr/>
          <p:nvPr/>
        </p:nvSpPr>
        <p:spPr>
          <a:xfrm>
            <a:off x="3931920" y="1801368"/>
            <a:ext cx="292608" cy="292608"/>
          </a:xfrm>
          <a:prstGeom prst="ellipse">
            <a:avLst/>
          </a:prstGeom>
          <a:solidFill>
            <a:srgbClr val="F5A623"/>
          </a:solidFill>
          <a:ln w="12700">
            <a:solidFill>
              <a:srgbClr val="F5A623"/>
            </a:solidFill>
            <a:prstDash val="solid"/>
          </a:ln>
        </p:spPr>
      </p:sp>
      <p:pic>
        <p:nvPicPr>
          <p:cNvPr id="11" name="Image 1" descr="preencoded.png">    </p:cNvPr>
          <p:cNvPicPr>
            <a:picLocks noChangeAspect="1"/>
          </p:cNvPicPr>
          <p:nvPr/>
        </p:nvPicPr>
        <p:blipFill>
          <a:blip r:embed="rId2"/>
          <a:stretch>
            <a:fillRect/>
          </a:stretch>
        </p:blipFill>
        <p:spPr>
          <a:xfrm>
            <a:off x="4007998" y="1877446"/>
            <a:ext cx="140452" cy="140452"/>
          </a:xfrm>
          <a:prstGeom prst="rect">
            <a:avLst/>
          </a:prstGeom>
        </p:spPr>
      </p:pic>
      <p:sp>
        <p:nvSpPr>
          <p:cNvPr id="12" name="Text 8"/>
          <p:cNvSpPr txBox="1"/>
          <p:nvPr/>
        </p:nvSpPr>
        <p:spPr>
          <a:xfrm>
            <a:off x="4361688" y="178308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WriteFile gains a described bool overwrite parameter</a:t>
            </a:r>
            <a:endParaRPr lang="en-US" sz="1300" dirty="0"/>
          </a:p>
        </p:txBody>
      </p:sp>
      <p:sp>
        <p:nvSpPr>
          <p:cNvPr id="13" name="Shape 9"/>
          <p:cNvSpPr/>
          <p:nvPr/>
        </p:nvSpPr>
        <p:spPr>
          <a:xfrm>
            <a:off x="3931920" y="2441448"/>
            <a:ext cx="292608" cy="292608"/>
          </a:xfrm>
          <a:prstGeom prst="ellipse">
            <a:avLst/>
          </a:prstGeom>
          <a:solidFill>
            <a:srgbClr val="F5A623"/>
          </a:solidFill>
          <a:ln w="12700">
            <a:solidFill>
              <a:srgbClr val="F5A623"/>
            </a:solidFill>
            <a:prstDash val="solid"/>
          </a:ln>
        </p:spPr>
      </p:sp>
      <p:pic>
        <p:nvPicPr>
          <p:cNvPr id="14" name="Image 2" descr="preencoded.png">    </p:cNvPr>
          <p:cNvPicPr>
            <a:picLocks noChangeAspect="1"/>
          </p:cNvPicPr>
          <p:nvPr/>
        </p:nvPicPr>
        <p:blipFill>
          <a:blip r:embed="rId3"/>
          <a:stretch>
            <a:fillRect/>
          </a:stretch>
        </p:blipFill>
        <p:spPr>
          <a:xfrm>
            <a:off x="4007998" y="2517526"/>
            <a:ext cx="140452" cy="140452"/>
          </a:xfrm>
          <a:prstGeom prst="rect">
            <a:avLst/>
          </a:prstGeom>
        </p:spPr>
      </p:pic>
      <p:sp>
        <p:nvSpPr>
          <p:cNvPr id="15" name="Text 10"/>
          <p:cNvSpPr txBox="1"/>
          <p:nvPr/>
        </p:nvSpPr>
        <p:spPr>
          <a:xfrm>
            <a:off x="4361688" y="242316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Writing an existing file without it returns an error string</a:t>
            </a:r>
            <a:endParaRPr lang="en-US" sz="1300" dirty="0"/>
          </a:p>
        </p:txBody>
      </p:sp>
      <p:sp>
        <p:nvSpPr>
          <p:cNvPr id="16" name="Shape 11"/>
          <p:cNvSpPr/>
          <p:nvPr/>
        </p:nvSpPr>
        <p:spPr>
          <a:xfrm>
            <a:off x="3931920" y="3081528"/>
            <a:ext cx="292608" cy="292608"/>
          </a:xfrm>
          <a:prstGeom prst="ellipse">
            <a:avLst/>
          </a:prstGeom>
          <a:solidFill>
            <a:srgbClr val="F5A623"/>
          </a:solidFill>
          <a:ln w="12700">
            <a:solidFill>
              <a:srgbClr val="F5A623"/>
            </a:solidFill>
            <a:prstDash val="solid"/>
          </a:ln>
        </p:spPr>
      </p:sp>
      <p:pic>
        <p:nvPicPr>
          <p:cNvPr id="17" name="Image 3" descr="preencoded.png">    </p:cNvPr>
          <p:cNvPicPr>
            <a:picLocks noChangeAspect="1"/>
          </p:cNvPicPr>
          <p:nvPr/>
        </p:nvPicPr>
        <p:blipFill>
          <a:blip r:embed="rId4"/>
          <a:stretch>
            <a:fillRect/>
          </a:stretch>
        </p:blipFill>
        <p:spPr>
          <a:xfrm>
            <a:off x="4007998" y="3157606"/>
            <a:ext cx="140452" cy="140452"/>
          </a:xfrm>
          <a:prstGeom prst="rect">
            <a:avLst/>
          </a:prstGeom>
        </p:spPr>
      </p:pic>
      <p:sp>
        <p:nvSpPr>
          <p:cNvPr id="18" name="Text 12"/>
          <p:cNvSpPr txBox="1"/>
          <p:nvPr/>
        </p:nvSpPr>
        <p:spPr>
          <a:xfrm>
            <a:off x="4361688" y="306324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 second run reports or overwrites, never silently replaces</a:t>
            </a:r>
            <a:endParaRPr lang="en-US" sz="1300" dirty="0"/>
          </a:p>
        </p:txBody>
      </p:sp>
      <p:sp>
        <p:nvSpPr>
          <p:cNvPr id="19" name="Shape 13"/>
          <p:cNvSpPr/>
          <p:nvPr/>
        </p:nvSpPr>
        <p:spPr>
          <a:xfrm>
            <a:off x="3931920" y="3721608"/>
            <a:ext cx="292608" cy="292608"/>
          </a:xfrm>
          <a:prstGeom prst="ellipse">
            <a:avLst/>
          </a:prstGeom>
          <a:solidFill>
            <a:srgbClr val="F5A623"/>
          </a:solidFill>
          <a:ln w="12700">
            <a:solidFill>
              <a:srgbClr val="F5A623"/>
            </a:solidFill>
            <a:prstDash val="solid"/>
          </a:ln>
        </p:spPr>
      </p:sp>
      <p:pic>
        <p:nvPicPr>
          <p:cNvPr id="20" name="Image 4" descr="preencoded.png">    </p:cNvPr>
          <p:cNvPicPr>
            <a:picLocks noChangeAspect="1"/>
          </p:cNvPicPr>
          <p:nvPr/>
        </p:nvPicPr>
        <p:blipFill>
          <a:blip r:embed="rId5"/>
          <a:stretch>
            <a:fillRect/>
          </a:stretch>
        </p:blipFill>
        <p:spPr>
          <a:xfrm>
            <a:off x="4007998" y="3797686"/>
            <a:ext cx="140452" cy="140452"/>
          </a:xfrm>
          <a:prstGeom prst="rect">
            <a:avLst/>
          </a:prstGeom>
        </p:spPr>
      </p:pic>
      <p:sp>
        <p:nvSpPr>
          <p:cNvPr id="21" name="Text 14"/>
          <p:cNvSpPr txBox="1"/>
          <p:nvPr/>
        </p:nvSpPr>
        <p:spPr>
          <a:xfrm>
            <a:off x="4361688" y="370332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../outside.txt is still blocked by the sandbox</a:t>
            </a:r>
            <a:endParaRPr lang="en-US" sz="1300" dirty="0"/>
          </a:p>
        </p:txBody>
      </p:sp>
      <p:sp>
        <p:nvSpPr>
          <p:cNvPr id="22"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6 — The File Manager</a:t>
            </a:r>
            <a:endParaRPr lang="en-US" sz="900" dirty="0"/>
          </a:p>
        </p:txBody>
      </p:sp>
      <p:sp>
        <p:nvSpPr>
          <p:cNvPr id="23"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448056"/>
          </a:xfrm>
          <a:prstGeom prst="roundRect">
            <a:avLst>
              <a:gd name="adj" fmla="val 16327"/>
            </a:avLst>
          </a:prstGeom>
          <a:solidFill>
            <a:srgbClr val="1F2943"/>
          </a:solidFill>
          <a:ln w="12700">
            <a:solidFill>
              <a:srgbClr val="1F2943"/>
            </a:solidFill>
            <a:prstDash val="solid"/>
          </a:ln>
        </p:spPr>
      </p:sp>
      <p:sp>
        <p:nvSpPr>
          <p:cNvPr id="5" name="Text 3"/>
          <p:cNvSpPr txBox="1"/>
          <p:nvPr/>
        </p:nvSpPr>
        <p:spPr>
          <a:xfrm>
            <a:off x="621792" y="1234440"/>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Tools with side effects</a:t>
            </a:r>
            <a:endParaRPr lang="en-US" sz="1300" dirty="0"/>
          </a:p>
        </p:txBody>
      </p:sp>
      <p:sp>
        <p:nvSpPr>
          <p:cNvPr id="6" name="Shape 4"/>
          <p:cNvSpPr/>
          <p:nvPr/>
        </p:nvSpPr>
        <p:spPr>
          <a:xfrm>
            <a:off x="3493008" y="1367028"/>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20  </a:t>
            </a:r>
            <a:pPr indent="0" marL="0">
              <a:buNone/>
            </a:pPr>
            <a:r>
              <a:rPr lang="en-US" sz="1250" dirty="0">
                <a:solidFill>
                  <a:srgbClr val="FFFFFF"/>
                </a:solidFill>
                <a:latin typeface="Calibri" pitchFamily="34" charset="0"/>
                <a:ea typeface="Calibri" pitchFamily="34" charset="-122"/>
                <a:cs typeface="Calibri" pitchFamily="34" charset="-120"/>
              </a:rPr>
              <a:t>A human must approve before anything ships</a:t>
            </a:r>
            <a:endParaRPr lang="en-US" sz="1250" dirty="0"/>
          </a:p>
        </p:txBody>
      </p:sp>
      <p:sp>
        <p:nvSpPr>
          <p:cNvPr id="8" name="Shape 6"/>
          <p:cNvSpPr/>
          <p:nvPr/>
        </p:nvSpPr>
        <p:spPr>
          <a:xfrm>
            <a:off x="457200" y="1792224"/>
            <a:ext cx="2926080" cy="448056"/>
          </a:xfrm>
          <a:prstGeom prst="roundRect">
            <a:avLst>
              <a:gd name="adj" fmla="val 16327"/>
            </a:avLst>
          </a:prstGeom>
          <a:solidFill>
            <a:srgbClr val="1F2943"/>
          </a:solidFill>
          <a:ln w="12700">
            <a:solidFill>
              <a:srgbClr val="1F2943"/>
            </a:solidFill>
            <a:prstDash val="solid"/>
          </a:ln>
        </p:spPr>
      </p:sp>
      <p:sp>
        <p:nvSpPr>
          <p:cNvPr id="9" name="Text 7"/>
          <p:cNvSpPr txBox="1"/>
          <p:nvPr/>
        </p:nvSpPr>
        <p:spPr>
          <a:xfrm>
            <a:off x="621792" y="1792224"/>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Limiting what a tool touches</a:t>
            </a:r>
            <a:endParaRPr lang="en-US" sz="1300" dirty="0"/>
          </a:p>
        </p:txBody>
      </p:sp>
      <p:sp>
        <p:nvSpPr>
          <p:cNvPr id="10" name="Shape 8"/>
          <p:cNvSpPr/>
          <p:nvPr/>
        </p:nvSpPr>
        <p:spPr>
          <a:xfrm>
            <a:off x="3493008" y="1924812"/>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792224"/>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21  </a:t>
            </a:r>
            <a:pPr indent="0" marL="0">
              <a:buNone/>
            </a:pPr>
            <a:r>
              <a:rPr lang="en-US" sz="1250" dirty="0">
                <a:solidFill>
                  <a:srgbClr val="FFFFFF"/>
                </a:solidFill>
                <a:latin typeface="Calibri" pitchFamily="34" charset="0"/>
                <a:ea typeface="Calibri" pitchFamily="34" charset="-122"/>
                <a:cs typeface="Calibri" pitchFamily="34" charset="-120"/>
              </a:rPr>
              <a:t>Each specialist kernel holds only its own tool</a:t>
            </a:r>
            <a:endParaRPr lang="en-US" sz="1250" dirty="0"/>
          </a:p>
        </p:txBody>
      </p:sp>
      <p:sp>
        <p:nvSpPr>
          <p:cNvPr id="12" name="Shape 10"/>
          <p:cNvSpPr/>
          <p:nvPr/>
        </p:nvSpPr>
        <p:spPr>
          <a:xfrm>
            <a:off x="457200" y="2350008"/>
            <a:ext cx="2926080" cy="448056"/>
          </a:xfrm>
          <a:prstGeom prst="roundRect">
            <a:avLst>
              <a:gd name="adj" fmla="val 16327"/>
            </a:avLst>
          </a:prstGeom>
          <a:solidFill>
            <a:srgbClr val="1F2943"/>
          </a:solidFill>
          <a:ln w="12700">
            <a:solidFill>
              <a:srgbClr val="1F2943"/>
            </a:solidFill>
            <a:prstDash val="solid"/>
          </a:ln>
        </p:spPr>
      </p:sp>
      <p:sp>
        <p:nvSpPr>
          <p:cNvPr id="13" name="Text 11"/>
          <p:cNvSpPr txBox="1"/>
          <p:nvPr/>
        </p:nvSpPr>
        <p:spPr>
          <a:xfrm>
            <a:off x="621792" y="2350008"/>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Multi-step tool chaining</a:t>
            </a:r>
            <a:endParaRPr lang="en-US" sz="1300" dirty="0"/>
          </a:p>
        </p:txBody>
      </p:sp>
      <p:sp>
        <p:nvSpPr>
          <p:cNvPr id="14" name="Shape 12"/>
          <p:cNvSpPr/>
          <p:nvPr/>
        </p:nvSpPr>
        <p:spPr>
          <a:xfrm>
            <a:off x="3493008" y="248259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350008"/>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16  </a:t>
            </a:r>
            <a:pPr indent="0" marL="0">
              <a:buNone/>
            </a:pPr>
            <a:r>
              <a:rPr lang="en-US" sz="1250" dirty="0">
                <a:solidFill>
                  <a:srgbClr val="FFFFFF"/>
                </a:solidFill>
                <a:latin typeface="Calibri" pitchFamily="34" charset="0"/>
                <a:ea typeface="Calibri" pitchFamily="34" charset="-122"/>
                <a:cs typeface="Calibri" pitchFamily="34" charset="-120"/>
              </a:rPr>
              <a:t>Tool calls driven by a hand-written loop</a:t>
            </a:r>
            <a:endParaRPr lang="en-US" sz="1250" dirty="0"/>
          </a:p>
        </p:txBody>
      </p:sp>
      <p:sp>
        <p:nvSpPr>
          <p:cNvPr id="16" name="Shape 14"/>
          <p:cNvSpPr/>
          <p:nvPr/>
        </p:nvSpPr>
        <p:spPr>
          <a:xfrm>
            <a:off x="457200" y="2907792"/>
            <a:ext cx="2926080" cy="448056"/>
          </a:xfrm>
          <a:prstGeom prst="roundRect">
            <a:avLst>
              <a:gd name="adj" fmla="val 16327"/>
            </a:avLst>
          </a:prstGeom>
          <a:solidFill>
            <a:srgbClr val="1F2943"/>
          </a:solidFill>
          <a:ln w="12700">
            <a:solidFill>
              <a:srgbClr val="1F2943"/>
            </a:solidFill>
            <a:prstDash val="solid"/>
          </a:ln>
        </p:spPr>
      </p:sp>
      <p:sp>
        <p:nvSpPr>
          <p:cNvPr id="17" name="Text 15"/>
          <p:cNvSpPr txBox="1"/>
          <p:nvPr/>
        </p:nvSpPr>
        <p:spPr>
          <a:xfrm>
            <a:off x="621792" y="2907792"/>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Watching plugin calls</a:t>
            </a:r>
            <a:endParaRPr lang="en-US" sz="1300" dirty="0"/>
          </a:p>
        </p:txBody>
      </p:sp>
      <p:sp>
        <p:nvSpPr>
          <p:cNvPr id="18" name="Shape 16"/>
          <p:cNvSpPr/>
          <p:nvPr/>
        </p:nvSpPr>
        <p:spPr>
          <a:xfrm>
            <a:off x="3493008" y="3040380"/>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2907792"/>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22  </a:t>
            </a:r>
            <a:pPr indent="0" marL="0">
              <a:buNone/>
            </a:pPr>
            <a:r>
              <a:rPr lang="en-US" sz="1250" dirty="0">
                <a:solidFill>
                  <a:srgbClr val="FFFFFF"/>
                </a:solidFill>
                <a:latin typeface="Calibri" pitchFamily="34" charset="0"/>
                <a:ea typeface="Calibri" pitchFamily="34" charset="-122"/>
                <a:cs typeface="Calibri" pitchFamily="34" charset="-120"/>
              </a:rPr>
              <a:t>Filters audit and time every function call</a:t>
            </a:r>
            <a:endParaRPr lang="en-US" sz="1250" dirty="0"/>
          </a:p>
        </p:txBody>
      </p:sp>
      <p:sp>
        <p:nvSpPr>
          <p:cNvPr id="20" name="Shape 18"/>
          <p:cNvSpPr/>
          <p:nvPr/>
        </p:nvSpPr>
        <p:spPr>
          <a:xfrm>
            <a:off x="457200" y="3465576"/>
            <a:ext cx="2926080" cy="448056"/>
          </a:xfrm>
          <a:prstGeom prst="roundRect">
            <a:avLst>
              <a:gd name="adj" fmla="val 16327"/>
            </a:avLst>
          </a:prstGeom>
          <a:solidFill>
            <a:srgbClr val="1F2943"/>
          </a:solidFill>
          <a:ln w="12700">
            <a:solidFill>
              <a:srgbClr val="1F2943"/>
            </a:solidFill>
            <a:prstDash val="solid"/>
          </a:ln>
        </p:spPr>
      </p:sp>
      <p:sp>
        <p:nvSpPr>
          <p:cNvPr id="21" name="Text 19"/>
          <p:cNvSpPr txBox="1"/>
          <p:nvPr/>
        </p:nvSpPr>
        <p:spPr>
          <a:xfrm>
            <a:off x="621792" y="3465576"/>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Guarding agent actions</a:t>
            </a:r>
            <a:endParaRPr lang="en-US" sz="1300" dirty="0"/>
          </a:p>
        </p:txBody>
      </p:sp>
      <p:sp>
        <p:nvSpPr>
          <p:cNvPr id="22" name="Shape 20"/>
          <p:cNvSpPr/>
          <p:nvPr/>
        </p:nvSpPr>
        <p:spPr>
          <a:xfrm>
            <a:off x="3493008" y="3598164"/>
            <a:ext cx="329184" cy="182880"/>
          </a:xfrm>
          <a:prstGeom prst="rightArrow">
            <a:avLst/>
          </a:prstGeom>
          <a:solidFill>
            <a:srgbClr val="F5A623"/>
          </a:solidFill>
          <a:ln w="12700">
            <a:solidFill>
              <a:srgbClr val="F5A623"/>
            </a:solidFill>
            <a:prstDash val="solid"/>
          </a:ln>
        </p:spPr>
      </p:sp>
      <p:sp>
        <p:nvSpPr>
          <p:cNvPr id="23" name="Text 21"/>
          <p:cNvSpPr txBox="1"/>
          <p:nvPr/>
        </p:nvSpPr>
        <p:spPr>
          <a:xfrm>
            <a:off x="3977640" y="3465576"/>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37  </a:t>
            </a:r>
            <a:pPr indent="0" marL="0">
              <a:buNone/>
            </a:pPr>
            <a:r>
              <a:rPr lang="en-US" sz="1250" dirty="0">
                <a:solidFill>
                  <a:srgbClr val="FFFFFF"/>
                </a:solidFill>
                <a:latin typeface="Calibri" pitchFamily="34" charset="0"/>
                <a:ea typeface="Calibri" pitchFamily="34" charset="-122"/>
                <a:cs typeface="Calibri" pitchFamily="34" charset="-120"/>
              </a:rPr>
              <a:t>Filters redact PII and block unsafe output</a:t>
            </a:r>
            <a:endParaRPr lang="en-US" sz="1250" dirty="0"/>
          </a:p>
        </p:txBody>
      </p:sp>
      <p:sp>
        <p:nvSpPr>
          <p:cNvPr id="24" name="Text 22"/>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Part 1: Foundations &amp; Core Orchestration</a:t>
            </a:r>
            <a:endParaRPr lang="en-US" sz="1300" dirty="0"/>
          </a:p>
        </p:txBody>
      </p:sp>
      <p:sp>
        <p:nvSpPr>
          <p:cNvPr id="25" name="Text 2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6 — The File Manager</a:t>
            </a:r>
            <a:endParaRPr lang="en-US" sz="900" dirty="0"/>
          </a:p>
        </p:txBody>
      </p:sp>
      <p:sp>
        <p:nvSpPr>
          <p:cNvPr id="26" name="Text 2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6 — The File Manager</dc:title>
  <dc:subject>PptxGenJS Presentation</dc:subject>
  <dc:creator>Media Six LLC</dc:creator>
  <cp:lastModifiedBy>Media Six LLC</cp:lastModifiedBy>
  <cp:revision>1</cp:revision>
  <dcterms:created xsi:type="dcterms:W3CDTF">2026-10-21T23:26:06Z</dcterms:created>
  <dcterms:modified xsi:type="dcterms:W3CDTF">2026-10-21T23:26:06Z</dcterms:modified>
</cp:coreProperties>
</file>