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chat lesson so far has wired an IChatCompletionService and a ChatHistory together by hand. This lesson introduces Semantic Kernel's Agent Framework through ChatCompletionAgent. We build an interactive travel-planning chatbot, but the persona, the model connection and the generation settings are bundled into one reusable travelAgent object with a Name and Instructions. The conversation loop calls travelAgent.InvokeAsync with the chat history instead of talking to the chat completion service directly. This object model is the bridge to the multi-agent lessons that follow.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Lesson 1, the persona was the first message in a ChatHistory, and each turn called GetChatMessageContentAsync on the chat service directly. Everything we did by hand still happens here: injecting a persona, keeping a history, calling the model. The difference is packaging. The persona now lives in the agent's Instructions instead of the transcript, the agent is invoked with InvokeAsync, and execution settings such as temperature are attached once, as default Arguments, rather than passed on every call.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lesson adds one package: Microsoft.SemanticKernel.Agents.Core, version 1.78.0, which provides ChatCompletionAgent in the Microsoft.SemanticKernel.Agents namespace. Alongside it you keep the usual Microsoft.SemanticKernel and Connectors.OpenAI packages at the same version, on .NET 10. The key comes from OPENAI_API_KEY, and the kernel registers gpt-4.1-mini with AddOpenAIChatCompletion exactly as in earlier lessons. The agent simply uses that kernel.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2 creates the agent with an object initializer and four properties. Name is TravelAssistant, and it appears as the AuthorName on each reply. Instructions holds the persona: a world-class travel planner who always gives three options, Budget, Mid-range and Luxury. Kernel supplies the OpenAI chat service the agent uses under the hood. And Arguments carries default execution settings, here an OpenAIPromptExecutionSettings with Temperature 0.5, so they apply to every call without being passed each time. Who the agent is now lives on the object, separate from the conversation history.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turn of the loop follows the same five moves. Read a line from the console; a blank line or exit ends the program. Add it to the shared ChatHistory with AddUserMessage. Then, highlighted, invoke the agent with travelAgent.InvokeAsync, passing the history. For each message the agent yields, print its author name and content, and append it back to the history with chatHistory.Add, so the next turn has the full context. The call sits inside a try/catch, so a rate limit or network blip prints an error and lets you try again instead of ending the conversation.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It is worth being precise about the split. The agent owns its persona, its model connection and its default settings. It does not silently manage conversation memory. Your code owns the ChatHistory, decides what goes into it, runs the loop and handles errors. That design is deliberate: because the history belongs to the caller, the same history can be handed to more than one agent, which is exactly the shared-history pattern the next lesson builds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details in the loop are worth pointing out. First, InvokeAsync returns an IAsyncEnumerable, which we consume with await foreach. That reflects that an agent's turn can, in general, produce more than one message. Second, each item wraps the actual chat message, so we read message.Message.AuthorName and message.Message.Content when printing, and pass the item straight to chatHistory.Add. Third, the await foreach is wrapped in a try/catch. A failed call prints The agent could not complete this turn with the error, and the while loop continues, so one bad turn doesn't lose the whole conversation.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Set OPENAI_API_KEY and run the project. The banner reads Travel Agent Framework Initialized. Type a request with a budget, and after the AGENT IS THINKING line the reply is printed with the agent's name, TravelAssistant, in front. Because of the Instructions, the reply should be organised into Budget, Mid-range and Luxury options. The destinations on this slide are illustrative; the model's suggestions will differ. Ask a follow-up and the agent remembers your budget, because the loop appends each reply to the shared history. Type exit to quit.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Try this on your own. Add a reset command to the loop that clears the ChatHistory and prints a confirmation. Test it by giving a budget, resetting, and asking a follow-up: the agent should no longer know the budget, which proves that memory lives in the history you own, not in the agent. Then print chatHistory.Count after each reply, and watch it grow by two with every exchange and drop back to zero after a reset. Confirm the replies still come back in three tiers.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recap: we added the Agents.Core package, built a ChatCompletionAgent with a Name, Instructions, a Kernel and default Arguments, invoked it as an async stream, and kept ownership of the ChatHistory ourselves. Lesson 18 has two personas collaborate over one shared history. Lesson 20 gives an AiWorker its own persona and puts a human approval gate after it. Lesson 26 pairs a TargetAgent with a JudgeAgent that scores its answers. Lesson 28 builds the capstone's specialised GoalRefiner, Planner and Developer agents. And in Lesson 34, Semantic Kernel's experimental group-chat orchestration from the Agents packages proved unreliable in live testing, so that lesson hand-rolls the pattern instead.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slideLayout" Target="../slideLayouts/slideLayout1.xml"/><Relationship Id="rId7"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slideLayout" Target="../slideLayouts/slideLayout1.xml"/><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slideLayout" Target="../slideLayouts/slideLayout1.xml"/><Relationship Id="rId6"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slideLayout" Target="../slideLayouts/slideLayout1.xml"/><Relationship Id="rId7"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image" Target="../media/image-5-5.png"/><Relationship Id="rId6" Type="http://schemas.openxmlformats.org/officeDocument/2006/relationships/slideLayout" Target="../slideLayouts/slideLayout1.xml"/><Relationship Id="rId7"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slideLayout" Target="../slideLayouts/slideLayout1.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slideLayout" Target="../slideLayouts/slideLayout1.xml"/><Relationship Id="rId5"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slideLayout" Target="../slideLayouts/slideLayout1.xml"/><Relationship Id="rId5"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image" Target="../media/image-9-5.png"/><Relationship Id="rId6" Type="http://schemas.openxmlformats.org/officeDocument/2006/relationships/slideLayout" Target="../slideLayouts/slideLayout1.xml"/><Relationship Id="rId7"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41B2D"/>
        </a:solidFill>
      </p:bgPr>
    </p:bg>
    <p:spTree>
      <p:nvGrpSpPr>
        <p:cNvPr id="1" name=""/>
        <p:cNvGrpSpPr/>
        <p:nvPr/>
      </p:nvGrpSpPr>
      <p:grpSpPr>
        <a:xfrm>
          <a:off x="0" y="0"/>
          <a:ext cx="0" cy="0"/>
          <a:chOff x="0" y="0"/>
          <a:chExt cx="0" cy="0"/>
        </a:xfrm>
      </p:grpSpPr>
      <p:sp>
        <p:nvSpPr>
          <p:cNvPr id="2" name="Text 0"/>
          <p:cNvSpPr txBox="1"/>
          <p:nvPr/>
        </p:nvSpPr>
        <p:spPr>
          <a:xfrm>
            <a:off x="457200" y="502920"/>
            <a:ext cx="4206240" cy="457200"/>
          </a:xfrm>
          <a:prstGeom prst="rect">
            <a:avLst/>
          </a:prstGeom>
          <a:noFill/>
          <a:ln/>
        </p:spPr>
        <p:txBody>
          <a:bodyPr wrap="square" lIns="0" tIns="0" rIns="0" bIns="0" rtlCol="0" anchor="t"/>
          <a:lstStyle/>
          <a:p>
            <a:pPr indent="0" marL="0">
              <a:buNone/>
            </a:pPr>
            <a:r>
              <a:rPr lang="en-US" sz="1100" b="1" spc="200" kern="0" dirty="0">
                <a:solidFill>
                  <a:srgbClr val="F5A623"/>
                </a:solidFill>
                <a:latin typeface="Calibri" pitchFamily="34" charset="0"/>
                <a:ea typeface="Calibri" pitchFamily="34" charset="-122"/>
                <a:cs typeface="Calibri" pitchFamily="34" charset="-120"/>
              </a:rPr>
              <a:t>LESSON 17  ·  PART 1</a:t>
            </a:r>
            <a:endParaRPr lang="en-US" sz="1100" dirty="0"/>
          </a:p>
        </p:txBody>
      </p:sp>
      <p:sp>
        <p:nvSpPr>
          <p:cNvPr id="3" name="Text 1"/>
          <p:cNvSpPr txBox="1"/>
          <p:nvPr/>
        </p:nvSpPr>
        <p:spPr>
          <a:xfrm>
            <a:off x="457200" y="1005840"/>
            <a:ext cx="4206240" cy="1371600"/>
          </a:xfrm>
          <a:prstGeom prst="rect">
            <a:avLst/>
          </a:prstGeom>
          <a:noFill/>
          <a:ln/>
        </p:spPr>
        <p:txBody>
          <a:bodyPr wrap="square" lIns="0" tIns="0" rIns="0" bIns="0" rtlCol="0" anchor="b"/>
          <a:lstStyle/>
          <a:p>
            <a:pPr indent="0" marL="0">
              <a:buNone/>
            </a:pPr>
            <a:r>
              <a:rPr lang="en-US" sz="4000" b="1" dirty="0">
                <a:solidFill>
                  <a:srgbClr val="FFFFFF"/>
                </a:solidFill>
                <a:latin typeface="Cambria" pitchFamily="34" charset="0"/>
                <a:ea typeface="Cambria" pitchFamily="34" charset="-122"/>
                <a:cs typeface="Cambria" pitchFamily="34" charset="-120"/>
              </a:rPr>
              <a:t>Agent Framework</a:t>
            </a:r>
            <a:endParaRPr lang="en-US" sz="4000" dirty="0"/>
          </a:p>
        </p:txBody>
      </p:sp>
      <p:sp>
        <p:nvSpPr>
          <p:cNvPr id="4" name="Text 2"/>
          <p:cNvSpPr txBox="1"/>
          <p:nvPr/>
        </p:nvSpPr>
        <p:spPr>
          <a:xfrm>
            <a:off x="457200" y="2468880"/>
            <a:ext cx="4206240" cy="640080"/>
          </a:xfrm>
          <a:prstGeom prst="rect">
            <a:avLst/>
          </a:prstGeom>
          <a:noFill/>
          <a:ln/>
        </p:spPr>
        <p:txBody>
          <a:bodyPr wrap="square" lIns="0" tIns="0" rIns="0" bIns="0" rtlCol="0" anchor="t"/>
          <a:lstStyle/>
          <a:p>
            <a:pPr indent="0" marL="0">
              <a:buNone/>
            </a:pPr>
            <a:r>
              <a:rPr lang="en-US" sz="1600" dirty="0">
                <a:solidFill>
                  <a:srgbClr val="B8B2E6"/>
                </a:solidFill>
                <a:latin typeface="Calibri" pitchFamily="34" charset="0"/>
                <a:ea typeface="Calibri" pitchFamily="34" charset="-122"/>
                <a:cs typeface="Calibri" pitchFamily="34" charset="-120"/>
              </a:rPr>
              <a:t>Persona, model and settings bundled into one ChatCompletionAgent</a:t>
            </a:r>
            <a:endParaRPr lang="en-US" sz="1600" dirty="0"/>
          </a:p>
        </p:txBody>
      </p:sp>
      <p:sp>
        <p:nvSpPr>
          <p:cNvPr id="5" name="Text 3"/>
          <p:cNvSpPr txBox="1"/>
          <p:nvPr/>
        </p:nvSpPr>
        <p:spPr>
          <a:xfrm>
            <a:off x="457200" y="3346704"/>
            <a:ext cx="1097280" cy="274320"/>
          </a:xfrm>
          <a:prstGeom prst="rect">
            <a:avLst/>
          </a:prstGeom>
          <a:noFill/>
          <a:ln/>
        </p:spPr>
        <p:txBody>
          <a:bodyPr wrap="square" lIns="0" tIns="0" rIns="0" bIns="0" rtlCol="0" anchor="t"/>
          <a:lstStyle/>
          <a:p>
            <a:pPr indent="0" marL="0">
              <a:buNone/>
            </a:pPr>
            <a:r>
              <a:rPr lang="en-US" sz="900" b="1" spc="100" kern="0" dirty="0">
                <a:solidFill>
                  <a:srgbClr val="B8B2E6"/>
                </a:solidFill>
                <a:latin typeface="Calibri" pitchFamily="34" charset="0"/>
                <a:ea typeface="Calibri" pitchFamily="34" charset="-122"/>
                <a:cs typeface="Calibri" pitchFamily="34" charset="-120"/>
              </a:rPr>
              <a:t>STARTS FROM</a:t>
            </a:r>
            <a:endParaRPr lang="en-US" sz="900" dirty="0"/>
          </a:p>
        </p:txBody>
      </p:sp>
      <p:sp>
        <p:nvSpPr>
          <p:cNvPr id="6" name="Text 4"/>
          <p:cNvSpPr txBox="1"/>
          <p:nvPr/>
        </p:nvSpPr>
        <p:spPr>
          <a:xfrm>
            <a:off x="1554480" y="3291840"/>
            <a:ext cx="3291840" cy="365760"/>
          </a:xfrm>
          <a:prstGeom prst="rect">
            <a:avLst/>
          </a:prstGeom>
          <a:noFill/>
          <a:ln/>
        </p:spPr>
        <p:txBody>
          <a:bodyPr wrap="square" lIns="0" tIns="0" rIns="0" bIns="0" rtlCol="0" anchor="ctr"/>
          <a:lstStyle/>
          <a:p>
            <a:pPr indent="0" marL="0">
              <a:buNone/>
            </a:pPr>
            <a:r>
              <a:rPr lang="en-US" sz="1100" dirty="0">
                <a:solidFill>
                  <a:srgbClr val="FFFFFF"/>
                </a:solidFill>
                <a:latin typeface="Courier New" pitchFamily="34" charset="0"/>
                <a:ea typeface="Courier New" pitchFamily="34" charset="-122"/>
                <a:cs typeface="Courier New" pitchFamily="34" charset="-120"/>
              </a:rPr>
              <a:t>Kernel + ChatHistory</a:t>
            </a:r>
            <a:endParaRPr lang="en-US" sz="1100" dirty="0"/>
          </a:p>
        </p:txBody>
      </p:sp>
      <p:sp>
        <p:nvSpPr>
          <p:cNvPr id="7" name="Text 5"/>
          <p:cNvSpPr txBox="1"/>
          <p:nvPr/>
        </p:nvSpPr>
        <p:spPr>
          <a:xfrm>
            <a:off x="457200" y="3803904"/>
            <a:ext cx="1097280" cy="274320"/>
          </a:xfrm>
          <a:prstGeom prst="rect">
            <a:avLst/>
          </a:prstGeom>
          <a:noFill/>
          <a:ln/>
        </p:spPr>
        <p:txBody>
          <a:bodyPr wrap="square" lIns="0" tIns="0" rIns="0" bIns="0" rtlCol="0" anchor="t"/>
          <a:lstStyle/>
          <a:p>
            <a:pPr indent="0" marL="0">
              <a:buNone/>
            </a:pPr>
            <a:r>
              <a:rPr lang="en-US" sz="900" b="1" spc="100" kern="0" dirty="0">
                <a:solidFill>
                  <a:srgbClr val="B8B2E6"/>
                </a:solidFill>
                <a:latin typeface="Calibri" pitchFamily="34" charset="0"/>
                <a:ea typeface="Calibri" pitchFamily="34" charset="-122"/>
                <a:cs typeface="Calibri" pitchFamily="34" charset="-120"/>
              </a:rPr>
              <a:t>FINISHES AS</a:t>
            </a:r>
            <a:endParaRPr lang="en-US" sz="900" dirty="0"/>
          </a:p>
        </p:txBody>
      </p:sp>
      <p:sp>
        <p:nvSpPr>
          <p:cNvPr id="8" name="Text 6"/>
          <p:cNvSpPr txBox="1"/>
          <p:nvPr/>
        </p:nvSpPr>
        <p:spPr>
          <a:xfrm>
            <a:off x="1554480" y="3749040"/>
            <a:ext cx="3291840" cy="365760"/>
          </a:xfrm>
          <a:prstGeom prst="rect">
            <a:avLst/>
          </a:prstGeom>
          <a:noFill/>
          <a:ln/>
        </p:spPr>
        <p:txBody>
          <a:bodyPr wrap="square" lIns="0" tIns="0" rIns="0" bIns="0" rtlCol="0" anchor="ctr"/>
          <a:lstStyle/>
          <a:p>
            <a:pPr indent="0" marL="0">
              <a:buNone/>
            </a:pPr>
            <a:r>
              <a:rPr lang="en-US" sz="1100" dirty="0">
                <a:solidFill>
                  <a:srgbClr val="FFFFFF"/>
                </a:solidFill>
                <a:latin typeface="Courier New" pitchFamily="34" charset="0"/>
                <a:ea typeface="Courier New" pitchFamily="34" charset="-122"/>
                <a:cs typeface="Courier New" pitchFamily="34" charset="-120"/>
              </a:rPr>
              <a:t>TravelAssistant agent</a:t>
            </a:r>
            <a:endParaRPr lang="en-US" sz="1100" dirty="0"/>
          </a:p>
        </p:txBody>
      </p:sp>
      <p:sp>
        <p:nvSpPr>
          <p:cNvPr id="9" name="Shape 7"/>
          <p:cNvSpPr/>
          <p:nvPr/>
        </p:nvSpPr>
        <p:spPr>
          <a:xfrm>
            <a:off x="4983480" y="502920"/>
            <a:ext cx="3703320" cy="4069080"/>
          </a:xfrm>
          <a:prstGeom prst="roundRect">
            <a:avLst>
              <a:gd name="adj" fmla="val 1975"/>
            </a:avLst>
          </a:prstGeom>
          <a:solidFill>
            <a:srgbClr val="1F2943"/>
          </a:solidFill>
          <a:ln w="12700">
            <a:solidFill>
              <a:srgbClr val="1F2943"/>
            </a:solidFill>
            <a:prstDash val="solid"/>
          </a:ln>
        </p:spPr>
      </p:sp>
      <p:sp>
        <p:nvSpPr>
          <p:cNvPr id="10" name="Text 8"/>
          <p:cNvSpPr txBox="1"/>
          <p:nvPr/>
        </p:nvSpPr>
        <p:spPr>
          <a:xfrm>
            <a:off x="5257800" y="731520"/>
            <a:ext cx="3200400" cy="365760"/>
          </a:xfrm>
          <a:prstGeom prst="rect">
            <a:avLst/>
          </a:prstGeom>
          <a:noFill/>
          <a:ln/>
        </p:spPr>
        <p:txBody>
          <a:bodyPr wrap="square" lIns="0" tIns="0" rIns="0" bIns="0" rtlCol="0" anchor="t"/>
          <a:lstStyle/>
          <a:p>
            <a:pPr indent="0" marL="0">
              <a:buNone/>
            </a:pPr>
            <a:r>
              <a:rPr lang="en-US" sz="1600" b="1" dirty="0">
                <a:solidFill>
                  <a:srgbClr val="FFFFFF"/>
                </a:solidFill>
                <a:latin typeface="Cambria" pitchFamily="34" charset="0"/>
                <a:ea typeface="Cambria" pitchFamily="34" charset="-122"/>
                <a:cs typeface="Cambria" pitchFamily="34" charset="-120"/>
              </a:rPr>
              <a:t>In this lesson you'll learn</a:t>
            </a:r>
            <a:endParaRPr lang="en-US" sz="1600" dirty="0"/>
          </a:p>
        </p:txBody>
      </p:sp>
      <p:sp>
        <p:nvSpPr>
          <p:cNvPr id="11" name="Shape 9"/>
          <p:cNvSpPr/>
          <p:nvPr/>
        </p:nvSpPr>
        <p:spPr>
          <a:xfrm>
            <a:off x="5257800" y="1252728"/>
            <a:ext cx="310896" cy="310896"/>
          </a:xfrm>
          <a:prstGeom prst="ellipse">
            <a:avLst/>
          </a:prstGeom>
          <a:solidFill>
            <a:srgbClr val="512BD4"/>
          </a:solidFill>
          <a:ln w="12700">
            <a:solidFill>
              <a:srgbClr val="512BD4"/>
            </a:solidFill>
            <a:prstDash val="solid"/>
          </a:ln>
        </p:spPr>
      </p:sp>
      <p:pic>
        <p:nvPicPr>
          <p:cNvPr id="12" name="Image 0" descr="preencoded.png">    </p:cNvPr>
          <p:cNvPicPr>
            <a:picLocks noChangeAspect="1"/>
          </p:cNvPicPr>
          <p:nvPr/>
        </p:nvPicPr>
        <p:blipFill>
          <a:blip r:embed="rId1"/>
          <a:stretch>
            <a:fillRect/>
          </a:stretch>
        </p:blipFill>
        <p:spPr>
          <a:xfrm>
            <a:off x="5338633" y="1333561"/>
            <a:ext cx="149230" cy="149230"/>
          </a:xfrm>
          <a:prstGeom prst="rect">
            <a:avLst/>
          </a:prstGeom>
        </p:spPr>
      </p:pic>
      <p:sp>
        <p:nvSpPr>
          <p:cNvPr id="13" name="Text 10"/>
          <p:cNvSpPr txBox="1"/>
          <p:nvPr/>
        </p:nvSpPr>
        <p:spPr>
          <a:xfrm>
            <a:off x="5715000" y="1234440"/>
            <a:ext cx="2743200" cy="594360"/>
          </a:xfrm>
          <a:prstGeom prst="rect">
            <a:avLst/>
          </a:prstGeom>
          <a:noFill/>
          <a:ln/>
        </p:spPr>
        <p:txBody>
          <a:bodyPr wrap="square" lIns="0" tIns="0" rIns="0" bIns="0" rtlCol="0" anchor="t"/>
          <a:lstStyle/>
          <a:p>
            <a:pPr indent="0" marL="0">
              <a:buNone/>
            </a:pPr>
            <a:r>
              <a:rPr lang="en-US" sz="1300" dirty="0">
                <a:solidFill>
                  <a:srgbClr val="FFFFFF"/>
                </a:solidFill>
                <a:latin typeface="Calibri" pitchFamily="34" charset="0"/>
                <a:ea typeface="Calibri" pitchFamily="34" charset="-122"/>
                <a:cs typeface="Calibri" pitchFamily="34" charset="-120"/>
              </a:rPr>
              <a:t>Add the Agents.Core package</a:t>
            </a:r>
            <a:endParaRPr lang="en-US" sz="1300" dirty="0"/>
          </a:p>
        </p:txBody>
      </p:sp>
      <p:sp>
        <p:nvSpPr>
          <p:cNvPr id="14" name="Shape 11"/>
          <p:cNvSpPr/>
          <p:nvPr/>
        </p:nvSpPr>
        <p:spPr>
          <a:xfrm>
            <a:off x="5257800" y="1892808"/>
            <a:ext cx="310896" cy="310896"/>
          </a:xfrm>
          <a:prstGeom prst="ellipse">
            <a:avLst/>
          </a:prstGeom>
          <a:solidFill>
            <a:srgbClr val="512BD4"/>
          </a:solidFill>
          <a:ln w="12700">
            <a:solidFill>
              <a:srgbClr val="512BD4"/>
            </a:solidFill>
            <a:prstDash val="solid"/>
          </a:ln>
        </p:spPr>
      </p:sp>
      <p:pic>
        <p:nvPicPr>
          <p:cNvPr id="15" name="Image 1" descr="preencoded.png">    </p:cNvPr>
          <p:cNvPicPr>
            <a:picLocks noChangeAspect="1"/>
          </p:cNvPicPr>
          <p:nvPr/>
        </p:nvPicPr>
        <p:blipFill>
          <a:blip r:embed="rId2"/>
          <a:stretch>
            <a:fillRect/>
          </a:stretch>
        </p:blipFill>
        <p:spPr>
          <a:xfrm>
            <a:off x="5338633" y="1973641"/>
            <a:ext cx="149230" cy="149230"/>
          </a:xfrm>
          <a:prstGeom prst="rect">
            <a:avLst/>
          </a:prstGeom>
        </p:spPr>
      </p:pic>
      <p:sp>
        <p:nvSpPr>
          <p:cNvPr id="16" name="Text 12"/>
          <p:cNvSpPr txBox="1"/>
          <p:nvPr/>
        </p:nvSpPr>
        <p:spPr>
          <a:xfrm>
            <a:off x="5715000" y="1874520"/>
            <a:ext cx="2743200" cy="594360"/>
          </a:xfrm>
          <a:prstGeom prst="rect">
            <a:avLst/>
          </a:prstGeom>
          <a:noFill/>
          <a:ln/>
        </p:spPr>
        <p:txBody>
          <a:bodyPr wrap="square" lIns="0" tIns="0" rIns="0" bIns="0" rtlCol="0" anchor="t"/>
          <a:lstStyle/>
          <a:p>
            <a:pPr indent="0" marL="0">
              <a:buNone/>
            </a:pPr>
            <a:r>
              <a:rPr lang="en-US" sz="1300" dirty="0">
                <a:solidFill>
                  <a:srgbClr val="FFFFFF"/>
                </a:solidFill>
                <a:latin typeface="Calibri" pitchFamily="34" charset="0"/>
                <a:ea typeface="Calibri" pitchFamily="34" charset="-122"/>
                <a:cs typeface="Calibri" pitchFamily="34" charset="-120"/>
              </a:rPr>
              <a:t>Build a ChatCompletionAgent with Name and Instructions</a:t>
            </a:r>
            <a:endParaRPr lang="en-US" sz="1300" dirty="0"/>
          </a:p>
        </p:txBody>
      </p:sp>
      <p:sp>
        <p:nvSpPr>
          <p:cNvPr id="17" name="Shape 13"/>
          <p:cNvSpPr/>
          <p:nvPr/>
        </p:nvSpPr>
        <p:spPr>
          <a:xfrm>
            <a:off x="5257800" y="2532888"/>
            <a:ext cx="310896" cy="310896"/>
          </a:xfrm>
          <a:prstGeom prst="ellipse">
            <a:avLst/>
          </a:prstGeom>
          <a:solidFill>
            <a:srgbClr val="512BD4"/>
          </a:solidFill>
          <a:ln w="12700">
            <a:solidFill>
              <a:srgbClr val="512BD4"/>
            </a:solidFill>
            <a:prstDash val="solid"/>
          </a:ln>
        </p:spPr>
      </p:sp>
      <p:pic>
        <p:nvPicPr>
          <p:cNvPr id="18" name="Image 2" descr="preencoded.png">    </p:cNvPr>
          <p:cNvPicPr>
            <a:picLocks noChangeAspect="1"/>
          </p:cNvPicPr>
          <p:nvPr/>
        </p:nvPicPr>
        <p:blipFill>
          <a:blip r:embed="rId3"/>
          <a:stretch>
            <a:fillRect/>
          </a:stretch>
        </p:blipFill>
        <p:spPr>
          <a:xfrm>
            <a:off x="5338633" y="2613721"/>
            <a:ext cx="149230" cy="149230"/>
          </a:xfrm>
          <a:prstGeom prst="rect">
            <a:avLst/>
          </a:prstGeom>
        </p:spPr>
      </p:pic>
      <p:sp>
        <p:nvSpPr>
          <p:cNvPr id="19" name="Text 14"/>
          <p:cNvSpPr txBox="1"/>
          <p:nvPr/>
        </p:nvSpPr>
        <p:spPr>
          <a:xfrm>
            <a:off x="5715000" y="2514600"/>
            <a:ext cx="2743200" cy="594360"/>
          </a:xfrm>
          <a:prstGeom prst="rect">
            <a:avLst/>
          </a:prstGeom>
          <a:noFill/>
          <a:ln/>
        </p:spPr>
        <p:txBody>
          <a:bodyPr wrap="square" lIns="0" tIns="0" rIns="0" bIns="0" rtlCol="0" anchor="t"/>
          <a:lstStyle/>
          <a:p>
            <a:pPr indent="0" marL="0">
              <a:buNone/>
            </a:pPr>
            <a:r>
              <a:rPr lang="en-US" sz="1300" dirty="0">
                <a:solidFill>
                  <a:srgbClr val="FFFFFF"/>
                </a:solidFill>
                <a:latin typeface="Calibri" pitchFamily="34" charset="0"/>
                <a:ea typeface="Calibri" pitchFamily="34" charset="-122"/>
                <a:cs typeface="Calibri" pitchFamily="34" charset="-120"/>
              </a:rPr>
              <a:t>Attach default Arguments such as Temperature</a:t>
            </a:r>
            <a:endParaRPr lang="en-US" sz="1300" dirty="0"/>
          </a:p>
        </p:txBody>
      </p:sp>
      <p:sp>
        <p:nvSpPr>
          <p:cNvPr id="20" name="Shape 15"/>
          <p:cNvSpPr/>
          <p:nvPr/>
        </p:nvSpPr>
        <p:spPr>
          <a:xfrm>
            <a:off x="5257800" y="3172968"/>
            <a:ext cx="310896" cy="310896"/>
          </a:xfrm>
          <a:prstGeom prst="ellipse">
            <a:avLst/>
          </a:prstGeom>
          <a:solidFill>
            <a:srgbClr val="512BD4"/>
          </a:solidFill>
          <a:ln w="12700">
            <a:solidFill>
              <a:srgbClr val="512BD4"/>
            </a:solidFill>
            <a:prstDash val="solid"/>
          </a:ln>
        </p:spPr>
      </p:sp>
      <p:pic>
        <p:nvPicPr>
          <p:cNvPr id="21" name="Image 3" descr="preencoded.png">    </p:cNvPr>
          <p:cNvPicPr>
            <a:picLocks noChangeAspect="1"/>
          </p:cNvPicPr>
          <p:nvPr/>
        </p:nvPicPr>
        <p:blipFill>
          <a:blip r:embed="rId4"/>
          <a:stretch>
            <a:fillRect/>
          </a:stretch>
        </p:blipFill>
        <p:spPr>
          <a:xfrm>
            <a:off x="5338633" y="3253801"/>
            <a:ext cx="149230" cy="149230"/>
          </a:xfrm>
          <a:prstGeom prst="rect">
            <a:avLst/>
          </a:prstGeom>
        </p:spPr>
      </p:pic>
      <p:sp>
        <p:nvSpPr>
          <p:cNvPr id="22" name="Text 16"/>
          <p:cNvSpPr txBox="1"/>
          <p:nvPr/>
        </p:nvSpPr>
        <p:spPr>
          <a:xfrm>
            <a:off x="5715000" y="3154680"/>
            <a:ext cx="2743200" cy="594360"/>
          </a:xfrm>
          <a:prstGeom prst="rect">
            <a:avLst/>
          </a:prstGeom>
          <a:noFill/>
          <a:ln/>
        </p:spPr>
        <p:txBody>
          <a:bodyPr wrap="square" lIns="0" tIns="0" rIns="0" bIns="0" rtlCol="0" anchor="t"/>
          <a:lstStyle/>
          <a:p>
            <a:pPr indent="0" marL="0">
              <a:buNone/>
            </a:pPr>
            <a:r>
              <a:rPr lang="en-US" sz="1300" dirty="0">
                <a:solidFill>
                  <a:srgbClr val="FFFFFF"/>
                </a:solidFill>
                <a:latin typeface="Calibri" pitchFamily="34" charset="0"/>
                <a:ea typeface="Calibri" pitchFamily="34" charset="-122"/>
                <a:cs typeface="Calibri" pitchFamily="34" charset="-120"/>
              </a:rPr>
              <a:t>Stream a turn's replies with InvokeAsync</a:t>
            </a:r>
            <a:endParaRPr lang="en-US" sz="1300" dirty="0"/>
          </a:p>
        </p:txBody>
      </p:sp>
      <p:sp>
        <p:nvSpPr>
          <p:cNvPr id="23" name="Shape 17"/>
          <p:cNvSpPr/>
          <p:nvPr/>
        </p:nvSpPr>
        <p:spPr>
          <a:xfrm>
            <a:off x="5257800" y="3813048"/>
            <a:ext cx="310896" cy="310896"/>
          </a:xfrm>
          <a:prstGeom prst="ellipse">
            <a:avLst/>
          </a:prstGeom>
          <a:solidFill>
            <a:srgbClr val="512BD4"/>
          </a:solidFill>
          <a:ln w="12700">
            <a:solidFill>
              <a:srgbClr val="512BD4"/>
            </a:solidFill>
            <a:prstDash val="solid"/>
          </a:ln>
        </p:spPr>
      </p:sp>
      <p:pic>
        <p:nvPicPr>
          <p:cNvPr id="24" name="Image 4" descr="preencoded.png">    </p:cNvPr>
          <p:cNvPicPr>
            <a:picLocks noChangeAspect="1"/>
          </p:cNvPicPr>
          <p:nvPr/>
        </p:nvPicPr>
        <p:blipFill>
          <a:blip r:embed="rId5"/>
          <a:stretch>
            <a:fillRect/>
          </a:stretch>
        </p:blipFill>
        <p:spPr>
          <a:xfrm>
            <a:off x="5338633" y="3893881"/>
            <a:ext cx="149230" cy="149230"/>
          </a:xfrm>
          <a:prstGeom prst="rect">
            <a:avLst/>
          </a:prstGeom>
        </p:spPr>
      </p:pic>
      <p:sp>
        <p:nvSpPr>
          <p:cNvPr id="25" name="Text 18"/>
          <p:cNvSpPr txBox="1"/>
          <p:nvPr/>
        </p:nvSpPr>
        <p:spPr>
          <a:xfrm>
            <a:off x="5715000" y="3794760"/>
            <a:ext cx="2743200" cy="594360"/>
          </a:xfrm>
          <a:prstGeom prst="rect">
            <a:avLst/>
          </a:prstGeom>
          <a:noFill/>
          <a:ln/>
        </p:spPr>
        <p:txBody>
          <a:bodyPr wrap="square" lIns="0" tIns="0" rIns="0" bIns="0" rtlCol="0" anchor="t"/>
          <a:lstStyle/>
          <a:p>
            <a:pPr indent="0" marL="0">
              <a:buNone/>
            </a:pPr>
            <a:r>
              <a:rPr lang="en-US" sz="1300" dirty="0">
                <a:solidFill>
                  <a:srgbClr val="FFFFFF"/>
                </a:solidFill>
                <a:latin typeface="Calibri" pitchFamily="34" charset="0"/>
                <a:ea typeface="Calibri" pitchFamily="34" charset="-122"/>
                <a:cs typeface="Calibri" pitchFamily="34" charset="-120"/>
              </a:rPr>
              <a:t>Keep ownership of the ChatHistory</a:t>
            </a:r>
            <a:endParaRPr lang="en-US" sz="1300" dirty="0"/>
          </a:p>
        </p:txBody>
      </p:sp>
      <p:sp>
        <p:nvSpPr>
          <p:cNvPr id="26" name="Text 19"/>
          <p:cNvSpPr txBox="1"/>
          <p:nvPr/>
        </p:nvSpPr>
        <p:spPr>
          <a:xfrm>
            <a:off x="457200" y="4796028"/>
            <a:ext cx="6400800" cy="201168"/>
          </a:xfrm>
          <a:prstGeom prst="rect">
            <a:avLst/>
          </a:prstGeom>
          <a:noFill/>
          <a:ln/>
        </p:spPr>
        <p:txBody>
          <a:bodyPr wrap="square" lIns="0" tIns="0" rIns="0" bIns="0" rtlCol="0" anchor="t"/>
          <a:lstStyle/>
          <a:p>
            <a:pPr indent="0" marL="0">
              <a:buNone/>
            </a:pPr>
            <a:r>
              <a:rPr lang="en-US" sz="900" dirty="0">
                <a:solidFill>
                  <a:srgbClr val="B8B2E6"/>
                </a:solidFill>
                <a:latin typeface="Calibri" pitchFamily="34" charset="0"/>
                <a:ea typeface="Calibri" pitchFamily="34" charset="-122"/>
                <a:cs typeface="Calibri" pitchFamily="34" charset="-120"/>
              </a:rPr>
              <a:t>Applied Agentic Orchestration with Semantic Kernel  ·  Lesson 17 — Agent Framework</a:t>
            </a:r>
            <a:endParaRPr lang="en-US" sz="900" dirty="0"/>
          </a:p>
        </p:txBody>
      </p:sp>
      <p:sp>
        <p:nvSpPr>
          <p:cNvPr id="27" name="Text 20"/>
          <p:cNvSpPr txBox="1"/>
          <p:nvPr/>
        </p:nvSpPr>
        <p:spPr>
          <a:xfrm>
            <a:off x="8138160" y="4796028"/>
            <a:ext cx="548640" cy="201168"/>
          </a:xfrm>
          <a:prstGeom prst="rect">
            <a:avLst/>
          </a:prstGeom>
          <a:noFill/>
          <a:ln/>
        </p:spPr>
        <p:txBody>
          <a:bodyPr wrap="square" lIns="0" tIns="0" rIns="0" bIns="0" rtlCol="0" anchor="t"/>
          <a:lstStyle/>
          <a:p>
            <a:pPr algn="r" indent="0" marL="0">
              <a:buNone/>
            </a:pPr>
            <a:r>
              <a:rPr lang="en-US" sz="900" dirty="0">
                <a:solidFill>
                  <a:srgbClr val="B8B2E6"/>
                </a:solidFill>
                <a:latin typeface="Calibri" pitchFamily="34" charset="0"/>
                <a:ea typeface="Calibri" pitchFamily="34" charset="-122"/>
                <a:cs typeface="Calibri" pitchFamily="34" charset="-120"/>
              </a:rPr>
              <a:t>1</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47472"/>
            <a:ext cx="8229600" cy="228600"/>
          </a:xfrm>
          <a:prstGeom prst="rect">
            <a:avLst/>
          </a:prstGeom>
          <a:noFill/>
          <a:ln/>
        </p:spPr>
        <p:txBody>
          <a:bodyPr wrap="square" lIns="0" tIns="0" rIns="0" bIns="0" rtlCol="0" anchor="t"/>
          <a:lstStyle/>
          <a:p>
            <a:pPr indent="0" marL="0">
              <a:buNone/>
            </a:pPr>
            <a:r>
              <a:rPr lang="en-US" sz="1100" b="1" spc="200" kern="0" dirty="0">
                <a:solidFill>
                  <a:srgbClr val="512BD4"/>
                </a:solidFill>
                <a:latin typeface="Calibri" pitchFamily="34" charset="0"/>
                <a:ea typeface="Calibri" pitchFamily="34" charset="-122"/>
                <a:cs typeface="Calibri" pitchFamily="34" charset="-120"/>
              </a:rPr>
              <a:t>WHAT CHANGES</a:t>
            </a:r>
            <a:endParaRPr lang="en-US" sz="1100" dirty="0"/>
          </a:p>
        </p:txBody>
      </p:sp>
      <p:sp>
        <p:nvSpPr>
          <p:cNvPr id="3" name="Text 1"/>
          <p:cNvSpPr txBox="1"/>
          <p:nvPr/>
        </p:nvSpPr>
        <p:spPr>
          <a:xfrm>
            <a:off x="457200" y="566928"/>
            <a:ext cx="8229600" cy="548640"/>
          </a:xfrm>
          <a:prstGeom prst="rect">
            <a:avLst/>
          </a:prstGeom>
          <a:noFill/>
          <a:ln/>
        </p:spPr>
        <p:txBody>
          <a:bodyPr wrap="square" lIns="0" tIns="0" rIns="0" bIns="0" rtlCol="0" anchor="ctr"/>
          <a:lstStyle/>
          <a:p>
            <a:pPr indent="0" marL="0">
              <a:buNone/>
            </a:pPr>
            <a:r>
              <a:rPr lang="en-US" sz="2800" b="1" dirty="0">
                <a:solidFill>
                  <a:srgbClr val="1F2937"/>
                </a:solidFill>
                <a:latin typeface="Cambria" pitchFamily="34" charset="0"/>
                <a:ea typeface="Cambria" pitchFamily="34" charset="-122"/>
                <a:cs typeface="Cambria" pitchFamily="34" charset="-120"/>
              </a:rPr>
              <a:t>From hand-wired chat loop to an agent object</a:t>
            </a:r>
            <a:endParaRPr lang="en-US" sz="2800" dirty="0"/>
          </a:p>
        </p:txBody>
      </p:sp>
      <p:sp>
        <p:nvSpPr>
          <p:cNvPr id="4" name="Shape 2"/>
          <p:cNvSpPr/>
          <p:nvPr/>
        </p:nvSpPr>
        <p:spPr>
          <a:xfrm>
            <a:off x="457200" y="1371600"/>
            <a:ext cx="3931920" cy="1783080"/>
          </a:xfrm>
          <a:prstGeom prst="roundRect">
            <a:avLst>
              <a:gd name="adj" fmla="val 4103"/>
            </a:avLst>
          </a:prstGeom>
          <a:solidFill>
            <a:srgbClr val="F6F4FE"/>
          </a:solidFill>
          <a:ln w="12700">
            <a:solidFill>
              <a:srgbClr val="F6F4FE"/>
            </a:solidFill>
            <a:prstDash val="solid"/>
          </a:ln>
        </p:spPr>
      </p:sp>
      <p:sp>
        <p:nvSpPr>
          <p:cNvPr id="5" name="Shape 3"/>
          <p:cNvSpPr/>
          <p:nvPr/>
        </p:nvSpPr>
        <p:spPr>
          <a:xfrm>
            <a:off x="685800" y="1600200"/>
            <a:ext cx="438912" cy="438912"/>
          </a:xfrm>
          <a:prstGeom prst="ellipse">
            <a:avLst/>
          </a:prstGeom>
          <a:solidFill>
            <a:srgbClr val="512BD4"/>
          </a:solidFill>
          <a:ln w="12700">
            <a:solidFill>
              <a:srgbClr val="512BD4"/>
            </a:solidFill>
            <a:prstDash val="solid"/>
          </a:ln>
        </p:spPr>
      </p:sp>
      <p:pic>
        <p:nvPicPr>
          <p:cNvPr id="6" name="Image 0" descr="preencoded.png">    </p:cNvPr>
          <p:cNvPicPr>
            <a:picLocks noChangeAspect="1"/>
          </p:cNvPicPr>
          <p:nvPr/>
        </p:nvPicPr>
        <p:blipFill>
          <a:blip r:embed="rId1"/>
          <a:stretch>
            <a:fillRect/>
          </a:stretch>
        </p:blipFill>
        <p:spPr>
          <a:xfrm>
            <a:off x="799917" y="1714317"/>
            <a:ext cx="210678" cy="210678"/>
          </a:xfrm>
          <a:prstGeom prst="rect">
            <a:avLst/>
          </a:prstGeom>
        </p:spPr>
      </p:pic>
      <p:sp>
        <p:nvSpPr>
          <p:cNvPr id="7" name="Text 4"/>
          <p:cNvSpPr txBox="1"/>
          <p:nvPr/>
        </p:nvSpPr>
        <p:spPr>
          <a:xfrm>
            <a:off x="1261872" y="1600200"/>
            <a:ext cx="2926080" cy="438912"/>
          </a:xfrm>
          <a:prstGeom prst="rect">
            <a:avLst/>
          </a:prstGeom>
          <a:noFill/>
          <a:ln/>
        </p:spPr>
        <p:txBody>
          <a:bodyPr wrap="square" lIns="0" tIns="0" rIns="0" bIns="0" rtlCol="0" anchor="ctr"/>
          <a:lstStyle/>
          <a:p>
            <a:pPr indent="0" marL="0">
              <a:buNone/>
            </a:pPr>
            <a:r>
              <a:rPr lang="en-US" sz="1700" b="1" dirty="0">
                <a:solidFill>
                  <a:srgbClr val="1F2937"/>
                </a:solidFill>
                <a:latin typeface="Calibri" pitchFamily="34" charset="0"/>
                <a:ea typeface="Calibri" pitchFamily="34" charset="-122"/>
                <a:cs typeface="Calibri" pitchFamily="34" charset="-120"/>
              </a:rPr>
              <a:t>Lesson 1: manual chat</a:t>
            </a:r>
            <a:endParaRPr lang="en-US" sz="1700" dirty="0"/>
          </a:p>
        </p:txBody>
      </p:sp>
      <p:sp>
        <p:nvSpPr>
          <p:cNvPr id="8" name="Text 5"/>
          <p:cNvSpPr txBox="1"/>
          <p:nvPr/>
        </p:nvSpPr>
        <p:spPr>
          <a:xfrm>
            <a:off x="685800" y="2194560"/>
            <a:ext cx="3474720" cy="914400"/>
          </a:xfrm>
          <a:prstGeom prst="rect">
            <a:avLst/>
          </a:prstGeom>
          <a:noFill/>
          <a:ln/>
        </p:spPr>
        <p:txBody>
          <a:bodyPr wrap="square" lIns="0" tIns="0" rIns="0" bIns="0" rtlCol="0" anchor="t"/>
          <a:lstStyle/>
          <a:p>
            <a:pPr marL="177800" indent="-177800">
              <a:spcAft>
                <a:spcPts val="400"/>
              </a:spcAft>
              <a:buSzPct val="100000"/>
              <a:buChar char="•"/>
            </a:pPr>
            <a:r>
              <a:rPr lang="en-US" sz="1300" dirty="0">
                <a:solidFill>
                  <a:srgbClr val="1F2937"/>
                </a:solidFill>
                <a:latin typeface="Calibri" pitchFamily="34" charset="0"/>
                <a:ea typeface="Calibri" pitchFamily="34" charset="-122"/>
                <a:cs typeface="Calibri" pitchFamily="34" charset="-120"/>
              </a:rPr>
              <a:t>Persona seeded as a system message</a:t>
            </a:r>
            <a:endParaRPr lang="en-US" sz="1300" dirty="0"/>
          </a:p>
          <a:p>
            <a:pPr marL="177800" indent="-177800">
              <a:spcAft>
                <a:spcPts val="400"/>
              </a:spcAft>
              <a:buSzPct val="100000"/>
              <a:buChar char="•"/>
            </a:pPr>
            <a:r>
              <a:rPr lang="en-US" sz="1300" dirty="0">
                <a:solidFill>
                  <a:srgbClr val="1F2937"/>
                </a:solidFill>
                <a:latin typeface="Calibri" pitchFamily="34" charset="0"/>
                <a:ea typeface="Calibri" pitchFamily="34" charset="-122"/>
                <a:cs typeface="Calibri" pitchFamily="34" charset="-120"/>
              </a:rPr>
              <a:t>Call the chat service yourself</a:t>
            </a:r>
            <a:endParaRPr lang="en-US" sz="1300" dirty="0"/>
          </a:p>
          <a:p>
            <a:pPr marL="177800" indent="-177800">
              <a:spcAft>
                <a:spcPts val="400"/>
              </a:spcAft>
              <a:buSzPct val="100000"/>
              <a:buChar char="•"/>
            </a:pPr>
            <a:r>
              <a:rPr lang="en-US" sz="1300" dirty="0">
                <a:solidFill>
                  <a:srgbClr val="1F2937"/>
                </a:solidFill>
                <a:latin typeface="Calibri" pitchFamily="34" charset="0"/>
                <a:ea typeface="Calibri" pitchFamily="34" charset="-122"/>
                <a:cs typeface="Calibri" pitchFamily="34" charset="-120"/>
              </a:rPr>
              <a:t>Settings passed on every call</a:t>
            </a:r>
            <a:endParaRPr lang="en-US" sz="1300" dirty="0"/>
          </a:p>
        </p:txBody>
      </p:sp>
      <p:sp>
        <p:nvSpPr>
          <p:cNvPr id="9" name="Shape 6"/>
          <p:cNvSpPr/>
          <p:nvPr/>
        </p:nvSpPr>
        <p:spPr>
          <a:xfrm>
            <a:off x="4754880" y="1371600"/>
            <a:ext cx="3931920" cy="1783080"/>
          </a:xfrm>
          <a:prstGeom prst="roundRect">
            <a:avLst>
              <a:gd name="adj" fmla="val 4103"/>
            </a:avLst>
          </a:prstGeom>
          <a:solidFill>
            <a:srgbClr val="EFEBFC"/>
          </a:solidFill>
          <a:ln w="12700">
            <a:solidFill>
              <a:srgbClr val="EFEBFC"/>
            </a:solidFill>
            <a:prstDash val="solid"/>
          </a:ln>
        </p:spPr>
      </p:sp>
      <p:sp>
        <p:nvSpPr>
          <p:cNvPr id="10" name="Shape 7"/>
          <p:cNvSpPr/>
          <p:nvPr/>
        </p:nvSpPr>
        <p:spPr>
          <a:xfrm>
            <a:off x="4983480" y="1600200"/>
            <a:ext cx="438912" cy="438912"/>
          </a:xfrm>
          <a:prstGeom prst="ellipse">
            <a:avLst/>
          </a:prstGeom>
          <a:solidFill>
            <a:srgbClr val="512BD4"/>
          </a:solidFill>
          <a:ln w="12700">
            <a:solidFill>
              <a:srgbClr val="512BD4"/>
            </a:solidFill>
            <a:prstDash val="solid"/>
          </a:ln>
        </p:spPr>
      </p:sp>
      <p:pic>
        <p:nvPicPr>
          <p:cNvPr id="11" name="Image 1" descr="preencoded.png">    </p:cNvPr>
          <p:cNvPicPr>
            <a:picLocks noChangeAspect="1"/>
          </p:cNvPicPr>
          <p:nvPr/>
        </p:nvPicPr>
        <p:blipFill>
          <a:blip r:embed="rId2"/>
          <a:stretch>
            <a:fillRect/>
          </a:stretch>
        </p:blipFill>
        <p:spPr>
          <a:xfrm>
            <a:off x="5097597" y="1714317"/>
            <a:ext cx="210678" cy="210678"/>
          </a:xfrm>
          <a:prstGeom prst="rect">
            <a:avLst/>
          </a:prstGeom>
        </p:spPr>
      </p:pic>
      <p:sp>
        <p:nvSpPr>
          <p:cNvPr id="12" name="Text 8"/>
          <p:cNvSpPr txBox="1"/>
          <p:nvPr/>
        </p:nvSpPr>
        <p:spPr>
          <a:xfrm>
            <a:off x="5559552" y="1600200"/>
            <a:ext cx="2926080" cy="438912"/>
          </a:xfrm>
          <a:prstGeom prst="rect">
            <a:avLst/>
          </a:prstGeom>
          <a:noFill/>
          <a:ln/>
        </p:spPr>
        <p:txBody>
          <a:bodyPr wrap="square" lIns="0" tIns="0" rIns="0" bIns="0" rtlCol="0" anchor="ctr"/>
          <a:lstStyle/>
          <a:p>
            <a:pPr indent="0" marL="0">
              <a:buNone/>
            </a:pPr>
            <a:r>
              <a:rPr lang="en-US" sz="1700" b="1" dirty="0">
                <a:solidFill>
                  <a:srgbClr val="1F2937"/>
                </a:solidFill>
                <a:latin typeface="Calibri" pitchFamily="34" charset="0"/>
                <a:ea typeface="Calibri" pitchFamily="34" charset="-122"/>
                <a:cs typeface="Calibri" pitchFamily="34" charset="-120"/>
              </a:rPr>
              <a:t>Lesson 17: agent object</a:t>
            </a:r>
            <a:endParaRPr lang="en-US" sz="1700" dirty="0"/>
          </a:p>
        </p:txBody>
      </p:sp>
      <p:sp>
        <p:nvSpPr>
          <p:cNvPr id="13" name="Text 9"/>
          <p:cNvSpPr txBox="1"/>
          <p:nvPr/>
        </p:nvSpPr>
        <p:spPr>
          <a:xfrm>
            <a:off x="4983480" y="2194560"/>
            <a:ext cx="3474720" cy="914400"/>
          </a:xfrm>
          <a:prstGeom prst="rect">
            <a:avLst/>
          </a:prstGeom>
          <a:noFill/>
          <a:ln/>
        </p:spPr>
        <p:txBody>
          <a:bodyPr wrap="square" lIns="0" tIns="0" rIns="0" bIns="0" rtlCol="0" anchor="t"/>
          <a:lstStyle/>
          <a:p>
            <a:pPr marL="177800" indent="-177800">
              <a:spcAft>
                <a:spcPts val="400"/>
              </a:spcAft>
              <a:buSzPct val="100000"/>
              <a:buChar char="•"/>
            </a:pPr>
            <a:r>
              <a:rPr lang="en-US" sz="1300" dirty="0">
                <a:solidFill>
                  <a:srgbClr val="1F2937"/>
                </a:solidFill>
                <a:latin typeface="Calibri" pitchFamily="34" charset="0"/>
                <a:ea typeface="Calibri" pitchFamily="34" charset="-122"/>
                <a:cs typeface="Calibri" pitchFamily="34" charset="-120"/>
              </a:rPr>
              <a:t>Persona lives in Instructions</a:t>
            </a:r>
            <a:endParaRPr lang="en-US" sz="1300" dirty="0"/>
          </a:p>
          <a:p>
            <a:pPr marL="177800" indent="-177800">
              <a:spcAft>
                <a:spcPts val="400"/>
              </a:spcAft>
              <a:buSzPct val="100000"/>
              <a:buChar char="•"/>
            </a:pPr>
            <a:r>
              <a:rPr lang="en-US" sz="1300" dirty="0">
                <a:solidFill>
                  <a:srgbClr val="1F2937"/>
                </a:solidFill>
                <a:latin typeface="Calibri" pitchFamily="34" charset="0"/>
                <a:ea typeface="Calibri" pitchFamily="34" charset="-122"/>
                <a:cs typeface="Calibri" pitchFamily="34" charset="-120"/>
              </a:rPr>
              <a:t>Call travelAgent.InvokeAsync</a:t>
            </a:r>
            <a:endParaRPr lang="en-US" sz="1300" dirty="0"/>
          </a:p>
          <a:p>
            <a:pPr marL="177800" indent="-177800">
              <a:spcAft>
                <a:spcPts val="400"/>
              </a:spcAft>
              <a:buSzPct val="100000"/>
              <a:buChar char="•"/>
            </a:pPr>
            <a:r>
              <a:rPr lang="en-US" sz="1300" dirty="0">
                <a:solidFill>
                  <a:srgbClr val="1F2937"/>
                </a:solidFill>
                <a:latin typeface="Calibri" pitchFamily="34" charset="0"/>
                <a:ea typeface="Calibri" pitchFamily="34" charset="-122"/>
                <a:cs typeface="Calibri" pitchFamily="34" charset="-120"/>
              </a:rPr>
              <a:t>Default Arguments set once</a:t>
            </a:r>
            <a:endParaRPr lang="en-US" sz="1300" dirty="0"/>
          </a:p>
        </p:txBody>
      </p:sp>
      <p:sp>
        <p:nvSpPr>
          <p:cNvPr id="14" name="Text 10"/>
          <p:cNvSpPr txBox="1"/>
          <p:nvPr/>
        </p:nvSpPr>
        <p:spPr>
          <a:xfrm>
            <a:off x="457200" y="3429000"/>
            <a:ext cx="8229600" cy="365760"/>
          </a:xfrm>
          <a:prstGeom prst="rect">
            <a:avLst/>
          </a:prstGeom>
          <a:noFill/>
          <a:ln/>
        </p:spPr>
        <p:txBody>
          <a:bodyPr wrap="square" lIns="0" tIns="0" rIns="0" bIns="0" rtlCol="0" anchor="t"/>
          <a:lstStyle/>
          <a:p>
            <a:pPr indent="0" marL="0">
              <a:buNone/>
            </a:pPr>
            <a:r>
              <a:rPr lang="en-US" sz="1400" i="1" dirty="0">
                <a:solidFill>
                  <a:srgbClr val="512BD4"/>
                </a:solidFill>
                <a:latin typeface="Calibri" pitchFamily="34" charset="0"/>
                <a:ea typeface="Calibri" pitchFamily="34" charset="-122"/>
                <a:cs typeface="Calibri" pitchFamily="34" charset="-120"/>
              </a:rPr>
              <a:t>The same work happens underneath; the agent object packages it.</a:t>
            </a:r>
            <a:endParaRPr lang="en-US" sz="1400" dirty="0"/>
          </a:p>
        </p:txBody>
      </p:sp>
      <p:sp>
        <p:nvSpPr>
          <p:cNvPr id="15" name="Text 11"/>
          <p:cNvSpPr txBox="1"/>
          <p:nvPr/>
        </p:nvSpPr>
        <p:spPr>
          <a:xfrm>
            <a:off x="457200" y="4796028"/>
            <a:ext cx="6400800" cy="201168"/>
          </a:xfrm>
          <a:prstGeom prst="rect">
            <a:avLst/>
          </a:prstGeom>
          <a:noFill/>
          <a:ln/>
        </p:spPr>
        <p:txBody>
          <a:bodyPr wrap="square" lIns="0" tIns="0" rIns="0" bIns="0" rtlCol="0" anchor="t"/>
          <a:lstStyle/>
          <a:p>
            <a:pPr indent="0" marL="0">
              <a:buNone/>
            </a:pPr>
            <a:r>
              <a:rPr lang="en-US" sz="900" dirty="0">
                <a:solidFill>
                  <a:srgbClr val="9CA3AF"/>
                </a:solidFill>
                <a:latin typeface="Calibri" pitchFamily="34" charset="0"/>
                <a:ea typeface="Calibri" pitchFamily="34" charset="-122"/>
                <a:cs typeface="Calibri" pitchFamily="34" charset="-120"/>
              </a:rPr>
              <a:t>Applied Agentic Orchestration with Semantic Kernel  ·  Lesson 17 — Agent Framework</a:t>
            </a:r>
            <a:endParaRPr lang="en-US" sz="900" dirty="0"/>
          </a:p>
        </p:txBody>
      </p:sp>
      <p:sp>
        <p:nvSpPr>
          <p:cNvPr id="16" name="Text 12"/>
          <p:cNvSpPr txBox="1"/>
          <p:nvPr/>
        </p:nvSpPr>
        <p:spPr>
          <a:xfrm>
            <a:off x="8138160" y="4796028"/>
            <a:ext cx="548640" cy="201168"/>
          </a:xfrm>
          <a:prstGeom prst="rect">
            <a:avLst/>
          </a:prstGeom>
          <a:noFill/>
          <a:ln/>
        </p:spPr>
        <p:txBody>
          <a:bodyPr wrap="square" lIns="0" tIns="0" rIns="0" bIns="0" rtlCol="0" anchor="t"/>
          <a:lstStyle/>
          <a:p>
            <a:pPr algn="r" indent="0" marL="0">
              <a:buNone/>
            </a:pPr>
            <a:r>
              <a:rPr lang="en-US" sz="900" dirty="0">
                <a:solidFill>
                  <a:srgbClr val="9CA3AF"/>
                </a:solidFill>
                <a:latin typeface="Calibri" pitchFamily="34" charset="0"/>
                <a:ea typeface="Calibri" pitchFamily="34" charset="-122"/>
                <a:cs typeface="Calibri" pitchFamily="34" charset="-120"/>
              </a:rPr>
              <a:t>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47472"/>
            <a:ext cx="8229600" cy="228600"/>
          </a:xfrm>
          <a:prstGeom prst="rect">
            <a:avLst/>
          </a:prstGeom>
          <a:noFill/>
          <a:ln/>
        </p:spPr>
        <p:txBody>
          <a:bodyPr wrap="square" lIns="0" tIns="0" rIns="0" bIns="0" rtlCol="0" anchor="t"/>
          <a:lstStyle/>
          <a:p>
            <a:pPr indent="0" marL="0">
              <a:buNone/>
            </a:pPr>
            <a:r>
              <a:rPr lang="en-US" sz="1100" b="1" spc="200" kern="0" dirty="0">
                <a:solidFill>
                  <a:srgbClr val="512BD4"/>
                </a:solidFill>
                <a:latin typeface="Calibri" pitchFamily="34" charset="0"/>
                <a:ea typeface="Calibri" pitchFamily="34" charset="-122"/>
                <a:cs typeface="Calibri" pitchFamily="34" charset="-120"/>
              </a:rPr>
              <a:t>SETUP</a:t>
            </a:r>
            <a:endParaRPr lang="en-US" sz="1100" dirty="0"/>
          </a:p>
        </p:txBody>
      </p:sp>
      <p:sp>
        <p:nvSpPr>
          <p:cNvPr id="3" name="Text 1"/>
          <p:cNvSpPr txBox="1"/>
          <p:nvPr/>
        </p:nvSpPr>
        <p:spPr>
          <a:xfrm>
            <a:off x="457200" y="566928"/>
            <a:ext cx="8229600" cy="548640"/>
          </a:xfrm>
          <a:prstGeom prst="rect">
            <a:avLst/>
          </a:prstGeom>
          <a:noFill/>
          <a:ln/>
        </p:spPr>
        <p:txBody>
          <a:bodyPr wrap="square" lIns="0" tIns="0" rIns="0" bIns="0" rtlCol="0" anchor="ctr"/>
          <a:lstStyle/>
          <a:p>
            <a:pPr indent="0" marL="0">
              <a:buNone/>
            </a:pPr>
            <a:r>
              <a:rPr lang="en-US" sz="2800" b="1" dirty="0">
                <a:solidFill>
                  <a:srgbClr val="1F2937"/>
                </a:solidFill>
                <a:latin typeface="Cambria" pitchFamily="34" charset="0"/>
                <a:ea typeface="Cambria" pitchFamily="34" charset="-122"/>
                <a:cs typeface="Cambria" pitchFamily="34" charset="-120"/>
              </a:rPr>
              <a:t>One new package joins the familiar setup</a:t>
            </a:r>
            <a:endParaRPr lang="en-US" sz="2800" dirty="0"/>
          </a:p>
        </p:txBody>
      </p:sp>
      <p:sp>
        <p:nvSpPr>
          <p:cNvPr id="4" name="Shape 2"/>
          <p:cNvSpPr/>
          <p:nvPr/>
        </p:nvSpPr>
        <p:spPr>
          <a:xfrm>
            <a:off x="457200" y="1371600"/>
            <a:ext cx="3977640" cy="1143000"/>
          </a:xfrm>
          <a:prstGeom prst="roundRect">
            <a:avLst>
              <a:gd name="adj" fmla="val 6400"/>
            </a:avLst>
          </a:prstGeom>
          <a:solidFill>
            <a:srgbClr val="512BD4"/>
          </a:solidFill>
          <a:ln w="12700">
            <a:solidFill>
              <a:srgbClr val="512BD4"/>
            </a:solidFill>
            <a:prstDash val="solid"/>
          </a:ln>
        </p:spPr>
      </p:sp>
      <p:sp>
        <p:nvSpPr>
          <p:cNvPr id="5" name="Shape 3"/>
          <p:cNvSpPr/>
          <p:nvPr/>
        </p:nvSpPr>
        <p:spPr>
          <a:xfrm>
            <a:off x="640080" y="1554480"/>
            <a:ext cx="384048" cy="384048"/>
          </a:xfrm>
          <a:prstGeom prst="ellipse">
            <a:avLst/>
          </a:prstGeom>
          <a:solidFill>
            <a:srgbClr val="FFFFFF"/>
          </a:solidFill>
          <a:ln w="12700">
            <a:solidFill>
              <a:srgbClr val="FFFFFF"/>
            </a:solidFill>
            <a:prstDash val="solid"/>
          </a:ln>
        </p:spPr>
      </p:sp>
      <p:pic>
        <p:nvPicPr>
          <p:cNvPr id="6" name="Image 0" descr="preencoded.png">    </p:cNvPr>
          <p:cNvPicPr>
            <a:picLocks noChangeAspect="1"/>
          </p:cNvPicPr>
          <p:nvPr/>
        </p:nvPicPr>
        <p:blipFill>
          <a:blip r:embed="rId1"/>
          <a:stretch>
            <a:fillRect/>
          </a:stretch>
        </p:blipFill>
        <p:spPr>
          <a:xfrm>
            <a:off x="739932" y="1654332"/>
            <a:ext cx="184343" cy="184343"/>
          </a:xfrm>
          <a:prstGeom prst="rect">
            <a:avLst/>
          </a:prstGeom>
        </p:spPr>
      </p:pic>
      <p:sp>
        <p:nvSpPr>
          <p:cNvPr id="7" name="Text 4"/>
          <p:cNvSpPr txBox="1"/>
          <p:nvPr/>
        </p:nvSpPr>
        <p:spPr>
          <a:xfrm>
            <a:off x="1143000" y="1554480"/>
            <a:ext cx="3154680" cy="384048"/>
          </a:xfrm>
          <a:prstGeom prst="rect">
            <a:avLst/>
          </a:prstGeom>
          <a:noFill/>
          <a:ln/>
        </p:spPr>
        <p:txBody>
          <a:bodyPr wrap="square" lIns="0" tIns="0" rIns="0" bIns="0" rtlCol="0" anchor="ctr">
            <a:normAutofit/>
          </a:bodyPr>
          <a:lstStyle/>
          <a:p>
            <a:pPr indent="0" marL="0">
              <a:buNone/>
            </a:pPr>
            <a:r>
              <a:rPr lang="en-US" sz="1500" b="1" dirty="0">
                <a:solidFill>
                  <a:srgbClr val="FFFFFF"/>
                </a:solidFill>
                <a:latin typeface="Calibri" pitchFamily="34" charset="0"/>
                <a:ea typeface="Calibri" pitchFamily="34" charset="-122"/>
                <a:cs typeface="Calibri" pitchFamily="34" charset="-120"/>
              </a:rPr>
              <a:t>Agents.Core</a:t>
            </a:r>
            <a:endParaRPr lang="en-US" sz="1500" dirty="0"/>
          </a:p>
        </p:txBody>
      </p:sp>
      <p:sp>
        <p:nvSpPr>
          <p:cNvPr id="8" name="Text 5"/>
          <p:cNvSpPr txBox="1"/>
          <p:nvPr/>
        </p:nvSpPr>
        <p:spPr>
          <a:xfrm>
            <a:off x="640080" y="2057400"/>
            <a:ext cx="3611880" cy="365760"/>
          </a:xfrm>
          <a:prstGeom prst="rect">
            <a:avLst/>
          </a:prstGeom>
          <a:noFill/>
          <a:ln/>
        </p:spPr>
        <p:txBody>
          <a:bodyPr wrap="square" lIns="0" tIns="0" rIns="0" bIns="0" rtlCol="0" anchor="t"/>
          <a:lstStyle/>
          <a:p>
            <a:pPr indent="0" marL="0">
              <a:buNone/>
            </a:pPr>
            <a:r>
              <a:rPr lang="en-US" sz="1200" dirty="0">
                <a:solidFill>
                  <a:srgbClr val="FFFFFF"/>
                </a:solidFill>
                <a:latin typeface="Calibri" pitchFamily="34" charset="0"/>
                <a:ea typeface="Calibri" pitchFamily="34" charset="-122"/>
                <a:cs typeface="Calibri" pitchFamily="34" charset="-120"/>
              </a:rPr>
              <a:t>Microsoft.SemanticKernel.Agents.Core 1.78.0 provides ChatCompletionAgent.</a:t>
            </a:r>
            <a:endParaRPr lang="en-US" sz="1200" dirty="0"/>
          </a:p>
        </p:txBody>
      </p:sp>
      <p:sp>
        <p:nvSpPr>
          <p:cNvPr id="9" name="Shape 6"/>
          <p:cNvSpPr/>
          <p:nvPr/>
        </p:nvSpPr>
        <p:spPr>
          <a:xfrm>
            <a:off x="4709160" y="1371600"/>
            <a:ext cx="3977640" cy="1143000"/>
          </a:xfrm>
          <a:prstGeom prst="roundRect">
            <a:avLst>
              <a:gd name="adj" fmla="val 6400"/>
            </a:avLst>
          </a:prstGeom>
          <a:solidFill>
            <a:srgbClr val="EFEBFC"/>
          </a:solidFill>
          <a:ln w="12700">
            <a:solidFill>
              <a:srgbClr val="EFEBFC"/>
            </a:solidFill>
            <a:prstDash val="solid"/>
          </a:ln>
        </p:spPr>
      </p:sp>
      <p:sp>
        <p:nvSpPr>
          <p:cNvPr id="10" name="Shape 7"/>
          <p:cNvSpPr/>
          <p:nvPr/>
        </p:nvSpPr>
        <p:spPr>
          <a:xfrm>
            <a:off x="4892040" y="1554480"/>
            <a:ext cx="384048" cy="384048"/>
          </a:xfrm>
          <a:prstGeom prst="ellipse">
            <a:avLst/>
          </a:prstGeom>
          <a:solidFill>
            <a:srgbClr val="512BD4"/>
          </a:solidFill>
          <a:ln w="12700">
            <a:solidFill>
              <a:srgbClr val="512BD4"/>
            </a:solidFill>
            <a:prstDash val="solid"/>
          </a:ln>
        </p:spPr>
      </p:sp>
      <p:pic>
        <p:nvPicPr>
          <p:cNvPr id="11" name="Image 1" descr="preencoded.png">    </p:cNvPr>
          <p:cNvPicPr>
            <a:picLocks noChangeAspect="1"/>
          </p:cNvPicPr>
          <p:nvPr/>
        </p:nvPicPr>
        <p:blipFill>
          <a:blip r:embed="rId2"/>
          <a:stretch>
            <a:fillRect/>
          </a:stretch>
        </p:blipFill>
        <p:spPr>
          <a:xfrm>
            <a:off x="4991892" y="1654332"/>
            <a:ext cx="184343" cy="184343"/>
          </a:xfrm>
          <a:prstGeom prst="rect">
            <a:avLst/>
          </a:prstGeom>
        </p:spPr>
      </p:pic>
      <p:sp>
        <p:nvSpPr>
          <p:cNvPr id="12" name="Text 8"/>
          <p:cNvSpPr txBox="1"/>
          <p:nvPr/>
        </p:nvSpPr>
        <p:spPr>
          <a:xfrm>
            <a:off x="5394960" y="1554480"/>
            <a:ext cx="3154680" cy="384048"/>
          </a:xfrm>
          <a:prstGeom prst="rect">
            <a:avLst/>
          </a:prstGeom>
          <a:noFill/>
          <a:ln/>
        </p:spPr>
        <p:txBody>
          <a:bodyPr wrap="square" lIns="0" tIns="0" rIns="0" bIns="0" rtlCol="0" anchor="ctr">
            <a:normAutofit/>
          </a:bodyPr>
          <a:lstStyle/>
          <a:p>
            <a:pPr indent="0" marL="0">
              <a:buNone/>
            </a:pPr>
            <a:r>
              <a:rPr lang="en-US" sz="1500" b="1" dirty="0">
                <a:solidFill>
                  <a:srgbClr val="1F2937"/>
                </a:solidFill>
                <a:latin typeface="Calibri" pitchFamily="34" charset="0"/>
                <a:ea typeface="Calibri" pitchFamily="34" charset="-122"/>
                <a:cs typeface="Calibri" pitchFamily="34" charset="-120"/>
              </a:rPr>
              <a:t>Core packages</a:t>
            </a:r>
            <a:endParaRPr lang="en-US" sz="1500" dirty="0"/>
          </a:p>
        </p:txBody>
      </p:sp>
      <p:sp>
        <p:nvSpPr>
          <p:cNvPr id="13" name="Text 9"/>
          <p:cNvSpPr txBox="1"/>
          <p:nvPr/>
        </p:nvSpPr>
        <p:spPr>
          <a:xfrm>
            <a:off x="4892040" y="2057400"/>
            <a:ext cx="3611880" cy="365760"/>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Microsoft.SemanticKernel and Connectors.OpenAI, also version 1.78.0.</a:t>
            </a:r>
            <a:endParaRPr lang="en-US" sz="1200" dirty="0"/>
          </a:p>
        </p:txBody>
      </p:sp>
      <p:sp>
        <p:nvSpPr>
          <p:cNvPr id="14" name="Shape 10"/>
          <p:cNvSpPr/>
          <p:nvPr/>
        </p:nvSpPr>
        <p:spPr>
          <a:xfrm>
            <a:off x="457200" y="2743200"/>
            <a:ext cx="3977640" cy="1143000"/>
          </a:xfrm>
          <a:prstGeom prst="roundRect">
            <a:avLst>
              <a:gd name="adj" fmla="val 6400"/>
            </a:avLst>
          </a:prstGeom>
          <a:solidFill>
            <a:srgbClr val="EFEBFC"/>
          </a:solidFill>
          <a:ln w="12700">
            <a:solidFill>
              <a:srgbClr val="EFEBFC"/>
            </a:solidFill>
            <a:prstDash val="solid"/>
          </a:ln>
        </p:spPr>
      </p:sp>
      <p:sp>
        <p:nvSpPr>
          <p:cNvPr id="15" name="Shape 11"/>
          <p:cNvSpPr/>
          <p:nvPr/>
        </p:nvSpPr>
        <p:spPr>
          <a:xfrm>
            <a:off x="640080" y="2926080"/>
            <a:ext cx="384048" cy="384048"/>
          </a:xfrm>
          <a:prstGeom prst="ellipse">
            <a:avLst/>
          </a:prstGeom>
          <a:solidFill>
            <a:srgbClr val="512BD4"/>
          </a:solidFill>
          <a:ln w="12700">
            <a:solidFill>
              <a:srgbClr val="512BD4"/>
            </a:solidFill>
            <a:prstDash val="solid"/>
          </a:ln>
        </p:spPr>
      </p:sp>
      <p:pic>
        <p:nvPicPr>
          <p:cNvPr id="16" name="Image 2" descr="preencoded.png">    </p:cNvPr>
          <p:cNvPicPr>
            <a:picLocks noChangeAspect="1"/>
          </p:cNvPicPr>
          <p:nvPr/>
        </p:nvPicPr>
        <p:blipFill>
          <a:blip r:embed="rId3"/>
          <a:stretch>
            <a:fillRect/>
          </a:stretch>
        </p:blipFill>
        <p:spPr>
          <a:xfrm>
            <a:off x="739932" y="3025932"/>
            <a:ext cx="184343" cy="184343"/>
          </a:xfrm>
          <a:prstGeom prst="rect">
            <a:avLst/>
          </a:prstGeom>
        </p:spPr>
      </p:pic>
      <p:sp>
        <p:nvSpPr>
          <p:cNvPr id="17" name="Text 12"/>
          <p:cNvSpPr txBox="1"/>
          <p:nvPr/>
        </p:nvSpPr>
        <p:spPr>
          <a:xfrm>
            <a:off x="1143000" y="2926080"/>
            <a:ext cx="3154680" cy="384048"/>
          </a:xfrm>
          <a:prstGeom prst="rect">
            <a:avLst/>
          </a:prstGeom>
          <a:noFill/>
          <a:ln/>
        </p:spPr>
        <p:txBody>
          <a:bodyPr wrap="square" lIns="0" tIns="0" rIns="0" bIns="0" rtlCol="0" anchor="ctr">
            <a:normAutofit/>
          </a:bodyPr>
          <a:lstStyle/>
          <a:p>
            <a:pPr indent="0" marL="0">
              <a:buNone/>
            </a:pPr>
            <a:r>
              <a:rPr lang="en-US" sz="1500" b="1" dirty="0">
                <a:solidFill>
                  <a:srgbClr val="1F2937"/>
                </a:solidFill>
                <a:latin typeface="Courier New" pitchFamily="34" charset="0"/>
                <a:ea typeface="Courier New" pitchFamily="34" charset="-122"/>
                <a:cs typeface="Courier New" pitchFamily="34" charset="-120"/>
              </a:rPr>
              <a:t>OPENAI_API_KEY</a:t>
            </a:r>
            <a:endParaRPr lang="en-US" sz="1500" dirty="0"/>
          </a:p>
        </p:txBody>
      </p:sp>
      <p:sp>
        <p:nvSpPr>
          <p:cNvPr id="18" name="Text 13"/>
          <p:cNvSpPr txBox="1"/>
          <p:nvPr/>
        </p:nvSpPr>
        <p:spPr>
          <a:xfrm>
            <a:off x="640080" y="3429000"/>
            <a:ext cx="3611880" cy="365760"/>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Read from the environment. The app throws at startup if it is missing.</a:t>
            </a:r>
            <a:endParaRPr lang="en-US" sz="1200" dirty="0"/>
          </a:p>
        </p:txBody>
      </p:sp>
      <p:sp>
        <p:nvSpPr>
          <p:cNvPr id="19" name="Shape 14"/>
          <p:cNvSpPr/>
          <p:nvPr/>
        </p:nvSpPr>
        <p:spPr>
          <a:xfrm>
            <a:off x="4709160" y="2743200"/>
            <a:ext cx="3977640" cy="1143000"/>
          </a:xfrm>
          <a:prstGeom prst="roundRect">
            <a:avLst>
              <a:gd name="adj" fmla="val 6400"/>
            </a:avLst>
          </a:prstGeom>
          <a:solidFill>
            <a:srgbClr val="EFEBFC"/>
          </a:solidFill>
          <a:ln w="12700">
            <a:solidFill>
              <a:srgbClr val="EFEBFC"/>
            </a:solidFill>
            <a:prstDash val="solid"/>
          </a:ln>
        </p:spPr>
      </p:sp>
      <p:sp>
        <p:nvSpPr>
          <p:cNvPr id="20" name="Shape 15"/>
          <p:cNvSpPr/>
          <p:nvPr/>
        </p:nvSpPr>
        <p:spPr>
          <a:xfrm>
            <a:off x="4892040" y="2926080"/>
            <a:ext cx="384048" cy="384048"/>
          </a:xfrm>
          <a:prstGeom prst="ellipse">
            <a:avLst/>
          </a:prstGeom>
          <a:solidFill>
            <a:srgbClr val="512BD4"/>
          </a:solidFill>
          <a:ln w="12700">
            <a:solidFill>
              <a:srgbClr val="512BD4"/>
            </a:solidFill>
            <a:prstDash val="solid"/>
          </a:ln>
        </p:spPr>
      </p:sp>
      <p:pic>
        <p:nvPicPr>
          <p:cNvPr id="21" name="Image 3" descr="preencoded.png">    </p:cNvPr>
          <p:cNvPicPr>
            <a:picLocks noChangeAspect="1"/>
          </p:cNvPicPr>
          <p:nvPr/>
        </p:nvPicPr>
        <p:blipFill>
          <a:blip r:embed="rId4"/>
          <a:stretch>
            <a:fillRect/>
          </a:stretch>
        </p:blipFill>
        <p:spPr>
          <a:xfrm>
            <a:off x="4991892" y="3025932"/>
            <a:ext cx="184343" cy="184343"/>
          </a:xfrm>
          <a:prstGeom prst="rect">
            <a:avLst/>
          </a:prstGeom>
        </p:spPr>
      </p:pic>
      <p:sp>
        <p:nvSpPr>
          <p:cNvPr id="22" name="Text 16"/>
          <p:cNvSpPr txBox="1"/>
          <p:nvPr/>
        </p:nvSpPr>
        <p:spPr>
          <a:xfrm>
            <a:off x="5394960" y="2926080"/>
            <a:ext cx="3154680" cy="384048"/>
          </a:xfrm>
          <a:prstGeom prst="rect">
            <a:avLst/>
          </a:prstGeom>
          <a:noFill/>
          <a:ln/>
        </p:spPr>
        <p:txBody>
          <a:bodyPr wrap="square" lIns="0" tIns="0" rIns="0" bIns="0" rtlCol="0" anchor="ctr">
            <a:normAutofit/>
          </a:bodyPr>
          <a:lstStyle/>
          <a:p>
            <a:pPr indent="0" marL="0">
              <a:buNone/>
            </a:pPr>
            <a:r>
              <a:rPr lang="en-US" sz="1500" b="1" dirty="0">
                <a:solidFill>
                  <a:srgbClr val="1F2937"/>
                </a:solidFill>
                <a:latin typeface="Courier New" pitchFamily="34" charset="0"/>
                <a:ea typeface="Courier New" pitchFamily="34" charset="-122"/>
                <a:cs typeface="Courier New" pitchFamily="34" charset="-120"/>
              </a:rPr>
              <a:t>gpt-4.1-mini</a:t>
            </a:r>
            <a:endParaRPr lang="en-US" sz="1500" dirty="0"/>
          </a:p>
        </p:txBody>
      </p:sp>
      <p:sp>
        <p:nvSpPr>
          <p:cNvPr id="23" name="Text 17"/>
          <p:cNvSpPr txBox="1"/>
          <p:nvPr/>
        </p:nvSpPr>
        <p:spPr>
          <a:xfrm>
            <a:off x="4892040" y="3429000"/>
            <a:ext cx="3611880" cy="365760"/>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Registered on the kernel with AddOpenAIChatCompletion, as before.</a:t>
            </a:r>
            <a:endParaRPr lang="en-US" sz="1200" dirty="0"/>
          </a:p>
        </p:txBody>
      </p:sp>
      <p:sp>
        <p:nvSpPr>
          <p:cNvPr id="24" name="Text 18"/>
          <p:cNvSpPr txBox="1"/>
          <p:nvPr/>
        </p:nvSpPr>
        <p:spPr>
          <a:xfrm>
            <a:off x="457200" y="4796028"/>
            <a:ext cx="6400800" cy="201168"/>
          </a:xfrm>
          <a:prstGeom prst="rect">
            <a:avLst/>
          </a:prstGeom>
          <a:noFill/>
          <a:ln/>
        </p:spPr>
        <p:txBody>
          <a:bodyPr wrap="square" lIns="0" tIns="0" rIns="0" bIns="0" rtlCol="0" anchor="t"/>
          <a:lstStyle/>
          <a:p>
            <a:pPr indent="0" marL="0">
              <a:buNone/>
            </a:pPr>
            <a:r>
              <a:rPr lang="en-US" sz="900" dirty="0">
                <a:solidFill>
                  <a:srgbClr val="9CA3AF"/>
                </a:solidFill>
                <a:latin typeface="Calibri" pitchFamily="34" charset="0"/>
                <a:ea typeface="Calibri" pitchFamily="34" charset="-122"/>
                <a:cs typeface="Calibri" pitchFamily="34" charset="-120"/>
              </a:rPr>
              <a:t>Applied Agentic Orchestration with Semantic Kernel  ·  Lesson 17 — Agent Framework</a:t>
            </a:r>
            <a:endParaRPr lang="en-US" sz="900" dirty="0"/>
          </a:p>
        </p:txBody>
      </p:sp>
      <p:sp>
        <p:nvSpPr>
          <p:cNvPr id="25" name="Text 19"/>
          <p:cNvSpPr txBox="1"/>
          <p:nvPr/>
        </p:nvSpPr>
        <p:spPr>
          <a:xfrm>
            <a:off x="8138160" y="4796028"/>
            <a:ext cx="548640" cy="201168"/>
          </a:xfrm>
          <a:prstGeom prst="rect">
            <a:avLst/>
          </a:prstGeom>
          <a:noFill/>
          <a:ln/>
        </p:spPr>
        <p:txBody>
          <a:bodyPr wrap="square" lIns="0" tIns="0" rIns="0" bIns="0" rtlCol="0" anchor="t"/>
          <a:lstStyle/>
          <a:p>
            <a:pPr algn="r" indent="0" marL="0">
              <a:buNone/>
            </a:pPr>
            <a:r>
              <a:rPr lang="en-US" sz="900" dirty="0">
                <a:solidFill>
                  <a:srgbClr val="9CA3AF"/>
                </a:solidFill>
                <a:latin typeface="Calibri" pitchFamily="34" charset="0"/>
                <a:ea typeface="Calibri" pitchFamily="34" charset="-122"/>
                <a:cs typeface="Calibri" pitchFamily="34" charset="-120"/>
              </a:rPr>
              <a:t>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47472"/>
            <a:ext cx="8229600" cy="228600"/>
          </a:xfrm>
          <a:prstGeom prst="rect">
            <a:avLst/>
          </a:prstGeom>
          <a:noFill/>
          <a:ln/>
        </p:spPr>
        <p:txBody>
          <a:bodyPr wrap="square" lIns="0" tIns="0" rIns="0" bIns="0" rtlCol="0" anchor="t"/>
          <a:lstStyle/>
          <a:p>
            <a:pPr indent="0" marL="0">
              <a:buNone/>
            </a:pPr>
            <a:r>
              <a:rPr lang="en-US" sz="1100" b="1" spc="200" kern="0" dirty="0">
                <a:solidFill>
                  <a:srgbClr val="512BD4"/>
                </a:solidFill>
                <a:latin typeface="Calibri" pitchFamily="34" charset="0"/>
                <a:ea typeface="Calibri" pitchFamily="34" charset="-122"/>
                <a:cs typeface="Calibri" pitchFamily="34" charset="-120"/>
              </a:rPr>
              <a:t>CORE CONCEPT</a:t>
            </a:r>
            <a:endParaRPr lang="en-US" sz="1100" dirty="0"/>
          </a:p>
        </p:txBody>
      </p:sp>
      <p:sp>
        <p:nvSpPr>
          <p:cNvPr id="3" name="Text 1"/>
          <p:cNvSpPr txBox="1"/>
          <p:nvPr/>
        </p:nvSpPr>
        <p:spPr>
          <a:xfrm>
            <a:off x="457200" y="566928"/>
            <a:ext cx="8229600" cy="548640"/>
          </a:xfrm>
          <a:prstGeom prst="rect">
            <a:avLst/>
          </a:prstGeom>
          <a:noFill/>
          <a:ln/>
        </p:spPr>
        <p:txBody>
          <a:bodyPr wrap="square" lIns="0" tIns="0" rIns="0" bIns="0" rtlCol="0" anchor="ctr"/>
          <a:lstStyle/>
          <a:p>
            <a:pPr indent="0" marL="0">
              <a:buNone/>
            </a:pPr>
            <a:r>
              <a:rPr lang="en-US" sz="2800" b="1" dirty="0">
                <a:solidFill>
                  <a:srgbClr val="1F2937"/>
                </a:solidFill>
                <a:latin typeface="Cambria" pitchFamily="34" charset="0"/>
                <a:ea typeface="Cambria" pitchFamily="34" charset="-122"/>
                <a:cs typeface="Cambria" pitchFamily="34" charset="-120"/>
              </a:rPr>
              <a:t>Four properties define the agent</a:t>
            </a:r>
            <a:endParaRPr lang="en-US" sz="2800" dirty="0"/>
          </a:p>
        </p:txBody>
      </p:sp>
      <p:sp>
        <p:nvSpPr>
          <p:cNvPr id="4" name="Shape 2"/>
          <p:cNvSpPr/>
          <p:nvPr/>
        </p:nvSpPr>
        <p:spPr>
          <a:xfrm>
            <a:off x="457200" y="1417320"/>
            <a:ext cx="2468880" cy="2377440"/>
          </a:xfrm>
          <a:prstGeom prst="roundRect">
            <a:avLst>
              <a:gd name="adj" fmla="val 3077"/>
            </a:avLst>
          </a:prstGeom>
          <a:solidFill>
            <a:srgbClr val="512BD4"/>
          </a:solidFill>
          <a:ln w="12700">
            <a:solidFill>
              <a:srgbClr val="512BD4"/>
            </a:solidFill>
            <a:prstDash val="solid"/>
          </a:ln>
        </p:spPr>
      </p:sp>
      <p:sp>
        <p:nvSpPr>
          <p:cNvPr id="5" name="Shape 3"/>
          <p:cNvSpPr/>
          <p:nvPr/>
        </p:nvSpPr>
        <p:spPr>
          <a:xfrm>
            <a:off x="685800" y="1645920"/>
            <a:ext cx="502920" cy="502920"/>
          </a:xfrm>
          <a:prstGeom prst="ellipse">
            <a:avLst/>
          </a:prstGeom>
          <a:solidFill>
            <a:srgbClr val="FFFFFF"/>
          </a:solidFill>
          <a:ln w="12700">
            <a:solidFill>
              <a:srgbClr val="FFFFFF"/>
            </a:solidFill>
            <a:prstDash val="solid"/>
          </a:ln>
        </p:spPr>
      </p:sp>
      <p:pic>
        <p:nvPicPr>
          <p:cNvPr id="6" name="Image 0" descr="preencoded.png">    </p:cNvPr>
          <p:cNvPicPr>
            <a:picLocks noChangeAspect="1"/>
          </p:cNvPicPr>
          <p:nvPr/>
        </p:nvPicPr>
        <p:blipFill>
          <a:blip r:embed="rId1"/>
          <a:stretch>
            <a:fillRect/>
          </a:stretch>
        </p:blipFill>
        <p:spPr>
          <a:xfrm>
            <a:off x="816559" y="1776679"/>
            <a:ext cx="241402" cy="241402"/>
          </a:xfrm>
          <a:prstGeom prst="rect">
            <a:avLst/>
          </a:prstGeom>
        </p:spPr>
      </p:pic>
      <p:sp>
        <p:nvSpPr>
          <p:cNvPr id="7" name="Text 4"/>
          <p:cNvSpPr txBox="1"/>
          <p:nvPr/>
        </p:nvSpPr>
        <p:spPr>
          <a:xfrm>
            <a:off x="685800" y="2286000"/>
            <a:ext cx="2057400" cy="457200"/>
          </a:xfrm>
          <a:prstGeom prst="rect">
            <a:avLst/>
          </a:prstGeom>
          <a:noFill/>
          <a:ln/>
        </p:spPr>
        <p:txBody>
          <a:bodyPr wrap="square" lIns="0" tIns="0" rIns="0" bIns="0" rtlCol="0" anchor="t"/>
          <a:lstStyle/>
          <a:p>
            <a:pPr indent="0" marL="0">
              <a:buNone/>
            </a:pPr>
            <a:r>
              <a:rPr lang="en-US" sz="1800" b="1" dirty="0">
                <a:solidFill>
                  <a:srgbClr val="FFFFFF"/>
                </a:solidFill>
                <a:latin typeface="Calibri" pitchFamily="34" charset="0"/>
                <a:ea typeface="Calibri" pitchFamily="34" charset="-122"/>
                <a:cs typeface="Calibri" pitchFamily="34" charset="-120"/>
              </a:rPr>
              <a:t>travelAgent</a:t>
            </a:r>
            <a:endParaRPr lang="en-US" sz="1800" dirty="0"/>
          </a:p>
        </p:txBody>
      </p:sp>
      <p:sp>
        <p:nvSpPr>
          <p:cNvPr id="8" name="Text 5"/>
          <p:cNvSpPr txBox="1"/>
          <p:nvPr/>
        </p:nvSpPr>
        <p:spPr>
          <a:xfrm>
            <a:off x="685800" y="2743200"/>
            <a:ext cx="2057400" cy="960120"/>
          </a:xfrm>
          <a:prstGeom prst="rect">
            <a:avLst/>
          </a:prstGeom>
          <a:noFill/>
          <a:ln/>
        </p:spPr>
        <p:txBody>
          <a:bodyPr wrap="square" lIns="0" tIns="0" rIns="0" bIns="0" rtlCol="0" anchor="t"/>
          <a:lstStyle/>
          <a:p>
            <a:pPr indent="0" marL="0">
              <a:buNone/>
            </a:pPr>
            <a:r>
              <a:rPr lang="en-US" sz="1300" dirty="0">
                <a:solidFill>
                  <a:srgbClr val="FFFFFF"/>
                </a:solidFill>
                <a:latin typeface="Calibri" pitchFamily="34" charset="0"/>
                <a:ea typeface="Calibri" pitchFamily="34" charset="-122"/>
                <a:cs typeface="Calibri" pitchFamily="34" charset="-120"/>
              </a:rPr>
              <a:t>A ChatCompletionAgent: one reusable object for who it is, what it runs on and how it generates.</a:t>
            </a:r>
            <a:endParaRPr lang="en-US" sz="1300" dirty="0"/>
          </a:p>
        </p:txBody>
      </p:sp>
      <p:sp>
        <p:nvSpPr>
          <p:cNvPr id="9" name="Shape 6"/>
          <p:cNvSpPr/>
          <p:nvPr/>
        </p:nvSpPr>
        <p:spPr>
          <a:xfrm>
            <a:off x="2926080" y="1645920"/>
            <a:ext cx="502920" cy="0"/>
          </a:xfrm>
          <a:prstGeom prst="line">
            <a:avLst/>
          </a:prstGeom>
          <a:noFill/>
          <a:ln w="25400">
            <a:solidFill>
              <a:srgbClr val="F5A623"/>
            </a:solidFill>
            <a:prstDash val="solid"/>
          </a:ln>
        </p:spPr>
      </p:sp>
      <p:sp>
        <p:nvSpPr>
          <p:cNvPr id="10" name="Shape 7"/>
          <p:cNvSpPr/>
          <p:nvPr/>
        </p:nvSpPr>
        <p:spPr>
          <a:xfrm>
            <a:off x="3429000" y="1417320"/>
            <a:ext cx="5257800" cy="457200"/>
          </a:xfrm>
          <a:prstGeom prst="roundRect">
            <a:avLst>
              <a:gd name="adj" fmla="val 16000"/>
            </a:avLst>
          </a:prstGeom>
          <a:solidFill>
            <a:srgbClr val="EFEBFC"/>
          </a:solidFill>
          <a:ln w="12700">
            <a:solidFill>
              <a:srgbClr val="EFEBFC"/>
            </a:solidFill>
            <a:prstDash val="solid"/>
          </a:ln>
        </p:spPr>
      </p:sp>
      <p:sp>
        <p:nvSpPr>
          <p:cNvPr id="11" name="Shape 8"/>
          <p:cNvSpPr/>
          <p:nvPr/>
        </p:nvSpPr>
        <p:spPr>
          <a:xfrm>
            <a:off x="3593592" y="1453896"/>
            <a:ext cx="384048" cy="384048"/>
          </a:xfrm>
          <a:prstGeom prst="ellipse">
            <a:avLst/>
          </a:prstGeom>
          <a:solidFill>
            <a:srgbClr val="512BD4"/>
          </a:solidFill>
          <a:ln w="12700">
            <a:solidFill>
              <a:srgbClr val="512BD4"/>
            </a:solidFill>
            <a:prstDash val="solid"/>
          </a:ln>
        </p:spPr>
      </p:sp>
      <p:pic>
        <p:nvPicPr>
          <p:cNvPr id="12" name="Image 1" descr="preencoded.png">    </p:cNvPr>
          <p:cNvPicPr>
            <a:picLocks noChangeAspect="1"/>
          </p:cNvPicPr>
          <p:nvPr/>
        </p:nvPicPr>
        <p:blipFill>
          <a:blip r:embed="rId2"/>
          <a:stretch>
            <a:fillRect/>
          </a:stretch>
        </p:blipFill>
        <p:spPr>
          <a:xfrm>
            <a:off x="3693444" y="1553748"/>
            <a:ext cx="184343" cy="184343"/>
          </a:xfrm>
          <a:prstGeom prst="rect">
            <a:avLst/>
          </a:prstGeom>
        </p:spPr>
      </p:pic>
      <p:sp>
        <p:nvSpPr>
          <p:cNvPr id="13" name="Text 9"/>
          <p:cNvSpPr txBox="1"/>
          <p:nvPr/>
        </p:nvSpPr>
        <p:spPr>
          <a:xfrm>
            <a:off x="4142232" y="1508760"/>
            <a:ext cx="1463040" cy="274320"/>
          </a:xfrm>
          <a:prstGeom prst="rect">
            <a:avLst/>
          </a:prstGeom>
          <a:noFill/>
          <a:ln/>
        </p:spPr>
        <p:txBody>
          <a:bodyPr wrap="square" lIns="0" tIns="0" rIns="0" bIns="0" rtlCol="0" anchor="ctr"/>
          <a:lstStyle/>
          <a:p>
            <a:pPr indent="0" marL="0">
              <a:buNone/>
            </a:pPr>
            <a:r>
              <a:rPr lang="en-US" sz="1500" b="1" dirty="0">
                <a:solidFill>
                  <a:srgbClr val="1F2937"/>
                </a:solidFill>
                <a:latin typeface="Calibri" pitchFamily="34" charset="0"/>
                <a:ea typeface="Calibri" pitchFamily="34" charset="-122"/>
                <a:cs typeface="Calibri" pitchFamily="34" charset="-120"/>
              </a:rPr>
              <a:t>Name</a:t>
            </a:r>
            <a:endParaRPr lang="en-US" sz="1500" dirty="0"/>
          </a:p>
        </p:txBody>
      </p:sp>
      <p:sp>
        <p:nvSpPr>
          <p:cNvPr id="14" name="Text 10"/>
          <p:cNvSpPr txBox="1"/>
          <p:nvPr/>
        </p:nvSpPr>
        <p:spPr>
          <a:xfrm>
            <a:off x="5577840" y="1508760"/>
            <a:ext cx="2971800" cy="274320"/>
          </a:xfrm>
          <a:prstGeom prst="rect">
            <a:avLst/>
          </a:prstGeom>
          <a:noFill/>
          <a:ln/>
        </p:spPr>
        <p:txBody>
          <a:bodyPr wrap="square" lIns="0" tIns="0" rIns="0" bIns="0" rtlCol="0" anchor="ctr"/>
          <a:lstStyle/>
          <a:p>
            <a:pPr indent="0" marL="0">
              <a:buNone/>
            </a:pPr>
            <a:r>
              <a:rPr lang="en-US" sz="1200" dirty="0">
                <a:solidFill>
                  <a:srgbClr val="6B7280"/>
                </a:solidFill>
                <a:latin typeface="Calibri" pitchFamily="34" charset="0"/>
                <a:ea typeface="Calibri" pitchFamily="34" charset="-122"/>
                <a:cs typeface="Calibri" pitchFamily="34" charset="-120"/>
              </a:rPr>
              <a:t>"TravelAssistant", the AuthorName on replies.</a:t>
            </a:r>
            <a:endParaRPr lang="en-US" sz="1200" dirty="0"/>
          </a:p>
        </p:txBody>
      </p:sp>
      <p:sp>
        <p:nvSpPr>
          <p:cNvPr id="15" name="Shape 11"/>
          <p:cNvSpPr/>
          <p:nvPr/>
        </p:nvSpPr>
        <p:spPr>
          <a:xfrm>
            <a:off x="2926080" y="2286000"/>
            <a:ext cx="502920" cy="0"/>
          </a:xfrm>
          <a:prstGeom prst="line">
            <a:avLst/>
          </a:prstGeom>
          <a:noFill/>
          <a:ln w="25400">
            <a:solidFill>
              <a:srgbClr val="F5A623"/>
            </a:solidFill>
            <a:prstDash val="solid"/>
          </a:ln>
        </p:spPr>
      </p:sp>
      <p:sp>
        <p:nvSpPr>
          <p:cNvPr id="16" name="Shape 12"/>
          <p:cNvSpPr/>
          <p:nvPr/>
        </p:nvSpPr>
        <p:spPr>
          <a:xfrm>
            <a:off x="3429000" y="2057400"/>
            <a:ext cx="5257800" cy="457200"/>
          </a:xfrm>
          <a:prstGeom prst="roundRect">
            <a:avLst>
              <a:gd name="adj" fmla="val 16000"/>
            </a:avLst>
          </a:prstGeom>
          <a:solidFill>
            <a:srgbClr val="EFEBFC"/>
          </a:solidFill>
          <a:ln w="12700">
            <a:solidFill>
              <a:srgbClr val="EFEBFC"/>
            </a:solidFill>
            <a:prstDash val="solid"/>
          </a:ln>
        </p:spPr>
      </p:sp>
      <p:sp>
        <p:nvSpPr>
          <p:cNvPr id="17" name="Shape 13"/>
          <p:cNvSpPr/>
          <p:nvPr/>
        </p:nvSpPr>
        <p:spPr>
          <a:xfrm>
            <a:off x="3593592" y="2093976"/>
            <a:ext cx="384048" cy="384048"/>
          </a:xfrm>
          <a:prstGeom prst="ellipse">
            <a:avLst/>
          </a:prstGeom>
          <a:solidFill>
            <a:srgbClr val="512BD4"/>
          </a:solidFill>
          <a:ln w="12700">
            <a:solidFill>
              <a:srgbClr val="512BD4"/>
            </a:solidFill>
            <a:prstDash val="solid"/>
          </a:ln>
        </p:spPr>
      </p:sp>
      <p:pic>
        <p:nvPicPr>
          <p:cNvPr id="18" name="Image 2" descr="preencoded.png">    </p:cNvPr>
          <p:cNvPicPr>
            <a:picLocks noChangeAspect="1"/>
          </p:cNvPicPr>
          <p:nvPr/>
        </p:nvPicPr>
        <p:blipFill>
          <a:blip r:embed="rId3"/>
          <a:stretch>
            <a:fillRect/>
          </a:stretch>
        </p:blipFill>
        <p:spPr>
          <a:xfrm>
            <a:off x="3693444" y="2193828"/>
            <a:ext cx="184343" cy="184343"/>
          </a:xfrm>
          <a:prstGeom prst="rect">
            <a:avLst/>
          </a:prstGeom>
        </p:spPr>
      </p:pic>
      <p:sp>
        <p:nvSpPr>
          <p:cNvPr id="19" name="Text 14"/>
          <p:cNvSpPr txBox="1"/>
          <p:nvPr/>
        </p:nvSpPr>
        <p:spPr>
          <a:xfrm>
            <a:off x="4142232" y="2148840"/>
            <a:ext cx="1463040" cy="274320"/>
          </a:xfrm>
          <a:prstGeom prst="rect">
            <a:avLst/>
          </a:prstGeom>
          <a:noFill/>
          <a:ln/>
        </p:spPr>
        <p:txBody>
          <a:bodyPr wrap="square" lIns="0" tIns="0" rIns="0" bIns="0" rtlCol="0" anchor="ctr"/>
          <a:lstStyle/>
          <a:p>
            <a:pPr indent="0" marL="0">
              <a:buNone/>
            </a:pPr>
            <a:r>
              <a:rPr lang="en-US" sz="1500" b="1" dirty="0">
                <a:solidFill>
                  <a:srgbClr val="1F2937"/>
                </a:solidFill>
                <a:latin typeface="Calibri" pitchFamily="34" charset="0"/>
                <a:ea typeface="Calibri" pitchFamily="34" charset="-122"/>
                <a:cs typeface="Calibri" pitchFamily="34" charset="-120"/>
              </a:rPr>
              <a:t>Instructions</a:t>
            </a:r>
            <a:endParaRPr lang="en-US" sz="1500" dirty="0"/>
          </a:p>
        </p:txBody>
      </p:sp>
      <p:sp>
        <p:nvSpPr>
          <p:cNvPr id="20" name="Text 15"/>
          <p:cNvSpPr txBox="1"/>
          <p:nvPr/>
        </p:nvSpPr>
        <p:spPr>
          <a:xfrm>
            <a:off x="5577840" y="2148840"/>
            <a:ext cx="2971800" cy="274320"/>
          </a:xfrm>
          <a:prstGeom prst="rect">
            <a:avLst/>
          </a:prstGeom>
          <a:noFill/>
          <a:ln/>
        </p:spPr>
        <p:txBody>
          <a:bodyPr wrap="square" lIns="0" tIns="0" rIns="0" bIns="0" rtlCol="0" anchor="ctr"/>
          <a:lstStyle/>
          <a:p>
            <a:pPr indent="0" marL="0">
              <a:buNone/>
            </a:pPr>
            <a:r>
              <a:rPr lang="en-US" sz="1200" dirty="0">
                <a:solidFill>
                  <a:srgbClr val="6B7280"/>
                </a:solidFill>
                <a:latin typeface="Calibri" pitchFamily="34" charset="0"/>
                <a:ea typeface="Calibri" pitchFamily="34" charset="-122"/>
                <a:cs typeface="Calibri" pitchFamily="34" charset="-120"/>
              </a:rPr>
              <a:t>The persona: a travel planner giving Budget, Mid-range and Luxury options.</a:t>
            </a:r>
            <a:endParaRPr lang="en-US" sz="1200" dirty="0"/>
          </a:p>
        </p:txBody>
      </p:sp>
      <p:sp>
        <p:nvSpPr>
          <p:cNvPr id="21" name="Shape 16"/>
          <p:cNvSpPr/>
          <p:nvPr/>
        </p:nvSpPr>
        <p:spPr>
          <a:xfrm>
            <a:off x="2926080" y="2926080"/>
            <a:ext cx="502920" cy="0"/>
          </a:xfrm>
          <a:prstGeom prst="line">
            <a:avLst/>
          </a:prstGeom>
          <a:noFill/>
          <a:ln w="25400">
            <a:solidFill>
              <a:srgbClr val="F5A623"/>
            </a:solidFill>
            <a:prstDash val="solid"/>
          </a:ln>
        </p:spPr>
      </p:sp>
      <p:sp>
        <p:nvSpPr>
          <p:cNvPr id="22" name="Shape 17"/>
          <p:cNvSpPr/>
          <p:nvPr/>
        </p:nvSpPr>
        <p:spPr>
          <a:xfrm>
            <a:off x="3429000" y="2697480"/>
            <a:ext cx="5257800" cy="457200"/>
          </a:xfrm>
          <a:prstGeom prst="roundRect">
            <a:avLst>
              <a:gd name="adj" fmla="val 16000"/>
            </a:avLst>
          </a:prstGeom>
          <a:solidFill>
            <a:srgbClr val="EFEBFC"/>
          </a:solidFill>
          <a:ln w="12700">
            <a:solidFill>
              <a:srgbClr val="EFEBFC"/>
            </a:solidFill>
            <a:prstDash val="solid"/>
          </a:ln>
        </p:spPr>
      </p:sp>
      <p:sp>
        <p:nvSpPr>
          <p:cNvPr id="23" name="Shape 18"/>
          <p:cNvSpPr/>
          <p:nvPr/>
        </p:nvSpPr>
        <p:spPr>
          <a:xfrm>
            <a:off x="3593592" y="2734056"/>
            <a:ext cx="384048" cy="384048"/>
          </a:xfrm>
          <a:prstGeom prst="ellipse">
            <a:avLst/>
          </a:prstGeom>
          <a:solidFill>
            <a:srgbClr val="512BD4"/>
          </a:solidFill>
          <a:ln w="12700">
            <a:solidFill>
              <a:srgbClr val="512BD4"/>
            </a:solidFill>
            <a:prstDash val="solid"/>
          </a:ln>
        </p:spPr>
      </p:sp>
      <p:pic>
        <p:nvPicPr>
          <p:cNvPr id="24" name="Image 3" descr="preencoded.png">    </p:cNvPr>
          <p:cNvPicPr>
            <a:picLocks noChangeAspect="1"/>
          </p:cNvPicPr>
          <p:nvPr/>
        </p:nvPicPr>
        <p:blipFill>
          <a:blip r:embed="rId4"/>
          <a:stretch>
            <a:fillRect/>
          </a:stretch>
        </p:blipFill>
        <p:spPr>
          <a:xfrm>
            <a:off x="3693444" y="2833908"/>
            <a:ext cx="184343" cy="184343"/>
          </a:xfrm>
          <a:prstGeom prst="rect">
            <a:avLst/>
          </a:prstGeom>
        </p:spPr>
      </p:pic>
      <p:sp>
        <p:nvSpPr>
          <p:cNvPr id="25" name="Text 19"/>
          <p:cNvSpPr txBox="1"/>
          <p:nvPr/>
        </p:nvSpPr>
        <p:spPr>
          <a:xfrm>
            <a:off x="4142232" y="2788920"/>
            <a:ext cx="1463040" cy="274320"/>
          </a:xfrm>
          <a:prstGeom prst="rect">
            <a:avLst/>
          </a:prstGeom>
          <a:noFill/>
          <a:ln/>
        </p:spPr>
        <p:txBody>
          <a:bodyPr wrap="square" lIns="0" tIns="0" rIns="0" bIns="0" rtlCol="0" anchor="ctr"/>
          <a:lstStyle/>
          <a:p>
            <a:pPr indent="0" marL="0">
              <a:buNone/>
            </a:pPr>
            <a:r>
              <a:rPr lang="en-US" sz="1500" b="1" dirty="0">
                <a:solidFill>
                  <a:srgbClr val="1F2937"/>
                </a:solidFill>
                <a:latin typeface="Calibri" pitchFamily="34" charset="0"/>
                <a:ea typeface="Calibri" pitchFamily="34" charset="-122"/>
                <a:cs typeface="Calibri" pitchFamily="34" charset="-120"/>
              </a:rPr>
              <a:t>Kernel</a:t>
            </a:r>
            <a:endParaRPr lang="en-US" sz="1500" dirty="0"/>
          </a:p>
        </p:txBody>
      </p:sp>
      <p:sp>
        <p:nvSpPr>
          <p:cNvPr id="26" name="Text 20"/>
          <p:cNvSpPr txBox="1"/>
          <p:nvPr/>
        </p:nvSpPr>
        <p:spPr>
          <a:xfrm>
            <a:off x="5577840" y="2788920"/>
            <a:ext cx="2971800" cy="274320"/>
          </a:xfrm>
          <a:prstGeom prst="rect">
            <a:avLst/>
          </a:prstGeom>
          <a:noFill/>
          <a:ln/>
        </p:spPr>
        <p:txBody>
          <a:bodyPr wrap="square" lIns="0" tIns="0" rIns="0" bIns="0" rtlCol="0" anchor="ctr"/>
          <a:lstStyle/>
          <a:p>
            <a:pPr indent="0" marL="0">
              <a:buNone/>
            </a:pPr>
            <a:r>
              <a:rPr lang="en-US" sz="1200" dirty="0">
                <a:solidFill>
                  <a:srgbClr val="6B7280"/>
                </a:solidFill>
                <a:latin typeface="Calibri" pitchFamily="34" charset="0"/>
                <a:ea typeface="Calibri" pitchFamily="34" charset="-122"/>
                <a:cs typeface="Calibri" pitchFamily="34" charset="-120"/>
              </a:rPr>
              <a:t>Supplies the OpenAI chat service.</a:t>
            </a:r>
            <a:endParaRPr lang="en-US" sz="1200" dirty="0"/>
          </a:p>
        </p:txBody>
      </p:sp>
      <p:sp>
        <p:nvSpPr>
          <p:cNvPr id="27" name="Shape 21"/>
          <p:cNvSpPr/>
          <p:nvPr/>
        </p:nvSpPr>
        <p:spPr>
          <a:xfrm>
            <a:off x="2926080" y="3566160"/>
            <a:ext cx="502920" cy="0"/>
          </a:xfrm>
          <a:prstGeom prst="line">
            <a:avLst/>
          </a:prstGeom>
          <a:noFill/>
          <a:ln w="25400">
            <a:solidFill>
              <a:srgbClr val="F5A623"/>
            </a:solidFill>
            <a:prstDash val="solid"/>
          </a:ln>
        </p:spPr>
      </p:sp>
      <p:sp>
        <p:nvSpPr>
          <p:cNvPr id="28" name="Shape 22"/>
          <p:cNvSpPr/>
          <p:nvPr/>
        </p:nvSpPr>
        <p:spPr>
          <a:xfrm>
            <a:off x="3429000" y="3337560"/>
            <a:ext cx="5257800" cy="457200"/>
          </a:xfrm>
          <a:prstGeom prst="roundRect">
            <a:avLst>
              <a:gd name="adj" fmla="val 16000"/>
            </a:avLst>
          </a:prstGeom>
          <a:solidFill>
            <a:srgbClr val="EFEBFC"/>
          </a:solidFill>
          <a:ln w="12700">
            <a:solidFill>
              <a:srgbClr val="EFEBFC"/>
            </a:solidFill>
            <a:prstDash val="solid"/>
          </a:ln>
        </p:spPr>
      </p:sp>
      <p:sp>
        <p:nvSpPr>
          <p:cNvPr id="29" name="Shape 23"/>
          <p:cNvSpPr/>
          <p:nvPr/>
        </p:nvSpPr>
        <p:spPr>
          <a:xfrm>
            <a:off x="3593592" y="3374136"/>
            <a:ext cx="384048" cy="384048"/>
          </a:xfrm>
          <a:prstGeom prst="ellipse">
            <a:avLst/>
          </a:prstGeom>
          <a:solidFill>
            <a:srgbClr val="512BD4"/>
          </a:solidFill>
          <a:ln w="12700">
            <a:solidFill>
              <a:srgbClr val="512BD4"/>
            </a:solidFill>
            <a:prstDash val="solid"/>
          </a:ln>
        </p:spPr>
      </p:sp>
      <p:pic>
        <p:nvPicPr>
          <p:cNvPr id="30" name="Image 4" descr="preencoded.png">    </p:cNvPr>
          <p:cNvPicPr>
            <a:picLocks noChangeAspect="1"/>
          </p:cNvPicPr>
          <p:nvPr/>
        </p:nvPicPr>
        <p:blipFill>
          <a:blip r:embed="rId5"/>
          <a:stretch>
            <a:fillRect/>
          </a:stretch>
        </p:blipFill>
        <p:spPr>
          <a:xfrm>
            <a:off x="3693444" y="3473988"/>
            <a:ext cx="184343" cy="184343"/>
          </a:xfrm>
          <a:prstGeom prst="rect">
            <a:avLst/>
          </a:prstGeom>
        </p:spPr>
      </p:pic>
      <p:sp>
        <p:nvSpPr>
          <p:cNvPr id="31" name="Text 24"/>
          <p:cNvSpPr txBox="1"/>
          <p:nvPr/>
        </p:nvSpPr>
        <p:spPr>
          <a:xfrm>
            <a:off x="4142232" y="3429000"/>
            <a:ext cx="1463040" cy="274320"/>
          </a:xfrm>
          <a:prstGeom prst="rect">
            <a:avLst/>
          </a:prstGeom>
          <a:noFill/>
          <a:ln/>
        </p:spPr>
        <p:txBody>
          <a:bodyPr wrap="square" lIns="0" tIns="0" rIns="0" bIns="0" rtlCol="0" anchor="ctr"/>
          <a:lstStyle/>
          <a:p>
            <a:pPr indent="0" marL="0">
              <a:buNone/>
            </a:pPr>
            <a:r>
              <a:rPr lang="en-US" sz="1500" b="1" dirty="0">
                <a:solidFill>
                  <a:srgbClr val="1F2937"/>
                </a:solidFill>
                <a:latin typeface="Calibri" pitchFamily="34" charset="0"/>
                <a:ea typeface="Calibri" pitchFamily="34" charset="-122"/>
                <a:cs typeface="Calibri" pitchFamily="34" charset="-120"/>
              </a:rPr>
              <a:t>Arguments</a:t>
            </a:r>
            <a:endParaRPr lang="en-US" sz="1500" dirty="0"/>
          </a:p>
        </p:txBody>
      </p:sp>
      <p:sp>
        <p:nvSpPr>
          <p:cNvPr id="32" name="Text 25"/>
          <p:cNvSpPr txBox="1"/>
          <p:nvPr/>
        </p:nvSpPr>
        <p:spPr>
          <a:xfrm>
            <a:off x="5577840" y="3429000"/>
            <a:ext cx="2971800" cy="274320"/>
          </a:xfrm>
          <a:prstGeom prst="rect">
            <a:avLst/>
          </a:prstGeom>
          <a:noFill/>
          <a:ln/>
        </p:spPr>
        <p:txBody>
          <a:bodyPr wrap="square" lIns="0" tIns="0" rIns="0" bIns="0" rtlCol="0" anchor="ctr"/>
          <a:lstStyle/>
          <a:p>
            <a:pPr indent="0" marL="0">
              <a:buNone/>
            </a:pPr>
            <a:r>
              <a:rPr lang="en-US" sz="1200" dirty="0">
                <a:solidFill>
                  <a:srgbClr val="6B7280"/>
                </a:solidFill>
                <a:latin typeface="Calibri" pitchFamily="34" charset="0"/>
                <a:ea typeface="Calibri" pitchFamily="34" charset="-122"/>
                <a:cs typeface="Calibri" pitchFamily="34" charset="-120"/>
              </a:rPr>
              <a:t>Default settings: Temperature 0.5.</a:t>
            </a:r>
            <a:endParaRPr lang="en-US" sz="1200" dirty="0"/>
          </a:p>
        </p:txBody>
      </p:sp>
      <p:sp>
        <p:nvSpPr>
          <p:cNvPr id="33" name="Text 26"/>
          <p:cNvSpPr txBox="1"/>
          <p:nvPr/>
        </p:nvSpPr>
        <p:spPr>
          <a:xfrm>
            <a:off x="457200" y="4796028"/>
            <a:ext cx="6400800" cy="201168"/>
          </a:xfrm>
          <a:prstGeom prst="rect">
            <a:avLst/>
          </a:prstGeom>
          <a:noFill/>
          <a:ln/>
        </p:spPr>
        <p:txBody>
          <a:bodyPr wrap="square" lIns="0" tIns="0" rIns="0" bIns="0" rtlCol="0" anchor="t"/>
          <a:lstStyle/>
          <a:p>
            <a:pPr indent="0" marL="0">
              <a:buNone/>
            </a:pPr>
            <a:r>
              <a:rPr lang="en-US" sz="900" dirty="0">
                <a:solidFill>
                  <a:srgbClr val="9CA3AF"/>
                </a:solidFill>
                <a:latin typeface="Calibri" pitchFamily="34" charset="0"/>
                <a:ea typeface="Calibri" pitchFamily="34" charset="-122"/>
                <a:cs typeface="Calibri" pitchFamily="34" charset="-120"/>
              </a:rPr>
              <a:t>Applied Agentic Orchestration with Semantic Kernel  ·  Lesson 17 — Agent Framework</a:t>
            </a:r>
            <a:endParaRPr lang="en-US" sz="900" dirty="0"/>
          </a:p>
        </p:txBody>
      </p:sp>
      <p:sp>
        <p:nvSpPr>
          <p:cNvPr id="34" name="Text 27"/>
          <p:cNvSpPr txBox="1"/>
          <p:nvPr/>
        </p:nvSpPr>
        <p:spPr>
          <a:xfrm>
            <a:off x="8138160" y="4796028"/>
            <a:ext cx="548640" cy="201168"/>
          </a:xfrm>
          <a:prstGeom prst="rect">
            <a:avLst/>
          </a:prstGeom>
          <a:noFill/>
          <a:ln/>
        </p:spPr>
        <p:txBody>
          <a:bodyPr wrap="square" lIns="0" tIns="0" rIns="0" bIns="0" rtlCol="0" anchor="t"/>
          <a:lstStyle/>
          <a:p>
            <a:pPr algn="r" indent="0" marL="0">
              <a:buNone/>
            </a:pPr>
            <a:r>
              <a:rPr lang="en-US" sz="900" dirty="0">
                <a:solidFill>
                  <a:srgbClr val="9CA3AF"/>
                </a:solidFill>
                <a:latin typeface="Calibri" pitchFamily="34" charset="0"/>
                <a:ea typeface="Calibri" pitchFamily="34" charset="-122"/>
                <a:cs typeface="Calibri" pitchFamily="34" charset="-120"/>
              </a:rPr>
              <a:t>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47472"/>
            <a:ext cx="8229600" cy="228600"/>
          </a:xfrm>
          <a:prstGeom prst="rect">
            <a:avLst/>
          </a:prstGeom>
          <a:noFill/>
          <a:ln/>
        </p:spPr>
        <p:txBody>
          <a:bodyPr wrap="square" lIns="0" tIns="0" rIns="0" bIns="0" rtlCol="0" anchor="t"/>
          <a:lstStyle/>
          <a:p>
            <a:pPr indent="0" marL="0">
              <a:buNone/>
            </a:pPr>
            <a:r>
              <a:rPr lang="en-US" sz="1100" b="1" spc="200" kern="0" dirty="0">
                <a:solidFill>
                  <a:srgbClr val="512BD4"/>
                </a:solidFill>
                <a:latin typeface="Calibri" pitchFamily="34" charset="0"/>
                <a:ea typeface="Calibri" pitchFamily="34" charset="-122"/>
                <a:cs typeface="Calibri" pitchFamily="34" charset="-120"/>
              </a:rPr>
              <a:t>ONE TURN</a:t>
            </a:r>
            <a:endParaRPr lang="en-US" sz="1100" dirty="0"/>
          </a:p>
        </p:txBody>
      </p:sp>
      <p:sp>
        <p:nvSpPr>
          <p:cNvPr id="3" name="Text 1"/>
          <p:cNvSpPr txBox="1"/>
          <p:nvPr/>
        </p:nvSpPr>
        <p:spPr>
          <a:xfrm>
            <a:off x="457200" y="566928"/>
            <a:ext cx="8229600" cy="548640"/>
          </a:xfrm>
          <a:prstGeom prst="rect">
            <a:avLst/>
          </a:prstGeom>
          <a:noFill/>
          <a:ln/>
        </p:spPr>
        <p:txBody>
          <a:bodyPr wrap="square" lIns="0" tIns="0" rIns="0" bIns="0" rtlCol="0" anchor="ctr"/>
          <a:lstStyle/>
          <a:p>
            <a:pPr indent="0" marL="0">
              <a:buNone/>
            </a:pPr>
            <a:r>
              <a:rPr lang="en-US" sz="2800" b="1" dirty="0">
                <a:solidFill>
                  <a:srgbClr val="1F2937"/>
                </a:solidFill>
                <a:latin typeface="Cambria" pitchFamily="34" charset="0"/>
                <a:ea typeface="Cambria" pitchFamily="34" charset="-122"/>
                <a:cs typeface="Cambria" pitchFamily="34" charset="-120"/>
              </a:rPr>
              <a:t>What happens each time you press Enter</a:t>
            </a:r>
            <a:endParaRPr lang="en-US" sz="2800" dirty="0"/>
          </a:p>
        </p:txBody>
      </p:sp>
      <p:sp>
        <p:nvSpPr>
          <p:cNvPr id="4" name="Shape 2"/>
          <p:cNvSpPr/>
          <p:nvPr/>
        </p:nvSpPr>
        <p:spPr>
          <a:xfrm>
            <a:off x="457200" y="1417320"/>
            <a:ext cx="1367942" cy="2185416"/>
          </a:xfrm>
          <a:prstGeom prst="roundRect">
            <a:avLst>
              <a:gd name="adj" fmla="val 5348"/>
            </a:avLst>
          </a:prstGeom>
          <a:solidFill>
            <a:srgbClr val="EFEBFC"/>
          </a:solidFill>
          <a:ln w="12700">
            <a:solidFill>
              <a:srgbClr val="EFEBFC"/>
            </a:solidFill>
            <a:prstDash val="solid"/>
          </a:ln>
        </p:spPr>
      </p:sp>
      <p:sp>
        <p:nvSpPr>
          <p:cNvPr id="5" name="Shape 3"/>
          <p:cNvSpPr/>
          <p:nvPr/>
        </p:nvSpPr>
        <p:spPr>
          <a:xfrm>
            <a:off x="640080" y="1618488"/>
            <a:ext cx="457200" cy="457200"/>
          </a:xfrm>
          <a:prstGeom prst="ellipse">
            <a:avLst/>
          </a:prstGeom>
          <a:solidFill>
            <a:srgbClr val="512BD4"/>
          </a:solidFill>
          <a:ln w="12700">
            <a:solidFill>
              <a:srgbClr val="512BD4"/>
            </a:solidFill>
            <a:prstDash val="solid"/>
          </a:ln>
        </p:spPr>
      </p:sp>
      <p:pic>
        <p:nvPicPr>
          <p:cNvPr id="6" name="Image 0" descr="preencoded.png">    </p:cNvPr>
          <p:cNvPicPr>
            <a:picLocks noChangeAspect="1"/>
          </p:cNvPicPr>
          <p:nvPr/>
        </p:nvPicPr>
        <p:blipFill>
          <a:blip r:embed="rId1"/>
          <a:stretch>
            <a:fillRect/>
          </a:stretch>
        </p:blipFill>
        <p:spPr>
          <a:xfrm>
            <a:off x="758952" y="1737360"/>
            <a:ext cx="219456" cy="219456"/>
          </a:xfrm>
          <a:prstGeom prst="rect">
            <a:avLst/>
          </a:prstGeom>
        </p:spPr>
      </p:pic>
      <p:sp>
        <p:nvSpPr>
          <p:cNvPr id="7" name="Text 4"/>
          <p:cNvSpPr txBox="1"/>
          <p:nvPr/>
        </p:nvSpPr>
        <p:spPr>
          <a:xfrm>
            <a:off x="640080" y="2194560"/>
            <a:ext cx="1047902" cy="411480"/>
          </a:xfrm>
          <a:prstGeom prst="rect">
            <a:avLst/>
          </a:prstGeom>
          <a:noFill/>
          <a:ln/>
        </p:spPr>
        <p:txBody>
          <a:bodyPr wrap="square" lIns="0" tIns="0" rIns="0" bIns="0" rtlCol="0" anchor="t"/>
          <a:lstStyle/>
          <a:p>
            <a:pPr indent="0" marL="0">
              <a:buNone/>
            </a:pPr>
            <a:r>
              <a:rPr lang="en-US" sz="1300" b="1" dirty="0">
                <a:solidFill>
                  <a:srgbClr val="1F2937"/>
                </a:solidFill>
                <a:latin typeface="Calibri" pitchFamily="34" charset="0"/>
                <a:ea typeface="Calibri" pitchFamily="34" charset="-122"/>
                <a:cs typeface="Calibri" pitchFamily="34" charset="-120"/>
              </a:rPr>
              <a:t>Read input</a:t>
            </a:r>
            <a:endParaRPr lang="en-US" sz="1300" dirty="0"/>
          </a:p>
        </p:txBody>
      </p:sp>
      <p:sp>
        <p:nvSpPr>
          <p:cNvPr id="8" name="Text 5"/>
          <p:cNvSpPr txBox="1"/>
          <p:nvPr/>
        </p:nvSpPr>
        <p:spPr>
          <a:xfrm>
            <a:off x="640080" y="2606040"/>
            <a:ext cx="1047902" cy="905256"/>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Blank or exit ends the loop.</a:t>
            </a:r>
            <a:endParaRPr lang="en-US" sz="1200" dirty="0"/>
          </a:p>
        </p:txBody>
      </p:sp>
      <p:sp>
        <p:nvSpPr>
          <p:cNvPr id="9" name="Shape 6"/>
          <p:cNvSpPr/>
          <p:nvPr/>
        </p:nvSpPr>
        <p:spPr>
          <a:xfrm>
            <a:off x="1889150" y="2400300"/>
            <a:ext cx="219456" cy="219456"/>
          </a:xfrm>
          <a:prstGeom prst="rightArrow">
            <a:avLst/>
          </a:prstGeom>
          <a:solidFill>
            <a:srgbClr val="F5A623"/>
          </a:solidFill>
          <a:ln w="12700">
            <a:solidFill>
              <a:srgbClr val="F5A623"/>
            </a:solidFill>
            <a:prstDash val="solid"/>
          </a:ln>
        </p:spPr>
      </p:sp>
      <p:sp>
        <p:nvSpPr>
          <p:cNvPr id="10" name="Shape 7"/>
          <p:cNvSpPr/>
          <p:nvPr/>
        </p:nvSpPr>
        <p:spPr>
          <a:xfrm>
            <a:off x="2172614" y="1417320"/>
            <a:ext cx="1367942" cy="2185416"/>
          </a:xfrm>
          <a:prstGeom prst="roundRect">
            <a:avLst>
              <a:gd name="adj" fmla="val 5348"/>
            </a:avLst>
          </a:prstGeom>
          <a:solidFill>
            <a:srgbClr val="EFEBFC"/>
          </a:solidFill>
          <a:ln w="12700">
            <a:solidFill>
              <a:srgbClr val="EFEBFC"/>
            </a:solidFill>
            <a:prstDash val="solid"/>
          </a:ln>
        </p:spPr>
      </p:sp>
      <p:sp>
        <p:nvSpPr>
          <p:cNvPr id="11" name="Shape 8"/>
          <p:cNvSpPr/>
          <p:nvPr/>
        </p:nvSpPr>
        <p:spPr>
          <a:xfrm>
            <a:off x="2355494" y="1618488"/>
            <a:ext cx="457200" cy="457200"/>
          </a:xfrm>
          <a:prstGeom prst="ellipse">
            <a:avLst/>
          </a:prstGeom>
          <a:solidFill>
            <a:srgbClr val="512BD4"/>
          </a:solidFill>
          <a:ln w="12700">
            <a:solidFill>
              <a:srgbClr val="512BD4"/>
            </a:solidFill>
            <a:prstDash val="solid"/>
          </a:ln>
        </p:spPr>
      </p:sp>
      <p:pic>
        <p:nvPicPr>
          <p:cNvPr id="12" name="Image 1" descr="preencoded.png">    </p:cNvPr>
          <p:cNvPicPr>
            <a:picLocks noChangeAspect="1"/>
          </p:cNvPicPr>
          <p:nvPr/>
        </p:nvPicPr>
        <p:blipFill>
          <a:blip r:embed="rId2"/>
          <a:stretch>
            <a:fillRect/>
          </a:stretch>
        </p:blipFill>
        <p:spPr>
          <a:xfrm>
            <a:off x="2474366" y="1737360"/>
            <a:ext cx="219456" cy="219456"/>
          </a:xfrm>
          <a:prstGeom prst="rect">
            <a:avLst/>
          </a:prstGeom>
        </p:spPr>
      </p:pic>
      <p:sp>
        <p:nvSpPr>
          <p:cNvPr id="13" name="Text 9"/>
          <p:cNvSpPr txBox="1"/>
          <p:nvPr/>
        </p:nvSpPr>
        <p:spPr>
          <a:xfrm>
            <a:off x="2355494" y="2194560"/>
            <a:ext cx="1047902" cy="411480"/>
          </a:xfrm>
          <a:prstGeom prst="rect">
            <a:avLst/>
          </a:prstGeom>
          <a:noFill/>
          <a:ln/>
        </p:spPr>
        <p:txBody>
          <a:bodyPr wrap="square" lIns="0" tIns="0" rIns="0" bIns="0" rtlCol="0" anchor="t"/>
          <a:lstStyle/>
          <a:p>
            <a:pPr indent="0" marL="0">
              <a:buNone/>
            </a:pPr>
            <a:r>
              <a:rPr lang="en-US" sz="1300" b="1" dirty="0">
                <a:solidFill>
                  <a:srgbClr val="1F2937"/>
                </a:solidFill>
                <a:latin typeface="Calibri" pitchFamily="34" charset="0"/>
                <a:ea typeface="Calibri" pitchFamily="34" charset="-122"/>
                <a:cs typeface="Calibri" pitchFamily="34" charset="-120"/>
              </a:rPr>
              <a:t>Add message</a:t>
            </a:r>
            <a:endParaRPr lang="en-US" sz="1300" dirty="0"/>
          </a:p>
        </p:txBody>
      </p:sp>
      <p:sp>
        <p:nvSpPr>
          <p:cNvPr id="14" name="Text 10"/>
          <p:cNvSpPr txBox="1"/>
          <p:nvPr/>
        </p:nvSpPr>
        <p:spPr>
          <a:xfrm>
            <a:off x="2355494" y="2606040"/>
            <a:ext cx="1047902" cy="905256"/>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AddUser</a:t>
            </a:r>
            <a:endParaRPr lang="en-US" sz="1200" dirty="0"/>
          </a:p>
          <a:p>
            <a:pPr indent="0" marL="0">
              <a:buNone/>
            </a:pPr>
            <a:r>
              <a:rPr lang="en-US" sz="1200" dirty="0">
                <a:solidFill>
                  <a:srgbClr val="6B7280"/>
                </a:solidFill>
                <a:latin typeface="Calibri" pitchFamily="34" charset="0"/>
                <a:ea typeface="Calibri" pitchFamily="34" charset="-122"/>
                <a:cs typeface="Calibri" pitchFamily="34" charset="-120"/>
              </a:rPr>
              <a:t>Message puts it in history.</a:t>
            </a:r>
            <a:endParaRPr lang="en-US" sz="1200" dirty="0"/>
          </a:p>
        </p:txBody>
      </p:sp>
      <p:sp>
        <p:nvSpPr>
          <p:cNvPr id="15" name="Shape 11"/>
          <p:cNvSpPr/>
          <p:nvPr/>
        </p:nvSpPr>
        <p:spPr>
          <a:xfrm>
            <a:off x="3604565" y="2400300"/>
            <a:ext cx="219456" cy="219456"/>
          </a:xfrm>
          <a:prstGeom prst="rightArrow">
            <a:avLst/>
          </a:prstGeom>
          <a:solidFill>
            <a:srgbClr val="F5A623"/>
          </a:solidFill>
          <a:ln w="12700">
            <a:solidFill>
              <a:srgbClr val="F5A623"/>
            </a:solidFill>
            <a:prstDash val="solid"/>
          </a:ln>
        </p:spPr>
      </p:sp>
      <p:sp>
        <p:nvSpPr>
          <p:cNvPr id="16" name="Shape 12"/>
          <p:cNvSpPr/>
          <p:nvPr/>
        </p:nvSpPr>
        <p:spPr>
          <a:xfrm>
            <a:off x="3888029" y="1417320"/>
            <a:ext cx="1367942" cy="2185416"/>
          </a:xfrm>
          <a:prstGeom prst="roundRect">
            <a:avLst>
              <a:gd name="adj" fmla="val 5348"/>
            </a:avLst>
          </a:prstGeom>
          <a:solidFill>
            <a:srgbClr val="512BD4"/>
          </a:solidFill>
          <a:ln w="12700">
            <a:solidFill>
              <a:srgbClr val="512BD4"/>
            </a:solidFill>
            <a:prstDash val="solid"/>
          </a:ln>
        </p:spPr>
      </p:sp>
      <p:sp>
        <p:nvSpPr>
          <p:cNvPr id="17" name="Shape 13"/>
          <p:cNvSpPr/>
          <p:nvPr/>
        </p:nvSpPr>
        <p:spPr>
          <a:xfrm>
            <a:off x="4070909" y="1618488"/>
            <a:ext cx="457200" cy="457200"/>
          </a:xfrm>
          <a:prstGeom prst="ellipse">
            <a:avLst/>
          </a:prstGeom>
          <a:solidFill>
            <a:srgbClr val="FFFFFF"/>
          </a:solidFill>
          <a:ln w="12700">
            <a:solidFill>
              <a:srgbClr val="FFFFFF"/>
            </a:solidFill>
            <a:prstDash val="solid"/>
          </a:ln>
        </p:spPr>
      </p:sp>
      <p:pic>
        <p:nvPicPr>
          <p:cNvPr id="18" name="Image 2" descr="preencoded.png">    </p:cNvPr>
          <p:cNvPicPr>
            <a:picLocks noChangeAspect="1"/>
          </p:cNvPicPr>
          <p:nvPr/>
        </p:nvPicPr>
        <p:blipFill>
          <a:blip r:embed="rId3"/>
          <a:stretch>
            <a:fillRect/>
          </a:stretch>
        </p:blipFill>
        <p:spPr>
          <a:xfrm>
            <a:off x="4189781" y="1737360"/>
            <a:ext cx="219456" cy="219456"/>
          </a:xfrm>
          <a:prstGeom prst="rect">
            <a:avLst/>
          </a:prstGeom>
        </p:spPr>
      </p:pic>
      <p:sp>
        <p:nvSpPr>
          <p:cNvPr id="19" name="Text 14"/>
          <p:cNvSpPr txBox="1"/>
          <p:nvPr/>
        </p:nvSpPr>
        <p:spPr>
          <a:xfrm>
            <a:off x="4070909" y="2194560"/>
            <a:ext cx="1047902" cy="411480"/>
          </a:xfrm>
          <a:prstGeom prst="rect">
            <a:avLst/>
          </a:prstGeom>
          <a:noFill/>
          <a:ln/>
        </p:spPr>
        <p:txBody>
          <a:bodyPr wrap="square" lIns="0" tIns="0" rIns="0" bIns="0" rtlCol="0" anchor="t"/>
          <a:lstStyle/>
          <a:p>
            <a:pPr indent="0" marL="0">
              <a:buNone/>
            </a:pPr>
            <a:r>
              <a:rPr lang="en-US" sz="1300" b="1" dirty="0">
                <a:solidFill>
                  <a:srgbClr val="FFFFFF"/>
                </a:solidFill>
                <a:latin typeface="Calibri" pitchFamily="34" charset="0"/>
                <a:ea typeface="Calibri" pitchFamily="34" charset="-122"/>
                <a:cs typeface="Calibri" pitchFamily="34" charset="-120"/>
              </a:rPr>
              <a:t>Invoke</a:t>
            </a:r>
            <a:endParaRPr lang="en-US" sz="1300" dirty="0"/>
          </a:p>
        </p:txBody>
      </p:sp>
      <p:sp>
        <p:nvSpPr>
          <p:cNvPr id="20" name="Text 15"/>
          <p:cNvSpPr txBox="1"/>
          <p:nvPr/>
        </p:nvSpPr>
        <p:spPr>
          <a:xfrm>
            <a:off x="4070909" y="2606040"/>
            <a:ext cx="1047902" cy="905256"/>
          </a:xfrm>
          <a:prstGeom prst="rect">
            <a:avLst/>
          </a:prstGeom>
          <a:noFill/>
          <a:ln/>
        </p:spPr>
        <p:txBody>
          <a:bodyPr wrap="square" lIns="0" tIns="0" rIns="0" bIns="0" rtlCol="0" anchor="t"/>
          <a:lstStyle/>
          <a:p>
            <a:pPr indent="0" marL="0">
              <a:buNone/>
            </a:pPr>
            <a:r>
              <a:rPr lang="en-US" sz="1200" dirty="0">
                <a:solidFill>
                  <a:srgbClr val="FFFFFF"/>
                </a:solidFill>
                <a:latin typeface="Calibri" pitchFamily="34" charset="0"/>
                <a:ea typeface="Calibri" pitchFamily="34" charset="-122"/>
                <a:cs typeface="Calibri" pitchFamily="34" charset="-120"/>
              </a:rPr>
              <a:t>travelAgent.</a:t>
            </a:r>
            <a:endParaRPr lang="en-US" sz="1200" dirty="0"/>
          </a:p>
          <a:p>
            <a:pPr indent="0" marL="0">
              <a:buNone/>
            </a:pPr>
            <a:r>
              <a:rPr lang="en-US" sz="1200" dirty="0">
                <a:solidFill>
                  <a:srgbClr val="FFFFFF"/>
                </a:solidFill>
                <a:latin typeface="Calibri" pitchFamily="34" charset="0"/>
                <a:ea typeface="Calibri" pitchFamily="34" charset="-122"/>
                <a:cs typeface="Calibri" pitchFamily="34" charset="-120"/>
              </a:rPr>
              <a:t>InvokeAsync</a:t>
            </a:r>
            <a:endParaRPr lang="en-US" sz="1200" dirty="0"/>
          </a:p>
          <a:p>
            <a:pPr indent="0" marL="0">
              <a:buNone/>
            </a:pPr>
            <a:r>
              <a:rPr lang="en-US" sz="1200" dirty="0">
                <a:solidFill>
                  <a:srgbClr val="FFFFFF"/>
                </a:solidFill>
                <a:latin typeface="Calibri" pitchFamily="34" charset="0"/>
                <a:ea typeface="Calibri" pitchFamily="34" charset="-122"/>
                <a:cs typeface="Calibri" pitchFamily="34" charset="-120"/>
              </a:rPr>
              <a:t>(chatHistory)</a:t>
            </a:r>
            <a:endParaRPr lang="en-US" sz="1200" dirty="0"/>
          </a:p>
        </p:txBody>
      </p:sp>
      <p:sp>
        <p:nvSpPr>
          <p:cNvPr id="21" name="Shape 16"/>
          <p:cNvSpPr/>
          <p:nvPr/>
        </p:nvSpPr>
        <p:spPr>
          <a:xfrm>
            <a:off x="5319979" y="2400300"/>
            <a:ext cx="219456" cy="219456"/>
          </a:xfrm>
          <a:prstGeom prst="rightArrow">
            <a:avLst/>
          </a:prstGeom>
          <a:solidFill>
            <a:srgbClr val="F5A623"/>
          </a:solidFill>
          <a:ln w="12700">
            <a:solidFill>
              <a:srgbClr val="F5A623"/>
            </a:solidFill>
            <a:prstDash val="solid"/>
          </a:ln>
        </p:spPr>
      </p:sp>
      <p:sp>
        <p:nvSpPr>
          <p:cNvPr id="22" name="Shape 17"/>
          <p:cNvSpPr/>
          <p:nvPr/>
        </p:nvSpPr>
        <p:spPr>
          <a:xfrm>
            <a:off x="5603443" y="1417320"/>
            <a:ext cx="1367942" cy="2185416"/>
          </a:xfrm>
          <a:prstGeom prst="roundRect">
            <a:avLst>
              <a:gd name="adj" fmla="val 5348"/>
            </a:avLst>
          </a:prstGeom>
          <a:solidFill>
            <a:srgbClr val="EFEBFC"/>
          </a:solidFill>
          <a:ln w="12700">
            <a:solidFill>
              <a:srgbClr val="EFEBFC"/>
            </a:solidFill>
            <a:prstDash val="solid"/>
          </a:ln>
        </p:spPr>
      </p:sp>
      <p:sp>
        <p:nvSpPr>
          <p:cNvPr id="23" name="Shape 18"/>
          <p:cNvSpPr/>
          <p:nvPr/>
        </p:nvSpPr>
        <p:spPr>
          <a:xfrm>
            <a:off x="5786323" y="1618488"/>
            <a:ext cx="457200" cy="457200"/>
          </a:xfrm>
          <a:prstGeom prst="ellipse">
            <a:avLst/>
          </a:prstGeom>
          <a:solidFill>
            <a:srgbClr val="512BD4"/>
          </a:solidFill>
          <a:ln w="12700">
            <a:solidFill>
              <a:srgbClr val="512BD4"/>
            </a:solidFill>
            <a:prstDash val="solid"/>
          </a:ln>
        </p:spPr>
      </p:sp>
      <p:pic>
        <p:nvPicPr>
          <p:cNvPr id="24" name="Image 3" descr="preencoded.png">    </p:cNvPr>
          <p:cNvPicPr>
            <a:picLocks noChangeAspect="1"/>
          </p:cNvPicPr>
          <p:nvPr/>
        </p:nvPicPr>
        <p:blipFill>
          <a:blip r:embed="rId4"/>
          <a:stretch>
            <a:fillRect/>
          </a:stretch>
        </p:blipFill>
        <p:spPr>
          <a:xfrm>
            <a:off x="5905195" y="1737360"/>
            <a:ext cx="219456" cy="219456"/>
          </a:xfrm>
          <a:prstGeom prst="rect">
            <a:avLst/>
          </a:prstGeom>
        </p:spPr>
      </p:pic>
      <p:sp>
        <p:nvSpPr>
          <p:cNvPr id="25" name="Text 19"/>
          <p:cNvSpPr txBox="1"/>
          <p:nvPr/>
        </p:nvSpPr>
        <p:spPr>
          <a:xfrm>
            <a:off x="5786323" y="2194560"/>
            <a:ext cx="1047902" cy="411480"/>
          </a:xfrm>
          <a:prstGeom prst="rect">
            <a:avLst/>
          </a:prstGeom>
          <a:noFill/>
          <a:ln/>
        </p:spPr>
        <p:txBody>
          <a:bodyPr wrap="square" lIns="0" tIns="0" rIns="0" bIns="0" rtlCol="0" anchor="t"/>
          <a:lstStyle/>
          <a:p>
            <a:pPr indent="0" marL="0">
              <a:buNone/>
            </a:pPr>
            <a:r>
              <a:rPr lang="en-US" sz="1300" b="1" dirty="0">
                <a:solidFill>
                  <a:srgbClr val="1F2937"/>
                </a:solidFill>
                <a:latin typeface="Calibri" pitchFamily="34" charset="0"/>
                <a:ea typeface="Calibri" pitchFamily="34" charset="-122"/>
                <a:cs typeface="Calibri" pitchFamily="34" charset="-120"/>
              </a:rPr>
              <a:t>Print</a:t>
            </a:r>
            <a:endParaRPr lang="en-US" sz="1300" dirty="0"/>
          </a:p>
        </p:txBody>
      </p:sp>
      <p:sp>
        <p:nvSpPr>
          <p:cNvPr id="26" name="Text 20"/>
          <p:cNvSpPr txBox="1"/>
          <p:nvPr/>
        </p:nvSpPr>
        <p:spPr>
          <a:xfrm>
            <a:off x="5786323" y="2606040"/>
            <a:ext cx="1047902" cy="905256"/>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AuthorName and Content.</a:t>
            </a:r>
            <a:endParaRPr lang="en-US" sz="1200" dirty="0"/>
          </a:p>
        </p:txBody>
      </p:sp>
      <p:sp>
        <p:nvSpPr>
          <p:cNvPr id="27" name="Shape 21"/>
          <p:cNvSpPr/>
          <p:nvPr/>
        </p:nvSpPr>
        <p:spPr>
          <a:xfrm>
            <a:off x="7035394" y="2400300"/>
            <a:ext cx="219456" cy="219456"/>
          </a:xfrm>
          <a:prstGeom prst="rightArrow">
            <a:avLst/>
          </a:prstGeom>
          <a:solidFill>
            <a:srgbClr val="F5A623"/>
          </a:solidFill>
          <a:ln w="12700">
            <a:solidFill>
              <a:srgbClr val="F5A623"/>
            </a:solidFill>
            <a:prstDash val="solid"/>
          </a:ln>
        </p:spPr>
      </p:sp>
      <p:sp>
        <p:nvSpPr>
          <p:cNvPr id="28" name="Shape 22"/>
          <p:cNvSpPr/>
          <p:nvPr/>
        </p:nvSpPr>
        <p:spPr>
          <a:xfrm>
            <a:off x="7318858" y="1417320"/>
            <a:ext cx="1367942" cy="2185416"/>
          </a:xfrm>
          <a:prstGeom prst="roundRect">
            <a:avLst>
              <a:gd name="adj" fmla="val 5348"/>
            </a:avLst>
          </a:prstGeom>
          <a:solidFill>
            <a:srgbClr val="EFEBFC"/>
          </a:solidFill>
          <a:ln w="12700">
            <a:solidFill>
              <a:srgbClr val="EFEBFC"/>
            </a:solidFill>
            <a:prstDash val="solid"/>
          </a:ln>
        </p:spPr>
      </p:sp>
      <p:sp>
        <p:nvSpPr>
          <p:cNvPr id="29" name="Shape 23"/>
          <p:cNvSpPr/>
          <p:nvPr/>
        </p:nvSpPr>
        <p:spPr>
          <a:xfrm>
            <a:off x="7501738" y="1618488"/>
            <a:ext cx="457200" cy="457200"/>
          </a:xfrm>
          <a:prstGeom prst="ellipse">
            <a:avLst/>
          </a:prstGeom>
          <a:solidFill>
            <a:srgbClr val="512BD4"/>
          </a:solidFill>
          <a:ln w="12700">
            <a:solidFill>
              <a:srgbClr val="512BD4"/>
            </a:solidFill>
            <a:prstDash val="solid"/>
          </a:ln>
        </p:spPr>
      </p:sp>
      <p:pic>
        <p:nvPicPr>
          <p:cNvPr id="30" name="Image 4" descr="preencoded.png">    </p:cNvPr>
          <p:cNvPicPr>
            <a:picLocks noChangeAspect="1"/>
          </p:cNvPicPr>
          <p:nvPr/>
        </p:nvPicPr>
        <p:blipFill>
          <a:blip r:embed="rId5"/>
          <a:stretch>
            <a:fillRect/>
          </a:stretch>
        </p:blipFill>
        <p:spPr>
          <a:xfrm>
            <a:off x="7620610" y="1737360"/>
            <a:ext cx="219456" cy="219456"/>
          </a:xfrm>
          <a:prstGeom prst="rect">
            <a:avLst/>
          </a:prstGeom>
        </p:spPr>
      </p:pic>
      <p:sp>
        <p:nvSpPr>
          <p:cNvPr id="31" name="Text 24"/>
          <p:cNvSpPr txBox="1"/>
          <p:nvPr/>
        </p:nvSpPr>
        <p:spPr>
          <a:xfrm>
            <a:off x="7501738" y="2194560"/>
            <a:ext cx="1047902" cy="411480"/>
          </a:xfrm>
          <a:prstGeom prst="rect">
            <a:avLst/>
          </a:prstGeom>
          <a:noFill/>
          <a:ln/>
        </p:spPr>
        <p:txBody>
          <a:bodyPr wrap="square" lIns="0" tIns="0" rIns="0" bIns="0" rtlCol="0" anchor="t"/>
          <a:lstStyle/>
          <a:p>
            <a:pPr indent="0" marL="0">
              <a:buNone/>
            </a:pPr>
            <a:r>
              <a:rPr lang="en-US" sz="1300" b="1" dirty="0">
                <a:solidFill>
                  <a:srgbClr val="1F2937"/>
                </a:solidFill>
                <a:latin typeface="Calibri" pitchFamily="34" charset="0"/>
                <a:ea typeface="Calibri" pitchFamily="34" charset="-122"/>
                <a:cs typeface="Calibri" pitchFamily="34" charset="-120"/>
              </a:rPr>
              <a:t>Append</a:t>
            </a:r>
            <a:endParaRPr lang="en-US" sz="1300" dirty="0"/>
          </a:p>
        </p:txBody>
      </p:sp>
      <p:sp>
        <p:nvSpPr>
          <p:cNvPr id="32" name="Text 25"/>
          <p:cNvSpPr txBox="1"/>
          <p:nvPr/>
        </p:nvSpPr>
        <p:spPr>
          <a:xfrm>
            <a:off x="7501738" y="2606040"/>
            <a:ext cx="1047902" cy="905256"/>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chatHistory.Add</a:t>
            </a:r>
            <a:endParaRPr lang="en-US" sz="1200" dirty="0"/>
          </a:p>
          <a:p>
            <a:pPr indent="0" marL="0">
              <a:buNone/>
            </a:pPr>
            <a:r>
              <a:rPr lang="en-US" sz="1200" dirty="0">
                <a:solidFill>
                  <a:srgbClr val="6B7280"/>
                </a:solidFill>
                <a:latin typeface="Calibri" pitchFamily="34" charset="0"/>
                <a:ea typeface="Calibri" pitchFamily="34" charset="-122"/>
                <a:cs typeface="Calibri" pitchFamily="34" charset="-120"/>
              </a:rPr>
              <a:t>(message) keeps context.</a:t>
            </a:r>
            <a:endParaRPr lang="en-US" sz="1200" dirty="0"/>
          </a:p>
        </p:txBody>
      </p:sp>
      <p:sp>
        <p:nvSpPr>
          <p:cNvPr id="33" name="Text 26"/>
          <p:cNvSpPr txBox="1"/>
          <p:nvPr/>
        </p:nvSpPr>
        <p:spPr>
          <a:xfrm>
            <a:off x="457200" y="3922776"/>
            <a:ext cx="8229600" cy="365760"/>
          </a:xfrm>
          <a:prstGeom prst="rect">
            <a:avLst/>
          </a:prstGeom>
          <a:noFill/>
          <a:ln/>
        </p:spPr>
        <p:txBody>
          <a:bodyPr wrap="square" lIns="0" tIns="0" rIns="0" bIns="0" rtlCol="0" anchor="t"/>
          <a:lstStyle/>
          <a:p>
            <a:pPr indent="0" marL="0">
              <a:buNone/>
            </a:pPr>
            <a:r>
              <a:rPr lang="en-US" sz="1400" i="1" dirty="0">
                <a:solidFill>
                  <a:srgbClr val="512BD4"/>
                </a:solidFill>
                <a:latin typeface="Calibri" pitchFamily="34" charset="0"/>
                <a:ea typeface="Calibri" pitchFamily="34" charset="-122"/>
                <a:cs typeface="Calibri" pitchFamily="34" charset="-120"/>
              </a:rPr>
              <a:t>The agent reads the history but never writes to it; your loop does.</a:t>
            </a:r>
            <a:endParaRPr lang="en-US" sz="1400" dirty="0"/>
          </a:p>
        </p:txBody>
      </p:sp>
      <p:sp>
        <p:nvSpPr>
          <p:cNvPr id="34" name="Text 27"/>
          <p:cNvSpPr txBox="1"/>
          <p:nvPr/>
        </p:nvSpPr>
        <p:spPr>
          <a:xfrm>
            <a:off x="457200" y="4796028"/>
            <a:ext cx="6400800" cy="201168"/>
          </a:xfrm>
          <a:prstGeom prst="rect">
            <a:avLst/>
          </a:prstGeom>
          <a:noFill/>
          <a:ln/>
        </p:spPr>
        <p:txBody>
          <a:bodyPr wrap="square" lIns="0" tIns="0" rIns="0" bIns="0" rtlCol="0" anchor="t"/>
          <a:lstStyle/>
          <a:p>
            <a:pPr indent="0" marL="0">
              <a:buNone/>
            </a:pPr>
            <a:r>
              <a:rPr lang="en-US" sz="900" dirty="0">
                <a:solidFill>
                  <a:srgbClr val="9CA3AF"/>
                </a:solidFill>
                <a:latin typeface="Calibri" pitchFamily="34" charset="0"/>
                <a:ea typeface="Calibri" pitchFamily="34" charset="-122"/>
                <a:cs typeface="Calibri" pitchFamily="34" charset="-120"/>
              </a:rPr>
              <a:t>Applied Agentic Orchestration with Semantic Kernel  ·  Lesson 17 — Agent Framework</a:t>
            </a:r>
            <a:endParaRPr lang="en-US" sz="900" dirty="0"/>
          </a:p>
        </p:txBody>
      </p:sp>
      <p:sp>
        <p:nvSpPr>
          <p:cNvPr id="35" name="Text 28"/>
          <p:cNvSpPr txBox="1"/>
          <p:nvPr/>
        </p:nvSpPr>
        <p:spPr>
          <a:xfrm>
            <a:off x="8138160" y="4796028"/>
            <a:ext cx="548640" cy="201168"/>
          </a:xfrm>
          <a:prstGeom prst="rect">
            <a:avLst/>
          </a:prstGeom>
          <a:noFill/>
          <a:ln/>
        </p:spPr>
        <p:txBody>
          <a:bodyPr wrap="square" lIns="0" tIns="0" rIns="0" bIns="0" rtlCol="0" anchor="t"/>
          <a:lstStyle/>
          <a:p>
            <a:pPr algn="r" indent="0" marL="0">
              <a:buNone/>
            </a:pPr>
            <a:r>
              <a:rPr lang="en-US" sz="900" dirty="0">
                <a:solidFill>
                  <a:srgbClr val="9CA3AF"/>
                </a:solidFill>
                <a:latin typeface="Calibri" pitchFamily="34" charset="0"/>
                <a:ea typeface="Calibri" pitchFamily="34" charset="-122"/>
                <a:cs typeface="Calibri" pitchFamily="34" charset="-120"/>
              </a:rPr>
              <a:t>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47472"/>
            <a:ext cx="8229600" cy="228600"/>
          </a:xfrm>
          <a:prstGeom prst="rect">
            <a:avLst/>
          </a:prstGeom>
          <a:noFill/>
          <a:ln/>
        </p:spPr>
        <p:txBody>
          <a:bodyPr wrap="square" lIns="0" tIns="0" rIns="0" bIns="0" rtlCol="0" anchor="t"/>
          <a:lstStyle/>
          <a:p>
            <a:pPr indent="0" marL="0">
              <a:buNone/>
            </a:pPr>
            <a:r>
              <a:rPr lang="en-US" sz="1100" b="1" spc="200" kern="0" dirty="0">
                <a:solidFill>
                  <a:srgbClr val="512BD4"/>
                </a:solidFill>
                <a:latin typeface="Calibri" pitchFamily="34" charset="0"/>
                <a:ea typeface="Calibri" pitchFamily="34" charset="-122"/>
                <a:cs typeface="Calibri" pitchFamily="34" charset="-120"/>
              </a:rPr>
              <a:t>RESPONSIBILITIES</a:t>
            </a:r>
            <a:endParaRPr lang="en-US" sz="1100" dirty="0"/>
          </a:p>
        </p:txBody>
      </p:sp>
      <p:sp>
        <p:nvSpPr>
          <p:cNvPr id="3" name="Text 1"/>
          <p:cNvSpPr txBox="1"/>
          <p:nvPr/>
        </p:nvSpPr>
        <p:spPr>
          <a:xfrm>
            <a:off x="457200" y="566928"/>
            <a:ext cx="8229600" cy="548640"/>
          </a:xfrm>
          <a:prstGeom prst="rect">
            <a:avLst/>
          </a:prstGeom>
          <a:noFill/>
          <a:ln/>
        </p:spPr>
        <p:txBody>
          <a:bodyPr wrap="square" lIns="0" tIns="0" rIns="0" bIns="0" rtlCol="0" anchor="ctr"/>
          <a:lstStyle/>
          <a:p>
            <a:pPr indent="0" marL="0">
              <a:buNone/>
            </a:pPr>
            <a:r>
              <a:rPr lang="en-US" sz="2450" b="1" dirty="0">
                <a:solidFill>
                  <a:srgbClr val="1F2937"/>
                </a:solidFill>
                <a:latin typeface="Cambria" pitchFamily="34" charset="0"/>
                <a:ea typeface="Cambria" pitchFamily="34" charset="-122"/>
                <a:cs typeface="Cambria" pitchFamily="34" charset="-120"/>
              </a:rPr>
              <a:t>What the agent owns, and what your code still owns</a:t>
            </a:r>
            <a:endParaRPr lang="en-US" sz="2450" dirty="0"/>
          </a:p>
        </p:txBody>
      </p:sp>
      <p:sp>
        <p:nvSpPr>
          <p:cNvPr id="4" name="Shape 2"/>
          <p:cNvSpPr/>
          <p:nvPr/>
        </p:nvSpPr>
        <p:spPr>
          <a:xfrm>
            <a:off x="457200" y="1371600"/>
            <a:ext cx="3931920" cy="1783080"/>
          </a:xfrm>
          <a:prstGeom prst="roundRect">
            <a:avLst>
              <a:gd name="adj" fmla="val 4103"/>
            </a:avLst>
          </a:prstGeom>
          <a:solidFill>
            <a:srgbClr val="EFEBFC"/>
          </a:solidFill>
          <a:ln w="12700">
            <a:solidFill>
              <a:srgbClr val="EFEBFC"/>
            </a:solidFill>
            <a:prstDash val="solid"/>
          </a:ln>
        </p:spPr>
      </p:sp>
      <p:sp>
        <p:nvSpPr>
          <p:cNvPr id="5" name="Shape 3"/>
          <p:cNvSpPr/>
          <p:nvPr/>
        </p:nvSpPr>
        <p:spPr>
          <a:xfrm>
            <a:off x="685800" y="1600200"/>
            <a:ext cx="438912" cy="438912"/>
          </a:xfrm>
          <a:prstGeom prst="ellipse">
            <a:avLst/>
          </a:prstGeom>
          <a:solidFill>
            <a:srgbClr val="512BD4"/>
          </a:solidFill>
          <a:ln w="12700">
            <a:solidFill>
              <a:srgbClr val="512BD4"/>
            </a:solidFill>
            <a:prstDash val="solid"/>
          </a:ln>
        </p:spPr>
      </p:sp>
      <p:pic>
        <p:nvPicPr>
          <p:cNvPr id="6" name="Image 0" descr="preencoded.png">    </p:cNvPr>
          <p:cNvPicPr>
            <a:picLocks noChangeAspect="1"/>
          </p:cNvPicPr>
          <p:nvPr/>
        </p:nvPicPr>
        <p:blipFill>
          <a:blip r:embed="rId1"/>
          <a:stretch>
            <a:fillRect/>
          </a:stretch>
        </p:blipFill>
        <p:spPr>
          <a:xfrm>
            <a:off x="799917" y="1714317"/>
            <a:ext cx="210678" cy="210678"/>
          </a:xfrm>
          <a:prstGeom prst="rect">
            <a:avLst/>
          </a:prstGeom>
        </p:spPr>
      </p:pic>
      <p:sp>
        <p:nvSpPr>
          <p:cNvPr id="7" name="Text 4"/>
          <p:cNvSpPr txBox="1"/>
          <p:nvPr/>
        </p:nvSpPr>
        <p:spPr>
          <a:xfrm>
            <a:off x="1261872" y="1600200"/>
            <a:ext cx="2926080" cy="438912"/>
          </a:xfrm>
          <a:prstGeom prst="rect">
            <a:avLst/>
          </a:prstGeom>
          <a:noFill/>
          <a:ln/>
        </p:spPr>
        <p:txBody>
          <a:bodyPr wrap="square" lIns="0" tIns="0" rIns="0" bIns="0" rtlCol="0" anchor="ctr"/>
          <a:lstStyle/>
          <a:p>
            <a:pPr indent="0" marL="0">
              <a:buNone/>
            </a:pPr>
            <a:r>
              <a:rPr lang="en-US" sz="1700" b="1" dirty="0">
                <a:solidFill>
                  <a:srgbClr val="1F2937"/>
                </a:solidFill>
                <a:latin typeface="Calibri" pitchFamily="34" charset="0"/>
                <a:ea typeface="Calibri" pitchFamily="34" charset="-122"/>
                <a:cs typeface="Calibri" pitchFamily="34" charset="-120"/>
              </a:rPr>
              <a:t>The agent owns</a:t>
            </a:r>
            <a:endParaRPr lang="en-US" sz="1700" dirty="0"/>
          </a:p>
        </p:txBody>
      </p:sp>
      <p:sp>
        <p:nvSpPr>
          <p:cNvPr id="8" name="Text 5"/>
          <p:cNvSpPr txBox="1"/>
          <p:nvPr/>
        </p:nvSpPr>
        <p:spPr>
          <a:xfrm>
            <a:off x="685800" y="2194560"/>
            <a:ext cx="3474720" cy="914400"/>
          </a:xfrm>
          <a:prstGeom prst="rect">
            <a:avLst/>
          </a:prstGeom>
          <a:noFill/>
          <a:ln/>
        </p:spPr>
        <p:txBody>
          <a:bodyPr wrap="square" lIns="0" tIns="0" rIns="0" bIns="0" rtlCol="0" anchor="t"/>
          <a:lstStyle/>
          <a:p>
            <a:pPr marL="177800" indent="-177800">
              <a:spcAft>
                <a:spcPts val="400"/>
              </a:spcAft>
              <a:buSzPct val="100000"/>
              <a:buChar char="•"/>
            </a:pPr>
            <a:r>
              <a:rPr lang="en-US" sz="1300" dirty="0">
                <a:solidFill>
                  <a:srgbClr val="1F2937"/>
                </a:solidFill>
                <a:latin typeface="Calibri" pitchFamily="34" charset="0"/>
                <a:ea typeface="Calibri" pitchFamily="34" charset="-122"/>
                <a:cs typeface="Calibri" pitchFamily="34" charset="-120"/>
              </a:rPr>
              <a:t>Persona, through Instructions</a:t>
            </a:r>
            <a:endParaRPr lang="en-US" sz="1300" dirty="0"/>
          </a:p>
          <a:p>
            <a:pPr marL="177800" indent="-177800">
              <a:spcAft>
                <a:spcPts val="400"/>
              </a:spcAft>
              <a:buSzPct val="100000"/>
              <a:buChar char="•"/>
            </a:pPr>
            <a:r>
              <a:rPr lang="en-US" sz="1300" dirty="0">
                <a:solidFill>
                  <a:srgbClr val="1F2937"/>
                </a:solidFill>
                <a:latin typeface="Calibri" pitchFamily="34" charset="0"/>
                <a:ea typeface="Calibri" pitchFamily="34" charset="-122"/>
                <a:cs typeface="Calibri" pitchFamily="34" charset="-120"/>
              </a:rPr>
              <a:t>The model, through its Kernel</a:t>
            </a:r>
            <a:endParaRPr lang="en-US" sz="1300" dirty="0"/>
          </a:p>
          <a:p>
            <a:pPr marL="177800" indent="-177800">
              <a:spcAft>
                <a:spcPts val="400"/>
              </a:spcAft>
              <a:buSzPct val="100000"/>
              <a:buChar char="•"/>
            </a:pPr>
            <a:r>
              <a:rPr lang="en-US" sz="1300" dirty="0">
                <a:solidFill>
                  <a:srgbClr val="1F2937"/>
                </a:solidFill>
                <a:latin typeface="Calibri" pitchFamily="34" charset="0"/>
                <a:ea typeface="Calibri" pitchFamily="34" charset="-122"/>
                <a:cs typeface="Calibri" pitchFamily="34" charset="-120"/>
              </a:rPr>
              <a:t>Default execution settings</a:t>
            </a:r>
            <a:endParaRPr lang="en-US" sz="1300" dirty="0"/>
          </a:p>
        </p:txBody>
      </p:sp>
      <p:sp>
        <p:nvSpPr>
          <p:cNvPr id="9" name="Shape 6"/>
          <p:cNvSpPr/>
          <p:nvPr/>
        </p:nvSpPr>
        <p:spPr>
          <a:xfrm>
            <a:off x="4754880" y="1371600"/>
            <a:ext cx="3931920" cy="1783080"/>
          </a:xfrm>
          <a:prstGeom prst="roundRect">
            <a:avLst>
              <a:gd name="adj" fmla="val 4103"/>
            </a:avLst>
          </a:prstGeom>
          <a:solidFill>
            <a:srgbClr val="F6F4FE"/>
          </a:solidFill>
          <a:ln w="12700">
            <a:solidFill>
              <a:srgbClr val="F6F4FE"/>
            </a:solidFill>
            <a:prstDash val="solid"/>
          </a:ln>
        </p:spPr>
      </p:sp>
      <p:sp>
        <p:nvSpPr>
          <p:cNvPr id="10" name="Shape 7"/>
          <p:cNvSpPr/>
          <p:nvPr/>
        </p:nvSpPr>
        <p:spPr>
          <a:xfrm>
            <a:off x="4983480" y="1600200"/>
            <a:ext cx="438912" cy="438912"/>
          </a:xfrm>
          <a:prstGeom prst="ellipse">
            <a:avLst/>
          </a:prstGeom>
          <a:solidFill>
            <a:srgbClr val="6B7280"/>
          </a:solidFill>
          <a:ln w="12700">
            <a:solidFill>
              <a:srgbClr val="6B7280"/>
            </a:solidFill>
            <a:prstDash val="solid"/>
          </a:ln>
        </p:spPr>
      </p:sp>
      <p:pic>
        <p:nvPicPr>
          <p:cNvPr id="11" name="Image 1" descr="preencoded.png">    </p:cNvPr>
          <p:cNvPicPr>
            <a:picLocks noChangeAspect="1"/>
          </p:cNvPicPr>
          <p:nvPr/>
        </p:nvPicPr>
        <p:blipFill>
          <a:blip r:embed="rId2"/>
          <a:stretch>
            <a:fillRect/>
          </a:stretch>
        </p:blipFill>
        <p:spPr>
          <a:xfrm>
            <a:off x="5097597" y="1714317"/>
            <a:ext cx="210678" cy="210678"/>
          </a:xfrm>
          <a:prstGeom prst="rect">
            <a:avLst/>
          </a:prstGeom>
        </p:spPr>
      </p:pic>
      <p:sp>
        <p:nvSpPr>
          <p:cNvPr id="12" name="Text 8"/>
          <p:cNvSpPr txBox="1"/>
          <p:nvPr/>
        </p:nvSpPr>
        <p:spPr>
          <a:xfrm>
            <a:off x="5559552" y="1600200"/>
            <a:ext cx="2926080" cy="438912"/>
          </a:xfrm>
          <a:prstGeom prst="rect">
            <a:avLst/>
          </a:prstGeom>
          <a:noFill/>
          <a:ln/>
        </p:spPr>
        <p:txBody>
          <a:bodyPr wrap="square" lIns="0" tIns="0" rIns="0" bIns="0" rtlCol="0" anchor="ctr"/>
          <a:lstStyle/>
          <a:p>
            <a:pPr indent="0" marL="0">
              <a:buNone/>
            </a:pPr>
            <a:r>
              <a:rPr lang="en-US" sz="1700" b="1" dirty="0">
                <a:solidFill>
                  <a:srgbClr val="1F2937"/>
                </a:solidFill>
                <a:latin typeface="Calibri" pitchFamily="34" charset="0"/>
                <a:ea typeface="Calibri" pitchFamily="34" charset="-122"/>
                <a:cs typeface="Calibri" pitchFamily="34" charset="-120"/>
              </a:rPr>
              <a:t>Your code owns</a:t>
            </a:r>
            <a:endParaRPr lang="en-US" sz="1700" dirty="0"/>
          </a:p>
        </p:txBody>
      </p:sp>
      <p:sp>
        <p:nvSpPr>
          <p:cNvPr id="13" name="Text 9"/>
          <p:cNvSpPr txBox="1"/>
          <p:nvPr/>
        </p:nvSpPr>
        <p:spPr>
          <a:xfrm>
            <a:off x="4983480" y="2194560"/>
            <a:ext cx="3474720" cy="914400"/>
          </a:xfrm>
          <a:prstGeom prst="rect">
            <a:avLst/>
          </a:prstGeom>
          <a:noFill/>
          <a:ln/>
        </p:spPr>
        <p:txBody>
          <a:bodyPr wrap="square" lIns="0" tIns="0" rIns="0" bIns="0" rtlCol="0" anchor="t"/>
          <a:lstStyle/>
          <a:p>
            <a:pPr marL="177800" indent="-177800">
              <a:spcAft>
                <a:spcPts val="400"/>
              </a:spcAft>
              <a:buSzPct val="100000"/>
              <a:buChar char="•"/>
            </a:pPr>
            <a:r>
              <a:rPr lang="en-US" sz="1300" dirty="0">
                <a:solidFill>
                  <a:srgbClr val="1F2937"/>
                </a:solidFill>
                <a:latin typeface="Calibri" pitchFamily="34" charset="0"/>
                <a:ea typeface="Calibri" pitchFamily="34" charset="-122"/>
                <a:cs typeface="Calibri" pitchFamily="34" charset="-120"/>
              </a:rPr>
              <a:t>The ChatHistory and what goes in it</a:t>
            </a:r>
            <a:endParaRPr lang="en-US" sz="1300" dirty="0"/>
          </a:p>
          <a:p>
            <a:pPr marL="177800" indent="-177800">
              <a:spcAft>
                <a:spcPts val="400"/>
              </a:spcAft>
              <a:buSzPct val="100000"/>
              <a:buChar char="•"/>
            </a:pPr>
            <a:r>
              <a:rPr lang="en-US" sz="1300" dirty="0">
                <a:solidFill>
                  <a:srgbClr val="1F2937"/>
                </a:solidFill>
                <a:latin typeface="Calibri" pitchFamily="34" charset="0"/>
                <a:ea typeface="Calibri" pitchFamily="34" charset="-122"/>
                <a:cs typeface="Calibri" pitchFamily="34" charset="-120"/>
              </a:rPr>
              <a:t>The input loop and when it ends</a:t>
            </a:r>
            <a:endParaRPr lang="en-US" sz="1300" dirty="0"/>
          </a:p>
          <a:p>
            <a:pPr marL="177800" indent="-177800">
              <a:spcAft>
                <a:spcPts val="400"/>
              </a:spcAft>
              <a:buSzPct val="100000"/>
              <a:buChar char="•"/>
            </a:pPr>
            <a:r>
              <a:rPr lang="en-US" sz="1300" dirty="0">
                <a:solidFill>
                  <a:srgbClr val="1F2937"/>
                </a:solidFill>
                <a:latin typeface="Calibri" pitchFamily="34" charset="0"/>
                <a:ea typeface="Calibri" pitchFamily="34" charset="-122"/>
                <a:cs typeface="Calibri" pitchFamily="34" charset="-120"/>
              </a:rPr>
              <a:t>Error handling around each turn</a:t>
            </a:r>
            <a:endParaRPr lang="en-US" sz="1300" dirty="0"/>
          </a:p>
        </p:txBody>
      </p:sp>
      <p:sp>
        <p:nvSpPr>
          <p:cNvPr id="14" name="Text 10"/>
          <p:cNvSpPr txBox="1"/>
          <p:nvPr/>
        </p:nvSpPr>
        <p:spPr>
          <a:xfrm>
            <a:off x="457200" y="3429000"/>
            <a:ext cx="8229600" cy="365760"/>
          </a:xfrm>
          <a:prstGeom prst="rect">
            <a:avLst/>
          </a:prstGeom>
          <a:noFill/>
          <a:ln/>
        </p:spPr>
        <p:txBody>
          <a:bodyPr wrap="square" lIns="0" tIns="0" rIns="0" bIns="0" rtlCol="0" anchor="t"/>
          <a:lstStyle/>
          <a:p>
            <a:pPr indent="0" marL="0">
              <a:buNone/>
            </a:pPr>
            <a:r>
              <a:rPr lang="en-US" sz="1400" i="1" dirty="0">
                <a:solidFill>
                  <a:srgbClr val="512BD4"/>
                </a:solidFill>
                <a:latin typeface="Calibri" pitchFamily="34" charset="0"/>
                <a:ea typeface="Calibri" pitchFamily="34" charset="-122"/>
                <a:cs typeface="Calibri" pitchFamily="34" charset="-120"/>
              </a:rPr>
              <a:t>Caller-owned history is what lets several agents share one conversation.</a:t>
            </a:r>
            <a:endParaRPr lang="en-US" sz="1400" dirty="0"/>
          </a:p>
        </p:txBody>
      </p:sp>
      <p:sp>
        <p:nvSpPr>
          <p:cNvPr id="15" name="Text 11"/>
          <p:cNvSpPr txBox="1"/>
          <p:nvPr/>
        </p:nvSpPr>
        <p:spPr>
          <a:xfrm>
            <a:off x="457200" y="4796028"/>
            <a:ext cx="6400800" cy="201168"/>
          </a:xfrm>
          <a:prstGeom prst="rect">
            <a:avLst/>
          </a:prstGeom>
          <a:noFill/>
          <a:ln/>
        </p:spPr>
        <p:txBody>
          <a:bodyPr wrap="square" lIns="0" tIns="0" rIns="0" bIns="0" rtlCol="0" anchor="t"/>
          <a:lstStyle/>
          <a:p>
            <a:pPr indent="0" marL="0">
              <a:buNone/>
            </a:pPr>
            <a:r>
              <a:rPr lang="en-US" sz="900" dirty="0">
                <a:solidFill>
                  <a:srgbClr val="9CA3AF"/>
                </a:solidFill>
                <a:latin typeface="Calibri" pitchFamily="34" charset="0"/>
                <a:ea typeface="Calibri" pitchFamily="34" charset="-122"/>
                <a:cs typeface="Calibri" pitchFamily="34" charset="-120"/>
              </a:rPr>
              <a:t>Applied Agentic Orchestration with Semantic Kernel  ·  Lesson 17 — Agent Framework</a:t>
            </a:r>
            <a:endParaRPr lang="en-US" sz="900" dirty="0"/>
          </a:p>
        </p:txBody>
      </p:sp>
      <p:sp>
        <p:nvSpPr>
          <p:cNvPr id="16" name="Text 12"/>
          <p:cNvSpPr txBox="1"/>
          <p:nvPr/>
        </p:nvSpPr>
        <p:spPr>
          <a:xfrm>
            <a:off x="8138160" y="4796028"/>
            <a:ext cx="548640" cy="201168"/>
          </a:xfrm>
          <a:prstGeom prst="rect">
            <a:avLst/>
          </a:prstGeom>
          <a:noFill/>
          <a:ln/>
        </p:spPr>
        <p:txBody>
          <a:bodyPr wrap="square" lIns="0" tIns="0" rIns="0" bIns="0" rtlCol="0" anchor="t"/>
          <a:lstStyle/>
          <a:p>
            <a:pPr algn="r" indent="0" marL="0">
              <a:buNone/>
            </a:pPr>
            <a:r>
              <a:rPr lang="en-US" sz="900" dirty="0">
                <a:solidFill>
                  <a:srgbClr val="9CA3AF"/>
                </a:solidFill>
                <a:latin typeface="Calibri" pitchFamily="34" charset="0"/>
                <a:ea typeface="Calibri" pitchFamily="34" charset="-122"/>
                <a:cs typeface="Calibri" pitchFamily="34" charset="-120"/>
              </a:rPr>
              <a:t>6</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47472"/>
            <a:ext cx="8229600" cy="228600"/>
          </a:xfrm>
          <a:prstGeom prst="rect">
            <a:avLst/>
          </a:prstGeom>
          <a:noFill/>
          <a:ln/>
        </p:spPr>
        <p:txBody>
          <a:bodyPr wrap="square" lIns="0" tIns="0" rIns="0" bIns="0" rtlCol="0" anchor="t"/>
          <a:lstStyle/>
          <a:p>
            <a:pPr indent="0" marL="0">
              <a:buNone/>
            </a:pPr>
            <a:r>
              <a:rPr lang="en-US" sz="1100" b="1" spc="200" kern="0" dirty="0">
                <a:solidFill>
                  <a:srgbClr val="512BD4"/>
                </a:solidFill>
                <a:latin typeface="Calibri" pitchFamily="34" charset="0"/>
                <a:ea typeface="Calibri" pitchFamily="34" charset="-122"/>
                <a:cs typeface="Calibri" pitchFamily="34" charset="-120"/>
              </a:rPr>
              <a:t>DETAILS</a:t>
            </a:r>
            <a:endParaRPr lang="en-US" sz="1100" dirty="0"/>
          </a:p>
        </p:txBody>
      </p:sp>
      <p:sp>
        <p:nvSpPr>
          <p:cNvPr id="3" name="Text 1"/>
          <p:cNvSpPr txBox="1"/>
          <p:nvPr/>
        </p:nvSpPr>
        <p:spPr>
          <a:xfrm>
            <a:off x="457200" y="566928"/>
            <a:ext cx="8229600" cy="548640"/>
          </a:xfrm>
          <a:prstGeom prst="rect">
            <a:avLst/>
          </a:prstGeom>
          <a:noFill/>
          <a:ln/>
        </p:spPr>
        <p:txBody>
          <a:bodyPr wrap="square" lIns="0" tIns="0" rIns="0" bIns="0" rtlCol="0" anchor="ctr"/>
          <a:lstStyle/>
          <a:p>
            <a:pPr indent="0" marL="0">
              <a:buNone/>
            </a:pPr>
            <a:r>
              <a:rPr lang="en-US" sz="2800" b="1" dirty="0">
                <a:solidFill>
                  <a:srgbClr val="1F2937"/>
                </a:solidFill>
                <a:latin typeface="Cambria" pitchFamily="34" charset="0"/>
                <a:ea typeface="Cambria" pitchFamily="34" charset="-122"/>
                <a:cs typeface="Cambria" pitchFamily="34" charset="-120"/>
              </a:rPr>
              <a:t>Small details that matter in the loop</a:t>
            </a:r>
            <a:endParaRPr lang="en-US" sz="2800" dirty="0"/>
          </a:p>
        </p:txBody>
      </p:sp>
      <p:sp>
        <p:nvSpPr>
          <p:cNvPr id="4" name="Shape 2"/>
          <p:cNvSpPr/>
          <p:nvPr/>
        </p:nvSpPr>
        <p:spPr>
          <a:xfrm>
            <a:off x="457200" y="1371600"/>
            <a:ext cx="2560320" cy="1508760"/>
          </a:xfrm>
          <a:prstGeom prst="roundRect">
            <a:avLst>
              <a:gd name="adj" fmla="val 4848"/>
            </a:avLst>
          </a:prstGeom>
          <a:solidFill>
            <a:srgbClr val="EFEBFC"/>
          </a:solidFill>
          <a:ln w="12700">
            <a:solidFill>
              <a:srgbClr val="EFEBFC"/>
            </a:solidFill>
            <a:prstDash val="solid"/>
          </a:ln>
        </p:spPr>
      </p:sp>
      <p:sp>
        <p:nvSpPr>
          <p:cNvPr id="5" name="Shape 3"/>
          <p:cNvSpPr/>
          <p:nvPr/>
        </p:nvSpPr>
        <p:spPr>
          <a:xfrm>
            <a:off x="640080" y="1554480"/>
            <a:ext cx="384048" cy="384048"/>
          </a:xfrm>
          <a:prstGeom prst="ellipse">
            <a:avLst/>
          </a:prstGeom>
          <a:solidFill>
            <a:srgbClr val="512BD4"/>
          </a:solidFill>
          <a:ln w="12700">
            <a:solidFill>
              <a:srgbClr val="512BD4"/>
            </a:solidFill>
            <a:prstDash val="solid"/>
          </a:ln>
        </p:spPr>
      </p:sp>
      <p:pic>
        <p:nvPicPr>
          <p:cNvPr id="6" name="Image 0" descr="preencoded.png">    </p:cNvPr>
          <p:cNvPicPr>
            <a:picLocks noChangeAspect="1"/>
          </p:cNvPicPr>
          <p:nvPr/>
        </p:nvPicPr>
        <p:blipFill>
          <a:blip r:embed="rId1"/>
          <a:stretch>
            <a:fillRect/>
          </a:stretch>
        </p:blipFill>
        <p:spPr>
          <a:xfrm>
            <a:off x="739932" y="1654332"/>
            <a:ext cx="184343" cy="184343"/>
          </a:xfrm>
          <a:prstGeom prst="rect">
            <a:avLst/>
          </a:prstGeom>
        </p:spPr>
      </p:pic>
      <p:sp>
        <p:nvSpPr>
          <p:cNvPr id="7" name="Text 4"/>
          <p:cNvSpPr txBox="1"/>
          <p:nvPr/>
        </p:nvSpPr>
        <p:spPr>
          <a:xfrm>
            <a:off x="1143000" y="1554480"/>
            <a:ext cx="1737360" cy="384048"/>
          </a:xfrm>
          <a:prstGeom prst="rect">
            <a:avLst/>
          </a:prstGeom>
          <a:noFill/>
          <a:ln/>
        </p:spPr>
        <p:txBody>
          <a:bodyPr wrap="square" lIns="0" tIns="0" rIns="0" bIns="0" rtlCol="0" anchor="ctr">
            <a:normAutofit/>
          </a:bodyPr>
          <a:lstStyle/>
          <a:p>
            <a:pPr indent="0" marL="0">
              <a:buNone/>
            </a:pPr>
            <a:r>
              <a:rPr lang="en-US" sz="1400" b="1" dirty="0">
                <a:solidFill>
                  <a:srgbClr val="1F2937"/>
                </a:solidFill>
                <a:latin typeface="Calibri" pitchFamily="34" charset="0"/>
                <a:ea typeface="Calibri" pitchFamily="34" charset="-122"/>
                <a:cs typeface="Calibri" pitchFamily="34" charset="-120"/>
              </a:rPr>
              <a:t>A stream</a:t>
            </a:r>
            <a:endParaRPr lang="en-US" sz="1400" dirty="0"/>
          </a:p>
        </p:txBody>
      </p:sp>
      <p:sp>
        <p:nvSpPr>
          <p:cNvPr id="8" name="Text 5"/>
          <p:cNvSpPr txBox="1"/>
          <p:nvPr/>
        </p:nvSpPr>
        <p:spPr>
          <a:xfrm>
            <a:off x="640080" y="2057400"/>
            <a:ext cx="2194560" cy="731520"/>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InvokeAsync returns an IAsyncEnumerable: a turn can yield several messages.</a:t>
            </a:r>
            <a:endParaRPr lang="en-US" sz="1200" dirty="0"/>
          </a:p>
        </p:txBody>
      </p:sp>
      <p:sp>
        <p:nvSpPr>
          <p:cNvPr id="9" name="Shape 6"/>
          <p:cNvSpPr/>
          <p:nvPr/>
        </p:nvSpPr>
        <p:spPr>
          <a:xfrm>
            <a:off x="3291840" y="1371600"/>
            <a:ext cx="2560320" cy="1508760"/>
          </a:xfrm>
          <a:prstGeom prst="roundRect">
            <a:avLst>
              <a:gd name="adj" fmla="val 4848"/>
            </a:avLst>
          </a:prstGeom>
          <a:solidFill>
            <a:srgbClr val="EFEBFC"/>
          </a:solidFill>
          <a:ln w="12700">
            <a:solidFill>
              <a:srgbClr val="EFEBFC"/>
            </a:solidFill>
            <a:prstDash val="solid"/>
          </a:ln>
        </p:spPr>
      </p:sp>
      <p:sp>
        <p:nvSpPr>
          <p:cNvPr id="10" name="Shape 7"/>
          <p:cNvSpPr/>
          <p:nvPr/>
        </p:nvSpPr>
        <p:spPr>
          <a:xfrm>
            <a:off x="3474720" y="1554480"/>
            <a:ext cx="384048" cy="384048"/>
          </a:xfrm>
          <a:prstGeom prst="ellipse">
            <a:avLst/>
          </a:prstGeom>
          <a:solidFill>
            <a:srgbClr val="512BD4"/>
          </a:solidFill>
          <a:ln w="12700">
            <a:solidFill>
              <a:srgbClr val="512BD4"/>
            </a:solidFill>
            <a:prstDash val="solid"/>
          </a:ln>
        </p:spPr>
      </p:sp>
      <p:pic>
        <p:nvPicPr>
          <p:cNvPr id="11" name="Image 1" descr="preencoded.png">    </p:cNvPr>
          <p:cNvPicPr>
            <a:picLocks noChangeAspect="1"/>
          </p:cNvPicPr>
          <p:nvPr/>
        </p:nvPicPr>
        <p:blipFill>
          <a:blip r:embed="rId2"/>
          <a:stretch>
            <a:fillRect/>
          </a:stretch>
        </p:blipFill>
        <p:spPr>
          <a:xfrm>
            <a:off x="3574572" y="1654332"/>
            <a:ext cx="184343" cy="184343"/>
          </a:xfrm>
          <a:prstGeom prst="rect">
            <a:avLst/>
          </a:prstGeom>
        </p:spPr>
      </p:pic>
      <p:sp>
        <p:nvSpPr>
          <p:cNvPr id="12" name="Text 8"/>
          <p:cNvSpPr txBox="1"/>
          <p:nvPr/>
        </p:nvSpPr>
        <p:spPr>
          <a:xfrm>
            <a:off x="3977640" y="1554480"/>
            <a:ext cx="1737360" cy="384048"/>
          </a:xfrm>
          <a:prstGeom prst="rect">
            <a:avLst/>
          </a:prstGeom>
          <a:noFill/>
          <a:ln/>
        </p:spPr>
        <p:txBody>
          <a:bodyPr wrap="square" lIns="0" tIns="0" rIns="0" bIns="0" rtlCol="0" anchor="ctr">
            <a:normAutofit/>
          </a:bodyPr>
          <a:lstStyle/>
          <a:p>
            <a:pPr indent="0" marL="0">
              <a:buNone/>
            </a:pPr>
            <a:r>
              <a:rPr lang="en-US" sz="1400" b="1" dirty="0">
                <a:solidFill>
                  <a:srgbClr val="1F2937"/>
                </a:solidFill>
                <a:latin typeface="Calibri" pitchFamily="34" charset="0"/>
                <a:ea typeface="Calibri" pitchFamily="34" charset="-122"/>
                <a:cs typeface="Calibri" pitchFamily="34" charset="-120"/>
              </a:rPr>
              <a:t>Wrapped reply</a:t>
            </a:r>
            <a:endParaRPr lang="en-US" sz="1400" dirty="0"/>
          </a:p>
        </p:txBody>
      </p:sp>
      <p:sp>
        <p:nvSpPr>
          <p:cNvPr id="13" name="Text 9"/>
          <p:cNvSpPr txBox="1"/>
          <p:nvPr/>
        </p:nvSpPr>
        <p:spPr>
          <a:xfrm>
            <a:off x="3474720" y="2057400"/>
            <a:ext cx="2194560" cy="731520"/>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Each item exposes message.Message with AuthorName and Content.</a:t>
            </a:r>
            <a:endParaRPr lang="en-US" sz="1200" dirty="0"/>
          </a:p>
        </p:txBody>
      </p:sp>
      <p:sp>
        <p:nvSpPr>
          <p:cNvPr id="14" name="Shape 10"/>
          <p:cNvSpPr/>
          <p:nvPr/>
        </p:nvSpPr>
        <p:spPr>
          <a:xfrm>
            <a:off x="6126480" y="1371600"/>
            <a:ext cx="2560320" cy="1508760"/>
          </a:xfrm>
          <a:prstGeom prst="roundRect">
            <a:avLst>
              <a:gd name="adj" fmla="val 4848"/>
            </a:avLst>
          </a:prstGeom>
          <a:solidFill>
            <a:srgbClr val="EFEBFC"/>
          </a:solidFill>
          <a:ln w="12700">
            <a:solidFill>
              <a:srgbClr val="EFEBFC"/>
            </a:solidFill>
            <a:prstDash val="solid"/>
          </a:ln>
        </p:spPr>
      </p:sp>
      <p:sp>
        <p:nvSpPr>
          <p:cNvPr id="15" name="Shape 11"/>
          <p:cNvSpPr/>
          <p:nvPr/>
        </p:nvSpPr>
        <p:spPr>
          <a:xfrm>
            <a:off x="6309360" y="1554480"/>
            <a:ext cx="384048" cy="384048"/>
          </a:xfrm>
          <a:prstGeom prst="ellipse">
            <a:avLst/>
          </a:prstGeom>
          <a:solidFill>
            <a:srgbClr val="512BD4"/>
          </a:solidFill>
          <a:ln w="12700">
            <a:solidFill>
              <a:srgbClr val="512BD4"/>
            </a:solidFill>
            <a:prstDash val="solid"/>
          </a:ln>
        </p:spPr>
      </p:sp>
      <p:pic>
        <p:nvPicPr>
          <p:cNvPr id="16" name="Image 2" descr="preencoded.png">    </p:cNvPr>
          <p:cNvPicPr>
            <a:picLocks noChangeAspect="1"/>
          </p:cNvPicPr>
          <p:nvPr/>
        </p:nvPicPr>
        <p:blipFill>
          <a:blip r:embed="rId3"/>
          <a:stretch>
            <a:fillRect/>
          </a:stretch>
        </p:blipFill>
        <p:spPr>
          <a:xfrm>
            <a:off x="6409212" y="1654332"/>
            <a:ext cx="184343" cy="184343"/>
          </a:xfrm>
          <a:prstGeom prst="rect">
            <a:avLst/>
          </a:prstGeom>
        </p:spPr>
      </p:pic>
      <p:sp>
        <p:nvSpPr>
          <p:cNvPr id="17" name="Text 12"/>
          <p:cNvSpPr txBox="1"/>
          <p:nvPr/>
        </p:nvSpPr>
        <p:spPr>
          <a:xfrm>
            <a:off x="6812280" y="1554480"/>
            <a:ext cx="1737360" cy="384048"/>
          </a:xfrm>
          <a:prstGeom prst="rect">
            <a:avLst/>
          </a:prstGeom>
          <a:noFill/>
          <a:ln/>
        </p:spPr>
        <p:txBody>
          <a:bodyPr wrap="square" lIns="0" tIns="0" rIns="0" bIns="0" rtlCol="0" anchor="ctr">
            <a:normAutofit/>
          </a:bodyPr>
          <a:lstStyle/>
          <a:p>
            <a:pPr indent="0" marL="0">
              <a:buNone/>
            </a:pPr>
            <a:r>
              <a:rPr lang="en-US" sz="1400" b="1" dirty="0">
                <a:solidFill>
                  <a:srgbClr val="1F2937"/>
                </a:solidFill>
                <a:latin typeface="Calibri" pitchFamily="34" charset="0"/>
                <a:ea typeface="Calibri" pitchFamily="34" charset="-122"/>
                <a:cs typeface="Calibri" pitchFamily="34" charset="-120"/>
              </a:rPr>
              <a:t>Errors</a:t>
            </a:r>
            <a:endParaRPr lang="en-US" sz="1400" dirty="0"/>
          </a:p>
        </p:txBody>
      </p:sp>
      <p:sp>
        <p:nvSpPr>
          <p:cNvPr id="18" name="Text 13"/>
          <p:cNvSpPr txBox="1"/>
          <p:nvPr/>
        </p:nvSpPr>
        <p:spPr>
          <a:xfrm>
            <a:off x="6309360" y="2057400"/>
            <a:ext cx="2194560" cy="731520"/>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A failed turn prints [Error] and the chat carries on.</a:t>
            </a:r>
            <a:endParaRPr lang="en-US" sz="1200" dirty="0"/>
          </a:p>
        </p:txBody>
      </p:sp>
      <p:sp>
        <p:nvSpPr>
          <p:cNvPr id="19" name="Text 14"/>
          <p:cNvSpPr txBox="1"/>
          <p:nvPr/>
        </p:nvSpPr>
        <p:spPr>
          <a:xfrm>
            <a:off x="457200" y="3108960"/>
            <a:ext cx="8229600" cy="365760"/>
          </a:xfrm>
          <a:prstGeom prst="rect">
            <a:avLst/>
          </a:prstGeom>
          <a:noFill/>
          <a:ln/>
        </p:spPr>
        <p:txBody>
          <a:bodyPr wrap="square" lIns="0" tIns="0" rIns="0" bIns="0" rtlCol="0" anchor="t"/>
          <a:lstStyle/>
          <a:p>
            <a:pPr indent="0" marL="0">
              <a:buNone/>
            </a:pPr>
            <a:r>
              <a:rPr lang="en-US" sz="1400" i="1" dirty="0">
                <a:solidFill>
                  <a:srgbClr val="512BD4"/>
                </a:solidFill>
                <a:latin typeface="Calibri" pitchFamily="34" charset="0"/>
                <a:ea typeface="Calibri" pitchFamily="34" charset="-122"/>
                <a:cs typeface="Calibri" pitchFamily="34" charset="-120"/>
              </a:rPr>
              <a:t>await foreach consumes the stream one message at a time.</a:t>
            </a:r>
            <a:endParaRPr lang="en-US" sz="1400" dirty="0"/>
          </a:p>
        </p:txBody>
      </p:sp>
      <p:sp>
        <p:nvSpPr>
          <p:cNvPr id="20" name="Text 15"/>
          <p:cNvSpPr txBox="1"/>
          <p:nvPr/>
        </p:nvSpPr>
        <p:spPr>
          <a:xfrm>
            <a:off x="457200" y="4796028"/>
            <a:ext cx="6400800" cy="201168"/>
          </a:xfrm>
          <a:prstGeom prst="rect">
            <a:avLst/>
          </a:prstGeom>
          <a:noFill/>
          <a:ln/>
        </p:spPr>
        <p:txBody>
          <a:bodyPr wrap="square" lIns="0" tIns="0" rIns="0" bIns="0" rtlCol="0" anchor="t"/>
          <a:lstStyle/>
          <a:p>
            <a:pPr indent="0" marL="0">
              <a:buNone/>
            </a:pPr>
            <a:r>
              <a:rPr lang="en-US" sz="900" dirty="0">
                <a:solidFill>
                  <a:srgbClr val="9CA3AF"/>
                </a:solidFill>
                <a:latin typeface="Calibri" pitchFamily="34" charset="0"/>
                <a:ea typeface="Calibri" pitchFamily="34" charset="-122"/>
                <a:cs typeface="Calibri" pitchFamily="34" charset="-120"/>
              </a:rPr>
              <a:t>Applied Agentic Orchestration with Semantic Kernel  ·  Lesson 17 — Agent Framework</a:t>
            </a:r>
            <a:endParaRPr lang="en-US" sz="900" dirty="0"/>
          </a:p>
        </p:txBody>
      </p:sp>
      <p:sp>
        <p:nvSpPr>
          <p:cNvPr id="21" name="Text 16"/>
          <p:cNvSpPr txBox="1"/>
          <p:nvPr/>
        </p:nvSpPr>
        <p:spPr>
          <a:xfrm>
            <a:off x="8138160" y="4796028"/>
            <a:ext cx="548640" cy="201168"/>
          </a:xfrm>
          <a:prstGeom prst="rect">
            <a:avLst/>
          </a:prstGeom>
          <a:noFill/>
          <a:ln/>
        </p:spPr>
        <p:txBody>
          <a:bodyPr wrap="square" lIns="0" tIns="0" rIns="0" bIns="0" rtlCol="0" anchor="t"/>
          <a:lstStyle/>
          <a:p>
            <a:pPr algn="r" indent="0" marL="0">
              <a:buNone/>
            </a:pPr>
            <a:r>
              <a:rPr lang="en-US" sz="900" dirty="0">
                <a:solidFill>
                  <a:srgbClr val="9CA3AF"/>
                </a:solidFill>
                <a:latin typeface="Calibri" pitchFamily="34" charset="0"/>
                <a:ea typeface="Calibri" pitchFamily="34" charset="-122"/>
                <a:cs typeface="Calibri" pitchFamily="34" charset="-120"/>
              </a:rPr>
              <a:t>7</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47472"/>
            <a:ext cx="8229600" cy="228600"/>
          </a:xfrm>
          <a:prstGeom prst="rect">
            <a:avLst/>
          </a:prstGeom>
          <a:noFill/>
          <a:ln/>
        </p:spPr>
        <p:txBody>
          <a:bodyPr wrap="square" lIns="0" tIns="0" rIns="0" bIns="0" rtlCol="0" anchor="t"/>
          <a:lstStyle/>
          <a:p>
            <a:pPr indent="0" marL="0">
              <a:buNone/>
            </a:pPr>
            <a:r>
              <a:rPr lang="en-US" sz="1100" b="1" spc="200" kern="0" dirty="0">
                <a:solidFill>
                  <a:srgbClr val="512BD4"/>
                </a:solidFill>
                <a:latin typeface="Calibri" pitchFamily="34" charset="0"/>
                <a:ea typeface="Calibri" pitchFamily="34" charset="-122"/>
                <a:cs typeface="Calibri" pitchFamily="34" charset="-120"/>
              </a:rPr>
              <a:t>EXPECTED RESULT</a:t>
            </a:r>
            <a:endParaRPr lang="en-US" sz="1100" dirty="0"/>
          </a:p>
        </p:txBody>
      </p:sp>
      <p:sp>
        <p:nvSpPr>
          <p:cNvPr id="3" name="Text 1"/>
          <p:cNvSpPr txBox="1"/>
          <p:nvPr/>
        </p:nvSpPr>
        <p:spPr>
          <a:xfrm>
            <a:off x="457200" y="566928"/>
            <a:ext cx="8229600" cy="548640"/>
          </a:xfrm>
          <a:prstGeom prst="rect">
            <a:avLst/>
          </a:prstGeom>
          <a:noFill/>
          <a:ln/>
        </p:spPr>
        <p:txBody>
          <a:bodyPr wrap="square" lIns="0" tIns="0" rIns="0" bIns="0" rtlCol="0" anchor="ctr"/>
          <a:lstStyle/>
          <a:p>
            <a:pPr indent="0" marL="0">
              <a:buNone/>
            </a:pPr>
            <a:r>
              <a:rPr lang="en-US" sz="2800" b="1" dirty="0">
                <a:solidFill>
                  <a:srgbClr val="1F2937"/>
                </a:solidFill>
                <a:latin typeface="Cambria" pitchFamily="34" charset="0"/>
                <a:ea typeface="Cambria" pitchFamily="34" charset="-122"/>
                <a:cs typeface="Cambria" pitchFamily="34" charset="-120"/>
              </a:rPr>
              <a:t>Run it: three tiers on every answer</a:t>
            </a:r>
            <a:endParaRPr lang="en-US" sz="2800" dirty="0"/>
          </a:p>
        </p:txBody>
      </p:sp>
      <p:sp>
        <p:nvSpPr>
          <p:cNvPr id="4" name="Shape 2"/>
          <p:cNvSpPr/>
          <p:nvPr/>
        </p:nvSpPr>
        <p:spPr>
          <a:xfrm>
            <a:off x="457200" y="1325880"/>
            <a:ext cx="5257800" cy="2331720"/>
          </a:xfrm>
          <a:prstGeom prst="roundRect">
            <a:avLst>
              <a:gd name="adj" fmla="val 3137"/>
            </a:avLst>
          </a:prstGeom>
          <a:solidFill>
            <a:srgbClr val="0F1420"/>
          </a:solidFill>
          <a:ln w="12700">
            <a:solidFill>
              <a:srgbClr val="0F1420"/>
            </a:solidFill>
            <a:prstDash val="solid"/>
          </a:ln>
        </p:spPr>
      </p:sp>
      <p:sp>
        <p:nvSpPr>
          <p:cNvPr id="5" name="Text 3"/>
          <p:cNvSpPr txBox="1"/>
          <p:nvPr/>
        </p:nvSpPr>
        <p:spPr>
          <a:xfrm>
            <a:off x="640080" y="1463040"/>
            <a:ext cx="4892040" cy="2057400"/>
          </a:xfrm>
          <a:prstGeom prst="rect">
            <a:avLst/>
          </a:prstGeom>
          <a:noFill/>
          <a:ln/>
        </p:spPr>
        <p:txBody>
          <a:bodyPr wrap="square" lIns="0" tIns="0" rIns="0" bIns="0" rtlCol="0" anchor="t"/>
          <a:lstStyle/>
          <a:p>
            <a:pPr indent="0" marL="0">
              <a:buNone/>
            </a:pPr>
            <a:r>
              <a:rPr lang="en-US" sz="1100" dirty="0">
                <a:solidFill>
                  <a:srgbClr val="D7E3F4"/>
                </a:solidFill>
                <a:latin typeface="Courier New" pitchFamily="34" charset="0"/>
                <a:ea typeface="Courier New" pitchFamily="34" charset="-122"/>
                <a:cs typeface="Courier New" pitchFamily="34" charset="-120"/>
              </a:rPr>
              <a:t>Travel Agent Framework Initialized</a:t>
            </a:r>
            <a:endParaRPr lang="en-US" sz="1100" dirty="0"/>
          </a:p>
          <a:p>
            <a:pPr indent="0" marL="0">
              <a:buNone/>
            </a:pPr>
            <a:r>
              <a:rPr lang="en-US" sz="1100" dirty="0">
                <a:solidFill>
                  <a:srgbClr val="D7E3F4"/>
                </a:solidFill>
                <a:latin typeface="Courier New" pitchFamily="34" charset="0"/>
                <a:ea typeface="Courier New" pitchFamily="34" charset="-122"/>
                <a:cs typeface="Courier New" pitchFamily="34" charset="-120"/>
              </a:rPr>
              <a:t> </a:t>
            </a:r>
            <a:endParaRPr lang="en-US" sz="1100" dirty="0"/>
          </a:p>
          <a:p>
            <a:pPr indent="0" marL="0">
              <a:buNone/>
            </a:pPr>
            <a:r>
              <a:rPr lang="en-US" sz="1100" b="1" dirty="0">
                <a:solidFill>
                  <a:srgbClr val="F5A623"/>
                </a:solidFill>
                <a:latin typeface="Courier New" pitchFamily="34" charset="0"/>
                <a:ea typeface="Courier New" pitchFamily="34" charset="-122"/>
                <a:cs typeface="Courier New" pitchFamily="34" charset="-120"/>
              </a:rPr>
              <a:t>User: One week in Europe on $2,000. Ideas?</a:t>
            </a:r>
            <a:endParaRPr lang="en-US" sz="1100" dirty="0"/>
          </a:p>
          <a:p>
            <a:pPr indent="0" marL="0">
              <a:buNone/>
            </a:pPr>
            <a:r>
              <a:rPr lang="en-US" sz="1100" dirty="0">
                <a:solidFill>
                  <a:srgbClr val="D7E3F4"/>
                </a:solidFill>
                <a:latin typeface="Courier New" pitchFamily="34" charset="0"/>
                <a:ea typeface="Courier New" pitchFamily="34" charset="-122"/>
                <a:cs typeface="Courier New" pitchFamily="34" charset="-120"/>
              </a:rPr>
              <a:t> </a:t>
            </a:r>
            <a:endParaRPr lang="en-US" sz="1100" dirty="0"/>
          </a:p>
          <a:p>
            <a:pPr indent="0" marL="0">
              <a:buNone/>
            </a:pPr>
            <a:r>
              <a:rPr lang="en-US" sz="1100" dirty="0">
                <a:solidFill>
                  <a:srgbClr val="D7E3F4"/>
                </a:solidFill>
                <a:latin typeface="Courier New" pitchFamily="34" charset="0"/>
                <a:ea typeface="Courier New" pitchFamily="34" charset="-122"/>
                <a:cs typeface="Courier New" pitchFamily="34" charset="-120"/>
              </a:rPr>
              <a:t>--- AGENT IS THINKING ---</a:t>
            </a:r>
            <a:endParaRPr lang="en-US" sz="1100" dirty="0"/>
          </a:p>
          <a:p>
            <a:pPr indent="0" marL="0">
              <a:buNone/>
            </a:pPr>
            <a:r>
              <a:rPr lang="en-US" sz="1100" dirty="0">
                <a:solidFill>
                  <a:srgbClr val="D7E3F4"/>
                </a:solidFill>
                <a:latin typeface="Courier New" pitchFamily="34" charset="0"/>
                <a:ea typeface="Courier New" pitchFamily="34" charset="-122"/>
                <a:cs typeface="Courier New" pitchFamily="34" charset="-120"/>
              </a:rPr>
              <a:t> </a:t>
            </a:r>
            <a:endParaRPr lang="en-US" sz="1100" dirty="0"/>
          </a:p>
          <a:p>
            <a:pPr indent="0" marL="0">
              <a:buNone/>
            </a:pPr>
            <a:r>
              <a:rPr lang="en-US" sz="1100" dirty="0">
                <a:solidFill>
                  <a:srgbClr val="9FE6B8"/>
                </a:solidFill>
                <a:latin typeface="Courier New" pitchFamily="34" charset="0"/>
                <a:ea typeface="Courier New" pitchFamily="34" charset="-122"/>
                <a:cs typeface="Courier New" pitchFamily="34" charset="-120"/>
              </a:rPr>
              <a:t>TravelAssistant: Here are three options:</a:t>
            </a:r>
            <a:endParaRPr lang="en-US" sz="1100" dirty="0"/>
          </a:p>
          <a:p>
            <a:pPr indent="0" marL="0">
              <a:buNone/>
            </a:pPr>
            <a:r>
              <a:rPr lang="en-US" sz="1100" dirty="0">
                <a:solidFill>
                  <a:srgbClr val="9FE6B8"/>
                </a:solidFill>
                <a:latin typeface="Courier New" pitchFamily="34" charset="0"/>
                <a:ea typeface="Courier New" pitchFamily="34" charset="-122"/>
                <a:cs typeface="Courier New" pitchFamily="34" charset="-120"/>
              </a:rPr>
              <a:t>Budget: Lisbon, hostels and trams...</a:t>
            </a:r>
            <a:endParaRPr lang="en-US" sz="1100" dirty="0"/>
          </a:p>
          <a:p>
            <a:pPr indent="0" marL="0">
              <a:buNone/>
            </a:pPr>
            <a:r>
              <a:rPr lang="en-US" sz="1100" dirty="0">
                <a:solidFill>
                  <a:srgbClr val="9FE6B8"/>
                </a:solidFill>
                <a:latin typeface="Courier New" pitchFamily="34" charset="0"/>
                <a:ea typeface="Courier New" pitchFamily="34" charset="-122"/>
                <a:cs typeface="Courier New" pitchFamily="34" charset="-120"/>
              </a:rPr>
              <a:t>Mid-range: Prague, boutique hotel...</a:t>
            </a:r>
            <a:endParaRPr lang="en-US" sz="1100" dirty="0"/>
          </a:p>
          <a:p>
            <a:pPr indent="0" marL="0">
              <a:buNone/>
            </a:pPr>
            <a:r>
              <a:rPr lang="en-US" sz="1100" dirty="0">
                <a:solidFill>
                  <a:srgbClr val="9FE6B8"/>
                </a:solidFill>
                <a:latin typeface="Courier New" pitchFamily="34" charset="0"/>
                <a:ea typeface="Courier New" pitchFamily="34" charset="-122"/>
                <a:cs typeface="Courier New" pitchFamily="34" charset="-120"/>
              </a:rPr>
              <a:t>Luxury: Lake Como, villa stay...</a:t>
            </a:r>
            <a:endParaRPr lang="en-US" sz="1100" dirty="0"/>
          </a:p>
          <a:p>
            <a:pPr indent="0" marL="0">
              <a:buNone/>
            </a:pPr>
            <a:r>
              <a:rPr lang="en-US" sz="1100" dirty="0">
                <a:solidFill>
                  <a:srgbClr val="D7E3F4"/>
                </a:solidFill>
                <a:latin typeface="Courier New" pitchFamily="34" charset="0"/>
                <a:ea typeface="Courier New" pitchFamily="34" charset="-122"/>
                <a:cs typeface="Courier New" pitchFamily="34" charset="-120"/>
              </a:rPr>
              <a:t> </a:t>
            </a:r>
            <a:endParaRPr lang="en-US" sz="1100" dirty="0"/>
          </a:p>
          <a:p>
            <a:pPr indent="0" marL="0">
              <a:buNone/>
            </a:pPr>
            <a:r>
              <a:rPr lang="en-US" sz="1100" b="1" dirty="0">
                <a:solidFill>
                  <a:srgbClr val="F5A623"/>
                </a:solidFill>
                <a:latin typeface="Courier New" pitchFamily="34" charset="0"/>
                <a:ea typeface="Courier New" pitchFamily="34" charset="-122"/>
                <a:cs typeface="Courier New" pitchFamily="34" charset="-120"/>
              </a:rPr>
              <a:t>User: exit</a:t>
            </a:r>
            <a:endParaRPr lang="en-US" sz="1100" dirty="0"/>
          </a:p>
        </p:txBody>
      </p:sp>
      <p:sp>
        <p:nvSpPr>
          <p:cNvPr id="6" name="Shape 4"/>
          <p:cNvSpPr/>
          <p:nvPr/>
        </p:nvSpPr>
        <p:spPr>
          <a:xfrm>
            <a:off x="6035040" y="1325880"/>
            <a:ext cx="384048" cy="384048"/>
          </a:xfrm>
          <a:prstGeom prst="ellipse">
            <a:avLst/>
          </a:prstGeom>
          <a:solidFill>
            <a:srgbClr val="512BD4"/>
          </a:solidFill>
          <a:ln w="12700">
            <a:solidFill>
              <a:srgbClr val="512BD4"/>
            </a:solidFill>
            <a:prstDash val="solid"/>
          </a:ln>
        </p:spPr>
      </p:sp>
      <p:pic>
        <p:nvPicPr>
          <p:cNvPr id="7" name="Image 0" descr="preencoded.png">    </p:cNvPr>
          <p:cNvPicPr>
            <a:picLocks noChangeAspect="1"/>
          </p:cNvPicPr>
          <p:nvPr/>
        </p:nvPicPr>
        <p:blipFill>
          <a:blip r:embed="rId1"/>
          <a:stretch>
            <a:fillRect/>
          </a:stretch>
        </p:blipFill>
        <p:spPr>
          <a:xfrm>
            <a:off x="6134892" y="1425732"/>
            <a:ext cx="184343" cy="184343"/>
          </a:xfrm>
          <a:prstGeom prst="rect">
            <a:avLst/>
          </a:prstGeom>
        </p:spPr>
      </p:pic>
      <p:sp>
        <p:nvSpPr>
          <p:cNvPr id="8" name="Text 5"/>
          <p:cNvSpPr txBox="1"/>
          <p:nvPr/>
        </p:nvSpPr>
        <p:spPr>
          <a:xfrm>
            <a:off x="6537960" y="1325880"/>
            <a:ext cx="2148840" cy="384048"/>
          </a:xfrm>
          <a:prstGeom prst="rect">
            <a:avLst/>
          </a:prstGeom>
          <a:noFill/>
          <a:ln/>
        </p:spPr>
        <p:txBody>
          <a:bodyPr wrap="square" lIns="0" tIns="0" rIns="0" bIns="0" rtlCol="0" anchor="ctr"/>
          <a:lstStyle/>
          <a:p>
            <a:pPr indent="0" marL="0">
              <a:buNone/>
            </a:pPr>
            <a:r>
              <a:rPr lang="en-US" sz="1400" b="1" dirty="0">
                <a:solidFill>
                  <a:srgbClr val="1F2937"/>
                </a:solidFill>
                <a:latin typeface="Calibri" pitchFamily="34" charset="0"/>
                <a:ea typeface="Calibri" pitchFamily="34" charset="-122"/>
                <a:cs typeface="Calibri" pitchFamily="34" charset="-120"/>
              </a:rPr>
              <a:t>Named replies</a:t>
            </a:r>
            <a:endParaRPr lang="en-US" sz="1400" dirty="0"/>
          </a:p>
        </p:txBody>
      </p:sp>
      <p:sp>
        <p:nvSpPr>
          <p:cNvPr id="9" name="Text 6"/>
          <p:cNvSpPr txBox="1"/>
          <p:nvPr/>
        </p:nvSpPr>
        <p:spPr>
          <a:xfrm>
            <a:off x="6537960" y="1709928"/>
            <a:ext cx="2148840" cy="640080"/>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Each reply is labelled with the agent's Name.</a:t>
            </a:r>
            <a:endParaRPr lang="en-US" sz="1200" dirty="0"/>
          </a:p>
        </p:txBody>
      </p:sp>
      <p:sp>
        <p:nvSpPr>
          <p:cNvPr id="10" name="Shape 7"/>
          <p:cNvSpPr/>
          <p:nvPr/>
        </p:nvSpPr>
        <p:spPr>
          <a:xfrm>
            <a:off x="6035040" y="2423160"/>
            <a:ext cx="384048" cy="384048"/>
          </a:xfrm>
          <a:prstGeom prst="ellipse">
            <a:avLst/>
          </a:prstGeom>
          <a:solidFill>
            <a:srgbClr val="512BD4"/>
          </a:solidFill>
          <a:ln w="12700">
            <a:solidFill>
              <a:srgbClr val="512BD4"/>
            </a:solidFill>
            <a:prstDash val="solid"/>
          </a:ln>
        </p:spPr>
      </p:sp>
      <p:pic>
        <p:nvPicPr>
          <p:cNvPr id="11" name="Image 1" descr="preencoded.png">    </p:cNvPr>
          <p:cNvPicPr>
            <a:picLocks noChangeAspect="1"/>
          </p:cNvPicPr>
          <p:nvPr/>
        </p:nvPicPr>
        <p:blipFill>
          <a:blip r:embed="rId2"/>
          <a:stretch>
            <a:fillRect/>
          </a:stretch>
        </p:blipFill>
        <p:spPr>
          <a:xfrm>
            <a:off x="6134892" y="2523012"/>
            <a:ext cx="184343" cy="184343"/>
          </a:xfrm>
          <a:prstGeom prst="rect">
            <a:avLst/>
          </a:prstGeom>
        </p:spPr>
      </p:pic>
      <p:sp>
        <p:nvSpPr>
          <p:cNvPr id="12" name="Text 8"/>
          <p:cNvSpPr txBox="1"/>
          <p:nvPr/>
        </p:nvSpPr>
        <p:spPr>
          <a:xfrm>
            <a:off x="6537960" y="2423160"/>
            <a:ext cx="2148840" cy="384048"/>
          </a:xfrm>
          <a:prstGeom prst="rect">
            <a:avLst/>
          </a:prstGeom>
          <a:noFill/>
          <a:ln/>
        </p:spPr>
        <p:txBody>
          <a:bodyPr wrap="square" lIns="0" tIns="0" rIns="0" bIns="0" rtlCol="0" anchor="ctr"/>
          <a:lstStyle/>
          <a:p>
            <a:pPr indent="0" marL="0">
              <a:buNone/>
            </a:pPr>
            <a:r>
              <a:rPr lang="en-US" sz="1400" b="1" dirty="0">
                <a:solidFill>
                  <a:srgbClr val="1F2937"/>
                </a:solidFill>
                <a:latin typeface="Calibri" pitchFamily="34" charset="0"/>
                <a:ea typeface="Calibri" pitchFamily="34" charset="-122"/>
                <a:cs typeface="Calibri" pitchFamily="34" charset="-120"/>
              </a:rPr>
              <a:t>Three tiers</a:t>
            </a:r>
            <a:endParaRPr lang="en-US" sz="1400" dirty="0"/>
          </a:p>
        </p:txBody>
      </p:sp>
      <p:sp>
        <p:nvSpPr>
          <p:cNvPr id="13" name="Text 9"/>
          <p:cNvSpPr txBox="1"/>
          <p:nvPr/>
        </p:nvSpPr>
        <p:spPr>
          <a:xfrm>
            <a:off x="6537960" y="2807208"/>
            <a:ext cx="2148840" cy="640080"/>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The Instructions ask for Budget, Mid-range and Luxury.</a:t>
            </a:r>
            <a:endParaRPr lang="en-US" sz="1200" dirty="0"/>
          </a:p>
        </p:txBody>
      </p:sp>
      <p:sp>
        <p:nvSpPr>
          <p:cNvPr id="14" name="Shape 10"/>
          <p:cNvSpPr/>
          <p:nvPr/>
        </p:nvSpPr>
        <p:spPr>
          <a:xfrm>
            <a:off x="6035040" y="3520440"/>
            <a:ext cx="384048" cy="384048"/>
          </a:xfrm>
          <a:prstGeom prst="ellipse">
            <a:avLst/>
          </a:prstGeom>
          <a:solidFill>
            <a:srgbClr val="512BD4"/>
          </a:solidFill>
          <a:ln w="12700">
            <a:solidFill>
              <a:srgbClr val="512BD4"/>
            </a:solidFill>
            <a:prstDash val="solid"/>
          </a:ln>
        </p:spPr>
      </p:sp>
      <p:pic>
        <p:nvPicPr>
          <p:cNvPr id="15" name="Image 2" descr="preencoded.png">    </p:cNvPr>
          <p:cNvPicPr>
            <a:picLocks noChangeAspect="1"/>
          </p:cNvPicPr>
          <p:nvPr/>
        </p:nvPicPr>
        <p:blipFill>
          <a:blip r:embed="rId3"/>
          <a:stretch>
            <a:fillRect/>
          </a:stretch>
        </p:blipFill>
        <p:spPr>
          <a:xfrm>
            <a:off x="6134892" y="3620292"/>
            <a:ext cx="184343" cy="184343"/>
          </a:xfrm>
          <a:prstGeom prst="rect">
            <a:avLst/>
          </a:prstGeom>
        </p:spPr>
      </p:pic>
      <p:sp>
        <p:nvSpPr>
          <p:cNvPr id="16" name="Text 11"/>
          <p:cNvSpPr txBox="1"/>
          <p:nvPr/>
        </p:nvSpPr>
        <p:spPr>
          <a:xfrm>
            <a:off x="6537960" y="3520440"/>
            <a:ext cx="2148840" cy="384048"/>
          </a:xfrm>
          <a:prstGeom prst="rect">
            <a:avLst/>
          </a:prstGeom>
          <a:noFill/>
          <a:ln/>
        </p:spPr>
        <p:txBody>
          <a:bodyPr wrap="square" lIns="0" tIns="0" rIns="0" bIns="0" rtlCol="0" anchor="ctr"/>
          <a:lstStyle/>
          <a:p>
            <a:pPr indent="0" marL="0">
              <a:buNone/>
            </a:pPr>
            <a:r>
              <a:rPr lang="en-US" sz="1400" b="1" dirty="0">
                <a:solidFill>
                  <a:srgbClr val="1F2937"/>
                </a:solidFill>
                <a:latin typeface="Calibri" pitchFamily="34" charset="0"/>
                <a:ea typeface="Calibri" pitchFamily="34" charset="-122"/>
                <a:cs typeface="Calibri" pitchFamily="34" charset="-120"/>
              </a:rPr>
              <a:t>Illustrative</a:t>
            </a:r>
            <a:endParaRPr lang="en-US" sz="1400" dirty="0"/>
          </a:p>
        </p:txBody>
      </p:sp>
      <p:sp>
        <p:nvSpPr>
          <p:cNvPr id="17" name="Text 12"/>
          <p:cNvSpPr txBox="1"/>
          <p:nvPr/>
        </p:nvSpPr>
        <p:spPr>
          <a:xfrm>
            <a:off x="6537960" y="3904488"/>
            <a:ext cx="2148840" cy="640080"/>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The destinations are examples. Yours will differ.</a:t>
            </a:r>
            <a:endParaRPr lang="en-US" sz="1200" dirty="0"/>
          </a:p>
        </p:txBody>
      </p:sp>
      <p:sp>
        <p:nvSpPr>
          <p:cNvPr id="18" name="Text 13"/>
          <p:cNvSpPr txBox="1"/>
          <p:nvPr/>
        </p:nvSpPr>
        <p:spPr>
          <a:xfrm>
            <a:off x="457200" y="4796028"/>
            <a:ext cx="6400800" cy="201168"/>
          </a:xfrm>
          <a:prstGeom prst="rect">
            <a:avLst/>
          </a:prstGeom>
          <a:noFill/>
          <a:ln/>
        </p:spPr>
        <p:txBody>
          <a:bodyPr wrap="square" lIns="0" tIns="0" rIns="0" bIns="0" rtlCol="0" anchor="t"/>
          <a:lstStyle/>
          <a:p>
            <a:pPr indent="0" marL="0">
              <a:buNone/>
            </a:pPr>
            <a:r>
              <a:rPr lang="en-US" sz="900" dirty="0">
                <a:solidFill>
                  <a:srgbClr val="9CA3AF"/>
                </a:solidFill>
                <a:latin typeface="Calibri" pitchFamily="34" charset="0"/>
                <a:ea typeface="Calibri" pitchFamily="34" charset="-122"/>
                <a:cs typeface="Calibri" pitchFamily="34" charset="-120"/>
              </a:rPr>
              <a:t>Applied Agentic Orchestration with Semantic Kernel  ·  Lesson 17 — Agent Framework</a:t>
            </a:r>
            <a:endParaRPr lang="en-US" sz="900" dirty="0"/>
          </a:p>
        </p:txBody>
      </p:sp>
      <p:sp>
        <p:nvSpPr>
          <p:cNvPr id="19" name="Text 14"/>
          <p:cNvSpPr txBox="1"/>
          <p:nvPr/>
        </p:nvSpPr>
        <p:spPr>
          <a:xfrm>
            <a:off x="8138160" y="4796028"/>
            <a:ext cx="548640" cy="201168"/>
          </a:xfrm>
          <a:prstGeom prst="rect">
            <a:avLst/>
          </a:prstGeom>
          <a:noFill/>
          <a:ln/>
        </p:spPr>
        <p:txBody>
          <a:bodyPr wrap="square" lIns="0" tIns="0" rIns="0" bIns="0" rtlCol="0" anchor="t"/>
          <a:lstStyle/>
          <a:p>
            <a:pPr algn="r" indent="0" marL="0">
              <a:buNone/>
            </a:pPr>
            <a:r>
              <a:rPr lang="en-US" sz="900" dirty="0">
                <a:solidFill>
                  <a:srgbClr val="9CA3AF"/>
                </a:solidFill>
                <a:latin typeface="Calibri" pitchFamily="34" charset="0"/>
                <a:ea typeface="Calibri" pitchFamily="34" charset="-122"/>
                <a:cs typeface="Calibri" pitchFamily="34" charset="-120"/>
              </a:rPr>
              <a:t>8</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47472"/>
            <a:ext cx="8229600" cy="228600"/>
          </a:xfrm>
          <a:prstGeom prst="rect">
            <a:avLst/>
          </a:prstGeom>
          <a:noFill/>
          <a:ln/>
        </p:spPr>
        <p:txBody>
          <a:bodyPr wrap="square" lIns="0" tIns="0" rIns="0" bIns="0" rtlCol="0" anchor="t"/>
          <a:lstStyle/>
          <a:p>
            <a:pPr indent="0" marL="0">
              <a:buNone/>
            </a:pPr>
            <a:r>
              <a:rPr lang="en-US" sz="1100" b="1" spc="200" kern="0" dirty="0">
                <a:solidFill>
                  <a:srgbClr val="512BD4"/>
                </a:solidFill>
                <a:latin typeface="Calibri" pitchFamily="34" charset="0"/>
                <a:ea typeface="Calibri" pitchFamily="34" charset="-122"/>
                <a:cs typeface="Calibri" pitchFamily="34" charset="-120"/>
              </a:rPr>
              <a:t>EXERCISE</a:t>
            </a:r>
            <a:endParaRPr lang="en-US" sz="1100" dirty="0"/>
          </a:p>
        </p:txBody>
      </p:sp>
      <p:sp>
        <p:nvSpPr>
          <p:cNvPr id="3" name="Text 1"/>
          <p:cNvSpPr txBox="1"/>
          <p:nvPr/>
        </p:nvSpPr>
        <p:spPr>
          <a:xfrm>
            <a:off x="457200" y="566928"/>
            <a:ext cx="8229600" cy="548640"/>
          </a:xfrm>
          <a:prstGeom prst="rect">
            <a:avLst/>
          </a:prstGeom>
          <a:noFill/>
          <a:ln/>
        </p:spPr>
        <p:txBody>
          <a:bodyPr wrap="square" lIns="0" tIns="0" rIns="0" bIns="0" rtlCol="0" anchor="ctr"/>
          <a:lstStyle/>
          <a:p>
            <a:pPr indent="0" marL="0">
              <a:buNone/>
            </a:pPr>
            <a:r>
              <a:rPr lang="en-US" sz="2800" b="1" dirty="0">
                <a:solidFill>
                  <a:srgbClr val="1F2937"/>
                </a:solidFill>
                <a:latin typeface="Cambria" pitchFamily="34" charset="0"/>
                <a:ea typeface="Cambria" pitchFamily="34" charset="-122"/>
                <a:cs typeface="Cambria" pitchFamily="34" charset="-120"/>
              </a:rPr>
              <a:t>Add a reset command and a history count</a:t>
            </a:r>
            <a:endParaRPr lang="en-US" sz="2800" dirty="0"/>
          </a:p>
        </p:txBody>
      </p:sp>
      <p:sp>
        <p:nvSpPr>
          <p:cNvPr id="4" name="Shape 2"/>
          <p:cNvSpPr/>
          <p:nvPr/>
        </p:nvSpPr>
        <p:spPr>
          <a:xfrm>
            <a:off x="457200" y="1371600"/>
            <a:ext cx="3108960" cy="3017520"/>
          </a:xfrm>
          <a:prstGeom prst="roundRect">
            <a:avLst>
              <a:gd name="adj" fmla="val 2424"/>
            </a:avLst>
          </a:prstGeom>
          <a:solidFill>
            <a:srgbClr val="512BD4"/>
          </a:solidFill>
          <a:ln w="12700">
            <a:solidFill>
              <a:srgbClr val="512BD4"/>
            </a:solidFill>
            <a:prstDash val="solid"/>
          </a:ln>
        </p:spPr>
      </p:sp>
      <p:sp>
        <p:nvSpPr>
          <p:cNvPr id="5" name="Shape 3"/>
          <p:cNvSpPr/>
          <p:nvPr/>
        </p:nvSpPr>
        <p:spPr>
          <a:xfrm>
            <a:off x="685800" y="1600200"/>
            <a:ext cx="457200" cy="457200"/>
          </a:xfrm>
          <a:prstGeom prst="ellipse">
            <a:avLst/>
          </a:prstGeom>
          <a:solidFill>
            <a:srgbClr val="FFFFFF"/>
          </a:solidFill>
          <a:ln w="12700">
            <a:solidFill>
              <a:srgbClr val="FFFFFF"/>
            </a:solidFill>
            <a:prstDash val="solid"/>
          </a:ln>
        </p:spPr>
      </p:sp>
      <p:pic>
        <p:nvPicPr>
          <p:cNvPr id="6" name="Image 0" descr="preencoded.png">    </p:cNvPr>
          <p:cNvPicPr>
            <a:picLocks noChangeAspect="1"/>
          </p:cNvPicPr>
          <p:nvPr/>
        </p:nvPicPr>
        <p:blipFill>
          <a:blip r:embed="rId1"/>
          <a:stretch>
            <a:fillRect/>
          </a:stretch>
        </p:blipFill>
        <p:spPr>
          <a:xfrm>
            <a:off x="804672" y="1719072"/>
            <a:ext cx="219456" cy="219456"/>
          </a:xfrm>
          <a:prstGeom prst="rect">
            <a:avLst/>
          </a:prstGeom>
        </p:spPr>
      </p:pic>
      <p:sp>
        <p:nvSpPr>
          <p:cNvPr id="7" name="Text 4"/>
          <p:cNvSpPr txBox="1"/>
          <p:nvPr/>
        </p:nvSpPr>
        <p:spPr>
          <a:xfrm>
            <a:off x="685800" y="2194560"/>
            <a:ext cx="2651760" cy="1371600"/>
          </a:xfrm>
          <a:prstGeom prst="rect">
            <a:avLst/>
          </a:prstGeom>
          <a:noFill/>
          <a:ln/>
        </p:spPr>
        <p:txBody>
          <a:bodyPr wrap="square" lIns="0" tIns="0" rIns="0" bIns="0" rtlCol="0" anchor="t"/>
          <a:lstStyle/>
          <a:p>
            <a:pPr indent="0" marL="0">
              <a:buNone/>
            </a:pPr>
            <a:r>
              <a:rPr lang="en-US" sz="1400" dirty="0">
                <a:solidFill>
                  <a:srgbClr val="FFFFFF"/>
                </a:solidFill>
                <a:latin typeface="Calibri" pitchFamily="34" charset="0"/>
                <a:ea typeface="Calibri" pitchFamily="34" charset="-122"/>
                <a:cs typeface="Calibri" pitchFamily="34" charset="-120"/>
              </a:rPr>
              <a:t>Add a reset command that clears the ChatHistory, and print how many messages the history holds after each reply.</a:t>
            </a:r>
            <a:endParaRPr lang="en-US" sz="1400" dirty="0"/>
          </a:p>
        </p:txBody>
      </p:sp>
      <p:sp>
        <p:nvSpPr>
          <p:cNvPr id="8" name="Text 5"/>
          <p:cNvSpPr txBox="1"/>
          <p:nvPr/>
        </p:nvSpPr>
        <p:spPr>
          <a:xfrm>
            <a:off x="685800" y="3611880"/>
            <a:ext cx="2743200" cy="640080"/>
          </a:xfrm>
          <a:prstGeom prst="rect">
            <a:avLst/>
          </a:prstGeom>
          <a:noFill/>
          <a:ln/>
        </p:spPr>
        <p:txBody>
          <a:bodyPr wrap="square" lIns="0" tIns="0" rIns="0" bIns="0" rtlCol="0" anchor="b"/>
          <a:lstStyle/>
          <a:p>
            <a:pPr indent="0" marL="0">
              <a:buNone/>
            </a:pPr>
            <a:r>
              <a:rPr lang="en-US" sz="850" dirty="0">
                <a:solidFill>
                  <a:srgbClr val="B8B2E6"/>
                </a:solidFill>
                <a:latin typeface="Courier New" pitchFamily="34" charset="0"/>
                <a:ea typeface="Courier New" pitchFamily="34" charset="-122"/>
                <a:cs typeface="Courier New" pitchFamily="34" charset="-120"/>
              </a:rPr>
              <a:t>Lesson17-AgentFramework/</a:t>
            </a:r>
            <a:endParaRPr lang="en-US" sz="850" dirty="0"/>
          </a:p>
          <a:p>
            <a:pPr indent="0" marL="0">
              <a:buNone/>
            </a:pPr>
            <a:r>
              <a:rPr lang="en-US" sz="850" dirty="0">
                <a:solidFill>
                  <a:srgbClr val="B8B2E6"/>
                </a:solidFill>
                <a:latin typeface="Courier New" pitchFamily="34" charset="0"/>
                <a:ea typeface="Courier New" pitchFamily="34" charset="-122"/>
                <a:cs typeface="Courier New" pitchFamily="34" charset="-120"/>
              </a:rPr>
              <a:t>AgentFramework/Program.cs</a:t>
            </a:r>
            <a:endParaRPr lang="en-US" sz="850" dirty="0"/>
          </a:p>
        </p:txBody>
      </p:sp>
      <p:sp>
        <p:nvSpPr>
          <p:cNvPr id="9" name="Text 6"/>
          <p:cNvSpPr txBox="1"/>
          <p:nvPr/>
        </p:nvSpPr>
        <p:spPr>
          <a:xfrm>
            <a:off x="3931920" y="1371600"/>
            <a:ext cx="4754880" cy="320040"/>
          </a:xfrm>
          <a:prstGeom prst="rect">
            <a:avLst/>
          </a:prstGeom>
          <a:noFill/>
          <a:ln/>
        </p:spPr>
        <p:txBody>
          <a:bodyPr wrap="square" lIns="0" tIns="0" rIns="0" bIns="0" rtlCol="0" anchor="t"/>
          <a:lstStyle/>
          <a:p>
            <a:pPr indent="0" marL="0">
              <a:buNone/>
            </a:pPr>
            <a:r>
              <a:rPr lang="en-US" sz="1600" b="1" dirty="0">
                <a:solidFill>
                  <a:srgbClr val="1F2937"/>
                </a:solidFill>
                <a:latin typeface="Cambria" pitchFamily="34" charset="0"/>
                <a:ea typeface="Cambria" pitchFamily="34" charset="-122"/>
                <a:cs typeface="Cambria" pitchFamily="34" charset="-120"/>
              </a:rPr>
              <a:t>Done when</a:t>
            </a:r>
            <a:endParaRPr lang="en-US" sz="1600" dirty="0"/>
          </a:p>
        </p:txBody>
      </p:sp>
      <p:sp>
        <p:nvSpPr>
          <p:cNvPr id="10" name="Shape 7"/>
          <p:cNvSpPr/>
          <p:nvPr/>
        </p:nvSpPr>
        <p:spPr>
          <a:xfrm>
            <a:off x="3931920" y="1801368"/>
            <a:ext cx="292608" cy="292608"/>
          </a:xfrm>
          <a:prstGeom prst="ellipse">
            <a:avLst/>
          </a:prstGeom>
          <a:solidFill>
            <a:srgbClr val="F5A623"/>
          </a:solidFill>
          <a:ln w="12700">
            <a:solidFill>
              <a:srgbClr val="F5A623"/>
            </a:solidFill>
            <a:prstDash val="solid"/>
          </a:ln>
        </p:spPr>
      </p:sp>
      <p:pic>
        <p:nvPicPr>
          <p:cNvPr id="11" name="Image 1" descr="preencoded.png">    </p:cNvPr>
          <p:cNvPicPr>
            <a:picLocks noChangeAspect="1"/>
          </p:cNvPicPr>
          <p:nvPr/>
        </p:nvPicPr>
        <p:blipFill>
          <a:blip r:embed="rId2"/>
          <a:stretch>
            <a:fillRect/>
          </a:stretch>
        </p:blipFill>
        <p:spPr>
          <a:xfrm>
            <a:off x="4007998" y="1877446"/>
            <a:ext cx="140452" cy="140452"/>
          </a:xfrm>
          <a:prstGeom prst="rect">
            <a:avLst/>
          </a:prstGeom>
        </p:spPr>
      </p:pic>
      <p:sp>
        <p:nvSpPr>
          <p:cNvPr id="12" name="Text 8"/>
          <p:cNvSpPr txBox="1"/>
          <p:nvPr/>
        </p:nvSpPr>
        <p:spPr>
          <a:xfrm>
            <a:off x="4361688" y="1783080"/>
            <a:ext cx="4325112" cy="594360"/>
          </a:xfrm>
          <a:prstGeom prst="rect">
            <a:avLst/>
          </a:prstGeom>
          <a:noFill/>
          <a:ln/>
        </p:spPr>
        <p:txBody>
          <a:bodyPr wrap="square" lIns="0" tIns="0" rIns="0" bIns="0" rtlCol="0" anchor="t"/>
          <a:lstStyle/>
          <a:p>
            <a:pPr indent="0" marL="0">
              <a:buNone/>
            </a:pPr>
            <a:r>
              <a:rPr lang="en-US" sz="1300" dirty="0">
                <a:solidFill>
                  <a:srgbClr val="1F2937"/>
                </a:solidFill>
                <a:latin typeface="Calibri" pitchFamily="34" charset="0"/>
                <a:ea typeface="Calibri" pitchFamily="34" charset="-122"/>
                <a:cs typeface="Calibri" pitchFamily="34" charset="-120"/>
              </a:rPr>
              <a:t>Typing reset clears the history and says so</a:t>
            </a:r>
            <a:endParaRPr lang="en-US" sz="1300" dirty="0"/>
          </a:p>
        </p:txBody>
      </p:sp>
      <p:sp>
        <p:nvSpPr>
          <p:cNvPr id="13" name="Shape 9"/>
          <p:cNvSpPr/>
          <p:nvPr/>
        </p:nvSpPr>
        <p:spPr>
          <a:xfrm>
            <a:off x="3931920" y="2441448"/>
            <a:ext cx="292608" cy="292608"/>
          </a:xfrm>
          <a:prstGeom prst="ellipse">
            <a:avLst/>
          </a:prstGeom>
          <a:solidFill>
            <a:srgbClr val="F5A623"/>
          </a:solidFill>
          <a:ln w="12700">
            <a:solidFill>
              <a:srgbClr val="F5A623"/>
            </a:solidFill>
            <a:prstDash val="solid"/>
          </a:ln>
        </p:spPr>
      </p:sp>
      <p:pic>
        <p:nvPicPr>
          <p:cNvPr id="14" name="Image 2" descr="preencoded.png">    </p:cNvPr>
          <p:cNvPicPr>
            <a:picLocks noChangeAspect="1"/>
          </p:cNvPicPr>
          <p:nvPr/>
        </p:nvPicPr>
        <p:blipFill>
          <a:blip r:embed="rId3"/>
          <a:stretch>
            <a:fillRect/>
          </a:stretch>
        </p:blipFill>
        <p:spPr>
          <a:xfrm>
            <a:off x="4007998" y="2517526"/>
            <a:ext cx="140452" cy="140452"/>
          </a:xfrm>
          <a:prstGeom prst="rect">
            <a:avLst/>
          </a:prstGeom>
        </p:spPr>
      </p:pic>
      <p:sp>
        <p:nvSpPr>
          <p:cNvPr id="15" name="Text 10"/>
          <p:cNvSpPr txBox="1"/>
          <p:nvPr/>
        </p:nvSpPr>
        <p:spPr>
          <a:xfrm>
            <a:off x="4361688" y="2423160"/>
            <a:ext cx="4325112" cy="594360"/>
          </a:xfrm>
          <a:prstGeom prst="rect">
            <a:avLst/>
          </a:prstGeom>
          <a:noFill/>
          <a:ln/>
        </p:spPr>
        <p:txBody>
          <a:bodyPr wrap="square" lIns="0" tIns="0" rIns="0" bIns="0" rtlCol="0" anchor="t"/>
          <a:lstStyle/>
          <a:p>
            <a:pPr indent="0" marL="0">
              <a:buNone/>
            </a:pPr>
            <a:r>
              <a:rPr lang="en-US" sz="1300" dirty="0">
                <a:solidFill>
                  <a:srgbClr val="1F2937"/>
                </a:solidFill>
                <a:latin typeface="Calibri" pitchFamily="34" charset="0"/>
                <a:ea typeface="Calibri" pitchFamily="34" charset="-122"/>
                <a:cs typeface="Calibri" pitchFamily="34" charset="-120"/>
              </a:rPr>
              <a:t>After reset, the agent no longer knows your budget</a:t>
            </a:r>
            <a:endParaRPr lang="en-US" sz="1300" dirty="0"/>
          </a:p>
        </p:txBody>
      </p:sp>
      <p:sp>
        <p:nvSpPr>
          <p:cNvPr id="16" name="Shape 11"/>
          <p:cNvSpPr/>
          <p:nvPr/>
        </p:nvSpPr>
        <p:spPr>
          <a:xfrm>
            <a:off x="3931920" y="3081528"/>
            <a:ext cx="292608" cy="292608"/>
          </a:xfrm>
          <a:prstGeom prst="ellipse">
            <a:avLst/>
          </a:prstGeom>
          <a:solidFill>
            <a:srgbClr val="F5A623"/>
          </a:solidFill>
          <a:ln w="12700">
            <a:solidFill>
              <a:srgbClr val="F5A623"/>
            </a:solidFill>
            <a:prstDash val="solid"/>
          </a:ln>
        </p:spPr>
      </p:sp>
      <p:pic>
        <p:nvPicPr>
          <p:cNvPr id="17" name="Image 3" descr="preencoded.png">    </p:cNvPr>
          <p:cNvPicPr>
            <a:picLocks noChangeAspect="1"/>
          </p:cNvPicPr>
          <p:nvPr/>
        </p:nvPicPr>
        <p:blipFill>
          <a:blip r:embed="rId4"/>
          <a:stretch>
            <a:fillRect/>
          </a:stretch>
        </p:blipFill>
        <p:spPr>
          <a:xfrm>
            <a:off x="4007998" y="3157606"/>
            <a:ext cx="140452" cy="140452"/>
          </a:xfrm>
          <a:prstGeom prst="rect">
            <a:avLst/>
          </a:prstGeom>
        </p:spPr>
      </p:pic>
      <p:sp>
        <p:nvSpPr>
          <p:cNvPr id="18" name="Text 12"/>
          <p:cNvSpPr txBox="1"/>
          <p:nvPr/>
        </p:nvSpPr>
        <p:spPr>
          <a:xfrm>
            <a:off x="4361688" y="3063240"/>
            <a:ext cx="4325112" cy="594360"/>
          </a:xfrm>
          <a:prstGeom prst="rect">
            <a:avLst/>
          </a:prstGeom>
          <a:noFill/>
          <a:ln/>
        </p:spPr>
        <p:txBody>
          <a:bodyPr wrap="square" lIns="0" tIns="0" rIns="0" bIns="0" rtlCol="0" anchor="t"/>
          <a:lstStyle/>
          <a:p>
            <a:pPr indent="0" marL="0">
              <a:buNone/>
            </a:pPr>
            <a:r>
              <a:rPr lang="en-US" sz="1300" dirty="0">
                <a:solidFill>
                  <a:srgbClr val="1F2937"/>
                </a:solidFill>
                <a:latin typeface="Calibri" pitchFamily="34" charset="0"/>
                <a:ea typeface="Calibri" pitchFamily="34" charset="-122"/>
                <a:cs typeface="Calibri" pitchFamily="34" charset="-120"/>
              </a:rPr>
              <a:t>Each reply is followed by the message count</a:t>
            </a:r>
            <a:endParaRPr lang="en-US" sz="1300" dirty="0"/>
          </a:p>
        </p:txBody>
      </p:sp>
      <p:sp>
        <p:nvSpPr>
          <p:cNvPr id="19" name="Shape 13"/>
          <p:cNvSpPr/>
          <p:nvPr/>
        </p:nvSpPr>
        <p:spPr>
          <a:xfrm>
            <a:off x="3931920" y="3721608"/>
            <a:ext cx="292608" cy="292608"/>
          </a:xfrm>
          <a:prstGeom prst="ellipse">
            <a:avLst/>
          </a:prstGeom>
          <a:solidFill>
            <a:srgbClr val="F5A623"/>
          </a:solidFill>
          <a:ln w="12700">
            <a:solidFill>
              <a:srgbClr val="F5A623"/>
            </a:solidFill>
            <a:prstDash val="solid"/>
          </a:ln>
        </p:spPr>
      </p:sp>
      <p:pic>
        <p:nvPicPr>
          <p:cNvPr id="20" name="Image 4" descr="preencoded.png">    </p:cNvPr>
          <p:cNvPicPr>
            <a:picLocks noChangeAspect="1"/>
          </p:cNvPicPr>
          <p:nvPr/>
        </p:nvPicPr>
        <p:blipFill>
          <a:blip r:embed="rId5"/>
          <a:stretch>
            <a:fillRect/>
          </a:stretch>
        </p:blipFill>
        <p:spPr>
          <a:xfrm>
            <a:off x="4007998" y="3797686"/>
            <a:ext cx="140452" cy="140452"/>
          </a:xfrm>
          <a:prstGeom prst="rect">
            <a:avLst/>
          </a:prstGeom>
        </p:spPr>
      </p:pic>
      <p:sp>
        <p:nvSpPr>
          <p:cNvPr id="21" name="Text 14"/>
          <p:cNvSpPr txBox="1"/>
          <p:nvPr/>
        </p:nvSpPr>
        <p:spPr>
          <a:xfrm>
            <a:off x="4361688" y="3703320"/>
            <a:ext cx="4325112" cy="594360"/>
          </a:xfrm>
          <a:prstGeom prst="rect">
            <a:avLst/>
          </a:prstGeom>
          <a:noFill/>
          <a:ln/>
        </p:spPr>
        <p:txBody>
          <a:bodyPr wrap="square" lIns="0" tIns="0" rIns="0" bIns="0" rtlCol="0" anchor="t"/>
          <a:lstStyle/>
          <a:p>
            <a:pPr indent="0" marL="0">
              <a:buNone/>
            </a:pPr>
            <a:r>
              <a:rPr lang="en-US" sz="1300" dirty="0">
                <a:solidFill>
                  <a:srgbClr val="1F2937"/>
                </a:solidFill>
                <a:latin typeface="Calibri" pitchFamily="34" charset="0"/>
                <a:ea typeface="Calibri" pitchFamily="34" charset="-122"/>
                <a:cs typeface="Calibri" pitchFamily="34" charset="-120"/>
              </a:rPr>
              <a:t>Replies still list Budget, Mid-range and Luxury</a:t>
            </a:r>
            <a:endParaRPr lang="en-US" sz="1300" dirty="0"/>
          </a:p>
        </p:txBody>
      </p:sp>
      <p:sp>
        <p:nvSpPr>
          <p:cNvPr id="22" name="Text 15"/>
          <p:cNvSpPr txBox="1"/>
          <p:nvPr/>
        </p:nvSpPr>
        <p:spPr>
          <a:xfrm>
            <a:off x="457200" y="4796028"/>
            <a:ext cx="6400800" cy="201168"/>
          </a:xfrm>
          <a:prstGeom prst="rect">
            <a:avLst/>
          </a:prstGeom>
          <a:noFill/>
          <a:ln/>
        </p:spPr>
        <p:txBody>
          <a:bodyPr wrap="square" lIns="0" tIns="0" rIns="0" bIns="0" rtlCol="0" anchor="t"/>
          <a:lstStyle/>
          <a:p>
            <a:pPr indent="0" marL="0">
              <a:buNone/>
            </a:pPr>
            <a:r>
              <a:rPr lang="en-US" sz="900" dirty="0">
                <a:solidFill>
                  <a:srgbClr val="9CA3AF"/>
                </a:solidFill>
                <a:latin typeface="Calibri" pitchFamily="34" charset="0"/>
                <a:ea typeface="Calibri" pitchFamily="34" charset="-122"/>
                <a:cs typeface="Calibri" pitchFamily="34" charset="-120"/>
              </a:rPr>
              <a:t>Applied Agentic Orchestration with Semantic Kernel  ·  Lesson 17 — Agent Framework</a:t>
            </a:r>
            <a:endParaRPr lang="en-US" sz="900" dirty="0"/>
          </a:p>
        </p:txBody>
      </p:sp>
      <p:sp>
        <p:nvSpPr>
          <p:cNvPr id="23" name="Text 16"/>
          <p:cNvSpPr txBox="1"/>
          <p:nvPr/>
        </p:nvSpPr>
        <p:spPr>
          <a:xfrm>
            <a:off x="8138160" y="4796028"/>
            <a:ext cx="548640" cy="201168"/>
          </a:xfrm>
          <a:prstGeom prst="rect">
            <a:avLst/>
          </a:prstGeom>
          <a:noFill/>
          <a:ln/>
        </p:spPr>
        <p:txBody>
          <a:bodyPr wrap="square" lIns="0" tIns="0" rIns="0" bIns="0" rtlCol="0" anchor="t"/>
          <a:lstStyle/>
          <a:p>
            <a:pPr algn="r" indent="0" marL="0">
              <a:buNone/>
            </a:pPr>
            <a:r>
              <a:rPr lang="en-US" sz="900" dirty="0">
                <a:solidFill>
                  <a:srgbClr val="9CA3AF"/>
                </a:solidFill>
                <a:latin typeface="Calibri" pitchFamily="34" charset="0"/>
                <a:ea typeface="Calibri" pitchFamily="34" charset="-122"/>
                <a:cs typeface="Calibri" pitchFamily="34" charset="-120"/>
              </a:rPr>
              <a:t>9</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141B2D"/>
        </a:solidFill>
      </p:bgPr>
    </p:bg>
    <p:spTree>
      <p:nvGrpSpPr>
        <p:cNvPr id="1" name=""/>
        <p:cNvGrpSpPr/>
        <p:nvPr/>
      </p:nvGrpSpPr>
      <p:grpSpPr>
        <a:xfrm>
          <a:off x="0" y="0"/>
          <a:ext cx="0" cy="0"/>
          <a:chOff x="0" y="0"/>
          <a:chExt cx="0" cy="0"/>
        </a:xfrm>
      </p:grpSpPr>
      <p:sp>
        <p:nvSpPr>
          <p:cNvPr id="2" name="Text 0"/>
          <p:cNvSpPr txBox="1"/>
          <p:nvPr/>
        </p:nvSpPr>
        <p:spPr>
          <a:xfrm>
            <a:off x="457200" y="347472"/>
            <a:ext cx="4572000" cy="228600"/>
          </a:xfrm>
          <a:prstGeom prst="rect">
            <a:avLst/>
          </a:prstGeom>
          <a:noFill/>
          <a:ln/>
        </p:spPr>
        <p:txBody>
          <a:bodyPr wrap="square" lIns="0" tIns="0" rIns="0" bIns="0" rtlCol="0" anchor="t"/>
          <a:lstStyle/>
          <a:p>
            <a:pPr indent="0" marL="0">
              <a:buNone/>
            </a:pPr>
            <a:r>
              <a:rPr lang="en-US" sz="1100" b="1" spc="200" kern="0" dirty="0">
                <a:solidFill>
                  <a:srgbClr val="F5A623"/>
                </a:solidFill>
                <a:latin typeface="Calibri" pitchFamily="34" charset="0"/>
                <a:ea typeface="Calibri" pitchFamily="34" charset="-122"/>
                <a:cs typeface="Calibri" pitchFamily="34" charset="-120"/>
              </a:rPr>
              <a:t>SUMMARY</a:t>
            </a:r>
            <a:endParaRPr lang="en-US" sz="1100" dirty="0"/>
          </a:p>
        </p:txBody>
      </p:sp>
      <p:sp>
        <p:nvSpPr>
          <p:cNvPr id="3" name="Text 1"/>
          <p:cNvSpPr txBox="1"/>
          <p:nvPr/>
        </p:nvSpPr>
        <p:spPr>
          <a:xfrm>
            <a:off x="457200" y="566928"/>
            <a:ext cx="8229600" cy="502920"/>
          </a:xfrm>
          <a:prstGeom prst="rect">
            <a:avLst/>
          </a:prstGeom>
          <a:noFill/>
          <a:ln/>
        </p:spPr>
        <p:txBody>
          <a:bodyPr wrap="square" lIns="0" tIns="0" rIns="0" bIns="0" rtlCol="0" anchor="t"/>
          <a:lstStyle/>
          <a:p>
            <a:pPr indent="0" marL="0">
              <a:buNone/>
            </a:pPr>
            <a:r>
              <a:rPr lang="en-US" sz="2600" b="1" dirty="0">
                <a:solidFill>
                  <a:srgbClr val="FFFFFF"/>
                </a:solidFill>
                <a:latin typeface="Cambria" pitchFamily="34" charset="0"/>
                <a:ea typeface="Cambria" pitchFamily="34" charset="-122"/>
                <a:cs typeface="Cambria" pitchFamily="34" charset="-120"/>
              </a:rPr>
              <a:t>What we learned, and where it goes</a:t>
            </a:r>
            <a:endParaRPr lang="en-US" sz="2600" dirty="0"/>
          </a:p>
        </p:txBody>
      </p:sp>
      <p:sp>
        <p:nvSpPr>
          <p:cNvPr id="4" name="Shape 2"/>
          <p:cNvSpPr/>
          <p:nvPr/>
        </p:nvSpPr>
        <p:spPr>
          <a:xfrm>
            <a:off x="457200" y="1234440"/>
            <a:ext cx="2926080" cy="448056"/>
          </a:xfrm>
          <a:prstGeom prst="roundRect">
            <a:avLst>
              <a:gd name="adj" fmla="val 16327"/>
            </a:avLst>
          </a:prstGeom>
          <a:solidFill>
            <a:srgbClr val="1F2943"/>
          </a:solidFill>
          <a:ln w="12700">
            <a:solidFill>
              <a:srgbClr val="1F2943"/>
            </a:solidFill>
            <a:prstDash val="solid"/>
          </a:ln>
        </p:spPr>
      </p:sp>
      <p:sp>
        <p:nvSpPr>
          <p:cNvPr id="5" name="Text 3"/>
          <p:cNvSpPr txBox="1"/>
          <p:nvPr/>
        </p:nvSpPr>
        <p:spPr>
          <a:xfrm>
            <a:off x="621792" y="1234440"/>
            <a:ext cx="2651760" cy="448056"/>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Caller-owned ChatHistory</a:t>
            </a:r>
            <a:endParaRPr lang="en-US" sz="1300" dirty="0"/>
          </a:p>
        </p:txBody>
      </p:sp>
      <p:sp>
        <p:nvSpPr>
          <p:cNvPr id="6" name="Shape 4"/>
          <p:cNvSpPr/>
          <p:nvPr/>
        </p:nvSpPr>
        <p:spPr>
          <a:xfrm>
            <a:off x="3493008" y="1367028"/>
            <a:ext cx="329184" cy="182880"/>
          </a:xfrm>
          <a:prstGeom prst="rightArrow">
            <a:avLst/>
          </a:prstGeom>
          <a:solidFill>
            <a:srgbClr val="F5A623"/>
          </a:solidFill>
          <a:ln w="12700">
            <a:solidFill>
              <a:srgbClr val="F5A623"/>
            </a:solidFill>
            <a:prstDash val="solid"/>
          </a:ln>
        </p:spPr>
      </p:sp>
      <p:sp>
        <p:nvSpPr>
          <p:cNvPr id="7" name="Text 5"/>
          <p:cNvSpPr txBox="1"/>
          <p:nvPr/>
        </p:nvSpPr>
        <p:spPr>
          <a:xfrm>
            <a:off x="3977640" y="1234440"/>
            <a:ext cx="4709160" cy="448056"/>
          </a:xfrm>
          <a:prstGeom prst="rect">
            <a:avLst/>
          </a:prstGeom>
          <a:noFill/>
          <a:ln/>
        </p:spPr>
        <p:txBody>
          <a:bodyPr wrap="square" lIns="0" tIns="0" rIns="0" bIns="0" rtlCol="0" anchor="ctr"/>
          <a:lstStyle/>
          <a:p>
            <a:pPr indent="0" marL="0">
              <a:buNone/>
            </a:pPr>
            <a:r>
              <a:rPr lang="en-US" sz="1250" b="1" dirty="0">
                <a:solidFill>
                  <a:srgbClr val="F5A623"/>
                </a:solidFill>
                <a:latin typeface="Calibri" pitchFamily="34" charset="0"/>
                <a:ea typeface="Calibri" pitchFamily="34" charset="-122"/>
                <a:cs typeface="Calibri" pitchFamily="34" charset="-120"/>
              </a:rPr>
              <a:t>Lesson 18  </a:t>
            </a:r>
            <a:pPr indent="0" marL="0">
              <a:buNone/>
            </a:pPr>
            <a:r>
              <a:rPr lang="en-US" sz="1250" dirty="0">
                <a:solidFill>
                  <a:srgbClr val="FFFFFF"/>
                </a:solidFill>
                <a:latin typeface="Calibri" pitchFamily="34" charset="0"/>
                <a:ea typeface="Calibri" pitchFamily="34" charset="-122"/>
                <a:cs typeface="Calibri" pitchFamily="34" charset="-120"/>
              </a:rPr>
              <a:t>Two personas share one conversation</a:t>
            </a:r>
            <a:endParaRPr lang="en-US" sz="1250" dirty="0"/>
          </a:p>
        </p:txBody>
      </p:sp>
      <p:sp>
        <p:nvSpPr>
          <p:cNvPr id="8" name="Shape 6"/>
          <p:cNvSpPr/>
          <p:nvPr/>
        </p:nvSpPr>
        <p:spPr>
          <a:xfrm>
            <a:off x="457200" y="1792224"/>
            <a:ext cx="2926080" cy="448056"/>
          </a:xfrm>
          <a:prstGeom prst="roundRect">
            <a:avLst>
              <a:gd name="adj" fmla="val 16327"/>
            </a:avLst>
          </a:prstGeom>
          <a:solidFill>
            <a:srgbClr val="1F2943"/>
          </a:solidFill>
          <a:ln w="12700">
            <a:solidFill>
              <a:srgbClr val="1F2943"/>
            </a:solidFill>
            <a:prstDash val="solid"/>
          </a:ln>
        </p:spPr>
      </p:sp>
      <p:sp>
        <p:nvSpPr>
          <p:cNvPr id="9" name="Text 7"/>
          <p:cNvSpPr txBox="1"/>
          <p:nvPr/>
        </p:nvSpPr>
        <p:spPr>
          <a:xfrm>
            <a:off x="621792" y="1792224"/>
            <a:ext cx="2651760" cy="448056"/>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Persona per worker</a:t>
            </a:r>
            <a:endParaRPr lang="en-US" sz="1300" dirty="0"/>
          </a:p>
        </p:txBody>
      </p:sp>
      <p:sp>
        <p:nvSpPr>
          <p:cNvPr id="10" name="Shape 8"/>
          <p:cNvSpPr/>
          <p:nvPr/>
        </p:nvSpPr>
        <p:spPr>
          <a:xfrm>
            <a:off x="3493008" y="1924812"/>
            <a:ext cx="329184" cy="182880"/>
          </a:xfrm>
          <a:prstGeom prst="rightArrow">
            <a:avLst/>
          </a:prstGeom>
          <a:solidFill>
            <a:srgbClr val="F5A623"/>
          </a:solidFill>
          <a:ln w="12700">
            <a:solidFill>
              <a:srgbClr val="F5A623"/>
            </a:solidFill>
            <a:prstDash val="solid"/>
          </a:ln>
        </p:spPr>
      </p:sp>
      <p:sp>
        <p:nvSpPr>
          <p:cNvPr id="11" name="Text 9"/>
          <p:cNvSpPr txBox="1"/>
          <p:nvPr/>
        </p:nvSpPr>
        <p:spPr>
          <a:xfrm>
            <a:off x="3977640" y="1792224"/>
            <a:ext cx="4709160" cy="448056"/>
          </a:xfrm>
          <a:prstGeom prst="rect">
            <a:avLst/>
          </a:prstGeom>
          <a:noFill/>
          <a:ln/>
        </p:spPr>
        <p:txBody>
          <a:bodyPr wrap="square" lIns="0" tIns="0" rIns="0" bIns="0" rtlCol="0" anchor="ctr"/>
          <a:lstStyle/>
          <a:p>
            <a:pPr indent="0" marL="0">
              <a:buNone/>
            </a:pPr>
            <a:r>
              <a:rPr lang="en-US" sz="1250" b="1" dirty="0">
                <a:solidFill>
                  <a:srgbClr val="F5A623"/>
                </a:solidFill>
                <a:latin typeface="Calibri" pitchFamily="34" charset="0"/>
                <a:ea typeface="Calibri" pitchFamily="34" charset="-122"/>
                <a:cs typeface="Calibri" pitchFamily="34" charset="-120"/>
              </a:rPr>
              <a:t>Lesson 20  </a:t>
            </a:r>
            <a:pPr indent="0" marL="0">
              <a:buNone/>
            </a:pPr>
            <a:r>
              <a:rPr lang="en-US" sz="1250" dirty="0">
                <a:solidFill>
                  <a:srgbClr val="FFFFFF"/>
                </a:solidFill>
                <a:latin typeface="Calibri" pitchFamily="34" charset="0"/>
                <a:ea typeface="Calibri" pitchFamily="34" charset="-122"/>
                <a:cs typeface="Calibri" pitchFamily="34" charset="-120"/>
              </a:rPr>
              <a:t>AiWorker drafts; a human must approve</a:t>
            </a:r>
            <a:endParaRPr lang="en-US" sz="1250" dirty="0"/>
          </a:p>
        </p:txBody>
      </p:sp>
      <p:sp>
        <p:nvSpPr>
          <p:cNvPr id="12" name="Shape 10"/>
          <p:cNvSpPr/>
          <p:nvPr/>
        </p:nvSpPr>
        <p:spPr>
          <a:xfrm>
            <a:off x="457200" y="2350008"/>
            <a:ext cx="2926080" cy="448056"/>
          </a:xfrm>
          <a:prstGeom prst="roundRect">
            <a:avLst>
              <a:gd name="adj" fmla="val 16327"/>
            </a:avLst>
          </a:prstGeom>
          <a:solidFill>
            <a:srgbClr val="1F2943"/>
          </a:solidFill>
          <a:ln w="12700">
            <a:solidFill>
              <a:srgbClr val="1F2943"/>
            </a:solidFill>
            <a:prstDash val="solid"/>
          </a:ln>
        </p:spPr>
      </p:sp>
      <p:sp>
        <p:nvSpPr>
          <p:cNvPr id="13" name="Text 11"/>
          <p:cNvSpPr txBox="1"/>
          <p:nvPr/>
        </p:nvSpPr>
        <p:spPr>
          <a:xfrm>
            <a:off x="621792" y="2350008"/>
            <a:ext cx="2651760" cy="448056"/>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Agents as objects</a:t>
            </a:r>
            <a:endParaRPr lang="en-US" sz="1300" dirty="0"/>
          </a:p>
        </p:txBody>
      </p:sp>
      <p:sp>
        <p:nvSpPr>
          <p:cNvPr id="14" name="Shape 12"/>
          <p:cNvSpPr/>
          <p:nvPr/>
        </p:nvSpPr>
        <p:spPr>
          <a:xfrm>
            <a:off x="3493008" y="2482596"/>
            <a:ext cx="329184" cy="182880"/>
          </a:xfrm>
          <a:prstGeom prst="rightArrow">
            <a:avLst/>
          </a:prstGeom>
          <a:solidFill>
            <a:srgbClr val="F5A623"/>
          </a:solidFill>
          <a:ln w="12700">
            <a:solidFill>
              <a:srgbClr val="F5A623"/>
            </a:solidFill>
            <a:prstDash val="solid"/>
          </a:ln>
        </p:spPr>
      </p:sp>
      <p:sp>
        <p:nvSpPr>
          <p:cNvPr id="15" name="Text 13"/>
          <p:cNvSpPr txBox="1"/>
          <p:nvPr/>
        </p:nvSpPr>
        <p:spPr>
          <a:xfrm>
            <a:off x="3977640" y="2350008"/>
            <a:ext cx="4709160" cy="448056"/>
          </a:xfrm>
          <a:prstGeom prst="rect">
            <a:avLst/>
          </a:prstGeom>
          <a:noFill/>
          <a:ln/>
        </p:spPr>
        <p:txBody>
          <a:bodyPr wrap="square" lIns="0" tIns="0" rIns="0" bIns="0" rtlCol="0" anchor="ctr"/>
          <a:lstStyle/>
          <a:p>
            <a:pPr indent="0" marL="0">
              <a:buNone/>
            </a:pPr>
            <a:r>
              <a:rPr lang="en-US" sz="1250" b="1" dirty="0">
                <a:solidFill>
                  <a:srgbClr val="F5A623"/>
                </a:solidFill>
                <a:latin typeface="Calibri" pitchFamily="34" charset="0"/>
                <a:ea typeface="Calibri" pitchFamily="34" charset="-122"/>
                <a:cs typeface="Calibri" pitchFamily="34" charset="-120"/>
              </a:rPr>
              <a:t>Lesson 26  </a:t>
            </a:r>
            <a:pPr indent="0" marL="0">
              <a:buNone/>
            </a:pPr>
            <a:r>
              <a:rPr lang="en-US" sz="1250" dirty="0">
                <a:solidFill>
                  <a:srgbClr val="FFFFFF"/>
                </a:solidFill>
                <a:latin typeface="Calibri" pitchFamily="34" charset="0"/>
                <a:ea typeface="Calibri" pitchFamily="34" charset="-122"/>
                <a:cs typeface="Calibri" pitchFamily="34" charset="-120"/>
              </a:rPr>
              <a:t>A TargetAgent answers and a JudgeAgent scores</a:t>
            </a:r>
            <a:endParaRPr lang="en-US" sz="1250" dirty="0"/>
          </a:p>
        </p:txBody>
      </p:sp>
      <p:sp>
        <p:nvSpPr>
          <p:cNvPr id="16" name="Shape 14"/>
          <p:cNvSpPr/>
          <p:nvPr/>
        </p:nvSpPr>
        <p:spPr>
          <a:xfrm>
            <a:off x="457200" y="2907792"/>
            <a:ext cx="2926080" cy="448056"/>
          </a:xfrm>
          <a:prstGeom prst="roundRect">
            <a:avLst>
              <a:gd name="adj" fmla="val 16327"/>
            </a:avLst>
          </a:prstGeom>
          <a:solidFill>
            <a:srgbClr val="1F2943"/>
          </a:solidFill>
          <a:ln w="12700">
            <a:solidFill>
              <a:srgbClr val="1F2943"/>
            </a:solidFill>
            <a:prstDash val="solid"/>
          </a:ln>
        </p:spPr>
      </p:sp>
      <p:sp>
        <p:nvSpPr>
          <p:cNvPr id="17" name="Text 15"/>
          <p:cNvSpPr txBox="1"/>
          <p:nvPr/>
        </p:nvSpPr>
        <p:spPr>
          <a:xfrm>
            <a:off x="621792" y="2907792"/>
            <a:ext cx="2651760" cy="448056"/>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Specialised agents</a:t>
            </a:r>
            <a:endParaRPr lang="en-US" sz="1300" dirty="0"/>
          </a:p>
        </p:txBody>
      </p:sp>
      <p:sp>
        <p:nvSpPr>
          <p:cNvPr id="18" name="Shape 16"/>
          <p:cNvSpPr/>
          <p:nvPr/>
        </p:nvSpPr>
        <p:spPr>
          <a:xfrm>
            <a:off x="3493008" y="3040380"/>
            <a:ext cx="329184" cy="182880"/>
          </a:xfrm>
          <a:prstGeom prst="rightArrow">
            <a:avLst/>
          </a:prstGeom>
          <a:solidFill>
            <a:srgbClr val="F5A623"/>
          </a:solidFill>
          <a:ln w="12700">
            <a:solidFill>
              <a:srgbClr val="F5A623"/>
            </a:solidFill>
            <a:prstDash val="solid"/>
          </a:ln>
        </p:spPr>
      </p:sp>
      <p:sp>
        <p:nvSpPr>
          <p:cNvPr id="19" name="Text 17"/>
          <p:cNvSpPr txBox="1"/>
          <p:nvPr/>
        </p:nvSpPr>
        <p:spPr>
          <a:xfrm>
            <a:off x="3977640" y="2907792"/>
            <a:ext cx="4709160" cy="448056"/>
          </a:xfrm>
          <a:prstGeom prst="rect">
            <a:avLst/>
          </a:prstGeom>
          <a:noFill/>
          <a:ln/>
        </p:spPr>
        <p:txBody>
          <a:bodyPr wrap="square" lIns="0" tIns="0" rIns="0" bIns="0" rtlCol="0" anchor="ctr"/>
          <a:lstStyle/>
          <a:p>
            <a:pPr indent="0" marL="0">
              <a:buNone/>
            </a:pPr>
            <a:r>
              <a:rPr lang="en-US" sz="1250" b="1" dirty="0">
                <a:solidFill>
                  <a:srgbClr val="F5A623"/>
                </a:solidFill>
                <a:latin typeface="Calibri" pitchFamily="34" charset="0"/>
                <a:ea typeface="Calibri" pitchFamily="34" charset="-122"/>
                <a:cs typeface="Calibri" pitchFamily="34" charset="-120"/>
              </a:rPr>
              <a:t>Lesson 28  </a:t>
            </a:r>
            <a:pPr indent="0" marL="0">
              <a:buNone/>
            </a:pPr>
            <a:r>
              <a:rPr lang="en-US" sz="1250" dirty="0">
                <a:solidFill>
                  <a:srgbClr val="FFFFFF"/>
                </a:solidFill>
                <a:latin typeface="Calibri" pitchFamily="34" charset="0"/>
                <a:ea typeface="Calibri" pitchFamily="34" charset="-122"/>
                <a:cs typeface="Calibri" pitchFamily="34" charset="-120"/>
              </a:rPr>
              <a:t>GoalRefiner, Planner and Developer agents</a:t>
            </a:r>
            <a:endParaRPr lang="en-US" sz="1250" dirty="0"/>
          </a:p>
        </p:txBody>
      </p:sp>
      <p:sp>
        <p:nvSpPr>
          <p:cNvPr id="20" name="Shape 18"/>
          <p:cNvSpPr/>
          <p:nvPr/>
        </p:nvSpPr>
        <p:spPr>
          <a:xfrm>
            <a:off x="457200" y="3465576"/>
            <a:ext cx="2926080" cy="448056"/>
          </a:xfrm>
          <a:prstGeom prst="roundRect">
            <a:avLst>
              <a:gd name="adj" fmla="val 16327"/>
            </a:avLst>
          </a:prstGeom>
          <a:solidFill>
            <a:srgbClr val="1F2943"/>
          </a:solidFill>
          <a:ln w="12700">
            <a:solidFill>
              <a:srgbClr val="1F2943"/>
            </a:solidFill>
            <a:prstDash val="solid"/>
          </a:ln>
        </p:spPr>
      </p:sp>
      <p:sp>
        <p:nvSpPr>
          <p:cNvPr id="21" name="Text 19"/>
          <p:cNvSpPr txBox="1"/>
          <p:nvPr/>
        </p:nvSpPr>
        <p:spPr>
          <a:xfrm>
            <a:off x="621792" y="3465576"/>
            <a:ext cx="2651760" cy="448056"/>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The Agents.* packages</a:t>
            </a:r>
            <a:endParaRPr lang="en-US" sz="1300" dirty="0"/>
          </a:p>
        </p:txBody>
      </p:sp>
      <p:sp>
        <p:nvSpPr>
          <p:cNvPr id="22" name="Shape 20"/>
          <p:cNvSpPr/>
          <p:nvPr/>
        </p:nvSpPr>
        <p:spPr>
          <a:xfrm>
            <a:off x="3493008" y="3598164"/>
            <a:ext cx="329184" cy="182880"/>
          </a:xfrm>
          <a:prstGeom prst="rightArrow">
            <a:avLst/>
          </a:prstGeom>
          <a:solidFill>
            <a:srgbClr val="F5A623"/>
          </a:solidFill>
          <a:ln w="12700">
            <a:solidFill>
              <a:srgbClr val="F5A623"/>
            </a:solidFill>
            <a:prstDash val="solid"/>
          </a:ln>
        </p:spPr>
      </p:sp>
      <p:sp>
        <p:nvSpPr>
          <p:cNvPr id="23" name="Text 21"/>
          <p:cNvSpPr txBox="1"/>
          <p:nvPr/>
        </p:nvSpPr>
        <p:spPr>
          <a:xfrm>
            <a:off x="3977640" y="3465576"/>
            <a:ext cx="4709160" cy="448056"/>
          </a:xfrm>
          <a:prstGeom prst="rect">
            <a:avLst/>
          </a:prstGeom>
          <a:noFill/>
          <a:ln/>
        </p:spPr>
        <p:txBody>
          <a:bodyPr wrap="square" lIns="0" tIns="0" rIns="0" bIns="0" rtlCol="0" anchor="ctr"/>
          <a:lstStyle/>
          <a:p>
            <a:pPr indent="0" marL="0">
              <a:buNone/>
            </a:pPr>
            <a:r>
              <a:rPr lang="en-US" sz="1250" b="1" dirty="0">
                <a:solidFill>
                  <a:srgbClr val="F5A623"/>
                </a:solidFill>
                <a:latin typeface="Calibri" pitchFamily="34" charset="0"/>
                <a:ea typeface="Calibri" pitchFamily="34" charset="-122"/>
                <a:cs typeface="Calibri" pitchFamily="34" charset="-120"/>
              </a:rPr>
              <a:t>Lesson 34  </a:t>
            </a:r>
            <a:pPr indent="0" marL="0">
              <a:buNone/>
            </a:pPr>
            <a:r>
              <a:rPr lang="en-US" sz="1250" dirty="0">
                <a:solidFill>
                  <a:srgbClr val="FFFFFF"/>
                </a:solidFill>
                <a:latin typeface="Calibri" pitchFamily="34" charset="0"/>
                <a:ea typeface="Calibri" pitchFamily="34" charset="-122"/>
                <a:cs typeface="Calibri" pitchFamily="34" charset="-120"/>
              </a:rPr>
              <a:t>SK's group chat proved flaky; hand-rolled instead</a:t>
            </a:r>
            <a:endParaRPr lang="en-US" sz="1250" dirty="0"/>
          </a:p>
        </p:txBody>
      </p:sp>
      <p:sp>
        <p:nvSpPr>
          <p:cNvPr id="24" name="Text 22"/>
          <p:cNvSpPr txBox="1"/>
          <p:nvPr/>
        </p:nvSpPr>
        <p:spPr>
          <a:xfrm>
            <a:off x="457200" y="4224528"/>
            <a:ext cx="8229600" cy="320040"/>
          </a:xfrm>
          <a:prstGeom prst="rect">
            <a:avLst/>
          </a:prstGeom>
          <a:noFill/>
          <a:ln/>
        </p:spPr>
        <p:txBody>
          <a:bodyPr wrap="square" lIns="0" tIns="0" rIns="0" bIns="0" rtlCol="0" anchor="t"/>
          <a:lstStyle/>
          <a:p>
            <a:pPr indent="0" marL="0">
              <a:buNone/>
            </a:pPr>
            <a:r>
              <a:rPr lang="en-US" sz="1300" dirty="0">
                <a:solidFill>
                  <a:srgbClr val="B8B2E6"/>
                </a:solidFill>
                <a:latin typeface="Calibri" pitchFamily="34" charset="0"/>
                <a:ea typeface="Calibri" pitchFamily="34" charset="-122"/>
                <a:cs typeface="Calibri" pitchFamily="34" charset="-120"/>
              </a:rPr>
              <a:t>Ships in  </a:t>
            </a:r>
            <a:pPr indent="0" marL="0">
              <a:buNone/>
            </a:pPr>
            <a:r>
              <a:rPr lang="en-US" sz="1300" b="1" dirty="0">
                <a:solidFill>
                  <a:srgbClr val="FFFFFF"/>
                </a:solidFill>
                <a:latin typeface="Calibri" pitchFamily="34" charset="0"/>
                <a:ea typeface="Calibri" pitchFamily="34" charset="-122"/>
                <a:cs typeface="Calibri" pitchFamily="34" charset="-120"/>
              </a:rPr>
              <a:t>Part 1: Foundations &amp; Core Orchestration</a:t>
            </a:r>
            <a:endParaRPr lang="en-US" sz="1300" dirty="0"/>
          </a:p>
        </p:txBody>
      </p:sp>
      <p:sp>
        <p:nvSpPr>
          <p:cNvPr id="25" name="Text 23"/>
          <p:cNvSpPr txBox="1"/>
          <p:nvPr/>
        </p:nvSpPr>
        <p:spPr>
          <a:xfrm>
            <a:off x="457200" y="4796028"/>
            <a:ext cx="6400800" cy="201168"/>
          </a:xfrm>
          <a:prstGeom prst="rect">
            <a:avLst/>
          </a:prstGeom>
          <a:noFill/>
          <a:ln/>
        </p:spPr>
        <p:txBody>
          <a:bodyPr wrap="square" lIns="0" tIns="0" rIns="0" bIns="0" rtlCol="0" anchor="t"/>
          <a:lstStyle/>
          <a:p>
            <a:pPr indent="0" marL="0">
              <a:buNone/>
            </a:pPr>
            <a:r>
              <a:rPr lang="en-US" sz="900" dirty="0">
                <a:solidFill>
                  <a:srgbClr val="B8B2E6"/>
                </a:solidFill>
                <a:latin typeface="Calibri" pitchFamily="34" charset="0"/>
                <a:ea typeface="Calibri" pitchFamily="34" charset="-122"/>
                <a:cs typeface="Calibri" pitchFamily="34" charset="-120"/>
              </a:rPr>
              <a:t>Applied Agentic Orchestration with Semantic Kernel  ·  Lesson 17 — Agent Framework</a:t>
            </a:r>
            <a:endParaRPr lang="en-US" sz="900" dirty="0"/>
          </a:p>
        </p:txBody>
      </p:sp>
      <p:sp>
        <p:nvSpPr>
          <p:cNvPr id="26" name="Text 24"/>
          <p:cNvSpPr txBox="1"/>
          <p:nvPr/>
        </p:nvSpPr>
        <p:spPr>
          <a:xfrm>
            <a:off x="8138160" y="4796028"/>
            <a:ext cx="548640" cy="201168"/>
          </a:xfrm>
          <a:prstGeom prst="rect">
            <a:avLst/>
          </a:prstGeom>
          <a:noFill/>
          <a:ln/>
        </p:spPr>
        <p:txBody>
          <a:bodyPr wrap="square" lIns="0" tIns="0" rIns="0" bIns="0" rtlCol="0" anchor="t"/>
          <a:lstStyle/>
          <a:p>
            <a:pPr algn="r" indent="0" marL="0">
              <a:buNone/>
            </a:pPr>
            <a:r>
              <a:rPr lang="en-US" sz="900" dirty="0">
                <a:solidFill>
                  <a:srgbClr val="B8B2E6"/>
                </a:solidFill>
                <a:latin typeface="Calibri" pitchFamily="34" charset="0"/>
                <a:ea typeface="Calibri" pitchFamily="34" charset="-122"/>
                <a:cs typeface="Calibri" pitchFamily="34" charset="-120"/>
              </a:rPr>
              <a:t>10</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Lesson 17 — Agent Framework</dc:title>
  <dc:subject>PptxGenJS Presentation</dc:subject>
  <dc:creator>Media Six LLC</dc:creator>
  <cp:lastModifiedBy>Media Six LLC</cp:lastModifiedBy>
  <cp:revision>1</cp:revision>
  <dcterms:created xsi:type="dcterms:W3CDTF">2026-10-21T23:27:17Z</dcterms:created>
  <dcterms:modified xsi:type="dcterms:W3CDTF">2026-10-21T23:27:17Z</dcterms:modified>
</cp:coreProperties>
</file>