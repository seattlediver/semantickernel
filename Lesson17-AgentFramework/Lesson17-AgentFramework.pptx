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chat lesson so far has wired an IChatCompletionService and a ChatHistory together by hand. This lesson introduces Semantic Kernel's Agent Framework through ChatCompletionAgent. We build an interactive travel-planning chatbot, but the persona, the model connection and the generation settings are bundled into one reusable travelAgent object with a Name and Instructions. The conversation loop calls travelAgent.InvokeAsync with the chat history instead of talking to the chat completion service directly. This object model is the bridge to the multi-agent lessons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1, the persona was the first message in a ChatHistory, and each turn called GetChatMessageContentAsync on the chat service directly. Everything we did by hand still happens here: injecting a persona, keeping a history, calling the model. The difference is packaging. The persona now lives in the agent's Instructions instead of the transcript, the agent is invoked with InvokeAsync, and execution settings such as temperature are attached once, as default Arguments, rather than passed on every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adds one package: Microsoft.SemanticKernel.Agents.Core, version 1.78.0, which provides ChatCompletionAgent in the Microsoft.SemanticKernel.Agents namespace. Alongside it you keep the usual Microsoft.SemanticKernel and Connectors.OpenAI packages at the same version, on .NET 10. The key comes from OPENAI_API_KEY, and the kernel registers gpt-4.1-mini with AddOpenAIChatCompletion exactly as in earlier lessons. The agent simply uses that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creates the agent with an object initializer and four properties. Name is TravelAssistant, and it appears as the AuthorName on each reply. Instructions holds the persona: a world-class travel planner who always gives three options, Budget, Mid-range and Luxury. Kernel supplies the OpenAI chat service the agent uses under the hood. And Arguments carries default execution settings, here an OpenAIPromptExecutionSettings with Temperature 0.5, so they apply to every call without being passed each time. Who the agent is now lives on the object, separate from the conversation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turn of the loop follows the same five moves. Read a line from the console; a blank line or exit ends the program. Add it to the shared ChatHistory with AddUserMessage. Then, highlighted, invoke the agent with travelAgent.InvokeAsync, passing the history. For each message the agent yields, print its author name and content, and append it back to the history with chatHistory.Add, so the next turn has the full context. The call sits inside a try/catch, so a rate limit or network blip prints an error and lets you try again instead of ending the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worth being precise about the split. The agent owns its persona, its model connection and its default settings. It does not silently manage conversation memory. Your code owns the ChatHistory, decides what goes into it, runs the loop and handles errors. That design is deliberate: because the history belongs to the caller, the same history can be handed to more than one agent, which is exactly the shared-history pattern the next lesson builds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details in the loop are worth pointing out. First, InvokeAsync returns an IAsyncEnumerable, which we consume with await foreach. That reflects that an agent's turn can, in general, produce more than one message. Second, each item wraps the actual chat message, so we read message.Message.AuthorName and message.Message.Content when printing, and pass the item straight to chatHistory.Add. Third, the await foreach is wrapped in a try/catch. A failed call prints The agent could not complete this turn with the error, and the while loop continues, so one bad turn doesn't lose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The banner prints exactly as it is spelled in the source, Tarvel Agent Framework Initialized, typo included. Type a request with a budget, and after the AGENT IS THINKING line the reply is printed with the agent's name, TravelAssistant, in front. Because of the Instructions, the reply should be organised into Budget, Mid-range and Luxury options. The destinations on this slide are illustrative; the model's suggestions will differ. Ask a follow-up and the agent remembers your budget, because the loop appends each reply to the shared history. Type exit to quit.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reset command to the loop that clears the ChatHistory and prints a confirmation. Test it by giving a budget, resetting, and asking a follow-up: the agent should no longer know the budget, which proves that memory lives in the history you own, not in the agent. While you are in the file, fix the typos in the persona text and the banner, and add the missing space between the first two sentences of the Instructions. Confirm the replies still come back in three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added the Agents.Core package, built a ChatCompletionAgent with a Name, Instructions, a Kernel and default Arguments, invoked it as an async stream, and kept ownership of the ChatHistory ourselves. Lesson 18 has two personas collaborate over one shared history. Lesson 20 gives an AiWorker its own persona and puts a human approval gate after it. Lesson 26 pairs a TargetAgent with a JudgeAgent that scores its answers. Lesson 28 builds the capstone's specialised GoalRefiner, Planner and Developer agents. And in Lesson 34, Semantic Kernel's experimental group-chat orchestration from the Agents packages proved unreliable in live testing, so that lesson hand-rolls the pattern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17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Agent Framework</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Persona, model and settings bundled into one ChatCompletionAgent</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Kernel + ChatHistory</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TravelAssistant agent</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Add the Agents.Core package</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Build a ChatCompletionAgent with Name and Instructions</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Attach default Arguments such as Temperature</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Stream a turn's replies with InvokeAsync</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Keep ownership of the ChatHistory</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hand-wired chat loop to an agent object</a:t>
            </a:r>
            <a:endParaRPr lang="en-US" sz="280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 manual chat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Persona seeded as a system message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Call the chat service yourself</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Settings passed on every call</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17: agent object</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Persona lives in Instructions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Call travelAgent.InvokeAsync</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Default Arguments set once</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same work happens underneath; the agent object packages it.</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new package joins the familiar setup</a:t>
            </a:r>
            <a:endParaRPr lang="en-US" sz="2800" dirty="0"/>
          </a:p>
        </p:txBody>
      </p:sp>
      <p:sp>
        <p:nvSpPr>
          <p:cNvPr id="4" name="Shape 2"/>
          <p:cNvSpPr/>
          <p:nvPr/>
        </p:nvSpPr>
        <p:spPr>
          <a:xfrm>
            <a:off x="457200" y="1371600"/>
            <a:ext cx="3977640" cy="1143000"/>
          </a:xfrm>
          <a:prstGeom prst="roundRect">
            <a:avLst>
              <a:gd name="adj" fmla="val 6400"/>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Agents.Core</a:t>
            </a:r>
            <a:endParaRPr lang="en-US" sz="1500" dirty="0"/>
          </a:p>
        </p:txBody>
      </p:sp>
      <p:sp>
        <p:nvSpPr>
          <p:cNvPr id="8" name="Text 5"/>
          <p:cNvSpPr txBox="1"/>
          <p:nvPr/>
        </p:nvSpPr>
        <p:spPr>
          <a:xfrm>
            <a:off x="640080" y="2057400"/>
            <a:ext cx="361188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Microsoft.SemanticKernel.Agents.Core 1.78.0 provides ChatCompletionAgent.</a:t>
            </a:r>
            <a:endParaRPr lang="en-US" sz="1200" dirty="0"/>
          </a:p>
        </p:txBody>
      </p:sp>
      <p:sp>
        <p:nvSpPr>
          <p:cNvPr id="9" name="Shape 6"/>
          <p:cNvSpPr/>
          <p:nvPr/>
        </p:nvSpPr>
        <p:spPr>
          <a:xfrm>
            <a:off x="4709160" y="1371600"/>
            <a:ext cx="3977640" cy="1143000"/>
          </a:xfrm>
          <a:prstGeom prst="roundRect">
            <a:avLst>
              <a:gd name="adj" fmla="val 6400"/>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Core packages</a:t>
            </a:r>
            <a:endParaRPr lang="en-US" sz="1500" dirty="0"/>
          </a:p>
        </p:txBody>
      </p:sp>
      <p:sp>
        <p:nvSpPr>
          <p:cNvPr id="13" name="Text 9"/>
          <p:cNvSpPr txBox="1"/>
          <p:nvPr/>
        </p:nvSpPr>
        <p:spPr>
          <a:xfrm>
            <a:off x="4892040" y="20574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Connectors.OpenAI, also version 1.78.0.</a:t>
            </a:r>
            <a:endParaRPr lang="en-US" sz="1200" dirty="0"/>
          </a:p>
        </p:txBody>
      </p:sp>
      <p:sp>
        <p:nvSpPr>
          <p:cNvPr id="14" name="Shape 10"/>
          <p:cNvSpPr/>
          <p:nvPr/>
        </p:nvSpPr>
        <p:spPr>
          <a:xfrm>
            <a:off x="457200" y="2743200"/>
            <a:ext cx="3977640" cy="1143000"/>
          </a:xfrm>
          <a:prstGeom prst="roundRect">
            <a:avLst>
              <a:gd name="adj" fmla="val 6400"/>
            </a:avLst>
          </a:prstGeom>
          <a:solidFill>
            <a:srgbClr val="EFEBFC"/>
          </a:solidFill>
          <a:ln w="12700">
            <a:solidFill>
              <a:srgbClr val="EFEBFC"/>
            </a:solidFill>
            <a:prstDash val="solid"/>
          </a:ln>
        </p:spPr>
      </p:sp>
      <p:sp>
        <p:nvSpPr>
          <p:cNvPr id="15" name="Shape 11"/>
          <p:cNvSpPr/>
          <p:nvPr/>
        </p:nvSpPr>
        <p:spPr>
          <a:xfrm>
            <a:off x="640080" y="29260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025932"/>
            <a:ext cx="184343" cy="184343"/>
          </a:xfrm>
          <a:prstGeom prst="rect">
            <a:avLst/>
          </a:prstGeom>
        </p:spPr>
      </p:pic>
      <p:sp>
        <p:nvSpPr>
          <p:cNvPr id="17" name="Text 12"/>
          <p:cNvSpPr txBox="1"/>
          <p:nvPr/>
        </p:nvSpPr>
        <p:spPr>
          <a:xfrm>
            <a:off x="114300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The app throws at startup if it is missing.</a:t>
            </a:r>
            <a:endParaRPr lang="en-US" sz="1200" dirty="0"/>
          </a:p>
        </p:txBody>
      </p:sp>
      <p:sp>
        <p:nvSpPr>
          <p:cNvPr id="19" name="Shape 14"/>
          <p:cNvSpPr/>
          <p:nvPr/>
        </p:nvSpPr>
        <p:spPr>
          <a:xfrm>
            <a:off x="4709160" y="2743200"/>
            <a:ext cx="3977640" cy="1143000"/>
          </a:xfrm>
          <a:prstGeom prst="roundRect">
            <a:avLst>
              <a:gd name="adj" fmla="val 6400"/>
            </a:avLst>
          </a:prstGeom>
          <a:solidFill>
            <a:srgbClr val="EFEBFC"/>
          </a:solidFill>
          <a:ln w="12700">
            <a:solidFill>
              <a:srgbClr val="EFEBFC"/>
            </a:solidFill>
            <a:prstDash val="solid"/>
          </a:ln>
        </p:spPr>
      </p:sp>
      <p:sp>
        <p:nvSpPr>
          <p:cNvPr id="20" name="Shape 15"/>
          <p:cNvSpPr/>
          <p:nvPr/>
        </p:nvSpPr>
        <p:spPr>
          <a:xfrm>
            <a:off x="4892040" y="29260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025932"/>
            <a:ext cx="184343" cy="184343"/>
          </a:xfrm>
          <a:prstGeom prst="rect">
            <a:avLst/>
          </a:prstGeom>
        </p:spPr>
      </p:pic>
      <p:sp>
        <p:nvSpPr>
          <p:cNvPr id="22" name="Text 16"/>
          <p:cNvSpPr txBox="1"/>
          <p:nvPr/>
        </p:nvSpPr>
        <p:spPr>
          <a:xfrm>
            <a:off x="539496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on the kernel with AddOpenAIChatCompletion, as before.</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Four properties define the agent</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travelAgent</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ChatCompletionAgent: one reusable object for who it is, what it runs on and how it generates.</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Name</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"TravelAssistant", the AuthorName on replies.</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Instructions</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persona: a travel planner giving Budget, Mid-range and Luxury options.</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Kernel</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Supplies the OpenAI chat service.</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Arguments</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Default settings: Temperature 0.5.</a:t>
            </a:r>
            <a:endParaRPr lang="en-US" sz="1200" dirty="0"/>
          </a:p>
        </p:txBody>
      </p:sp>
      <p:sp>
        <p:nvSpPr>
          <p:cNvPr id="33"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34"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TURN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happens each time you press Enter</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Read input</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Blank or exit ends the loop.</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Add message</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AddUser</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Message puts it in history.</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512BD4"/>
          </a:solidFill>
          <a:ln w="12700">
            <a:solidFill>
              <a:srgbClr val="512BD4"/>
            </a:solidFill>
            <a:prstDash val="solid"/>
          </a:ln>
        </p:spPr>
      </p:sp>
      <p:sp>
        <p:nvSpPr>
          <p:cNvPr id="17" name="Shape 13"/>
          <p:cNvSpPr/>
          <p:nvPr/>
        </p:nvSpPr>
        <p:spPr>
          <a:xfrm>
            <a:off x="4070909"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Invoke</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travelAgent.</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InvokeAsync</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(chatHistory)</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Print</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AuthorName and Content.</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Append</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chatHistory.Add</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(message) keeps context.</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agent reads the history but never writes to it; your loop does.</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RESPONSIBILITIES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50" b="1" dirty="0">
                <a:solidFill>
                  <a:srgbClr val="1F2937"/>
                </a:solidFill>
                <a:latin typeface="Cambria" pitchFamily="34" charset="0"/>
                <a:ea typeface="Cambria" pitchFamily="34" charset="-122"/>
                <a:cs typeface="Cambria" pitchFamily="34" charset="-120"/>
              </a:rPr>
              <a:t>What the agent owns, and what your code still owns</a:t>
            </a:r>
            <a:endParaRPr lang="en-US" sz="2450" dirty="0"/>
          </a:p>
        </p:txBody>
      </p:sp>
      <p:sp>
        <p:nvSpPr>
          <p:cNvPr id="4" name="Shape 2"/>
          <p:cNvSpPr/>
          <p:nvPr/>
        </p:nvSpPr>
        <p:spPr>
          <a:xfrm>
            <a:off x="457200" y="1371600"/>
            <a:ext cx="3931920" cy="1783080"/>
          </a:xfrm>
          <a:prstGeom prst="roundRect">
            <a:avLst>
              <a:gd name="adj" fmla="val 4103"/>
            </a:avLst>
          </a:prstGeom>
          <a:solidFill>
            <a:srgbClr val="EFEBFC"/>
          </a:solidFill>
          <a:ln w="12700">
            <a:solidFill>
              <a:srgbClr val="EFEBFC"/>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The agent owns</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Persona, through Instructions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through its Kernel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Default execution settings</a:t>
            </a:r>
            <a:endParaRPr lang="en-US" sz="1300" dirty="0"/>
          </a:p>
        </p:txBody>
      </p:sp>
      <p:sp>
        <p:nvSpPr>
          <p:cNvPr id="9" name="Shape 6"/>
          <p:cNvSpPr/>
          <p:nvPr/>
        </p:nvSpPr>
        <p:spPr>
          <a:xfrm>
            <a:off x="4754880" y="1371600"/>
            <a:ext cx="3931920" cy="1783080"/>
          </a:xfrm>
          <a:prstGeom prst="roundRect">
            <a:avLst>
              <a:gd name="adj" fmla="val 4103"/>
            </a:avLst>
          </a:prstGeom>
          <a:solidFill>
            <a:srgbClr val="F6F4FE"/>
          </a:solidFill>
          <a:ln w="12700">
            <a:solidFill>
              <a:srgbClr val="F6F4FE"/>
            </a:solidFill>
            <a:prstDash val="solid"/>
          </a:ln>
        </p:spPr>
      </p:sp>
      <p:sp>
        <p:nvSpPr>
          <p:cNvPr id="10" name="Shape 7"/>
          <p:cNvSpPr/>
          <p:nvPr/>
        </p:nvSpPr>
        <p:spPr>
          <a:xfrm>
            <a:off x="4983480" y="1600200"/>
            <a:ext cx="438912" cy="438912"/>
          </a:xfrm>
          <a:prstGeom prst="ellipse">
            <a:avLst/>
          </a:prstGeom>
          <a:solidFill>
            <a:srgbClr val="6B7280"/>
          </a:solidFill>
          <a:ln w="12700">
            <a:solidFill>
              <a:srgbClr val="6B7280"/>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Your code owns</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ChatHistory and what goes in it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input loop and when it ends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Error handling around each turn</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Caller-owned history is what lets several agents share one conversation.</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DETAILS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Small details that matter in the loop</a:t>
            </a:r>
            <a:endParaRPr lang="en-US" sz="2800" dirty="0"/>
          </a:p>
        </p:txBody>
      </p:sp>
      <p:sp>
        <p:nvSpPr>
          <p:cNvPr id="4" name="Shape 2"/>
          <p:cNvSpPr/>
          <p:nvPr/>
        </p:nvSpPr>
        <p:spPr>
          <a:xfrm>
            <a:off x="457200" y="1371600"/>
            <a:ext cx="2560320" cy="1508760"/>
          </a:xfrm>
          <a:prstGeom prst="roundRect">
            <a:avLst>
              <a:gd name="adj" fmla="val 484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400" b="1" dirty="0">
                <a:solidFill>
                  <a:srgbClr val="1F2937"/>
                </a:solidFill>
                <a:latin typeface="Calibri" pitchFamily="34" charset="0"/>
                <a:ea typeface="Calibri" pitchFamily="34" charset="-122"/>
                <a:cs typeface="Calibri" pitchFamily="34" charset="-120"/>
              </a:rPr>
              <a:t>A stream</a:t>
            </a:r>
            <a:endParaRPr lang="en-US" sz="1400" dirty="0"/>
          </a:p>
        </p:txBody>
      </p:sp>
      <p:sp>
        <p:nvSpPr>
          <p:cNvPr id="8" name="Text 5"/>
          <p:cNvSpPr txBox="1"/>
          <p:nvPr/>
        </p:nvSpPr>
        <p:spPr>
          <a:xfrm>
            <a:off x="640080" y="2057400"/>
            <a:ext cx="219456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InvokeAsync returns an IAsyncEnumerable: a turn can yield several messages.</a:t>
            </a:r>
            <a:endParaRPr lang="en-US" sz="1200" dirty="0"/>
          </a:p>
        </p:txBody>
      </p:sp>
      <p:sp>
        <p:nvSpPr>
          <p:cNvPr id="9" name="Shape 6"/>
          <p:cNvSpPr/>
          <p:nvPr/>
        </p:nvSpPr>
        <p:spPr>
          <a:xfrm>
            <a:off x="3291840" y="1371600"/>
            <a:ext cx="2560320" cy="1508760"/>
          </a:xfrm>
          <a:prstGeom prst="roundRect">
            <a:avLst>
              <a:gd name="adj" fmla="val 4848"/>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400" b="1" dirty="0">
                <a:solidFill>
                  <a:srgbClr val="1F2937"/>
                </a:solidFill>
                <a:latin typeface="Calibri" pitchFamily="34" charset="0"/>
                <a:ea typeface="Calibri" pitchFamily="34" charset="-122"/>
                <a:cs typeface="Calibri" pitchFamily="34" charset="-120"/>
              </a:rPr>
              <a:t>Wrapped reply</a:t>
            </a:r>
            <a:endParaRPr lang="en-US" sz="1400" dirty="0"/>
          </a:p>
        </p:txBody>
      </p:sp>
      <p:sp>
        <p:nvSpPr>
          <p:cNvPr id="13" name="Text 9"/>
          <p:cNvSpPr txBox="1"/>
          <p:nvPr/>
        </p:nvSpPr>
        <p:spPr>
          <a:xfrm>
            <a:off x="3474720" y="2057400"/>
            <a:ext cx="219456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Each item exposes message.Message with AuthorName and Content.</a:t>
            </a:r>
            <a:endParaRPr lang="en-US" sz="1200" dirty="0"/>
          </a:p>
        </p:txBody>
      </p:sp>
      <p:sp>
        <p:nvSpPr>
          <p:cNvPr id="14" name="Shape 10"/>
          <p:cNvSpPr/>
          <p:nvPr/>
        </p:nvSpPr>
        <p:spPr>
          <a:xfrm>
            <a:off x="6126480" y="1371600"/>
            <a:ext cx="2560320" cy="1508760"/>
          </a:xfrm>
          <a:prstGeom prst="roundRect">
            <a:avLst>
              <a:gd name="adj" fmla="val 4848"/>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400" b="1" dirty="0">
                <a:solidFill>
                  <a:srgbClr val="1F2937"/>
                </a:solidFill>
                <a:latin typeface="Calibri" pitchFamily="34" charset="0"/>
                <a:ea typeface="Calibri" pitchFamily="34" charset="-122"/>
                <a:cs typeface="Calibri" pitchFamily="34" charset="-120"/>
              </a:rPr>
              <a:t>Errors</a:t>
            </a:r>
            <a:endParaRPr lang="en-US" sz="1400" dirty="0"/>
          </a:p>
        </p:txBody>
      </p:sp>
      <p:sp>
        <p:nvSpPr>
          <p:cNvPr id="18" name="Text 13"/>
          <p:cNvSpPr txBox="1"/>
          <p:nvPr/>
        </p:nvSpPr>
        <p:spPr>
          <a:xfrm>
            <a:off x="6309360" y="2057400"/>
            <a:ext cx="219456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failed turn prints [Error] and the chat carries on.</a:t>
            </a:r>
            <a:endParaRPr lang="en-US" sz="1200" dirty="0"/>
          </a:p>
        </p:txBody>
      </p:sp>
      <p:sp>
        <p:nvSpPr>
          <p:cNvPr id="19" name="Text 14"/>
          <p:cNvSpPr txBox="1"/>
          <p:nvPr/>
        </p:nvSpPr>
        <p:spPr>
          <a:xfrm>
            <a:off x="457200" y="3108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await foreach consumes the stream one message at a time.</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three tiers on every answer</a:t>
            </a:r>
            <a:endParaRPr lang="en-US" sz="2800" dirty="0"/>
          </a:p>
        </p:txBody>
      </p:sp>
      <p:sp>
        <p:nvSpPr>
          <p:cNvPr id="4" name="Shape 2"/>
          <p:cNvSpPr/>
          <p:nvPr/>
        </p:nvSpPr>
        <p:spPr>
          <a:xfrm>
            <a:off x="457200" y="1325880"/>
            <a:ext cx="5257800" cy="2331720"/>
          </a:xfrm>
          <a:prstGeom prst="roundRect">
            <a:avLst>
              <a:gd name="adj" fmla="val 3137"/>
            </a:avLst>
          </a:prstGeom>
          <a:solidFill>
            <a:srgbClr val="0F1420"/>
          </a:solidFill>
          <a:ln w="12700">
            <a:solidFill>
              <a:srgbClr val="0F1420"/>
            </a:solidFill>
            <a:prstDash val="solid"/>
          </a:ln>
        </p:spPr>
      </p:sp>
      <p:sp>
        <p:nvSpPr>
          <p:cNvPr id="5" name="Text 3"/>
          <p:cNvSpPr txBox="1"/>
          <p:nvPr/>
        </p:nvSpPr>
        <p:spPr>
          <a:xfrm>
            <a:off x="640080" y="1463040"/>
            <a:ext cx="4892040" cy="205740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Tarvel Agent Framework Initialized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 One week in Europe on $2,000. Ideas?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AGENT IS THINKING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TravelAssistant: Here are three options: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Budget: Lisbon, hostels and trams...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Mid-range: Prague, boutique hotel...</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Luxury: Lake Como, villa stay...</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User: exit</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Named replies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Each reply is labelled with the agent's Name.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Three tiers</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Instructions ask for Budget, Mid-range and Luxury.</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destinations are examples. Yours will differ.</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reset command and tidy the persona</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Add a reset command that clears the ChatHistory, and fix the typos in the persona and the banner.</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Lesson17-AgentFramework/</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AgentFramework/Program.cs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Typing reset clears the history and says so</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After reset, the agent no longer knows your budget</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banner and Instructions read correctly</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Replies still list Budget, Mid-range and Luxury</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Caller-owned ChatHistory</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18  </a:t>
            </a:r>
            <a:pPr indent="0" marL="0">
              <a:buNone/>
            </a:pPr>
            <a:r>
              <a:rPr lang="en-US" sz="1250" dirty="0">
                <a:solidFill>
                  <a:srgbClr val="FFFFFF"/>
                </a:solidFill>
                <a:latin typeface="Calibri" pitchFamily="34" charset="0"/>
                <a:ea typeface="Calibri" pitchFamily="34" charset="-122"/>
                <a:cs typeface="Calibri" pitchFamily="34" charset="-120"/>
              </a:rPr>
              <a:t>Two personas share one conversation</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Persona per worker</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20  </a:t>
            </a:r>
            <a:pPr indent="0" marL="0">
              <a:buNone/>
            </a:pPr>
            <a:r>
              <a:rPr lang="en-US" sz="1250" dirty="0">
                <a:solidFill>
                  <a:srgbClr val="FFFFFF"/>
                </a:solidFill>
                <a:latin typeface="Calibri" pitchFamily="34" charset="0"/>
                <a:ea typeface="Calibri" pitchFamily="34" charset="-122"/>
                <a:cs typeface="Calibri" pitchFamily="34" charset="-120"/>
              </a:rPr>
              <a:t>AiWorker drafts; a human must approve</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Agents as objects</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26  </a:t>
            </a:r>
            <a:pPr indent="0" marL="0">
              <a:buNone/>
            </a:pPr>
            <a:r>
              <a:rPr lang="en-US" sz="1250" dirty="0">
                <a:solidFill>
                  <a:srgbClr val="FFFFFF"/>
                </a:solidFill>
                <a:latin typeface="Calibri" pitchFamily="34" charset="0"/>
                <a:ea typeface="Calibri" pitchFamily="34" charset="-122"/>
                <a:cs typeface="Calibri" pitchFamily="34" charset="-120"/>
              </a:rPr>
              <a:t>A TargetAgent answers and a JudgeAgent scores</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Specialised agents</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28  </a:t>
            </a:r>
            <a:pPr indent="0" marL="0">
              <a:buNone/>
            </a:pPr>
            <a:r>
              <a:rPr lang="en-US" sz="1250" dirty="0">
                <a:solidFill>
                  <a:srgbClr val="FFFFFF"/>
                </a:solidFill>
                <a:latin typeface="Calibri" pitchFamily="34" charset="0"/>
                <a:ea typeface="Calibri" pitchFamily="34" charset="-122"/>
                <a:cs typeface="Calibri" pitchFamily="34" charset="-120"/>
              </a:rPr>
              <a:t>GoalRefiner, Planner and Developer agents</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Agents.* packages</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34  </a:t>
            </a:r>
            <a:pPr indent="0" marL="0">
              <a:buNone/>
            </a:pPr>
            <a:r>
              <a:rPr lang="en-US" sz="1250" dirty="0">
                <a:solidFill>
                  <a:srgbClr val="FFFFFF"/>
                </a:solidFill>
                <a:latin typeface="Calibri" pitchFamily="34" charset="0"/>
                <a:ea typeface="Calibri" pitchFamily="34" charset="-122"/>
                <a:cs typeface="Calibri" pitchFamily="34" charset="-120"/>
              </a:rPr>
              <a:t>SK's group chat proved flaky; hand-rolled instead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17 — Agent Framework</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17 — Agent Framework</dc:title>
  <dc:subject>PptxGenJS Presentation</dc:subject>
  <dc:creator>Media Six LLC</dc:creator>
  <cp:lastModifiedBy>Media Six LLC</cp:lastModifiedBy>
  <cp:revision>1</cp:revision>
  <dcterms:created xsi:type="dcterms:W3CDTF">2026-10-21T23:14:39Z</dcterms:created>
  <dcterms:modified xsi:type="dcterms:W3CDTF">2026-10-21T23:14:39Z</dcterms:modified>
</cp:coreProperties>
</file>