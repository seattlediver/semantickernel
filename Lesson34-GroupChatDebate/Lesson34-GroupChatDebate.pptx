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opens Phase B, Dynamic Multi-Agent Interaction. We build a debate among three agents where a moderator decides who speaks next based on how the conversation is actually going, not a fixed turn order. It replaces Lesson 18's alternating Copywriter and Editor hand-off with genuine dynamic selection. The moderator can bring in whichever voice best serves the discussion, and it is explicitly steered away from letting any two participants monopolize the floor. Everything is built from plain Kernel and IChatCompletionService calls, and we'll be upfront about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18's Copywriter and Editor exchange used a fixed order: strictly alternating, and only ever two participants, until the Editor said APPROVED or a cap was reached. This lesson has three participants and no fixed order at all. Before every turn, a moderator reads the transcript so far and picks who should speak next. If that sounds familiar, it should: it's the same idea as Lesson 19's routing Coordinator, an LLM call that returns a structured routing decision, applied to choosing a speaker instead of a specialist agent. After six turns the moderator also writes a short final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note on how this lesson is built. Semantic Kernel ships a native GroupChatOrchestration API for exactly this pattern, in Microsoft.SemanticKernel.Agents.Orchestration, which is still experimental. It was tried first, and in live testing it reproducibly failed: agents returned empty responses on most turns. The first suspicion was this lesson's own custom GroupChatManager, so it was swapped for Semantic Kernel's built-in RoundRobinGroupChatManager, with zero custom code, and it failed the same way. That ruled out the lesson's code. A search then turned up an open GitHub discussion, number 13553, describing the same failure more than half the time. To be precise about scope: that testing was done with the provider the series used before it moved to OpenAI, and the open report was against a different connector too. The failure hasn't been re-tested on OpenAI, so it may or may not reproduce. The hand-rolled version is kept regardless, because it works and depends only on plain Kernel and IChatCompletionService calls. Moderator-driven selection, anti-repetition and forced rotation are identical either way; only the plumbing underneath differs. The lesson to take away: verify a framework bug before you believe it, and don't blame your own code for a framework's behavior, or the reverse, without isolating which one is responsible.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pattern is hand-rolled, setup stays deliberately small: just the two packages used throughout the series, Microsoft.SemanticKernel and Microsoft.SemanticKernel.Connectors.OpenAI, both at 1.78.0. There's no need for the experimental Agents.Orchestration or runtime packages. You need the .NET 10 SDK and a console application, and the key comes from OPENAI_API_KEY; the program throws at startup if it isn't set. The model is gpt-4.1-mini, and one IChatCompletionService is shared by the DebateModerator and the DebateSpeaker.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 special moderator primitive in Semantic Kernel. DebateModerator is a plain class making the same kind of structured-output call the series has used since Lesson 7, here with ResponseFormat set to json_object. Four things make it work. First, the most recent speaker is removed from the candidate list before the prompt is even built; it's not a polite request the model could ignore. Second, any candidate who hasn't spoken in the last two turns is named in the prompt with a MUST: pick one of them now, even if someone else was just challenged. Third, the model returns a SpeakerDecision with nextSpeaker and a one-sentence reason. Fourth, if the JSON can't be parsed, or names someone who isn't an eligible candidate, it falls back to the first eligible participant. Notice that the moderator keeps no history: Program.cs builds the set of recent speakers and passes it in each turn, so every call is a fresh decision from the data it's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most transferable lesson in the build. An early version of the moderator's prompt said to favor whoever was just challenged, or bring in a quiet voice. It never once chose the second option, because in a two-way argument someone has always just been challenged. Soft preferences that can always lose to a stronger-sounding alternative don't change model behavior. The fix uses hard constraints instead. The last speaker is removed from the candidate pool entirely, and anyone quiet for two turns is named with an explicit MUST that overrides the just-challenged preference. Removing the last speaker turned out to matter for a second reason: asking the same agent to continue right after its own turn, with nothing new from anyone else, reliably produced empty replies. There was nothing left for it to say, and removing that option removed the failure mode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six turns runs the same four steps. Program.cs joins the transcript so far, notes the last speaker, and takes the last two entries of the speaker history as a set. The moderator selects the next speaker and gives a reason. DebateSpeaker.RespondAsync then builds a brand-new ChatHistory from that participant's instructions plus the transcript as plain text, and asks for a 2 to 3 sentence reply that engages with what was just said; on the very first turn it asks for an opening point instead. There's no long-lived conversation thread per participant. A fresh, fully specified prompt every turn has no ambiguous continue state to return nothing for, so it's kept as the simpler, more predictable design whatever the provider. Finally, the reply is appended to the transcript as name, colon, reply. After the sixth turn, SummarizeAsync asks for the strongest point each side made and a final verdict in 3 to 4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This transcript is abridged from the lesson's sample run, and the moderator's reasons and the replies will differ on yours. The topic is whether the company should adopt a 4-day work week. On the first turn nobody has spoken, so the moderator brings in the OperationsLead to set out an initial perspective on response times and coverage. Next it brings in the FinanceAnalyst to add the financial perspective, and then the EngineeringManager, explicitly to prevent a two-way back-and-forth. Three more turns follow, still rotating through all three. The final verdict summarizes both sides: operations and finance argued the risks to coverage and cost, engineering argued that less burnout would raise productivity, and without a concrete plan for 5-day coverage the verdict is that proceeding is currently untenable. What to look for: all three participants get pulled in across six turns, and each stated reason points either to a direct challenge or to someone who has been quiet too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Add a fourth DebateParticipant to the list, for example an HR director who cares about retention and hiring, with a name, a moderator-facing description and system instructions in the same style as the others. Raise MaxTurns to eight. After the verdict, count how many turns each participant took and print the counts. Check that everyone speaks at least once, that nobody speaks twice in a row, and that the moderator's reasons still mention people being quiet. As a stretch, think about whether the two-turn window for the overdue rule is still right with four speakers, and try changing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replaced a fixed turn order with a moderator that chooses the next speaker as structured JSON, excluded the last speaker outright, forced quiet voices back in with a hard rule, built every turn from a fresh prompt, and verified a framework bug before working around it. Lesson 35 is the next step in this phase: it shares this lesson's scaffolding and per-turn isolation, but solves a resource conflict, with teams bidding for a fixed budget, instead of an open discussion. Lesson 37 takes the hard-rules-over-soft-asks lesson into production hardening: guardrail filters that redact PII and replace policy-violating output in code rather than asking the model nicely. Later, the planned Lesson 39 extends the idea of an LLM routing work into multi-level delegation, and the planned Lesson 40 moves coordination like this off a synchronous in-process loop and onto a message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34  ·  PART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Multi-Agent Group Chat / Debate</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moderator picks who speaks next from how the debate is actually going</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4-day work week topic</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6 turns and a verdict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Replace a fixed turn order with a moderator</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Return the speaker choice as structured JSON</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Exclude the last speaker from the candidates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Force quiet voices back in with a hard rule</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Verify a framework bug before you work around it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34 — Multi-Agent Group Chat / Debate</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From a fixed turn order to a moderator's choice</a:t>
            </a:r>
            <a:endParaRPr lang="en-US" sz="265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18: fixed turns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Two personas, strictly alternating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Copywriter, Editor, Copywriter...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Ends when the Editor says APPROVED</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34: moderated</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Three personas, no fixed order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moderator picks fresh every turn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Six turns, then a final verdict</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moderator applies Lesson 19's routing idea to choosing a speaker.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34 — Multi-Agent Group Chat / Debate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WHY HAND-ROLLED</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We tried Semantic Kernel's group chat first</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Native API</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GroupChat</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Orchestration, still in preview.</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Empty turns</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Agents returned nothing on most turns.</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Isolate it</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SK's own RoundRobin manager failed too.</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Open report</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Discussion #13553: the same failure.</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Hand-roll</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Plain Kernel and chat service calls.</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Not yet re-tested on OpenAI. The pattern you learn is the same either way.</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34 — Multi-Agent Group Chat / Debate</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packages, no experimental orchestration</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console app targeting net10.0, opened from GroupChatDebate.slnx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1.78.0. No Agents.* packages.</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program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chat service shared by the moderator and all three speakers.</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34 — Multi-Agent Group Chat / Debate</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How the moderator picks the next speaker</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DebateModerator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SelectNextSpeakerAsync: one JSON call per turn. No memory of its own.</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Exclude last</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Dropped from the candidate pool.</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Overdue rule</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Quiet for two turns? MUST pick them.</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JSON decision</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nextSpeaker plus a one-sentence reason.</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Fallback</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Bad JSON or name: first eligible.</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Program.cs tracks who spoke recently; the moderator stays stateless.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34 — Multi-Agent Group Chat / Debate</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HARD RULES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Soft preferences lose; hard constraints hold</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Asked nicely</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"Favor whoever was just challenged, or bring in a quiet voice"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Never chose the quiet voice once</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Enforced</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Last speaker removed from the pool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Overdue speakers named with a MUST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All three voices rotate in</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Repeat speakers also produced empty replies: nothing new to answer.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34 — Multi-Agent Group Chat / Debate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EACH TURN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happens on every one of the six turns</a:t>
            </a:r>
            <a:endParaRPr lang="en-US" sz="2800" dirty="0"/>
          </a:p>
        </p:txBody>
      </p:sp>
      <p:sp>
        <p:nvSpPr>
          <p:cNvPr id="4" name="Shape 2"/>
          <p:cNvSpPr/>
          <p:nvPr/>
        </p:nvSpPr>
        <p:spPr>
          <a:xfrm>
            <a:off x="457200" y="1371600"/>
            <a:ext cx="1851660" cy="1600200"/>
          </a:xfrm>
          <a:prstGeom prst="roundRect">
            <a:avLst>
              <a:gd name="adj" fmla="val 457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Track</a:t>
            </a:r>
            <a:endParaRPr lang="en-US" sz="1300" dirty="0"/>
          </a:p>
        </p:txBody>
      </p:sp>
      <p:sp>
        <p:nvSpPr>
          <p:cNvPr id="8" name="Text 5"/>
          <p:cNvSpPr txBox="1"/>
          <p:nvPr/>
        </p:nvSpPr>
        <p:spPr>
          <a:xfrm>
            <a:off x="64008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Program.cs notes the last speaker and the last two turns.</a:t>
            </a:r>
            <a:endParaRPr lang="en-US" sz="1200" dirty="0"/>
          </a:p>
        </p:txBody>
      </p:sp>
      <p:sp>
        <p:nvSpPr>
          <p:cNvPr id="9" name="Shape 6"/>
          <p:cNvSpPr/>
          <p:nvPr/>
        </p:nvSpPr>
        <p:spPr>
          <a:xfrm>
            <a:off x="2583180" y="1371600"/>
            <a:ext cx="1851660" cy="1600200"/>
          </a:xfrm>
          <a:prstGeom prst="roundRect">
            <a:avLst>
              <a:gd name="adj" fmla="val 457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Select</a:t>
            </a:r>
            <a:endParaRPr lang="en-US" sz="1300" dirty="0"/>
          </a:p>
        </p:txBody>
      </p:sp>
      <p:sp>
        <p:nvSpPr>
          <p:cNvPr id="13" name="Text 9"/>
          <p:cNvSpPr txBox="1"/>
          <p:nvPr/>
        </p:nvSpPr>
        <p:spPr>
          <a:xfrm>
            <a:off x="276606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moderator returns nextSpeaker and a reason.</a:t>
            </a:r>
            <a:endParaRPr lang="en-US" sz="1200" dirty="0"/>
          </a:p>
        </p:txBody>
      </p:sp>
      <p:sp>
        <p:nvSpPr>
          <p:cNvPr id="14" name="Shape 10"/>
          <p:cNvSpPr/>
          <p:nvPr/>
        </p:nvSpPr>
        <p:spPr>
          <a:xfrm>
            <a:off x="4709160" y="1371600"/>
            <a:ext cx="1851660" cy="1600200"/>
          </a:xfrm>
          <a:prstGeom prst="roundRect">
            <a:avLst>
              <a:gd name="adj" fmla="val 4571"/>
            </a:avLst>
          </a:prstGeom>
          <a:solidFill>
            <a:srgbClr val="512BD4"/>
          </a:solidFill>
          <a:ln w="12700">
            <a:solidFill>
              <a:srgbClr val="512BD4"/>
            </a:solidFill>
            <a:prstDash val="solid"/>
          </a:ln>
        </p:spPr>
      </p:sp>
      <p:sp>
        <p:nvSpPr>
          <p:cNvPr id="15" name="Shape 11"/>
          <p:cNvSpPr/>
          <p:nvPr/>
        </p:nvSpPr>
        <p:spPr>
          <a:xfrm>
            <a:off x="489204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Respond</a:t>
            </a:r>
            <a:endParaRPr lang="en-US" sz="1300" dirty="0"/>
          </a:p>
        </p:txBody>
      </p:sp>
      <p:sp>
        <p:nvSpPr>
          <p:cNvPr id="18" name="Text 13"/>
          <p:cNvSpPr txBox="1"/>
          <p:nvPr/>
        </p:nvSpPr>
        <p:spPr>
          <a:xfrm>
            <a:off x="4892040" y="2057400"/>
            <a:ext cx="148590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fresh ChatHistory: persona plus the transcript as text.</a:t>
            </a:r>
            <a:endParaRPr lang="en-US" sz="1200" dirty="0"/>
          </a:p>
        </p:txBody>
      </p:sp>
      <p:sp>
        <p:nvSpPr>
          <p:cNvPr id="19" name="Shape 14"/>
          <p:cNvSpPr/>
          <p:nvPr/>
        </p:nvSpPr>
        <p:spPr>
          <a:xfrm>
            <a:off x="6835140" y="1371600"/>
            <a:ext cx="1851660" cy="1600200"/>
          </a:xfrm>
          <a:prstGeom prst="roundRect">
            <a:avLst>
              <a:gd name="adj" fmla="val 4571"/>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Record</a:t>
            </a:r>
            <a:endParaRPr lang="en-US" sz="1300" dirty="0"/>
          </a:p>
        </p:txBody>
      </p:sp>
      <p:sp>
        <p:nvSpPr>
          <p:cNvPr id="23" name="Text 17"/>
          <p:cNvSpPr txBox="1"/>
          <p:nvPr/>
        </p:nvSpPr>
        <p:spPr>
          <a:xfrm>
            <a:off x="701802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Append "Name: reply" to the transcript.</a:t>
            </a:r>
            <a:endParaRPr lang="en-US" sz="1200" dirty="0"/>
          </a:p>
        </p:txBody>
      </p:sp>
      <p:sp>
        <p:nvSpPr>
          <p:cNvPr id="24" name="Text 18"/>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After turn 6, SummarizeAsync gives the strongest points and a verdict.</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34 — Multi-Agent Group Chat / Debate</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three voices rotate, then a verdict</a:t>
            </a:r>
            <a:endParaRPr lang="en-US" sz="2800" dirty="0"/>
          </a:p>
        </p:txBody>
      </p:sp>
      <p:sp>
        <p:nvSpPr>
          <p:cNvPr id="4" name="Shape 2"/>
          <p:cNvSpPr/>
          <p:nvPr/>
        </p:nvSpPr>
        <p:spPr>
          <a:xfrm>
            <a:off x="457200" y="1325880"/>
            <a:ext cx="5257800" cy="2880360"/>
          </a:xfrm>
          <a:prstGeom prst="roundRect">
            <a:avLst>
              <a:gd name="adj" fmla="val 2540"/>
            </a:avLst>
          </a:prstGeom>
          <a:solidFill>
            <a:srgbClr val="0F1420"/>
          </a:solidFill>
          <a:ln w="12700">
            <a:solidFill>
              <a:srgbClr val="0F1420"/>
            </a:solidFill>
            <a:prstDash val="solid"/>
          </a:ln>
        </p:spPr>
      </p:sp>
      <p:sp>
        <p:nvSpPr>
          <p:cNvPr id="5" name="Text 3"/>
          <p:cNvSpPr txBox="1"/>
          <p:nvPr/>
        </p:nvSpPr>
        <p:spPr>
          <a:xfrm>
            <a:off x="640080" y="1463040"/>
            <a:ext cx="4892040" cy="2606040"/>
          </a:xfrm>
          <a:prstGeom prst="rect">
            <a:avLst/>
          </a:prstGeom>
          <a:noFill/>
          <a:ln/>
        </p:spPr>
        <p:txBody>
          <a:bodyPr wrap="square" lIns="0" tIns="0" rIns="0" bIns="0" rtlCol="0" anchor="t"/>
          <a:lstStyle/>
          <a:p>
            <a:pPr indent="0" marL="0">
              <a:buNone/>
            </a:pPr>
            <a:r>
              <a:rPr lang="en-US" sz="1050" dirty="0">
                <a:solidFill>
                  <a:srgbClr val="D7E3F4"/>
                </a:solidFill>
                <a:latin typeface="Courier New" pitchFamily="34" charset="0"/>
                <a:ea typeface="Courier New" pitchFamily="34" charset="-122"/>
                <a:cs typeface="Courier New" pitchFamily="34" charset="-120"/>
              </a:rPr>
              <a:t>TOPIC: Should the company adopt a 4-day work week?</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OperationsLead (moderator: OperationsLead hasn't</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spoken yet and can provide an initial perspective...)</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From an Operations perspective, my primary concern is...</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FinanceAnalyst (moderator: To ensure all voices</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are heard and to bring in the financial perspective...)</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That's precisely the financial risk I'm concerned about.</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EngineeringManager (moderator: To ensure all voices</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are heard and prevent a two-way back-and-forth...)</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I understand the focus on maintaining our metrics...</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three more turns, rotating through all three ...]</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FINAL VERDICT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...the lack of a proven, concrete strategy for 5-day</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coverage makes proceeding currently untenable.</a:t>
            </a:r>
            <a:endParaRPr lang="en-US" sz="105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All three speak</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two-person ping-pong across the six turns.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Reasons show it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pick cites a challenge or a quiet voice.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Wording varies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Abridged from the lesson's sample run. Yours will differ.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34 — Multi-Agent Group Chat / Debate</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fourth voice to the debate</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an HR participant with its own stance, raise MaxTurns to 8, and print each participant's turn count after the verdict.</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Lesson34-GroupChatDebate/</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GroupChatDebate/Program.cs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All four participants speak at least once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No participant ever speaks twice in a row</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Turn counts are printed and add up to 8</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Overdue reasons still appear in the moderator's picks</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34 — Multi-Agent Group Chat / Debate</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fixed turn order</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35  </a:t>
            </a:r>
            <a:pPr indent="0" marL="0">
              <a:buNone/>
            </a:pPr>
            <a:r>
              <a:rPr lang="en-US" sz="1250" dirty="0">
                <a:solidFill>
                  <a:srgbClr val="FFFFFF"/>
                </a:solidFill>
                <a:latin typeface="Calibri" pitchFamily="34" charset="0"/>
                <a:ea typeface="Calibri" pitchFamily="34" charset="-122"/>
                <a:cs typeface="Calibri" pitchFamily="34" charset="-120"/>
              </a:rPr>
              <a:t>Teams bid for a shared budget over open rounds</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Hard rules over soft asks</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37  </a:t>
            </a:r>
            <a:pPr indent="0" marL="0">
              <a:buNone/>
            </a:pPr>
            <a:r>
              <a:rPr lang="en-US" sz="1250" dirty="0">
                <a:solidFill>
                  <a:srgbClr val="FFFFFF"/>
                </a:solidFill>
                <a:latin typeface="Calibri" pitchFamily="34" charset="0"/>
                <a:ea typeface="Calibri" pitchFamily="34" charset="-122"/>
                <a:cs typeface="Calibri" pitchFamily="34" charset="-120"/>
              </a:rPr>
              <a:t>Filters redact PII and replace bad output in code</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 LLM that routes work</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39  </a:t>
            </a:r>
            <a:pPr indent="0" marL="0">
              <a:buNone/>
            </a:pPr>
            <a:r>
              <a:rPr lang="en-US" sz="1250" dirty="0">
                <a:solidFill>
                  <a:srgbClr val="FFFFFF"/>
                </a:solidFill>
                <a:latin typeface="Calibri" pitchFamily="34" charset="0"/>
                <a:ea typeface="Calibri" pitchFamily="34" charset="-122"/>
                <a:cs typeface="Calibri" pitchFamily="34" charset="-120"/>
              </a:rPr>
              <a:t>Orchestrators delegate to sub-orchestrators (planned)</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In-process coordination</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40  </a:t>
            </a:r>
            <a:pPr indent="0" marL="0">
              <a:buNone/>
            </a:pPr>
            <a:r>
              <a:rPr lang="en-US" sz="1250" dirty="0">
                <a:solidFill>
                  <a:srgbClr val="FFFFFF"/>
                </a:solidFill>
                <a:latin typeface="Calibri" pitchFamily="34" charset="0"/>
                <a:ea typeface="Calibri" pitchFamily="34" charset="-122"/>
                <a:cs typeface="Calibri" pitchFamily="34" charset="-120"/>
              </a:rPr>
              <a:t>Agents coordinate through a message bus (planned)</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2: Dynamic Multi-Agent Interaction</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34 — Multi-Agent Group Chat / Debate</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34 — Multi-Agent Group Chat / Debate</dc:title>
  <dc:subject>PptxGenJS Presentation</dc:subject>
  <dc:creator>Media Six LLC</dc:creator>
  <cp:lastModifiedBy>Media Six LLC</cp:lastModifiedBy>
  <cp:revision>1</cp:revision>
  <dcterms:created xsi:type="dcterms:W3CDTF">2026-10-21T23:09:52Z</dcterms:created>
  <dcterms:modified xsi:type="dcterms:W3CDTF">2026-10-21T23:09:52Z</dcterms:modified>
</cp:coreProperties>
</file>