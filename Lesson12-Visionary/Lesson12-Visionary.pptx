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earlier lesson in the series sends the model plain text. This lesson is the first to show that one chat message can carry more than one kind of content. The program loads a sample chart image that ships with the project, sends it to gpt-4.1-mini together with a text instruction, and prints the model's description of the chart type, its key data points and its overall trend. It is a single-shot program: one multimodal request goes out, one answer comes back, and the program exits. It's the bridge between a model that can converse and a model that can perceive.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now, every user message has been a string. In this lesson, the same AddUserMessage method on ChatHistory receives a collection of content items instead: a text instruction and the raw bytes of a PNG image, delivered together in a single turn rather than as two separate messages. Nothing else about the chat pattern changes. The content types, TextContent and ImageContent, are plain Semantic Kernel abstractions; the only provider-specific line in the program is the AddOpenAIChatCompletion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application referencing Microsoft.SemanticKernel and Microsoft.SemanticKernel.Connectors.OpenAI, both at version 1.78.0. The key comes from OPENAI_API_KEY, and the program throws at startup if it is missing. The model is gpt-4.1-mini, which accepts images alongside text through the same connector we've used all along. The one new piece of setup is the image itself. The sample chart lives in the project's Assets folder, and the csproj includes it with CopyToOutputDirectory set to PreserveNewest, so every build copies it next to the compiled program. We bundle the image instead of fetching one from a third-party URL so the demo can't silently break if that page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five steps. Step 1 builds the kernel and gets the chat completion service. Step 2 creates a ChatHistory with the persona: a specialized Visual Agent whose goal is to describe images in extreme detail and extract any text or data points it can see. Step 3 builds the image path, checks the file exists, prints which image it is analyzing and reads the bytes. It then bundles the instruction and the image into one message and adds it to the history. Step 4, highlighted, calls GetChatMessageContentAsync with Temperature 0.4. Step 5 prints the analysis under a VISIONARY ANALYSIS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this lesson is the ChatMessageContentItemCollection. It holds every part of one user turn. The first item is a TextContent with the instruction: analyze this image, identify the type of chart and the key data points, and summarize the main trend. The second item is an ImageContent built from the PNG's raw bytes and the MIME type image/png, which tells the connector how to package the bytes. The whole collection goes into the ChatHistory through AddUserMessage, the same method we've used since Lesson 1, so the model receives the instruction and the image together in a single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 a build-time asset reliably takes three pieces working together. First, the csproj copies the PNG into the output folder on every build. Second, the program builds the path from AppContext.BaseDirectory, the folder the executable runs from, rather than the current working directory, so it finds the image whether you run from Visual Studio or the command line. Third, it checks File.Exists before reading. If bin and obj were cleaned without a rebuild, the program prints the path it tried and tells you to rebuild so the copy step runs again, instead of crashing with a raw FileNotFoundException.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lesson has picked its settings to suit the job. The code generator and the critic follow rules and need consistent output, so they ran at 0.2 and then 0.0. Describing an image is a more descriptive, open-ended task, so this lesson uses a moderate Temperature of 0.4 to encourage a fuller description. The model call is also guarded. Not every model or region accepts image content the same way, so an unsupported or filtered request is caught and printed as a clear message saying the model rejected the image request. And if the model returns no content, the program prints a placeholder line rather than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the full path of the image it is analyzing, which depends on where your build output lives, then prints the analysis under the VISIONARY ANALYSIS header. The analysis on this slide is illustrative and abridged; the model usually writes a longer, more detailed description, and its wording changes from run to run. The values in the image itself are fixed: the sample chart is a bar chart titled Quarterly Revenue Growth, in millions of dollars, with Q1 at 45, Q2 at 62, Q3 at 58 and Q4 at 91. A good answer identifies the chart type, reads those four values, and describes the upward trend with a small dip in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Read an optional image path from args. If one is given, use it; otherwise fall back to the bundled sample chart. Choose the MIME type from the file extension, image/jpeg for jpg and jpeg files and image/png for png, and pass it to ImageContent. Keep the File.Exists check so a bad path prints a helpful message. As a stretch goal, change the instruction to suit the kind of image, for example asking for any visible text when you pass in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put text and an image in a single chat message using TextContent and ImageContent, shipped an image asset next to the executable and found it with AppContext.BaseDirectory, chose a moderate temperature for a descriptive task, and handled a missing image or a rejected request with clear messages. These ideas reappear. Lesson 14 puts a whole document into one prompt instead of retrieving pieces of it. Lesson 16 works with message content items again, reading FunctionCallContent out of the model's reply to run tools by hand. Lesson 17 moves the persona out of the system message and onto a ChatCompletionAgent's Instructions. And Lesson 26 tunes temperature per role, running its target bot at 0.4 and its judge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12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Visionary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One message carries text and an image: the model reads a chart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Assets/sample-chart.png</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chart type, data, trend</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Put text and an image in a single chat message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TextContent and ImageContent items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Ship an image asset next to the executable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Choose a temperature that suits the task</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Fail clearly when the image or request is rejected</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AddUserMessage, richer payload</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1 to 11: text</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AddUserMessage takes a string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only reads words</a:t>
            </a:r>
            <a:endParaRPr lang="en-US" sz="1300" dirty="0"/>
          </a:p>
        </p:txBody>
      </p:sp>
      <p:sp>
        <p:nvSpPr>
          <p:cNvPr id="9" name="Shape 6"/>
          <p:cNvSpPr/>
          <p:nvPr/>
        </p:nvSpPr>
        <p:spPr>
          <a:xfrm>
            <a:off x="685800" y="2907792"/>
            <a:ext cx="3474720" cy="365760"/>
          </a:xfrm>
          <a:prstGeom prst="roundRect">
            <a:avLst>
              <a:gd name="adj" fmla="val 20000"/>
            </a:avLst>
          </a:prstGeom>
          <a:solidFill>
            <a:srgbClr val="0F1420"/>
          </a:solidFill>
          <a:ln w="12700">
            <a:solidFill>
              <a:srgbClr val="0F1420"/>
            </a:solidFill>
            <a:prstDash val="solid"/>
          </a:ln>
        </p:spPr>
      </p:sp>
      <p:sp>
        <p:nvSpPr>
          <p:cNvPr id="10" name="Text 7"/>
          <p:cNvSpPr txBox="1"/>
          <p:nvPr/>
        </p:nvSpPr>
        <p:spPr>
          <a:xfrm>
            <a:off x="868680" y="3044952"/>
            <a:ext cx="3108960" cy="914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AddUserMessage("...")</a:t>
            </a:r>
            <a:endParaRPr lang="en-US" sz="1100" dirty="0"/>
          </a:p>
        </p:txBody>
      </p:sp>
      <p:sp>
        <p:nvSpPr>
          <p:cNvPr id="11" name="Shape 8"/>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12: text + image</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AddUserMessage takes an item collection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Instruction and PNG bytes in one turn</a:t>
            </a:r>
            <a:endParaRPr lang="en-US" sz="1300" dirty="0"/>
          </a:p>
        </p:txBody>
      </p:sp>
      <p:sp>
        <p:nvSpPr>
          <p:cNvPr id="16" name="Shape 12"/>
          <p:cNvSpPr/>
          <p:nvPr/>
        </p:nvSpPr>
        <p:spPr>
          <a:xfrm>
            <a:off x="4983480" y="2907792"/>
            <a:ext cx="3474720" cy="365760"/>
          </a:xfrm>
          <a:prstGeom prst="roundRect">
            <a:avLst>
              <a:gd name="adj" fmla="val 20000"/>
            </a:avLst>
          </a:prstGeom>
          <a:solidFill>
            <a:srgbClr val="0F1420"/>
          </a:solidFill>
          <a:ln w="12700">
            <a:solidFill>
              <a:srgbClr val="0F1420"/>
            </a:solidFill>
            <a:prstDash val="solid"/>
          </a:ln>
        </p:spPr>
      </p:sp>
      <p:sp>
        <p:nvSpPr>
          <p:cNvPr id="17" name="Text 13"/>
          <p:cNvSpPr txBox="1"/>
          <p:nvPr/>
        </p:nvSpPr>
        <p:spPr>
          <a:xfrm>
            <a:off x="5166360" y="3044952"/>
            <a:ext cx="3108960" cy="914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AddUserMessage(messageItems)</a:t>
            </a:r>
            <a:endParaRPr lang="en-US" sz="1100" dirty="0"/>
          </a:p>
        </p:txBody>
      </p:sp>
      <p:sp>
        <p:nvSpPr>
          <p:cNvPr id="18" name="Text 14"/>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TextContent and ImageContent are Semantic Kernel types, not OpenAI types.</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and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net10.0 console app with Microsoft.SemanticKernel and Connectors.OpenAI, both version 1.78.0.</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Accepts image input alongside text through the same chat completion connector.</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sample-chart.png</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Bundled in Assets and copied to the output folder with PreserveNewest.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5</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PNG on disk to a description</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and the chat service.</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Persona</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Visual Agent that extracts text and data.</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Load image</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Find the PNG; stop with a hint if missing.</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Bundle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Instruction and image in one message.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Analyze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call with a moderate Temperature.</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There is no loop: one request, one answer, then the program exits.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message, two kinds of content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Content items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ChatMessageContent</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ItemCollection holds every part of one user turn.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TextContent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Identify the chart type, key data points and main trend.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ImageContent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PNG's raw bytes, tagged with MIME type image/png.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ChatHistory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AddUserMessage(items) stores both as one user turn.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model sees the instruction and the image together, in a single turn.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ASSETS AT RUN TIME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Finding the image wherever the program runs</a:t>
            </a:r>
            <a:endParaRPr lang="en-US" sz="2800" dirty="0"/>
          </a:p>
        </p:txBody>
      </p:sp>
      <p:sp>
        <p:nvSpPr>
          <p:cNvPr id="4" name="Shape 2"/>
          <p:cNvSpPr/>
          <p:nvPr/>
        </p:nvSpPr>
        <p:spPr>
          <a:xfrm>
            <a:off x="457200" y="1371600"/>
            <a:ext cx="2560320" cy="1417320"/>
          </a:xfrm>
          <a:prstGeom prst="roundRect">
            <a:avLst>
              <a:gd name="adj" fmla="val 516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Copy on build</a:t>
            </a:r>
            <a:endParaRPr lang="en-US" sz="1500" dirty="0"/>
          </a:p>
        </p:txBody>
      </p:sp>
      <p:sp>
        <p:nvSpPr>
          <p:cNvPr id="8" name="Text 5"/>
          <p:cNvSpPr txBox="1"/>
          <p:nvPr/>
        </p:nvSpPr>
        <p:spPr>
          <a:xfrm>
            <a:off x="64008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CopyToOutputDirectory puts the PNG next to the compiled program.</a:t>
            </a:r>
            <a:endParaRPr lang="en-US" sz="1200" dirty="0"/>
          </a:p>
        </p:txBody>
      </p:sp>
      <p:sp>
        <p:nvSpPr>
          <p:cNvPr id="9" name="Shape 6"/>
          <p:cNvSpPr/>
          <p:nvPr/>
        </p:nvSpPr>
        <p:spPr>
          <a:xfrm>
            <a:off x="3291840" y="1371600"/>
            <a:ext cx="2560320" cy="1417320"/>
          </a:xfrm>
          <a:prstGeom prst="roundRect">
            <a:avLst>
              <a:gd name="adj" fmla="val 516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Base directory</a:t>
            </a:r>
            <a:endParaRPr lang="en-US" sz="1500" dirty="0"/>
          </a:p>
        </p:txBody>
      </p:sp>
      <p:sp>
        <p:nvSpPr>
          <p:cNvPr id="13" name="Text 9"/>
          <p:cNvSpPr txBox="1"/>
          <p:nvPr/>
        </p:nvSpPr>
        <p:spPr>
          <a:xfrm>
            <a:off x="347472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AppContext.BaseDirectory locates it, whatever the working folder.</a:t>
            </a:r>
            <a:endParaRPr lang="en-US" sz="1200" dirty="0"/>
          </a:p>
        </p:txBody>
      </p:sp>
      <p:sp>
        <p:nvSpPr>
          <p:cNvPr id="14" name="Shape 10"/>
          <p:cNvSpPr/>
          <p:nvPr/>
        </p:nvSpPr>
        <p:spPr>
          <a:xfrm>
            <a:off x="6126480" y="1371600"/>
            <a:ext cx="2560320" cy="1417320"/>
          </a:xfrm>
          <a:prstGeom prst="roundRect">
            <a:avLst>
              <a:gd name="adj" fmla="val 516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Exists check</a:t>
            </a:r>
            <a:endParaRPr lang="en-US" sz="1500" dirty="0"/>
          </a:p>
        </p:txBody>
      </p:sp>
      <p:sp>
        <p:nvSpPr>
          <p:cNvPr id="18" name="Text 13"/>
          <p:cNvSpPr txBox="1"/>
          <p:nvPr/>
        </p:nvSpPr>
        <p:spPr>
          <a:xfrm>
            <a:off x="6309360" y="2057400"/>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File.Exists runs first, so a missing file stops with a hint.</a:t>
            </a:r>
            <a:endParaRPr lang="en-US" sz="1200" dirty="0"/>
          </a:p>
        </p:txBody>
      </p:sp>
      <p:sp>
        <p:nvSpPr>
          <p:cNvPr id="19" name="Text 14"/>
          <p:cNvSpPr txBox="1"/>
          <p:nvPr/>
        </p:nvSpPr>
        <p:spPr>
          <a:xfrm>
            <a:off x="457200" y="30175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missing image prints where it looked and how to fix it, not a stack trace.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Temperature follows the task</a:t>
            </a:r>
            <a:endParaRPr lang="en-US" sz="2800" dirty="0"/>
          </a:p>
        </p:txBody>
      </p:sp>
      <p:sp>
        <p:nvSpPr>
          <p:cNvPr id="4" name="Shape 2"/>
          <p:cNvSpPr/>
          <p:nvPr/>
        </p:nvSpPr>
        <p:spPr>
          <a:xfrm>
            <a:off x="457200" y="1371600"/>
            <a:ext cx="3931920" cy="1645920"/>
          </a:xfrm>
          <a:prstGeom prst="roundRect">
            <a:avLst>
              <a:gd name="adj" fmla="val 4444"/>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10 and 11: rules</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Code and critique must be steady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0.2, then 0.0</a:t>
            </a:r>
            <a:endParaRPr lang="en-US" sz="1300" dirty="0"/>
          </a:p>
        </p:txBody>
      </p:sp>
      <p:sp>
        <p:nvSpPr>
          <p:cNvPr id="9" name="Shape 6"/>
          <p:cNvSpPr/>
          <p:nvPr/>
        </p:nvSpPr>
        <p:spPr>
          <a:xfrm>
            <a:off x="4754880" y="1371600"/>
            <a:ext cx="3931920" cy="1645920"/>
          </a:xfrm>
          <a:prstGeom prst="roundRect">
            <a:avLst>
              <a:gd name="adj" fmla="val 4444"/>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12: description</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Describing an image benefits from range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0.4, a moderate setting</a:t>
            </a:r>
            <a:endParaRPr lang="en-US" sz="1300" dirty="0"/>
          </a:p>
        </p:txBody>
      </p:sp>
      <p:sp>
        <p:nvSpPr>
          <p:cNvPr id="14" name="Text 10"/>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rejected image request prints a clear message instead of crashing.</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model reads the chart</a:t>
            </a:r>
            <a:endParaRPr lang="en-US" sz="2800" dirty="0"/>
          </a:p>
        </p:txBody>
      </p:sp>
      <p:sp>
        <p:nvSpPr>
          <p:cNvPr id="4" name="Shape 2"/>
          <p:cNvSpPr/>
          <p:nvPr/>
        </p:nvSpPr>
        <p:spPr>
          <a:xfrm>
            <a:off x="457200" y="1325880"/>
            <a:ext cx="5257800" cy="1783080"/>
          </a:xfrm>
          <a:prstGeom prst="roundRect">
            <a:avLst>
              <a:gd name="adj" fmla="val 4103"/>
            </a:avLst>
          </a:prstGeom>
          <a:solidFill>
            <a:srgbClr val="0F1420"/>
          </a:solidFill>
          <a:ln w="12700">
            <a:solidFill>
              <a:srgbClr val="0F1420"/>
            </a:solidFill>
            <a:prstDash val="solid"/>
          </a:ln>
        </p:spPr>
      </p:sp>
      <p:sp>
        <p:nvSpPr>
          <p:cNvPr id="5" name="Text 3"/>
          <p:cNvSpPr txBox="1"/>
          <p:nvPr/>
        </p:nvSpPr>
        <p:spPr>
          <a:xfrm>
            <a:off x="640080" y="1463040"/>
            <a:ext cx="4892040" cy="15087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Analyzing Image ...\Assets\sample-chart.png</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VISIONARY ANALYSIS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This is a vertical bar chart titled "Quarterly Revenue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Growth (in $M)".</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Q1: $45M, Q2: $62M, Q3: $58M, Q4: $91M.</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Revenue rises overall, dips slightly in Q3, then jumps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sharply to its high in Q4.</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The model's wording will differ.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Real values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chart shows $45M, $62M, $58M and $91M.</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Your path</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full image path depends on your machine.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Analyze any image you choose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Accept an image path as a command-line argument, set the MIME type from its extension, and fall back to the bundled chart when no path is given.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Lesson12-Visionary/</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Visionary/Program.cs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dotnet run -- photo.jpg analyzes photo.jpg</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.jpg and .jpeg send image/jpeg; .png sends image/png</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argument still analyzes sample-chart.png</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missing file prints a clear message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Big input in one message</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A whole manual is stuffed into the prompt</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Content items in a message</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The loop reads FunctionCallContent items itself</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 as a system message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The persona moves onto an agent's Instructions</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Temperature per task</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Target bot at 0.4, judge at 0.0</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12 — The Visionary</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 — The Visionary</dc:title>
  <dc:subject>PptxGenJS Presentation</dc:subject>
  <dc:creator>Media Six LLC</dc:creator>
  <cp:lastModifiedBy>Media Six LLC</cp:lastModifiedBy>
  <cp:revision>1</cp:revision>
  <dcterms:created xsi:type="dcterms:W3CDTF">2026-10-21T23:11:55Z</dcterms:created>
  <dcterms:modified xsi:type="dcterms:W3CDTF">2026-10-21T23:11:55Z</dcterms:modified>
</cp:coreProperties>
</file>