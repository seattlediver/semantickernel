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Large language models are prediction engines, not calculators, and they are notoriously unreliable at precise multi-step arithmetic. In this lesson we stop asking the model to do the math. Instead we write a small native C# plugin, MathPlugin, with four ordinary methods: Add, Subtract, Multiply and Divide. We register it with the kernel, enable automatic tool invocation, and give the model a multi-step word problem about apples with the instruction to do all math using my tools. While it runs, the program prints a line every time the model calls into our C# code, followed by the model's final answer built from the exact numbers our methods returned. This is the course's first look at native plugins and tool calling.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Up to now everything the program printed came straight out of the model. That is fine for summaries and JSON, but arithmetic is a bad fit: the model predicts likely-looking digits rather than calculating them. Lesson 4 splits the work. The model still reads the problem and decides which operation comes next, but each calculation is done by a C# method that returns an exact result. The model then writes its final answer around those real numbers. Every later lesson that gives an agent capabilities, from file access to multi-agent coordination, builds on this pattern.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Setup follows the earlier lessons: the .NET 10 SDK, a console project called Calculator, and the Microsoft.SemanticKernel and Connectors.OpenAI packages at version 1.78.0. The key comes from OPENAI_API_KEY and the model is gpt-4.1-mini. This is the first lesson with two source files. Program.cs builds the kernel and runs the prompt, and MathPlugin.cs holds the MathPlugin class, following the series rule of one class per file, with the file named after the class.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whole plugin. MathPlugin is an ordinary C# class; it needs no special base class or interface to become a set of tools. It has four methods, Add, Subtract, Multiply and Divide, each taking two doubles called number1 and number2 and returning a double. Each one also writes a NATIVE CODE EXECUTION line to the console, which is how we will see the model calling our code. Divide has one extra guard: dividing a double by zero in C# doesn't throw, it quietly returns Infinity or NaN. So Divide checks for zero first and throws a DivideByZeroException with a clear message, which Semantic Kernel can surface to the model as a real tool error instead of a strange number.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the plugin is registered, Semantic Kernel turns it into a tool manifest that is sent to the model with the prompt. Three things go into it. The KernelFunction attribute marks a method as callable and gives it a name, and because we register the class with AddFromType of MathPlugin under the name Math, the functions become Math.Add, Math.Divide and so on. The Description attribute on each method tells the model what the function does, so it can pick the right one. And the Description on each parameter tells it which number goes where, which matters a great deal for Subtract and Divide, where order changes the answer. The model never sees your C# code, only these names and descriptions.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what happens inside a single call to InvokePromptAsync. The prompt goes to the model together with the tool manifest. Instead of answering, the model replies with a request to call a function, for example Math.Subtract with 124 and 15. Semantic Kernel sees that request, calls the real C# method, and adds the result to the conversation. Then it sends everything back to the model, which either asks for another function or writes its final answer. This repeats until the model has every number it needs. Your code sees none of these round trips; it makes one call and gets one answer. Lesson 16 rebuilds this loop by hand so you can see every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Adding the plugin to the kernel only makes it available to Semantic Kernel. Whether the model ever hears about it is decided by the execution settings: we create OpenAIPromptExecutionSettings with ToolCallBehavior set to AutoInvokeKernelFunctions, and pass those settings into KernelArguments, exactly the way Lesson 3 passed Temperature and TopP. With that setting, Semantic Kernel sends the kernel's functions to the model as tools and automatically runs any call the model requests. Without it, the functions are never advertised at all, so the model doesn't know the tools exist and just tries to do the arithmetic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OPENAI_API_KEY and run the project. The program prints the question, then Thinking and invoking C# tools. Next come the NATIVE CODE EXECUTION lines, printed by our plugin methods as the model calls them: 124 minus 15 is 109, times 3 is 327, divided by 4 people is 81.75. The exact sequence on this slide is illustrative. The model decides which calls to make, so it might first call Add to work out that myself and 3 friends is 4 people, and its final wording will vary. What shouldn't vary is the arithmetic, because every number came from C#. Like Lesson 3, the call is wrapped in a try/catch, so an API failure prints Calculation failed with a readable message instead of a stack trace.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Try this on your own. Add a Power method to MathPlugin that raises a base to an exponent with Math.Pow, and give it a KernelFunction attribute and Description attributes on the method and both parameters. Print a NATIVE CODE EXECUTION line like the other methods. Then change the prompt in Program.cs to something like: I invest 1000 dollars at 5 percent a year for 10 years, how much do I have? Check that the model calls Math.Power. Finally, ask a question that divides by zero and confirm the model reports the error instead of printing Infinity.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recap: we saw why models shouldn't do arithmetic, turned C# methods into tools with KernelFunction, described them for the model with Description attributes, registered the plugin with AddFromType, and let AutoInvokeKernelFunctions run the tool loop. Lesson 6 uses the same mechanism to give an agent a plugin that touches real files. Lesson 15 registers two unrelated plugins so the model has to choose. Lesson 16 rebuilds the hidden reasoning loop by hand. Lesson 13 calls native functions from inside a prompt template. And Lesson 22 replaces our Console.WriteLine tracing with function filters that audit and time every tool call.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slideLayout" Target="../slideLayouts/slideLayout1.xm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1.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slideLayout" Target="../slideLayouts/slideLayout1.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slideLayout" Target="../slideLayouts/slideLayout1.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B2D"/>
        </a:solidFill>
      </p:bgPr>
    </p:bg>
    <p:spTree>
      <p:nvGrpSpPr>
        <p:cNvPr id="1" name=""/>
        <p:cNvGrpSpPr/>
        <p:nvPr/>
      </p:nvGrpSpPr>
      <p:grpSpPr>
        <a:xfrm>
          <a:off x="0" y="0"/>
          <a:ext cx="0" cy="0"/>
          <a:chOff x="0" y="0"/>
          <a:chExt cx="0" cy="0"/>
        </a:xfrm>
      </p:grpSpPr>
      <p:sp>
        <p:nvSpPr>
          <p:cNvPr id="2" name="Text 0"/>
          <p:cNvSpPr txBox="1"/>
          <p:nvPr/>
        </p:nvSpPr>
        <p:spPr>
          <a:xfrm>
            <a:off x="457200" y="502920"/>
            <a:ext cx="4206240" cy="457200"/>
          </a:xfrm>
          <a:prstGeom prst="rect">
            <a:avLst/>
          </a:prstGeom>
          <a:noFill/>
          <a:ln/>
        </p:spPr>
        <p:txBody>
          <a:bodyPr wrap="square" lIns="0" tIns="0" rIns="0" bIns="0" rtlCol="0" anchor="t"/>
          <a:lstStyle/>
          <a:p>
            <a:pPr indent="0" marL="0">
              <a:buNone/>
            </a:pPr>
            <a:r>
              <a:rPr lang="en-US" sz="1100" b="1" spc="200" kern="0" dirty="0">
                <a:solidFill>
                  <a:srgbClr val="F5A623"/>
                </a:solidFill>
                <a:latin typeface="Calibri" pitchFamily="34" charset="0"/>
                <a:ea typeface="Calibri" pitchFamily="34" charset="-122"/>
                <a:cs typeface="Calibri" pitchFamily="34" charset="-120"/>
              </a:rPr>
              <a:t>LESSON 4  ·  PART 1</a:t>
            </a:r>
            <a:endParaRPr lang="en-US" sz="1100" dirty="0"/>
          </a:p>
        </p:txBody>
      </p:sp>
      <p:sp>
        <p:nvSpPr>
          <p:cNvPr id="3" name="Text 1"/>
          <p:cNvSpPr txBox="1"/>
          <p:nvPr/>
        </p:nvSpPr>
        <p:spPr>
          <a:xfrm>
            <a:off x="457200" y="1005840"/>
            <a:ext cx="4206240" cy="1371600"/>
          </a:xfrm>
          <a:prstGeom prst="rect">
            <a:avLst/>
          </a:prstGeom>
          <a:noFill/>
          <a:ln/>
        </p:spPr>
        <p:txBody>
          <a:bodyPr wrap="square" lIns="0" tIns="0" rIns="0" bIns="0" rtlCol="0" anchor="b"/>
          <a:lstStyle/>
          <a:p>
            <a:pPr indent="0" marL="0">
              <a:buNone/>
            </a:pPr>
            <a:r>
              <a:rPr lang="en-US" sz="4000" b="1" dirty="0">
                <a:solidFill>
                  <a:srgbClr val="FFFFFF"/>
                </a:solidFill>
                <a:latin typeface="Cambria" pitchFamily="34" charset="0"/>
                <a:ea typeface="Cambria" pitchFamily="34" charset="-122"/>
                <a:cs typeface="Cambria" pitchFamily="34" charset="-120"/>
              </a:rPr>
              <a:t>The Calculator</a:t>
            </a:r>
            <a:endParaRPr lang="en-US" sz="4000" dirty="0"/>
          </a:p>
        </p:txBody>
      </p:sp>
      <p:sp>
        <p:nvSpPr>
          <p:cNvPr id="4" name="Text 2"/>
          <p:cNvSpPr txBox="1"/>
          <p:nvPr/>
        </p:nvSpPr>
        <p:spPr>
          <a:xfrm>
            <a:off x="457200" y="2468880"/>
            <a:ext cx="4206240" cy="640080"/>
          </a:xfrm>
          <a:prstGeom prst="rect">
            <a:avLst/>
          </a:prstGeom>
          <a:noFill/>
          <a:ln/>
        </p:spPr>
        <p:txBody>
          <a:bodyPr wrap="square" lIns="0" tIns="0" rIns="0" bIns="0" rtlCol="0" anchor="t"/>
          <a:lstStyle/>
          <a:p>
            <a:pPr indent="0" marL="0">
              <a:buNone/>
            </a:pPr>
            <a:r>
              <a:rPr lang="en-US" sz="1600" dirty="0">
                <a:solidFill>
                  <a:srgbClr val="B8B2E6"/>
                </a:solidFill>
                <a:latin typeface="Calibri" pitchFamily="34" charset="0"/>
                <a:ea typeface="Calibri" pitchFamily="34" charset="-122"/>
                <a:cs typeface="Calibri" pitchFamily="34" charset="-120"/>
              </a:rPr>
              <a:t>Native functions and tool calling: the model asks, C# does the math</a:t>
            </a:r>
            <a:endParaRPr lang="en-US" sz="1600" dirty="0"/>
          </a:p>
        </p:txBody>
      </p:sp>
      <p:sp>
        <p:nvSpPr>
          <p:cNvPr id="5" name="Text 3"/>
          <p:cNvSpPr txBox="1"/>
          <p:nvPr/>
        </p:nvSpPr>
        <p:spPr>
          <a:xfrm>
            <a:off x="457200" y="3346704"/>
            <a:ext cx="1097280" cy="274320"/>
          </a:xfrm>
          <a:prstGeom prst="rect">
            <a:avLst/>
          </a:prstGeom>
          <a:noFill/>
          <a:ln/>
        </p:spPr>
        <p:txBody>
          <a:bodyPr wrap="square" lIns="0" tIns="0" rIns="0" bIns="0" rtlCol="0" anchor="t"/>
          <a:lstStyle/>
          <a:p>
            <a:pPr indent="0" marL="0">
              <a:buNone/>
            </a:pPr>
            <a:r>
              <a:rPr lang="en-US" sz="900" b="1" spc="100" kern="0" dirty="0">
                <a:solidFill>
                  <a:srgbClr val="B8B2E6"/>
                </a:solidFill>
                <a:latin typeface="Calibri" pitchFamily="34" charset="0"/>
                <a:ea typeface="Calibri" pitchFamily="34" charset="-122"/>
                <a:cs typeface="Calibri" pitchFamily="34" charset="-120"/>
              </a:rPr>
              <a:t>STARTS FROM</a:t>
            </a:r>
            <a:endParaRPr lang="en-US" sz="900" dirty="0"/>
          </a:p>
        </p:txBody>
      </p:sp>
      <p:sp>
        <p:nvSpPr>
          <p:cNvPr id="6" name="Text 4"/>
          <p:cNvSpPr txBox="1"/>
          <p:nvPr/>
        </p:nvSpPr>
        <p:spPr>
          <a:xfrm>
            <a:off x="1554480" y="3291840"/>
            <a:ext cx="3291840" cy="365760"/>
          </a:xfrm>
          <a:prstGeom prst="rect">
            <a:avLst/>
          </a:prstGeom>
          <a:noFill/>
          <a:ln/>
        </p:spPr>
        <p:txBody>
          <a:bodyPr wrap="square" lIns="0" tIns="0" rIns="0" bIns="0" rtlCol="0" anchor="ctr"/>
          <a:lstStyle/>
          <a:p>
            <a:pPr indent="0" marL="0">
              <a:buNone/>
            </a:pPr>
            <a:r>
              <a:rPr lang="en-US" sz="1100" dirty="0">
                <a:solidFill>
                  <a:srgbClr val="FFFFFF"/>
                </a:solidFill>
                <a:latin typeface="Courier New" pitchFamily="34" charset="0"/>
                <a:ea typeface="Courier New" pitchFamily="34" charset="-122"/>
                <a:cs typeface="Courier New" pitchFamily="34" charset="-120"/>
              </a:rPr>
              <a:t>an apple word problem</a:t>
            </a:r>
            <a:endParaRPr lang="en-US" sz="1100" dirty="0"/>
          </a:p>
        </p:txBody>
      </p:sp>
      <p:sp>
        <p:nvSpPr>
          <p:cNvPr id="7" name="Text 5"/>
          <p:cNvSpPr txBox="1"/>
          <p:nvPr/>
        </p:nvSpPr>
        <p:spPr>
          <a:xfrm>
            <a:off x="457200" y="3803904"/>
            <a:ext cx="1097280" cy="274320"/>
          </a:xfrm>
          <a:prstGeom prst="rect">
            <a:avLst/>
          </a:prstGeom>
          <a:noFill/>
          <a:ln/>
        </p:spPr>
        <p:txBody>
          <a:bodyPr wrap="square" lIns="0" tIns="0" rIns="0" bIns="0" rtlCol="0" anchor="t"/>
          <a:lstStyle/>
          <a:p>
            <a:pPr indent="0" marL="0">
              <a:buNone/>
            </a:pPr>
            <a:r>
              <a:rPr lang="en-US" sz="900" b="1" spc="100" kern="0" dirty="0">
                <a:solidFill>
                  <a:srgbClr val="B8B2E6"/>
                </a:solidFill>
                <a:latin typeface="Calibri" pitchFamily="34" charset="0"/>
                <a:ea typeface="Calibri" pitchFamily="34" charset="-122"/>
                <a:cs typeface="Calibri" pitchFamily="34" charset="-120"/>
              </a:rPr>
              <a:t>FINISHES AS</a:t>
            </a:r>
            <a:endParaRPr lang="en-US" sz="900" dirty="0"/>
          </a:p>
        </p:txBody>
      </p:sp>
      <p:sp>
        <p:nvSpPr>
          <p:cNvPr id="8" name="Text 6"/>
          <p:cNvSpPr txBox="1"/>
          <p:nvPr/>
        </p:nvSpPr>
        <p:spPr>
          <a:xfrm>
            <a:off x="1554480" y="3749040"/>
            <a:ext cx="3291840" cy="365760"/>
          </a:xfrm>
          <a:prstGeom prst="rect">
            <a:avLst/>
          </a:prstGeom>
          <a:noFill/>
          <a:ln/>
        </p:spPr>
        <p:txBody>
          <a:bodyPr wrap="square" lIns="0" tIns="0" rIns="0" bIns="0" rtlCol="0" anchor="ctr"/>
          <a:lstStyle/>
          <a:p>
            <a:pPr indent="0" marL="0">
              <a:buNone/>
            </a:pPr>
            <a:r>
              <a:rPr lang="en-US" sz="1100" dirty="0">
                <a:solidFill>
                  <a:srgbClr val="FFFFFF"/>
                </a:solidFill>
                <a:latin typeface="Courier New" pitchFamily="34" charset="0"/>
                <a:ea typeface="Courier New" pitchFamily="34" charset="-122"/>
                <a:cs typeface="Courier New" pitchFamily="34" charset="-120"/>
              </a:rPr>
              <a:t>an answer from real C# math</a:t>
            </a:r>
            <a:endParaRPr lang="en-US" sz="1100" dirty="0"/>
          </a:p>
        </p:txBody>
      </p:sp>
      <p:sp>
        <p:nvSpPr>
          <p:cNvPr id="9" name="Shape 7"/>
          <p:cNvSpPr/>
          <p:nvPr/>
        </p:nvSpPr>
        <p:spPr>
          <a:xfrm>
            <a:off x="4983480" y="502920"/>
            <a:ext cx="3703320" cy="4069080"/>
          </a:xfrm>
          <a:prstGeom prst="roundRect">
            <a:avLst>
              <a:gd name="adj" fmla="val 1975"/>
            </a:avLst>
          </a:prstGeom>
          <a:solidFill>
            <a:srgbClr val="1F2943"/>
          </a:solidFill>
          <a:ln w="12700">
            <a:solidFill>
              <a:srgbClr val="1F2943"/>
            </a:solidFill>
            <a:prstDash val="solid"/>
          </a:ln>
        </p:spPr>
      </p:sp>
      <p:sp>
        <p:nvSpPr>
          <p:cNvPr id="10" name="Text 8"/>
          <p:cNvSpPr txBox="1"/>
          <p:nvPr/>
        </p:nvSpPr>
        <p:spPr>
          <a:xfrm>
            <a:off x="5257800" y="731520"/>
            <a:ext cx="3200400" cy="365760"/>
          </a:xfrm>
          <a:prstGeom prst="rect">
            <a:avLst/>
          </a:prstGeom>
          <a:noFill/>
          <a:ln/>
        </p:spPr>
        <p:txBody>
          <a:bodyPr wrap="square" lIns="0" tIns="0" rIns="0" bIns="0" rtlCol="0" anchor="t"/>
          <a:lstStyle/>
          <a:p>
            <a:pPr indent="0" marL="0">
              <a:buNone/>
            </a:pPr>
            <a:r>
              <a:rPr lang="en-US" sz="1600" b="1" dirty="0">
                <a:solidFill>
                  <a:srgbClr val="FFFFFF"/>
                </a:solidFill>
                <a:latin typeface="Cambria" pitchFamily="34" charset="0"/>
                <a:ea typeface="Cambria" pitchFamily="34" charset="-122"/>
                <a:cs typeface="Cambria" pitchFamily="34" charset="-120"/>
              </a:rPr>
              <a:t>In this lesson you'll learn</a:t>
            </a:r>
            <a:endParaRPr lang="en-US" sz="1600" dirty="0"/>
          </a:p>
        </p:txBody>
      </p:sp>
      <p:sp>
        <p:nvSpPr>
          <p:cNvPr id="11" name="Shape 9"/>
          <p:cNvSpPr/>
          <p:nvPr/>
        </p:nvSpPr>
        <p:spPr>
          <a:xfrm>
            <a:off x="5257800" y="1252728"/>
            <a:ext cx="310896" cy="310896"/>
          </a:xfrm>
          <a:prstGeom prst="ellipse">
            <a:avLst/>
          </a:prstGeom>
          <a:solidFill>
            <a:srgbClr val="512BD4"/>
          </a:solidFill>
          <a:ln w="12700">
            <a:solidFill>
              <a:srgbClr val="512BD4"/>
            </a:solidFill>
            <a:prstDash val="solid"/>
          </a:ln>
        </p:spPr>
      </p:sp>
      <p:pic>
        <p:nvPicPr>
          <p:cNvPr id="12" name="Image 0" descr="preencoded.png">    </p:cNvPr>
          <p:cNvPicPr>
            <a:picLocks noChangeAspect="1"/>
          </p:cNvPicPr>
          <p:nvPr/>
        </p:nvPicPr>
        <p:blipFill>
          <a:blip r:embed="rId1"/>
          <a:stretch>
            <a:fillRect/>
          </a:stretch>
        </p:blipFill>
        <p:spPr>
          <a:xfrm>
            <a:off x="5338633" y="1333561"/>
            <a:ext cx="149230" cy="149230"/>
          </a:xfrm>
          <a:prstGeom prst="rect">
            <a:avLst/>
          </a:prstGeom>
        </p:spPr>
      </p:pic>
      <p:sp>
        <p:nvSpPr>
          <p:cNvPr id="13" name="Text 10"/>
          <p:cNvSpPr txBox="1"/>
          <p:nvPr/>
        </p:nvSpPr>
        <p:spPr>
          <a:xfrm>
            <a:off x="5715000" y="123444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See why LLMs are weak at exact arithmetic</a:t>
            </a:r>
            <a:endParaRPr lang="en-US" sz="1300" dirty="0"/>
          </a:p>
        </p:txBody>
      </p:sp>
      <p:sp>
        <p:nvSpPr>
          <p:cNvPr id="14" name="Shape 11"/>
          <p:cNvSpPr/>
          <p:nvPr/>
        </p:nvSpPr>
        <p:spPr>
          <a:xfrm>
            <a:off x="5257800" y="1892808"/>
            <a:ext cx="310896" cy="310896"/>
          </a:xfrm>
          <a:prstGeom prst="ellipse">
            <a:avLst/>
          </a:prstGeom>
          <a:solidFill>
            <a:srgbClr val="512BD4"/>
          </a:solidFill>
          <a:ln w="12700">
            <a:solidFill>
              <a:srgbClr val="512BD4"/>
            </a:solidFill>
            <a:prstDash val="solid"/>
          </a:ln>
        </p:spPr>
      </p:sp>
      <p:pic>
        <p:nvPicPr>
          <p:cNvPr id="15" name="Image 1" descr="preencoded.png">    </p:cNvPr>
          <p:cNvPicPr>
            <a:picLocks noChangeAspect="1"/>
          </p:cNvPicPr>
          <p:nvPr/>
        </p:nvPicPr>
        <p:blipFill>
          <a:blip r:embed="rId2"/>
          <a:stretch>
            <a:fillRect/>
          </a:stretch>
        </p:blipFill>
        <p:spPr>
          <a:xfrm>
            <a:off x="5338633" y="1973641"/>
            <a:ext cx="149230" cy="149230"/>
          </a:xfrm>
          <a:prstGeom prst="rect">
            <a:avLst/>
          </a:prstGeom>
        </p:spPr>
      </p:pic>
      <p:sp>
        <p:nvSpPr>
          <p:cNvPr id="16" name="Text 12"/>
          <p:cNvSpPr txBox="1"/>
          <p:nvPr/>
        </p:nvSpPr>
        <p:spPr>
          <a:xfrm>
            <a:off x="5715000" y="187452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Turn C# methods into tools with [KernelFunction]</a:t>
            </a:r>
            <a:endParaRPr lang="en-US" sz="1300" dirty="0"/>
          </a:p>
        </p:txBody>
      </p:sp>
      <p:sp>
        <p:nvSpPr>
          <p:cNvPr id="17" name="Shape 13"/>
          <p:cNvSpPr/>
          <p:nvPr/>
        </p:nvSpPr>
        <p:spPr>
          <a:xfrm>
            <a:off x="5257800" y="2532888"/>
            <a:ext cx="310896" cy="310896"/>
          </a:xfrm>
          <a:prstGeom prst="ellipse">
            <a:avLst/>
          </a:prstGeom>
          <a:solidFill>
            <a:srgbClr val="512BD4"/>
          </a:solidFill>
          <a:ln w="12700">
            <a:solidFill>
              <a:srgbClr val="512BD4"/>
            </a:solidFill>
            <a:prstDash val="solid"/>
          </a:ln>
        </p:spPr>
      </p:sp>
      <p:pic>
        <p:nvPicPr>
          <p:cNvPr id="18" name="Image 2" descr="preencoded.png">    </p:cNvPr>
          <p:cNvPicPr>
            <a:picLocks noChangeAspect="1"/>
          </p:cNvPicPr>
          <p:nvPr/>
        </p:nvPicPr>
        <p:blipFill>
          <a:blip r:embed="rId3"/>
          <a:stretch>
            <a:fillRect/>
          </a:stretch>
        </p:blipFill>
        <p:spPr>
          <a:xfrm>
            <a:off x="5338633" y="2613721"/>
            <a:ext cx="149230" cy="149230"/>
          </a:xfrm>
          <a:prstGeom prst="rect">
            <a:avLst/>
          </a:prstGeom>
        </p:spPr>
      </p:pic>
      <p:sp>
        <p:nvSpPr>
          <p:cNvPr id="19" name="Text 14"/>
          <p:cNvSpPr txBox="1"/>
          <p:nvPr/>
        </p:nvSpPr>
        <p:spPr>
          <a:xfrm>
            <a:off x="5715000" y="251460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Write [Description]s the model reads</a:t>
            </a:r>
            <a:endParaRPr lang="en-US" sz="1300" dirty="0"/>
          </a:p>
        </p:txBody>
      </p:sp>
      <p:sp>
        <p:nvSpPr>
          <p:cNvPr id="20" name="Shape 15"/>
          <p:cNvSpPr/>
          <p:nvPr/>
        </p:nvSpPr>
        <p:spPr>
          <a:xfrm>
            <a:off x="5257800" y="3172968"/>
            <a:ext cx="310896" cy="310896"/>
          </a:xfrm>
          <a:prstGeom prst="ellipse">
            <a:avLst/>
          </a:prstGeom>
          <a:solidFill>
            <a:srgbClr val="512BD4"/>
          </a:solidFill>
          <a:ln w="12700">
            <a:solidFill>
              <a:srgbClr val="512BD4"/>
            </a:solidFill>
            <a:prstDash val="solid"/>
          </a:ln>
        </p:spPr>
      </p:sp>
      <p:pic>
        <p:nvPicPr>
          <p:cNvPr id="21" name="Image 3" descr="preencoded.png">    </p:cNvPr>
          <p:cNvPicPr>
            <a:picLocks noChangeAspect="1"/>
          </p:cNvPicPr>
          <p:nvPr/>
        </p:nvPicPr>
        <p:blipFill>
          <a:blip r:embed="rId4"/>
          <a:stretch>
            <a:fillRect/>
          </a:stretch>
        </p:blipFill>
        <p:spPr>
          <a:xfrm>
            <a:off x="5338633" y="3253801"/>
            <a:ext cx="149230" cy="149230"/>
          </a:xfrm>
          <a:prstGeom prst="rect">
            <a:avLst/>
          </a:prstGeom>
        </p:spPr>
      </p:pic>
      <p:sp>
        <p:nvSpPr>
          <p:cNvPr id="22" name="Text 16"/>
          <p:cNvSpPr txBox="1"/>
          <p:nvPr/>
        </p:nvSpPr>
        <p:spPr>
          <a:xfrm>
            <a:off x="5715000" y="315468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Register a plugin with AddFromType&lt;T&gt;</a:t>
            </a:r>
            <a:endParaRPr lang="en-US" sz="1300" dirty="0"/>
          </a:p>
        </p:txBody>
      </p:sp>
      <p:sp>
        <p:nvSpPr>
          <p:cNvPr id="23" name="Shape 17"/>
          <p:cNvSpPr/>
          <p:nvPr/>
        </p:nvSpPr>
        <p:spPr>
          <a:xfrm>
            <a:off x="5257800" y="3813048"/>
            <a:ext cx="310896" cy="310896"/>
          </a:xfrm>
          <a:prstGeom prst="ellipse">
            <a:avLst/>
          </a:prstGeom>
          <a:solidFill>
            <a:srgbClr val="512BD4"/>
          </a:solidFill>
          <a:ln w="12700">
            <a:solidFill>
              <a:srgbClr val="512BD4"/>
            </a:solidFill>
            <a:prstDash val="solid"/>
          </a:ln>
        </p:spPr>
      </p:sp>
      <p:pic>
        <p:nvPicPr>
          <p:cNvPr id="24" name="Image 4" descr="preencoded.png">    </p:cNvPr>
          <p:cNvPicPr>
            <a:picLocks noChangeAspect="1"/>
          </p:cNvPicPr>
          <p:nvPr/>
        </p:nvPicPr>
        <p:blipFill>
          <a:blip r:embed="rId5"/>
          <a:stretch>
            <a:fillRect/>
          </a:stretch>
        </p:blipFill>
        <p:spPr>
          <a:xfrm>
            <a:off x="5338633" y="3893881"/>
            <a:ext cx="149230" cy="149230"/>
          </a:xfrm>
          <a:prstGeom prst="rect">
            <a:avLst/>
          </a:prstGeom>
        </p:spPr>
      </p:pic>
      <p:sp>
        <p:nvSpPr>
          <p:cNvPr id="25" name="Text 18"/>
          <p:cNvSpPr txBox="1"/>
          <p:nvPr/>
        </p:nvSpPr>
        <p:spPr>
          <a:xfrm>
            <a:off x="5715000" y="379476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Let auto-invocation run the tool loop for you</a:t>
            </a:r>
            <a:endParaRPr lang="en-US" sz="1300" dirty="0"/>
          </a:p>
        </p:txBody>
      </p:sp>
      <p:sp>
        <p:nvSpPr>
          <p:cNvPr id="26" name="Text 19"/>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B8B2E6"/>
                </a:solidFill>
                <a:latin typeface="Calibri" pitchFamily="34" charset="0"/>
                <a:ea typeface="Calibri" pitchFamily="34" charset="-122"/>
                <a:cs typeface="Calibri" pitchFamily="34" charset="-120"/>
              </a:rPr>
              <a:t>Applied Agentic Orchestration with Semantic Kernel  ·  Lesson 4 — The Calculator</a:t>
            </a:r>
            <a:endParaRPr lang="en-US" sz="900" dirty="0"/>
          </a:p>
        </p:txBody>
      </p:sp>
      <p:sp>
        <p:nvSpPr>
          <p:cNvPr id="27" name="Text 20"/>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B8B2E6"/>
                </a:solidFill>
                <a:latin typeface="Calibri" pitchFamily="34" charset="0"/>
                <a:ea typeface="Calibri" pitchFamily="34" charset="-122"/>
                <a:cs typeface="Calibri"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WHAT CHANGES</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From generating text to calling real code</a:t>
            </a:r>
            <a:endParaRPr lang="en-US" sz="2800" dirty="0"/>
          </a:p>
        </p:txBody>
      </p:sp>
      <p:sp>
        <p:nvSpPr>
          <p:cNvPr id="4" name="Shape 2"/>
          <p:cNvSpPr/>
          <p:nvPr/>
        </p:nvSpPr>
        <p:spPr>
          <a:xfrm>
            <a:off x="457200" y="1371600"/>
            <a:ext cx="3931920" cy="2286000"/>
          </a:xfrm>
          <a:prstGeom prst="roundRect">
            <a:avLst>
              <a:gd name="adj" fmla="val 3200"/>
            </a:avLst>
          </a:prstGeom>
          <a:solidFill>
            <a:srgbClr val="F6F4FE"/>
          </a:solidFill>
          <a:ln w="12700">
            <a:solidFill>
              <a:srgbClr val="F6F4FE"/>
            </a:solidFill>
            <a:prstDash val="solid"/>
          </a:ln>
        </p:spPr>
      </p:sp>
      <p:sp>
        <p:nvSpPr>
          <p:cNvPr id="5" name="Shape 3"/>
          <p:cNvSpPr/>
          <p:nvPr/>
        </p:nvSpPr>
        <p:spPr>
          <a:xfrm>
            <a:off x="685800" y="1600200"/>
            <a:ext cx="438912" cy="438912"/>
          </a:xfrm>
          <a:prstGeom prst="ellipse">
            <a:avLst/>
          </a:prstGeom>
          <a:solidFill>
            <a:srgbClr val="512BD4"/>
          </a:solidFill>
          <a:ln w="12700">
            <a:solidFill>
              <a:srgbClr val="512BD4"/>
            </a:solidFill>
            <a:prstDash val="solid"/>
          </a:ln>
        </p:spPr>
      </p:sp>
      <p:pic>
        <p:nvPicPr>
          <p:cNvPr id="6" name="Image 0" descr="preencoded.png">    </p:cNvPr>
          <p:cNvPicPr>
            <a:picLocks noChangeAspect="1"/>
          </p:cNvPicPr>
          <p:nvPr/>
        </p:nvPicPr>
        <p:blipFill>
          <a:blip r:embed="rId1"/>
          <a:stretch>
            <a:fillRect/>
          </a:stretch>
        </p:blipFill>
        <p:spPr>
          <a:xfrm>
            <a:off x="799917" y="1714317"/>
            <a:ext cx="210678" cy="210678"/>
          </a:xfrm>
          <a:prstGeom prst="rect">
            <a:avLst/>
          </a:prstGeom>
        </p:spPr>
      </p:pic>
      <p:sp>
        <p:nvSpPr>
          <p:cNvPr id="7" name="Text 4"/>
          <p:cNvSpPr txBox="1"/>
          <p:nvPr/>
        </p:nvSpPr>
        <p:spPr>
          <a:xfrm>
            <a:off x="1261872" y="1600200"/>
            <a:ext cx="2926080" cy="438912"/>
          </a:xfrm>
          <a:prstGeom prst="rect">
            <a:avLst/>
          </a:prstGeom>
          <a:noFill/>
          <a:ln/>
        </p:spPr>
        <p:txBody>
          <a:bodyPr wrap="square" lIns="0" tIns="0" rIns="0" bIns="0" rtlCol="0" anchor="ctr"/>
          <a:lstStyle/>
          <a:p>
            <a:pPr indent="0" marL="0">
              <a:buNone/>
            </a:pPr>
            <a:r>
              <a:rPr lang="en-US" sz="1700" b="1" dirty="0">
                <a:solidFill>
                  <a:srgbClr val="1F2937"/>
                </a:solidFill>
                <a:latin typeface="Calibri" pitchFamily="34" charset="0"/>
                <a:ea typeface="Calibri" pitchFamily="34" charset="-122"/>
                <a:cs typeface="Calibri" pitchFamily="34" charset="-120"/>
              </a:rPr>
              <a:t>Lesson 3: text only</a:t>
            </a:r>
            <a:endParaRPr lang="en-US" sz="1700" dirty="0"/>
          </a:p>
        </p:txBody>
      </p:sp>
      <p:sp>
        <p:nvSpPr>
          <p:cNvPr id="8" name="Text 5"/>
          <p:cNvSpPr txBox="1"/>
          <p:nvPr/>
        </p:nvSpPr>
        <p:spPr>
          <a:xfrm>
            <a:off x="685800" y="2194560"/>
            <a:ext cx="3474720" cy="64008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Everything comes from the model</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Arithmetic would be a guess</a:t>
            </a:r>
            <a:endParaRPr lang="en-US" sz="1300" dirty="0"/>
          </a:p>
        </p:txBody>
      </p:sp>
      <p:sp>
        <p:nvSpPr>
          <p:cNvPr id="9" name="Shape 6"/>
          <p:cNvSpPr/>
          <p:nvPr/>
        </p:nvSpPr>
        <p:spPr>
          <a:xfrm>
            <a:off x="685800" y="2907792"/>
            <a:ext cx="3474720" cy="548640"/>
          </a:xfrm>
          <a:prstGeom prst="roundRect">
            <a:avLst>
              <a:gd name="adj" fmla="val 13333"/>
            </a:avLst>
          </a:prstGeom>
          <a:solidFill>
            <a:srgbClr val="0F1420"/>
          </a:solidFill>
          <a:ln w="12700">
            <a:solidFill>
              <a:srgbClr val="0F1420"/>
            </a:solidFill>
            <a:prstDash val="solid"/>
          </a:ln>
        </p:spPr>
      </p:sp>
      <p:sp>
        <p:nvSpPr>
          <p:cNvPr id="10" name="Text 7"/>
          <p:cNvSpPr txBox="1"/>
          <p:nvPr/>
        </p:nvSpPr>
        <p:spPr>
          <a:xfrm>
            <a:off x="868680" y="3044952"/>
            <a:ext cx="3108960" cy="274320"/>
          </a:xfrm>
          <a:prstGeom prst="rect">
            <a:avLst/>
          </a:prstGeom>
          <a:noFill/>
          <a:ln/>
        </p:spPr>
        <p:txBody>
          <a:bodyPr wrap="square" lIns="0" tIns="0" rIns="0" bIns="0" rtlCol="0" anchor="t"/>
          <a:lstStyle/>
          <a:p>
            <a:pPr indent="0" marL="0">
              <a:buNone/>
            </a:pPr>
            <a:r>
              <a:rPr lang="en-US" sz="1100" dirty="0">
                <a:solidFill>
                  <a:srgbClr val="D7E3F4"/>
                </a:solidFill>
                <a:latin typeface="Courier New" pitchFamily="34" charset="0"/>
                <a:ea typeface="Courier New" pitchFamily="34" charset="-122"/>
                <a:cs typeface="Courier New" pitchFamily="34" charset="-120"/>
              </a:rPr>
              <a:t>Transforming natural language...</a:t>
            </a:r>
            <a:endParaRPr lang="en-US" sz="1100" dirty="0"/>
          </a:p>
          <a:p>
            <a:pPr indent="0" marL="0">
              <a:buNone/>
            </a:pPr>
            <a:r>
              <a:rPr lang="en-US" sz="1100" dirty="0">
                <a:solidFill>
                  <a:srgbClr val="9FE6B8"/>
                </a:solidFill>
                <a:latin typeface="Courier New" pitchFamily="34" charset="0"/>
                <a:ea typeface="Courier New" pitchFamily="34" charset="-122"/>
                <a:cs typeface="Courier New" pitchFamily="34" charset="-120"/>
              </a:rPr>
              <a:t>{ "Age": 29, ... }</a:t>
            </a:r>
            <a:endParaRPr lang="en-US" sz="1100" dirty="0"/>
          </a:p>
        </p:txBody>
      </p:sp>
      <p:sp>
        <p:nvSpPr>
          <p:cNvPr id="11" name="Shape 8"/>
          <p:cNvSpPr/>
          <p:nvPr/>
        </p:nvSpPr>
        <p:spPr>
          <a:xfrm>
            <a:off x="4754880" y="1371600"/>
            <a:ext cx="3931920" cy="2286000"/>
          </a:xfrm>
          <a:prstGeom prst="roundRect">
            <a:avLst>
              <a:gd name="adj" fmla="val 3200"/>
            </a:avLst>
          </a:prstGeom>
          <a:solidFill>
            <a:srgbClr val="EFEBFC"/>
          </a:solidFill>
          <a:ln w="12700">
            <a:solidFill>
              <a:srgbClr val="EFEBFC"/>
            </a:solidFill>
            <a:prstDash val="solid"/>
          </a:ln>
        </p:spPr>
      </p:sp>
      <p:sp>
        <p:nvSpPr>
          <p:cNvPr id="12" name="Shape 9"/>
          <p:cNvSpPr/>
          <p:nvPr/>
        </p:nvSpPr>
        <p:spPr>
          <a:xfrm>
            <a:off x="4983480" y="1600200"/>
            <a:ext cx="438912" cy="438912"/>
          </a:xfrm>
          <a:prstGeom prst="ellipse">
            <a:avLst/>
          </a:prstGeom>
          <a:solidFill>
            <a:srgbClr val="512BD4"/>
          </a:solidFill>
          <a:ln w="12700">
            <a:solidFill>
              <a:srgbClr val="512BD4"/>
            </a:solidFill>
            <a:prstDash val="solid"/>
          </a:ln>
        </p:spPr>
      </p:sp>
      <p:pic>
        <p:nvPicPr>
          <p:cNvPr id="13" name="Image 1" descr="preencoded.png">    </p:cNvPr>
          <p:cNvPicPr>
            <a:picLocks noChangeAspect="1"/>
          </p:cNvPicPr>
          <p:nvPr/>
        </p:nvPicPr>
        <p:blipFill>
          <a:blip r:embed="rId2"/>
          <a:stretch>
            <a:fillRect/>
          </a:stretch>
        </p:blipFill>
        <p:spPr>
          <a:xfrm>
            <a:off x="5097597" y="1714317"/>
            <a:ext cx="210678" cy="210678"/>
          </a:xfrm>
          <a:prstGeom prst="rect">
            <a:avLst/>
          </a:prstGeom>
        </p:spPr>
      </p:pic>
      <p:sp>
        <p:nvSpPr>
          <p:cNvPr id="14" name="Text 10"/>
          <p:cNvSpPr txBox="1"/>
          <p:nvPr/>
        </p:nvSpPr>
        <p:spPr>
          <a:xfrm>
            <a:off x="5559552" y="1600200"/>
            <a:ext cx="2926080" cy="438912"/>
          </a:xfrm>
          <a:prstGeom prst="rect">
            <a:avLst/>
          </a:prstGeom>
          <a:noFill/>
          <a:ln/>
        </p:spPr>
        <p:txBody>
          <a:bodyPr wrap="square" lIns="0" tIns="0" rIns="0" bIns="0" rtlCol="0" anchor="ctr"/>
          <a:lstStyle/>
          <a:p>
            <a:pPr indent="0" marL="0">
              <a:buNone/>
            </a:pPr>
            <a:r>
              <a:rPr lang="en-US" sz="1700" b="1" dirty="0">
                <a:solidFill>
                  <a:srgbClr val="1F2937"/>
                </a:solidFill>
                <a:latin typeface="Calibri" pitchFamily="34" charset="0"/>
                <a:ea typeface="Calibri" pitchFamily="34" charset="-122"/>
                <a:cs typeface="Calibri" pitchFamily="34" charset="-120"/>
              </a:rPr>
              <a:t>Lesson 4: model + tools</a:t>
            </a:r>
            <a:endParaRPr lang="en-US" sz="1700" dirty="0"/>
          </a:p>
        </p:txBody>
      </p:sp>
      <p:sp>
        <p:nvSpPr>
          <p:cNvPr id="15" name="Text 11"/>
          <p:cNvSpPr txBox="1"/>
          <p:nvPr/>
        </p:nvSpPr>
        <p:spPr>
          <a:xfrm>
            <a:off x="4983480" y="2194560"/>
            <a:ext cx="3474720" cy="64008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The model decides what to compute</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C# computes it exactly</a:t>
            </a:r>
            <a:endParaRPr lang="en-US" sz="1300" dirty="0"/>
          </a:p>
        </p:txBody>
      </p:sp>
      <p:sp>
        <p:nvSpPr>
          <p:cNvPr id="16" name="Shape 12"/>
          <p:cNvSpPr/>
          <p:nvPr/>
        </p:nvSpPr>
        <p:spPr>
          <a:xfrm>
            <a:off x="4983480" y="2907792"/>
            <a:ext cx="3474720" cy="548640"/>
          </a:xfrm>
          <a:prstGeom prst="roundRect">
            <a:avLst>
              <a:gd name="adj" fmla="val 13333"/>
            </a:avLst>
          </a:prstGeom>
          <a:solidFill>
            <a:srgbClr val="0F1420"/>
          </a:solidFill>
          <a:ln w="12700">
            <a:solidFill>
              <a:srgbClr val="0F1420"/>
            </a:solidFill>
            <a:prstDash val="solid"/>
          </a:ln>
        </p:spPr>
      </p:sp>
      <p:sp>
        <p:nvSpPr>
          <p:cNvPr id="17" name="Text 13"/>
          <p:cNvSpPr txBox="1"/>
          <p:nvPr/>
        </p:nvSpPr>
        <p:spPr>
          <a:xfrm>
            <a:off x="5166360" y="3044952"/>
            <a:ext cx="3108960" cy="274320"/>
          </a:xfrm>
          <a:prstGeom prst="rect">
            <a:avLst/>
          </a:prstGeom>
          <a:noFill/>
          <a:ln/>
        </p:spPr>
        <p:txBody>
          <a:bodyPr wrap="square" lIns="0" tIns="0" rIns="0" bIns="0" rtlCol="0" anchor="t"/>
          <a:lstStyle/>
          <a:p>
            <a:pPr indent="0" marL="0">
              <a:buNone/>
            </a:pPr>
            <a:r>
              <a:rPr lang="en-US" sz="1100" dirty="0">
                <a:solidFill>
                  <a:srgbClr val="D7E3F4"/>
                </a:solidFill>
                <a:latin typeface="Courier New" pitchFamily="34" charset="0"/>
                <a:ea typeface="Courier New" pitchFamily="34" charset="-122"/>
                <a:cs typeface="Courier New" pitchFamily="34" charset="-120"/>
              </a:rPr>
              <a:t>[NATIVE CODE EXECUTION] Adding...</a:t>
            </a:r>
            <a:endParaRPr lang="en-US" sz="1100" dirty="0"/>
          </a:p>
          <a:p>
            <a:pPr indent="0" marL="0">
              <a:buNone/>
            </a:pPr>
            <a:r>
              <a:rPr lang="en-US" sz="1100" dirty="0">
                <a:solidFill>
                  <a:srgbClr val="9FE6B8"/>
                </a:solidFill>
                <a:latin typeface="Courier New" pitchFamily="34" charset="0"/>
                <a:ea typeface="Courier New" pitchFamily="34" charset="-122"/>
                <a:cs typeface="Courier New" pitchFamily="34" charset="-120"/>
              </a:rPr>
              <a:t>Each person gets ... apples.</a:t>
            </a:r>
            <a:endParaRPr lang="en-US" sz="1100" dirty="0"/>
          </a:p>
        </p:txBody>
      </p:sp>
      <p:sp>
        <p:nvSpPr>
          <p:cNvPr id="18" name="Text 14"/>
          <p:cNvSpPr txBox="1"/>
          <p:nvPr/>
        </p:nvSpPr>
        <p:spPr>
          <a:xfrm>
            <a:off x="457200" y="3931920"/>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The model plans the steps; your methods produce the numbers.</a:t>
            </a:r>
            <a:endParaRPr lang="en-US" sz="1400" dirty="0"/>
          </a:p>
        </p:txBody>
      </p:sp>
      <p:sp>
        <p:nvSpPr>
          <p:cNvPr id="19" name="Text 15"/>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with Semantic Kernel  ·  Lesson 4 — The Calculator</a:t>
            </a:r>
            <a:endParaRPr lang="en-US" sz="900" dirty="0"/>
          </a:p>
        </p:txBody>
      </p:sp>
      <p:sp>
        <p:nvSpPr>
          <p:cNvPr id="20" name="Text 16"/>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SETUP</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What you need before writing any code</a:t>
            </a:r>
            <a:endParaRPr lang="en-US" sz="2800" dirty="0"/>
          </a:p>
        </p:txBody>
      </p:sp>
      <p:sp>
        <p:nvSpPr>
          <p:cNvPr id="4" name="Shape 2"/>
          <p:cNvSpPr/>
          <p:nvPr/>
        </p:nvSpPr>
        <p:spPr>
          <a:xfrm>
            <a:off x="457200" y="1371600"/>
            <a:ext cx="3977640" cy="1394460"/>
          </a:xfrm>
          <a:prstGeom prst="roundRect">
            <a:avLst>
              <a:gd name="adj" fmla="val 5246"/>
            </a:avLst>
          </a:prstGeom>
          <a:solidFill>
            <a:srgbClr val="EFEBFC"/>
          </a:solidFill>
          <a:ln w="12700">
            <a:solidFill>
              <a:srgbClr val="EFEBFC"/>
            </a:solidFill>
            <a:prstDash val="solid"/>
          </a:ln>
        </p:spPr>
      </p:sp>
      <p:sp>
        <p:nvSpPr>
          <p:cNvPr id="5" name="Shape 3"/>
          <p:cNvSpPr/>
          <p:nvPr/>
        </p:nvSpPr>
        <p:spPr>
          <a:xfrm>
            <a:off x="640080" y="1554480"/>
            <a:ext cx="384048" cy="384048"/>
          </a:xfrm>
          <a:prstGeom prst="ellipse">
            <a:avLst/>
          </a:prstGeom>
          <a:solidFill>
            <a:srgbClr val="512BD4"/>
          </a:solidFill>
          <a:ln w="12700">
            <a:solidFill>
              <a:srgbClr val="512BD4"/>
            </a:solidFill>
            <a:prstDash val="solid"/>
          </a:ln>
        </p:spPr>
      </p:sp>
      <p:pic>
        <p:nvPicPr>
          <p:cNvPr id="6" name="Image 0" descr="preencoded.png">    </p:cNvPr>
          <p:cNvPicPr>
            <a:picLocks noChangeAspect="1"/>
          </p:cNvPicPr>
          <p:nvPr/>
        </p:nvPicPr>
        <p:blipFill>
          <a:blip r:embed="rId1"/>
          <a:stretch>
            <a:fillRect/>
          </a:stretch>
        </p:blipFill>
        <p:spPr>
          <a:xfrm>
            <a:off x="739932" y="1654332"/>
            <a:ext cx="184343" cy="184343"/>
          </a:xfrm>
          <a:prstGeom prst="rect">
            <a:avLst/>
          </a:prstGeom>
        </p:spPr>
      </p:pic>
      <p:sp>
        <p:nvSpPr>
          <p:cNvPr id="7" name="Text 4"/>
          <p:cNvSpPr txBox="1"/>
          <p:nvPr/>
        </p:nvSpPr>
        <p:spPr>
          <a:xfrm>
            <a:off x="1143000" y="1554480"/>
            <a:ext cx="3154680" cy="384048"/>
          </a:xfrm>
          <a:prstGeom prst="rect">
            <a:avLst/>
          </a:prstGeom>
          <a:noFill/>
          <a:ln/>
        </p:spPr>
        <p:txBody>
          <a:bodyPr wrap="square" lIns="0" tIns="0" rIns="0" bIns="0" rtlCol="0" anchor="ctr">
            <a:normAutofit/>
          </a:bodyPr>
          <a:lstStyle/>
          <a:p>
            <a:pPr indent="0" marL="0">
              <a:buNone/>
            </a:pPr>
            <a:r>
              <a:rPr lang="en-US" sz="1500" b="1" dirty="0">
                <a:solidFill>
                  <a:srgbClr val="1F2937"/>
                </a:solidFill>
                <a:latin typeface="Calibri" pitchFamily="34" charset="0"/>
                <a:ea typeface="Calibri" pitchFamily="34" charset="-122"/>
                <a:cs typeface="Calibri" pitchFamily="34" charset="-120"/>
              </a:rPr>
              <a:t>.NET 10 SDK</a:t>
            </a:r>
            <a:endParaRPr lang="en-US" sz="1500" dirty="0"/>
          </a:p>
        </p:txBody>
      </p:sp>
      <p:sp>
        <p:nvSpPr>
          <p:cNvPr id="8" name="Text 5"/>
          <p:cNvSpPr txBox="1"/>
          <p:nvPr/>
        </p:nvSpPr>
        <p:spPr>
          <a:xfrm>
            <a:off x="640080" y="2057400"/>
            <a:ext cx="3611880" cy="61722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A C# console app targeting net10.0, opened from Calculator.slnx in Visual Studio 2026.</a:t>
            </a:r>
            <a:endParaRPr lang="en-US" sz="1200" dirty="0"/>
          </a:p>
        </p:txBody>
      </p:sp>
      <p:sp>
        <p:nvSpPr>
          <p:cNvPr id="9" name="Shape 6"/>
          <p:cNvSpPr/>
          <p:nvPr/>
        </p:nvSpPr>
        <p:spPr>
          <a:xfrm>
            <a:off x="4709160" y="1371600"/>
            <a:ext cx="3977640" cy="1394460"/>
          </a:xfrm>
          <a:prstGeom prst="roundRect">
            <a:avLst>
              <a:gd name="adj" fmla="val 5246"/>
            </a:avLst>
          </a:prstGeom>
          <a:solidFill>
            <a:srgbClr val="EFEBFC"/>
          </a:solidFill>
          <a:ln w="12700">
            <a:solidFill>
              <a:srgbClr val="EFEBFC"/>
            </a:solidFill>
            <a:prstDash val="solid"/>
          </a:ln>
        </p:spPr>
      </p:sp>
      <p:sp>
        <p:nvSpPr>
          <p:cNvPr id="10" name="Shape 7"/>
          <p:cNvSpPr/>
          <p:nvPr/>
        </p:nvSpPr>
        <p:spPr>
          <a:xfrm>
            <a:off x="4892040" y="1554480"/>
            <a:ext cx="384048" cy="384048"/>
          </a:xfrm>
          <a:prstGeom prst="ellipse">
            <a:avLst/>
          </a:prstGeom>
          <a:solidFill>
            <a:srgbClr val="512BD4"/>
          </a:solidFill>
          <a:ln w="12700">
            <a:solidFill>
              <a:srgbClr val="512BD4"/>
            </a:solidFill>
            <a:prstDash val="solid"/>
          </a:ln>
        </p:spPr>
      </p:sp>
      <p:pic>
        <p:nvPicPr>
          <p:cNvPr id="11" name="Image 1" descr="preencoded.png">    </p:cNvPr>
          <p:cNvPicPr>
            <a:picLocks noChangeAspect="1"/>
          </p:cNvPicPr>
          <p:nvPr/>
        </p:nvPicPr>
        <p:blipFill>
          <a:blip r:embed="rId2"/>
          <a:stretch>
            <a:fillRect/>
          </a:stretch>
        </p:blipFill>
        <p:spPr>
          <a:xfrm>
            <a:off x="4991892" y="1654332"/>
            <a:ext cx="184343" cy="184343"/>
          </a:xfrm>
          <a:prstGeom prst="rect">
            <a:avLst/>
          </a:prstGeom>
        </p:spPr>
      </p:pic>
      <p:sp>
        <p:nvSpPr>
          <p:cNvPr id="12" name="Text 8"/>
          <p:cNvSpPr txBox="1"/>
          <p:nvPr/>
        </p:nvSpPr>
        <p:spPr>
          <a:xfrm>
            <a:off x="5394960" y="1554480"/>
            <a:ext cx="3154680" cy="384048"/>
          </a:xfrm>
          <a:prstGeom prst="rect">
            <a:avLst/>
          </a:prstGeom>
          <a:noFill/>
          <a:ln/>
        </p:spPr>
        <p:txBody>
          <a:bodyPr wrap="square" lIns="0" tIns="0" rIns="0" bIns="0" rtlCol="0" anchor="ctr">
            <a:normAutofit/>
          </a:bodyPr>
          <a:lstStyle/>
          <a:p>
            <a:pPr indent="0" marL="0">
              <a:buNone/>
            </a:pPr>
            <a:r>
              <a:rPr lang="en-US" sz="1500" b="1" dirty="0">
                <a:solidFill>
                  <a:srgbClr val="1F2937"/>
                </a:solidFill>
                <a:latin typeface="Calibri" pitchFamily="34" charset="0"/>
                <a:ea typeface="Calibri" pitchFamily="34" charset="-122"/>
                <a:cs typeface="Calibri" pitchFamily="34" charset="-120"/>
              </a:rPr>
              <a:t>Two NuGet packages</a:t>
            </a:r>
            <a:endParaRPr lang="en-US" sz="1500" dirty="0"/>
          </a:p>
        </p:txBody>
      </p:sp>
      <p:sp>
        <p:nvSpPr>
          <p:cNvPr id="13" name="Text 9"/>
          <p:cNvSpPr txBox="1"/>
          <p:nvPr/>
        </p:nvSpPr>
        <p:spPr>
          <a:xfrm>
            <a:off x="4892040" y="2057400"/>
            <a:ext cx="3611880" cy="61722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Microsoft.SemanticKernel and Microsoft.SemanticKernel.Connectors.OpenAI, both version 1.78.0.</a:t>
            </a:r>
            <a:endParaRPr lang="en-US" sz="1200" dirty="0"/>
          </a:p>
        </p:txBody>
      </p:sp>
      <p:sp>
        <p:nvSpPr>
          <p:cNvPr id="14" name="Shape 10"/>
          <p:cNvSpPr/>
          <p:nvPr/>
        </p:nvSpPr>
        <p:spPr>
          <a:xfrm>
            <a:off x="457200" y="2994660"/>
            <a:ext cx="3977640" cy="1394460"/>
          </a:xfrm>
          <a:prstGeom prst="roundRect">
            <a:avLst>
              <a:gd name="adj" fmla="val 5246"/>
            </a:avLst>
          </a:prstGeom>
          <a:solidFill>
            <a:srgbClr val="EFEBFC"/>
          </a:solidFill>
          <a:ln w="12700">
            <a:solidFill>
              <a:srgbClr val="EFEBFC"/>
            </a:solidFill>
            <a:prstDash val="solid"/>
          </a:ln>
        </p:spPr>
      </p:sp>
      <p:sp>
        <p:nvSpPr>
          <p:cNvPr id="15" name="Shape 11"/>
          <p:cNvSpPr/>
          <p:nvPr/>
        </p:nvSpPr>
        <p:spPr>
          <a:xfrm>
            <a:off x="640080" y="3177540"/>
            <a:ext cx="384048" cy="384048"/>
          </a:xfrm>
          <a:prstGeom prst="ellipse">
            <a:avLst/>
          </a:prstGeom>
          <a:solidFill>
            <a:srgbClr val="512BD4"/>
          </a:solidFill>
          <a:ln w="12700">
            <a:solidFill>
              <a:srgbClr val="512BD4"/>
            </a:solidFill>
            <a:prstDash val="solid"/>
          </a:ln>
        </p:spPr>
      </p:sp>
      <p:pic>
        <p:nvPicPr>
          <p:cNvPr id="16" name="Image 2" descr="preencoded.png">    </p:cNvPr>
          <p:cNvPicPr>
            <a:picLocks noChangeAspect="1"/>
          </p:cNvPicPr>
          <p:nvPr/>
        </p:nvPicPr>
        <p:blipFill>
          <a:blip r:embed="rId3"/>
          <a:stretch>
            <a:fillRect/>
          </a:stretch>
        </p:blipFill>
        <p:spPr>
          <a:xfrm>
            <a:off x="739932" y="3277392"/>
            <a:ext cx="184343" cy="184343"/>
          </a:xfrm>
          <a:prstGeom prst="rect">
            <a:avLst/>
          </a:prstGeom>
        </p:spPr>
      </p:pic>
      <p:sp>
        <p:nvSpPr>
          <p:cNvPr id="17" name="Text 12"/>
          <p:cNvSpPr txBox="1"/>
          <p:nvPr/>
        </p:nvSpPr>
        <p:spPr>
          <a:xfrm>
            <a:off x="1143000" y="3177540"/>
            <a:ext cx="3154680" cy="384048"/>
          </a:xfrm>
          <a:prstGeom prst="rect">
            <a:avLst/>
          </a:prstGeom>
          <a:noFill/>
          <a:ln/>
        </p:spPr>
        <p:txBody>
          <a:bodyPr wrap="square" lIns="0" tIns="0" rIns="0" bIns="0" rtlCol="0" anchor="ctr">
            <a:normAutofit/>
          </a:bodyPr>
          <a:lstStyle/>
          <a:p>
            <a:pPr indent="0" marL="0">
              <a:buNone/>
            </a:pPr>
            <a:r>
              <a:rPr lang="en-US" sz="1500" b="1" dirty="0">
                <a:solidFill>
                  <a:srgbClr val="1F2937"/>
                </a:solidFill>
                <a:latin typeface="Courier New" pitchFamily="34" charset="0"/>
                <a:ea typeface="Courier New" pitchFamily="34" charset="-122"/>
                <a:cs typeface="Courier New" pitchFamily="34" charset="-120"/>
              </a:rPr>
              <a:t>OPENAI_API_KEY</a:t>
            </a:r>
            <a:endParaRPr lang="en-US" sz="1500" dirty="0"/>
          </a:p>
        </p:txBody>
      </p:sp>
      <p:sp>
        <p:nvSpPr>
          <p:cNvPr id="18" name="Text 13"/>
          <p:cNvSpPr txBox="1"/>
          <p:nvPr/>
        </p:nvSpPr>
        <p:spPr>
          <a:xfrm>
            <a:off x="640080" y="3680460"/>
            <a:ext cx="3611880" cy="61722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Read from the environment, never hard-coded. The app throws at startup if it is missing.</a:t>
            </a:r>
            <a:endParaRPr lang="en-US" sz="1200" dirty="0"/>
          </a:p>
        </p:txBody>
      </p:sp>
      <p:sp>
        <p:nvSpPr>
          <p:cNvPr id="19" name="Shape 14"/>
          <p:cNvSpPr/>
          <p:nvPr/>
        </p:nvSpPr>
        <p:spPr>
          <a:xfrm>
            <a:off x="4709160" y="2994660"/>
            <a:ext cx="3977640" cy="1394460"/>
          </a:xfrm>
          <a:prstGeom prst="roundRect">
            <a:avLst>
              <a:gd name="adj" fmla="val 5246"/>
            </a:avLst>
          </a:prstGeom>
          <a:solidFill>
            <a:srgbClr val="EFEBFC"/>
          </a:solidFill>
          <a:ln w="12700">
            <a:solidFill>
              <a:srgbClr val="EFEBFC"/>
            </a:solidFill>
            <a:prstDash val="solid"/>
          </a:ln>
        </p:spPr>
      </p:sp>
      <p:sp>
        <p:nvSpPr>
          <p:cNvPr id="20" name="Shape 15"/>
          <p:cNvSpPr/>
          <p:nvPr/>
        </p:nvSpPr>
        <p:spPr>
          <a:xfrm>
            <a:off x="4892040" y="3177540"/>
            <a:ext cx="384048" cy="384048"/>
          </a:xfrm>
          <a:prstGeom prst="ellipse">
            <a:avLst/>
          </a:prstGeom>
          <a:solidFill>
            <a:srgbClr val="512BD4"/>
          </a:solidFill>
          <a:ln w="12700">
            <a:solidFill>
              <a:srgbClr val="512BD4"/>
            </a:solidFill>
            <a:prstDash val="solid"/>
          </a:ln>
        </p:spPr>
      </p:sp>
      <p:pic>
        <p:nvPicPr>
          <p:cNvPr id="21" name="Image 3" descr="preencoded.png">    </p:cNvPr>
          <p:cNvPicPr>
            <a:picLocks noChangeAspect="1"/>
          </p:cNvPicPr>
          <p:nvPr/>
        </p:nvPicPr>
        <p:blipFill>
          <a:blip r:embed="rId4"/>
          <a:stretch>
            <a:fillRect/>
          </a:stretch>
        </p:blipFill>
        <p:spPr>
          <a:xfrm>
            <a:off x="4991892" y="3277392"/>
            <a:ext cx="184343" cy="184343"/>
          </a:xfrm>
          <a:prstGeom prst="rect">
            <a:avLst/>
          </a:prstGeom>
        </p:spPr>
      </p:pic>
      <p:sp>
        <p:nvSpPr>
          <p:cNvPr id="22" name="Text 16"/>
          <p:cNvSpPr txBox="1"/>
          <p:nvPr/>
        </p:nvSpPr>
        <p:spPr>
          <a:xfrm>
            <a:off x="5394960" y="3177540"/>
            <a:ext cx="3154680" cy="384048"/>
          </a:xfrm>
          <a:prstGeom prst="rect">
            <a:avLst/>
          </a:prstGeom>
          <a:noFill/>
          <a:ln/>
        </p:spPr>
        <p:txBody>
          <a:bodyPr wrap="square" lIns="0" tIns="0" rIns="0" bIns="0" rtlCol="0" anchor="ctr">
            <a:normAutofit/>
          </a:bodyPr>
          <a:lstStyle/>
          <a:p>
            <a:pPr indent="0" marL="0">
              <a:buNone/>
            </a:pPr>
            <a:r>
              <a:rPr lang="en-US" sz="1500" b="1" dirty="0">
                <a:solidFill>
                  <a:srgbClr val="1F2937"/>
                </a:solidFill>
                <a:latin typeface="Calibri" pitchFamily="34" charset="0"/>
                <a:ea typeface="Calibri" pitchFamily="34" charset="-122"/>
                <a:cs typeface="Calibri" pitchFamily="34" charset="-120"/>
              </a:rPr>
              <a:t>Two source files</a:t>
            </a:r>
            <a:endParaRPr lang="en-US" sz="1500" dirty="0"/>
          </a:p>
        </p:txBody>
      </p:sp>
      <p:sp>
        <p:nvSpPr>
          <p:cNvPr id="23" name="Text 17"/>
          <p:cNvSpPr txBox="1"/>
          <p:nvPr/>
        </p:nvSpPr>
        <p:spPr>
          <a:xfrm>
            <a:off x="4892040" y="3680460"/>
            <a:ext cx="3611880" cy="61722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Program.cs wires the kernel; MathPlugin.cs holds the MathPlugin class. The model is gpt-4.1-mini.</a:t>
            </a:r>
            <a:endParaRPr lang="en-US" sz="1200" dirty="0"/>
          </a:p>
        </p:txBody>
      </p:sp>
      <p:sp>
        <p:nvSpPr>
          <p:cNvPr id="24" name="Text 18"/>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with Semantic Kernel  ·  Lesson 4 — The Calculator</a:t>
            </a:r>
            <a:endParaRPr lang="en-US" sz="900" dirty="0"/>
          </a:p>
        </p:txBody>
      </p:sp>
      <p:sp>
        <p:nvSpPr>
          <p:cNvPr id="25" name="Text 19"/>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NATIVE PLUGIN</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MathPlugin: four plain C# methods</a:t>
            </a:r>
            <a:endParaRPr lang="en-US" sz="2800" dirty="0"/>
          </a:p>
        </p:txBody>
      </p:sp>
      <p:sp>
        <p:nvSpPr>
          <p:cNvPr id="4" name="Shape 2"/>
          <p:cNvSpPr/>
          <p:nvPr/>
        </p:nvSpPr>
        <p:spPr>
          <a:xfrm>
            <a:off x="457200" y="1417320"/>
            <a:ext cx="2468880" cy="2377440"/>
          </a:xfrm>
          <a:prstGeom prst="roundRect">
            <a:avLst>
              <a:gd name="adj" fmla="val 3077"/>
            </a:avLst>
          </a:prstGeom>
          <a:solidFill>
            <a:srgbClr val="512BD4"/>
          </a:solidFill>
          <a:ln w="12700">
            <a:solidFill>
              <a:srgbClr val="512BD4"/>
            </a:solidFill>
            <a:prstDash val="solid"/>
          </a:ln>
        </p:spPr>
      </p:sp>
      <p:sp>
        <p:nvSpPr>
          <p:cNvPr id="5" name="Shape 3"/>
          <p:cNvSpPr/>
          <p:nvPr/>
        </p:nvSpPr>
        <p:spPr>
          <a:xfrm>
            <a:off x="685800" y="1645920"/>
            <a:ext cx="502920" cy="502920"/>
          </a:xfrm>
          <a:prstGeom prst="ellipse">
            <a:avLst/>
          </a:prstGeom>
          <a:solidFill>
            <a:srgbClr val="FFFFFF"/>
          </a:solidFill>
          <a:ln w="12700">
            <a:solidFill>
              <a:srgbClr val="FFFFFF"/>
            </a:solidFill>
            <a:prstDash val="solid"/>
          </a:ln>
        </p:spPr>
      </p:sp>
      <p:pic>
        <p:nvPicPr>
          <p:cNvPr id="6" name="Image 0" descr="preencoded.png">    </p:cNvPr>
          <p:cNvPicPr>
            <a:picLocks noChangeAspect="1"/>
          </p:cNvPicPr>
          <p:nvPr/>
        </p:nvPicPr>
        <p:blipFill>
          <a:blip r:embed="rId1"/>
          <a:stretch>
            <a:fillRect/>
          </a:stretch>
        </p:blipFill>
        <p:spPr>
          <a:xfrm>
            <a:off x="816559" y="1776679"/>
            <a:ext cx="241402" cy="241402"/>
          </a:xfrm>
          <a:prstGeom prst="rect">
            <a:avLst/>
          </a:prstGeom>
        </p:spPr>
      </p:pic>
      <p:sp>
        <p:nvSpPr>
          <p:cNvPr id="7" name="Text 4"/>
          <p:cNvSpPr txBox="1"/>
          <p:nvPr/>
        </p:nvSpPr>
        <p:spPr>
          <a:xfrm>
            <a:off x="685800" y="2286000"/>
            <a:ext cx="2057400" cy="457200"/>
          </a:xfrm>
          <a:prstGeom prst="rect">
            <a:avLst/>
          </a:prstGeom>
          <a:noFill/>
          <a:ln/>
        </p:spPr>
        <p:txBody>
          <a:bodyPr wrap="square" lIns="0" tIns="0" rIns="0" bIns="0" rtlCol="0" anchor="t"/>
          <a:lstStyle/>
          <a:p>
            <a:pPr indent="0" marL="0">
              <a:buNone/>
            </a:pPr>
            <a:r>
              <a:rPr lang="en-US" sz="1800" b="1" dirty="0">
                <a:solidFill>
                  <a:srgbClr val="FFFFFF"/>
                </a:solidFill>
                <a:latin typeface="Calibri" pitchFamily="34" charset="0"/>
                <a:ea typeface="Calibri" pitchFamily="34" charset="-122"/>
                <a:cs typeface="Calibri" pitchFamily="34" charset="-120"/>
              </a:rPr>
              <a:t>MathPlugin</a:t>
            </a:r>
            <a:endParaRPr lang="en-US" sz="1800" dirty="0"/>
          </a:p>
        </p:txBody>
      </p:sp>
      <p:sp>
        <p:nvSpPr>
          <p:cNvPr id="8" name="Text 5"/>
          <p:cNvSpPr txBox="1"/>
          <p:nvPr/>
        </p:nvSpPr>
        <p:spPr>
          <a:xfrm>
            <a:off x="685800" y="2743200"/>
            <a:ext cx="2057400" cy="96012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A plain C# class: no base class, no interface. Registered under the name "Math".</a:t>
            </a:r>
            <a:endParaRPr lang="en-US" sz="1300" dirty="0"/>
          </a:p>
        </p:txBody>
      </p:sp>
      <p:sp>
        <p:nvSpPr>
          <p:cNvPr id="9" name="Shape 6"/>
          <p:cNvSpPr/>
          <p:nvPr/>
        </p:nvSpPr>
        <p:spPr>
          <a:xfrm>
            <a:off x="2926080" y="1645920"/>
            <a:ext cx="502920" cy="0"/>
          </a:xfrm>
          <a:prstGeom prst="line">
            <a:avLst/>
          </a:prstGeom>
          <a:noFill/>
          <a:ln w="25400">
            <a:solidFill>
              <a:srgbClr val="F5A623"/>
            </a:solidFill>
            <a:prstDash val="solid"/>
          </a:ln>
        </p:spPr>
      </p:sp>
      <p:sp>
        <p:nvSpPr>
          <p:cNvPr id="10" name="Shape 7"/>
          <p:cNvSpPr/>
          <p:nvPr/>
        </p:nvSpPr>
        <p:spPr>
          <a:xfrm>
            <a:off x="3429000" y="1417320"/>
            <a:ext cx="5257800" cy="457200"/>
          </a:xfrm>
          <a:prstGeom prst="roundRect">
            <a:avLst>
              <a:gd name="adj" fmla="val 16000"/>
            </a:avLst>
          </a:prstGeom>
          <a:solidFill>
            <a:srgbClr val="EFEBFC"/>
          </a:solidFill>
          <a:ln w="12700">
            <a:solidFill>
              <a:srgbClr val="EFEBFC"/>
            </a:solidFill>
            <a:prstDash val="solid"/>
          </a:ln>
        </p:spPr>
      </p:sp>
      <p:sp>
        <p:nvSpPr>
          <p:cNvPr id="11" name="Shape 8"/>
          <p:cNvSpPr/>
          <p:nvPr/>
        </p:nvSpPr>
        <p:spPr>
          <a:xfrm>
            <a:off x="3593592" y="1453896"/>
            <a:ext cx="384048" cy="384048"/>
          </a:xfrm>
          <a:prstGeom prst="ellipse">
            <a:avLst/>
          </a:prstGeom>
          <a:solidFill>
            <a:srgbClr val="512BD4"/>
          </a:solidFill>
          <a:ln w="12700">
            <a:solidFill>
              <a:srgbClr val="512BD4"/>
            </a:solidFill>
            <a:prstDash val="solid"/>
          </a:ln>
        </p:spPr>
      </p:sp>
      <p:pic>
        <p:nvPicPr>
          <p:cNvPr id="12" name="Image 1" descr="preencoded.png">    </p:cNvPr>
          <p:cNvPicPr>
            <a:picLocks noChangeAspect="1"/>
          </p:cNvPicPr>
          <p:nvPr/>
        </p:nvPicPr>
        <p:blipFill>
          <a:blip r:embed="rId2"/>
          <a:stretch>
            <a:fillRect/>
          </a:stretch>
        </p:blipFill>
        <p:spPr>
          <a:xfrm>
            <a:off x="3693444" y="1553748"/>
            <a:ext cx="184343" cy="184343"/>
          </a:xfrm>
          <a:prstGeom prst="rect">
            <a:avLst/>
          </a:prstGeom>
        </p:spPr>
      </p:pic>
      <p:sp>
        <p:nvSpPr>
          <p:cNvPr id="13" name="Text 9"/>
          <p:cNvSpPr txBox="1"/>
          <p:nvPr/>
        </p:nvSpPr>
        <p:spPr>
          <a:xfrm>
            <a:off x="4142232" y="1508760"/>
            <a:ext cx="1463040" cy="274320"/>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Add</a:t>
            </a:r>
            <a:endParaRPr lang="en-US" sz="1500" dirty="0"/>
          </a:p>
        </p:txBody>
      </p:sp>
      <p:sp>
        <p:nvSpPr>
          <p:cNvPr id="14" name="Text 10"/>
          <p:cNvSpPr txBox="1"/>
          <p:nvPr/>
        </p:nvSpPr>
        <p:spPr>
          <a:xfrm>
            <a:off x="5577840" y="1508760"/>
            <a:ext cx="2971800" cy="27432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Returns number1 + number2 as a double.</a:t>
            </a:r>
            <a:endParaRPr lang="en-US" sz="1200" dirty="0"/>
          </a:p>
        </p:txBody>
      </p:sp>
      <p:sp>
        <p:nvSpPr>
          <p:cNvPr id="15" name="Shape 11"/>
          <p:cNvSpPr/>
          <p:nvPr/>
        </p:nvSpPr>
        <p:spPr>
          <a:xfrm>
            <a:off x="2926080" y="2286000"/>
            <a:ext cx="502920" cy="0"/>
          </a:xfrm>
          <a:prstGeom prst="line">
            <a:avLst/>
          </a:prstGeom>
          <a:noFill/>
          <a:ln w="25400">
            <a:solidFill>
              <a:srgbClr val="F5A623"/>
            </a:solidFill>
            <a:prstDash val="solid"/>
          </a:ln>
        </p:spPr>
      </p:sp>
      <p:sp>
        <p:nvSpPr>
          <p:cNvPr id="16" name="Shape 12"/>
          <p:cNvSpPr/>
          <p:nvPr/>
        </p:nvSpPr>
        <p:spPr>
          <a:xfrm>
            <a:off x="3429000" y="2057400"/>
            <a:ext cx="5257800" cy="457200"/>
          </a:xfrm>
          <a:prstGeom prst="roundRect">
            <a:avLst>
              <a:gd name="adj" fmla="val 16000"/>
            </a:avLst>
          </a:prstGeom>
          <a:solidFill>
            <a:srgbClr val="EFEBFC"/>
          </a:solidFill>
          <a:ln w="12700">
            <a:solidFill>
              <a:srgbClr val="EFEBFC"/>
            </a:solidFill>
            <a:prstDash val="solid"/>
          </a:ln>
        </p:spPr>
      </p:sp>
      <p:sp>
        <p:nvSpPr>
          <p:cNvPr id="17" name="Shape 13"/>
          <p:cNvSpPr/>
          <p:nvPr/>
        </p:nvSpPr>
        <p:spPr>
          <a:xfrm>
            <a:off x="3593592" y="2093976"/>
            <a:ext cx="384048" cy="384048"/>
          </a:xfrm>
          <a:prstGeom prst="ellipse">
            <a:avLst/>
          </a:prstGeom>
          <a:solidFill>
            <a:srgbClr val="512BD4"/>
          </a:solidFill>
          <a:ln w="12700">
            <a:solidFill>
              <a:srgbClr val="512BD4"/>
            </a:solidFill>
            <a:prstDash val="solid"/>
          </a:ln>
        </p:spPr>
      </p:sp>
      <p:pic>
        <p:nvPicPr>
          <p:cNvPr id="18" name="Image 2" descr="preencoded.png">    </p:cNvPr>
          <p:cNvPicPr>
            <a:picLocks noChangeAspect="1"/>
          </p:cNvPicPr>
          <p:nvPr/>
        </p:nvPicPr>
        <p:blipFill>
          <a:blip r:embed="rId3"/>
          <a:stretch>
            <a:fillRect/>
          </a:stretch>
        </p:blipFill>
        <p:spPr>
          <a:xfrm>
            <a:off x="3693444" y="2193828"/>
            <a:ext cx="184343" cy="184343"/>
          </a:xfrm>
          <a:prstGeom prst="rect">
            <a:avLst/>
          </a:prstGeom>
        </p:spPr>
      </p:pic>
      <p:sp>
        <p:nvSpPr>
          <p:cNvPr id="19" name="Text 14"/>
          <p:cNvSpPr txBox="1"/>
          <p:nvPr/>
        </p:nvSpPr>
        <p:spPr>
          <a:xfrm>
            <a:off x="4142232" y="2148840"/>
            <a:ext cx="1463040" cy="274320"/>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Subtract</a:t>
            </a:r>
            <a:endParaRPr lang="en-US" sz="1500" dirty="0"/>
          </a:p>
        </p:txBody>
      </p:sp>
      <p:sp>
        <p:nvSpPr>
          <p:cNvPr id="20" name="Text 15"/>
          <p:cNvSpPr txBox="1"/>
          <p:nvPr/>
        </p:nvSpPr>
        <p:spPr>
          <a:xfrm>
            <a:off x="5577840" y="2148840"/>
            <a:ext cx="2971800" cy="27432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Returns number1 - number2.</a:t>
            </a:r>
            <a:endParaRPr lang="en-US" sz="1200" dirty="0"/>
          </a:p>
        </p:txBody>
      </p:sp>
      <p:sp>
        <p:nvSpPr>
          <p:cNvPr id="21" name="Shape 16"/>
          <p:cNvSpPr/>
          <p:nvPr/>
        </p:nvSpPr>
        <p:spPr>
          <a:xfrm>
            <a:off x="2926080" y="2926080"/>
            <a:ext cx="502920" cy="0"/>
          </a:xfrm>
          <a:prstGeom prst="line">
            <a:avLst/>
          </a:prstGeom>
          <a:noFill/>
          <a:ln w="25400">
            <a:solidFill>
              <a:srgbClr val="F5A623"/>
            </a:solidFill>
            <a:prstDash val="solid"/>
          </a:ln>
        </p:spPr>
      </p:sp>
      <p:sp>
        <p:nvSpPr>
          <p:cNvPr id="22" name="Shape 17"/>
          <p:cNvSpPr/>
          <p:nvPr/>
        </p:nvSpPr>
        <p:spPr>
          <a:xfrm>
            <a:off x="3429000" y="2697480"/>
            <a:ext cx="5257800" cy="457200"/>
          </a:xfrm>
          <a:prstGeom prst="roundRect">
            <a:avLst>
              <a:gd name="adj" fmla="val 16000"/>
            </a:avLst>
          </a:prstGeom>
          <a:solidFill>
            <a:srgbClr val="EFEBFC"/>
          </a:solidFill>
          <a:ln w="12700">
            <a:solidFill>
              <a:srgbClr val="EFEBFC"/>
            </a:solidFill>
            <a:prstDash val="solid"/>
          </a:ln>
        </p:spPr>
      </p:sp>
      <p:sp>
        <p:nvSpPr>
          <p:cNvPr id="23" name="Shape 18"/>
          <p:cNvSpPr/>
          <p:nvPr/>
        </p:nvSpPr>
        <p:spPr>
          <a:xfrm>
            <a:off x="3593592" y="2734056"/>
            <a:ext cx="384048" cy="384048"/>
          </a:xfrm>
          <a:prstGeom prst="ellipse">
            <a:avLst/>
          </a:prstGeom>
          <a:solidFill>
            <a:srgbClr val="512BD4"/>
          </a:solidFill>
          <a:ln w="12700">
            <a:solidFill>
              <a:srgbClr val="512BD4"/>
            </a:solidFill>
            <a:prstDash val="solid"/>
          </a:ln>
        </p:spPr>
      </p:sp>
      <p:pic>
        <p:nvPicPr>
          <p:cNvPr id="24" name="Image 3" descr="preencoded.png">    </p:cNvPr>
          <p:cNvPicPr>
            <a:picLocks noChangeAspect="1"/>
          </p:cNvPicPr>
          <p:nvPr/>
        </p:nvPicPr>
        <p:blipFill>
          <a:blip r:embed="rId4"/>
          <a:stretch>
            <a:fillRect/>
          </a:stretch>
        </p:blipFill>
        <p:spPr>
          <a:xfrm>
            <a:off x="3693444" y="2833908"/>
            <a:ext cx="184343" cy="184343"/>
          </a:xfrm>
          <a:prstGeom prst="rect">
            <a:avLst/>
          </a:prstGeom>
        </p:spPr>
      </p:pic>
      <p:sp>
        <p:nvSpPr>
          <p:cNvPr id="25" name="Text 19"/>
          <p:cNvSpPr txBox="1"/>
          <p:nvPr/>
        </p:nvSpPr>
        <p:spPr>
          <a:xfrm>
            <a:off x="4142232" y="2788920"/>
            <a:ext cx="1463040" cy="274320"/>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Multiply</a:t>
            </a:r>
            <a:endParaRPr lang="en-US" sz="1500" dirty="0"/>
          </a:p>
        </p:txBody>
      </p:sp>
      <p:sp>
        <p:nvSpPr>
          <p:cNvPr id="26" name="Text 20"/>
          <p:cNvSpPr txBox="1"/>
          <p:nvPr/>
        </p:nvSpPr>
        <p:spPr>
          <a:xfrm>
            <a:off x="5577840" y="2788920"/>
            <a:ext cx="2971800" cy="27432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Returns number1 * number2.</a:t>
            </a:r>
            <a:endParaRPr lang="en-US" sz="1200" dirty="0"/>
          </a:p>
        </p:txBody>
      </p:sp>
      <p:sp>
        <p:nvSpPr>
          <p:cNvPr id="27" name="Shape 21"/>
          <p:cNvSpPr/>
          <p:nvPr/>
        </p:nvSpPr>
        <p:spPr>
          <a:xfrm>
            <a:off x="2926080" y="3566160"/>
            <a:ext cx="502920" cy="0"/>
          </a:xfrm>
          <a:prstGeom prst="line">
            <a:avLst/>
          </a:prstGeom>
          <a:noFill/>
          <a:ln w="25400">
            <a:solidFill>
              <a:srgbClr val="F5A623"/>
            </a:solidFill>
            <a:prstDash val="solid"/>
          </a:ln>
        </p:spPr>
      </p:sp>
      <p:sp>
        <p:nvSpPr>
          <p:cNvPr id="28" name="Shape 22"/>
          <p:cNvSpPr/>
          <p:nvPr/>
        </p:nvSpPr>
        <p:spPr>
          <a:xfrm>
            <a:off x="3429000" y="3337560"/>
            <a:ext cx="5257800" cy="457200"/>
          </a:xfrm>
          <a:prstGeom prst="roundRect">
            <a:avLst>
              <a:gd name="adj" fmla="val 16000"/>
            </a:avLst>
          </a:prstGeom>
          <a:solidFill>
            <a:srgbClr val="EFEBFC"/>
          </a:solidFill>
          <a:ln w="12700">
            <a:solidFill>
              <a:srgbClr val="EFEBFC"/>
            </a:solidFill>
            <a:prstDash val="solid"/>
          </a:ln>
        </p:spPr>
      </p:sp>
      <p:sp>
        <p:nvSpPr>
          <p:cNvPr id="29" name="Shape 23"/>
          <p:cNvSpPr/>
          <p:nvPr/>
        </p:nvSpPr>
        <p:spPr>
          <a:xfrm>
            <a:off x="3593592" y="3374136"/>
            <a:ext cx="384048" cy="384048"/>
          </a:xfrm>
          <a:prstGeom prst="ellipse">
            <a:avLst/>
          </a:prstGeom>
          <a:solidFill>
            <a:srgbClr val="512BD4"/>
          </a:solidFill>
          <a:ln w="12700">
            <a:solidFill>
              <a:srgbClr val="512BD4"/>
            </a:solidFill>
            <a:prstDash val="solid"/>
          </a:ln>
        </p:spPr>
      </p:sp>
      <p:pic>
        <p:nvPicPr>
          <p:cNvPr id="30" name="Image 4" descr="preencoded.png">    </p:cNvPr>
          <p:cNvPicPr>
            <a:picLocks noChangeAspect="1"/>
          </p:cNvPicPr>
          <p:nvPr/>
        </p:nvPicPr>
        <p:blipFill>
          <a:blip r:embed="rId5"/>
          <a:stretch>
            <a:fillRect/>
          </a:stretch>
        </p:blipFill>
        <p:spPr>
          <a:xfrm>
            <a:off x="3693444" y="3473988"/>
            <a:ext cx="184343" cy="184343"/>
          </a:xfrm>
          <a:prstGeom prst="rect">
            <a:avLst/>
          </a:prstGeom>
        </p:spPr>
      </p:pic>
      <p:sp>
        <p:nvSpPr>
          <p:cNvPr id="31" name="Text 24"/>
          <p:cNvSpPr txBox="1"/>
          <p:nvPr/>
        </p:nvSpPr>
        <p:spPr>
          <a:xfrm>
            <a:off x="4142232" y="3429000"/>
            <a:ext cx="1463040" cy="274320"/>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Divide</a:t>
            </a:r>
            <a:endParaRPr lang="en-US" sz="1500" dirty="0"/>
          </a:p>
        </p:txBody>
      </p:sp>
      <p:sp>
        <p:nvSpPr>
          <p:cNvPr id="32" name="Text 25"/>
          <p:cNvSpPr txBox="1"/>
          <p:nvPr/>
        </p:nvSpPr>
        <p:spPr>
          <a:xfrm>
            <a:off x="5577840" y="3429000"/>
            <a:ext cx="2971800" cy="27432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Throws DivideByZeroException on zero.</a:t>
            </a:r>
            <a:endParaRPr lang="en-US" sz="1200" dirty="0"/>
          </a:p>
        </p:txBody>
      </p:sp>
      <p:sp>
        <p:nvSpPr>
          <p:cNvPr id="33" name="Text 26"/>
          <p:cNvSpPr txBox="1"/>
          <p:nvPr/>
        </p:nvSpPr>
        <p:spPr>
          <a:xfrm>
            <a:off x="457200" y="4114800"/>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Each method also prints a [NATIVE CODE EXECUTION] line so you can watch it run.</a:t>
            </a:r>
            <a:endParaRPr lang="en-US" sz="1400" dirty="0"/>
          </a:p>
        </p:txBody>
      </p:sp>
      <p:sp>
        <p:nvSpPr>
          <p:cNvPr id="34" name="Text 27"/>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with Semantic Kernel  ·  Lesson 4 — The Calculator</a:t>
            </a:r>
            <a:endParaRPr lang="en-US" sz="900" dirty="0"/>
          </a:p>
        </p:txBody>
      </p:sp>
      <p:sp>
        <p:nvSpPr>
          <p:cNvPr id="35" name="Text 28"/>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TOOL MANIFEST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What the model actually sees</a:t>
            </a:r>
            <a:endParaRPr lang="en-US" sz="2800" dirty="0"/>
          </a:p>
        </p:txBody>
      </p:sp>
      <p:sp>
        <p:nvSpPr>
          <p:cNvPr id="4" name="Shape 2"/>
          <p:cNvSpPr/>
          <p:nvPr/>
        </p:nvSpPr>
        <p:spPr>
          <a:xfrm>
            <a:off x="457200" y="1371600"/>
            <a:ext cx="2560320" cy="1600200"/>
          </a:xfrm>
          <a:prstGeom prst="roundRect">
            <a:avLst>
              <a:gd name="adj" fmla="val 4571"/>
            </a:avLst>
          </a:prstGeom>
          <a:solidFill>
            <a:srgbClr val="EFEBFC"/>
          </a:solidFill>
          <a:ln w="12700">
            <a:solidFill>
              <a:srgbClr val="EFEBFC"/>
            </a:solidFill>
            <a:prstDash val="solid"/>
          </a:ln>
        </p:spPr>
      </p:sp>
      <p:sp>
        <p:nvSpPr>
          <p:cNvPr id="5" name="Shape 3"/>
          <p:cNvSpPr/>
          <p:nvPr/>
        </p:nvSpPr>
        <p:spPr>
          <a:xfrm>
            <a:off x="640080" y="1554480"/>
            <a:ext cx="384048" cy="384048"/>
          </a:xfrm>
          <a:prstGeom prst="ellipse">
            <a:avLst/>
          </a:prstGeom>
          <a:solidFill>
            <a:srgbClr val="512BD4"/>
          </a:solidFill>
          <a:ln w="12700">
            <a:solidFill>
              <a:srgbClr val="512BD4"/>
            </a:solidFill>
            <a:prstDash val="solid"/>
          </a:ln>
        </p:spPr>
      </p:sp>
      <p:pic>
        <p:nvPicPr>
          <p:cNvPr id="6" name="Image 0" descr="preencoded.png">    </p:cNvPr>
          <p:cNvPicPr>
            <a:picLocks noChangeAspect="1"/>
          </p:cNvPicPr>
          <p:nvPr/>
        </p:nvPicPr>
        <p:blipFill>
          <a:blip r:embed="rId1"/>
          <a:stretch>
            <a:fillRect/>
          </a:stretch>
        </p:blipFill>
        <p:spPr>
          <a:xfrm>
            <a:off x="739932" y="1654332"/>
            <a:ext cx="184343" cy="184343"/>
          </a:xfrm>
          <a:prstGeom prst="rect">
            <a:avLst/>
          </a:prstGeom>
        </p:spPr>
      </p:pic>
      <p:sp>
        <p:nvSpPr>
          <p:cNvPr id="7" name="Text 4"/>
          <p:cNvSpPr txBox="1"/>
          <p:nvPr/>
        </p:nvSpPr>
        <p:spPr>
          <a:xfrm>
            <a:off x="1143000" y="1554480"/>
            <a:ext cx="1737360" cy="384048"/>
          </a:xfrm>
          <a:prstGeom prst="rect">
            <a:avLst/>
          </a:prstGeom>
          <a:noFill/>
          <a:ln/>
        </p:spPr>
        <p:txBody>
          <a:bodyPr wrap="square" lIns="0" tIns="0" rIns="0" bIns="0" rtlCol="0" anchor="ctr">
            <a:normAutofit/>
          </a:bodyPr>
          <a:lstStyle/>
          <a:p>
            <a:pPr indent="0" marL="0">
              <a:buNone/>
            </a:pPr>
            <a:r>
              <a:rPr lang="en-US" sz="1300" b="1" dirty="0">
                <a:solidFill>
                  <a:srgbClr val="1F2937"/>
                </a:solidFill>
                <a:latin typeface="Courier New" pitchFamily="34" charset="0"/>
                <a:ea typeface="Courier New" pitchFamily="34" charset="-122"/>
                <a:cs typeface="Courier New" pitchFamily="34" charset="-120"/>
              </a:rPr>
              <a:t>[KernelFunction]</a:t>
            </a:r>
            <a:endParaRPr lang="en-US" sz="1300" dirty="0"/>
          </a:p>
        </p:txBody>
      </p:sp>
      <p:sp>
        <p:nvSpPr>
          <p:cNvPr id="8" name="Text 5"/>
          <p:cNvSpPr txBox="1"/>
          <p:nvPr/>
        </p:nvSpPr>
        <p:spPr>
          <a:xfrm>
            <a:off x="640080" y="2057400"/>
            <a:ext cx="2194560" cy="82296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Marks a method as callable and names it, for example "Add". AddFromType&lt;MathPlugin&gt;</a:t>
            </a:r>
            <a:endParaRPr lang="en-US" sz="1200" dirty="0"/>
          </a:p>
          <a:p>
            <a:pPr indent="0" marL="0">
              <a:buNone/>
            </a:pPr>
            <a:r>
              <a:rPr lang="en-US" sz="1200" dirty="0">
                <a:solidFill>
                  <a:srgbClr val="6B7280"/>
                </a:solidFill>
                <a:latin typeface="Calibri" pitchFamily="34" charset="0"/>
                <a:ea typeface="Calibri" pitchFamily="34" charset="-122"/>
                <a:cs typeface="Calibri" pitchFamily="34" charset="-120"/>
              </a:rPr>
              <a:t>("Math") makes it Math.Add.</a:t>
            </a:r>
            <a:endParaRPr lang="en-US" sz="1200" dirty="0"/>
          </a:p>
        </p:txBody>
      </p:sp>
      <p:sp>
        <p:nvSpPr>
          <p:cNvPr id="9" name="Shape 6"/>
          <p:cNvSpPr/>
          <p:nvPr/>
        </p:nvSpPr>
        <p:spPr>
          <a:xfrm>
            <a:off x="3291840" y="1371600"/>
            <a:ext cx="2560320" cy="1600200"/>
          </a:xfrm>
          <a:prstGeom prst="roundRect">
            <a:avLst>
              <a:gd name="adj" fmla="val 4571"/>
            </a:avLst>
          </a:prstGeom>
          <a:solidFill>
            <a:srgbClr val="EFEBFC"/>
          </a:solidFill>
          <a:ln w="12700">
            <a:solidFill>
              <a:srgbClr val="EFEBFC"/>
            </a:solidFill>
            <a:prstDash val="solid"/>
          </a:ln>
        </p:spPr>
      </p:sp>
      <p:sp>
        <p:nvSpPr>
          <p:cNvPr id="10" name="Shape 7"/>
          <p:cNvSpPr/>
          <p:nvPr/>
        </p:nvSpPr>
        <p:spPr>
          <a:xfrm>
            <a:off x="3474720" y="1554480"/>
            <a:ext cx="384048" cy="384048"/>
          </a:xfrm>
          <a:prstGeom prst="ellipse">
            <a:avLst/>
          </a:prstGeom>
          <a:solidFill>
            <a:srgbClr val="512BD4"/>
          </a:solidFill>
          <a:ln w="12700">
            <a:solidFill>
              <a:srgbClr val="512BD4"/>
            </a:solidFill>
            <a:prstDash val="solid"/>
          </a:ln>
        </p:spPr>
      </p:sp>
      <p:pic>
        <p:nvPicPr>
          <p:cNvPr id="11" name="Image 1" descr="preencoded.png">    </p:cNvPr>
          <p:cNvPicPr>
            <a:picLocks noChangeAspect="1"/>
          </p:cNvPicPr>
          <p:nvPr/>
        </p:nvPicPr>
        <p:blipFill>
          <a:blip r:embed="rId2"/>
          <a:stretch>
            <a:fillRect/>
          </a:stretch>
        </p:blipFill>
        <p:spPr>
          <a:xfrm>
            <a:off x="3574572" y="1654332"/>
            <a:ext cx="184343" cy="184343"/>
          </a:xfrm>
          <a:prstGeom prst="rect">
            <a:avLst/>
          </a:prstGeom>
        </p:spPr>
      </p:pic>
      <p:sp>
        <p:nvSpPr>
          <p:cNvPr id="12" name="Text 8"/>
          <p:cNvSpPr txBox="1"/>
          <p:nvPr/>
        </p:nvSpPr>
        <p:spPr>
          <a:xfrm>
            <a:off x="3977640" y="1554480"/>
            <a:ext cx="1737360" cy="384048"/>
          </a:xfrm>
          <a:prstGeom prst="rect">
            <a:avLst/>
          </a:prstGeom>
          <a:noFill/>
          <a:ln/>
        </p:spPr>
        <p:txBody>
          <a:bodyPr wrap="square" lIns="0" tIns="0" rIns="0" bIns="0" rtlCol="0" anchor="ctr">
            <a:normAutofit/>
          </a:bodyPr>
          <a:lstStyle/>
          <a:p>
            <a:pPr indent="0" marL="0">
              <a:buNone/>
            </a:pPr>
            <a:r>
              <a:rPr lang="en-US" sz="1300" b="1" dirty="0">
                <a:solidFill>
                  <a:srgbClr val="1F2937"/>
                </a:solidFill>
                <a:latin typeface="Calibri" pitchFamily="34" charset="0"/>
                <a:ea typeface="Calibri" pitchFamily="34" charset="-122"/>
                <a:cs typeface="Calibri" pitchFamily="34" charset="-120"/>
              </a:rPr>
              <a:t>Method description</a:t>
            </a:r>
            <a:endParaRPr lang="en-US" sz="1300" dirty="0"/>
          </a:p>
        </p:txBody>
      </p:sp>
      <p:sp>
        <p:nvSpPr>
          <p:cNvPr id="13" name="Text 9"/>
          <p:cNvSpPr txBox="1"/>
          <p:nvPr/>
        </p:nvSpPr>
        <p:spPr>
          <a:xfrm>
            <a:off x="3474720" y="2057400"/>
            <a:ext cx="2194560" cy="82296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"Adds two numbers together." tells the model when this function matches its need.</a:t>
            </a:r>
            <a:endParaRPr lang="en-US" sz="1200" dirty="0"/>
          </a:p>
        </p:txBody>
      </p:sp>
      <p:sp>
        <p:nvSpPr>
          <p:cNvPr id="14" name="Shape 10"/>
          <p:cNvSpPr/>
          <p:nvPr/>
        </p:nvSpPr>
        <p:spPr>
          <a:xfrm>
            <a:off x="6126480" y="1371600"/>
            <a:ext cx="2560320" cy="1600200"/>
          </a:xfrm>
          <a:prstGeom prst="roundRect">
            <a:avLst>
              <a:gd name="adj" fmla="val 4571"/>
            </a:avLst>
          </a:prstGeom>
          <a:solidFill>
            <a:srgbClr val="EFEBFC"/>
          </a:solidFill>
          <a:ln w="12700">
            <a:solidFill>
              <a:srgbClr val="EFEBFC"/>
            </a:solidFill>
            <a:prstDash val="solid"/>
          </a:ln>
        </p:spPr>
      </p:sp>
      <p:sp>
        <p:nvSpPr>
          <p:cNvPr id="15" name="Shape 11"/>
          <p:cNvSpPr/>
          <p:nvPr/>
        </p:nvSpPr>
        <p:spPr>
          <a:xfrm>
            <a:off x="6309360" y="1554480"/>
            <a:ext cx="384048" cy="384048"/>
          </a:xfrm>
          <a:prstGeom prst="ellipse">
            <a:avLst/>
          </a:prstGeom>
          <a:solidFill>
            <a:srgbClr val="512BD4"/>
          </a:solidFill>
          <a:ln w="12700">
            <a:solidFill>
              <a:srgbClr val="512BD4"/>
            </a:solidFill>
            <a:prstDash val="solid"/>
          </a:ln>
        </p:spPr>
      </p:sp>
      <p:pic>
        <p:nvPicPr>
          <p:cNvPr id="16" name="Image 2" descr="preencoded.png">    </p:cNvPr>
          <p:cNvPicPr>
            <a:picLocks noChangeAspect="1"/>
          </p:cNvPicPr>
          <p:nvPr/>
        </p:nvPicPr>
        <p:blipFill>
          <a:blip r:embed="rId3"/>
          <a:stretch>
            <a:fillRect/>
          </a:stretch>
        </p:blipFill>
        <p:spPr>
          <a:xfrm>
            <a:off x="6409212" y="1654332"/>
            <a:ext cx="184343" cy="184343"/>
          </a:xfrm>
          <a:prstGeom prst="rect">
            <a:avLst/>
          </a:prstGeom>
        </p:spPr>
      </p:pic>
      <p:sp>
        <p:nvSpPr>
          <p:cNvPr id="17" name="Text 12"/>
          <p:cNvSpPr txBox="1"/>
          <p:nvPr/>
        </p:nvSpPr>
        <p:spPr>
          <a:xfrm>
            <a:off x="6812280" y="1554480"/>
            <a:ext cx="1737360" cy="384048"/>
          </a:xfrm>
          <a:prstGeom prst="rect">
            <a:avLst/>
          </a:prstGeom>
          <a:noFill/>
          <a:ln/>
        </p:spPr>
        <p:txBody>
          <a:bodyPr wrap="square" lIns="0" tIns="0" rIns="0" bIns="0" rtlCol="0" anchor="ctr">
            <a:normAutofit/>
          </a:bodyPr>
          <a:lstStyle/>
          <a:p>
            <a:pPr indent="0" marL="0">
              <a:buNone/>
            </a:pPr>
            <a:r>
              <a:rPr lang="en-US" sz="1300" b="1" dirty="0">
                <a:solidFill>
                  <a:srgbClr val="1F2937"/>
                </a:solidFill>
                <a:latin typeface="Calibri" pitchFamily="34" charset="0"/>
                <a:ea typeface="Calibri" pitchFamily="34" charset="-122"/>
                <a:cs typeface="Calibri" pitchFamily="34" charset="-120"/>
              </a:rPr>
              <a:t>Parameter description</a:t>
            </a:r>
            <a:endParaRPr lang="en-US" sz="1300" dirty="0"/>
          </a:p>
        </p:txBody>
      </p:sp>
      <p:sp>
        <p:nvSpPr>
          <p:cNvPr id="18" name="Text 13"/>
          <p:cNvSpPr txBox="1"/>
          <p:nvPr/>
        </p:nvSpPr>
        <p:spPr>
          <a:xfrm>
            <a:off x="6309360" y="2057400"/>
            <a:ext cx="2194560" cy="82296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"The number to divide by" tells it which value goes into which argument.</a:t>
            </a:r>
            <a:endParaRPr lang="en-US" sz="1200" dirty="0"/>
          </a:p>
        </p:txBody>
      </p:sp>
      <p:sp>
        <p:nvSpPr>
          <p:cNvPr id="19" name="Text 14"/>
          <p:cNvSpPr txBox="1"/>
          <p:nvPr/>
        </p:nvSpPr>
        <p:spPr>
          <a:xfrm>
            <a:off x="457200" y="3200400"/>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Descriptions are not comments for humans: they are the model's only documentation.</a:t>
            </a:r>
            <a:endParaRPr lang="en-US" sz="1400" dirty="0"/>
          </a:p>
        </p:txBody>
      </p:sp>
      <p:sp>
        <p:nvSpPr>
          <p:cNvPr id="20" name="Text 15"/>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with Semantic Kernel  ·  Lesson 4 — The Calculator</a:t>
            </a:r>
            <a:endParaRPr lang="en-US" sz="900" dirty="0"/>
          </a:p>
        </p:txBody>
      </p:sp>
      <p:sp>
        <p:nvSpPr>
          <p:cNvPr id="21" name="Text 16"/>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THE REASONING LOOP</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650" b="1" dirty="0">
                <a:solidFill>
                  <a:srgbClr val="1F2937"/>
                </a:solidFill>
                <a:latin typeface="Cambria" pitchFamily="34" charset="0"/>
                <a:ea typeface="Cambria" pitchFamily="34" charset="-122"/>
                <a:cs typeface="Cambria" pitchFamily="34" charset="-120"/>
              </a:rPr>
              <a:t>One InvokePromptAsync call, several round trips</a:t>
            </a:r>
            <a:endParaRPr lang="en-US" sz="2650" dirty="0"/>
          </a:p>
        </p:txBody>
      </p:sp>
      <p:sp>
        <p:nvSpPr>
          <p:cNvPr id="4" name="Shape 2"/>
          <p:cNvSpPr/>
          <p:nvPr/>
        </p:nvSpPr>
        <p:spPr>
          <a:xfrm>
            <a:off x="457200" y="1417320"/>
            <a:ext cx="1367942" cy="1993392"/>
          </a:xfrm>
          <a:prstGeom prst="roundRect">
            <a:avLst>
              <a:gd name="adj" fmla="val 5348"/>
            </a:avLst>
          </a:prstGeom>
          <a:solidFill>
            <a:srgbClr val="EFEBFC"/>
          </a:solidFill>
          <a:ln w="12700">
            <a:solidFill>
              <a:srgbClr val="EFEBFC"/>
            </a:solidFill>
            <a:prstDash val="solid"/>
          </a:ln>
        </p:spPr>
      </p:sp>
      <p:sp>
        <p:nvSpPr>
          <p:cNvPr id="5" name="Shape 3"/>
          <p:cNvSpPr/>
          <p:nvPr/>
        </p:nvSpPr>
        <p:spPr>
          <a:xfrm>
            <a:off x="640080" y="1618488"/>
            <a:ext cx="457200" cy="457200"/>
          </a:xfrm>
          <a:prstGeom prst="ellipse">
            <a:avLst/>
          </a:prstGeom>
          <a:solidFill>
            <a:srgbClr val="512BD4"/>
          </a:solidFill>
          <a:ln w="12700">
            <a:solidFill>
              <a:srgbClr val="512BD4"/>
            </a:solidFill>
            <a:prstDash val="solid"/>
          </a:ln>
        </p:spPr>
      </p:sp>
      <p:pic>
        <p:nvPicPr>
          <p:cNvPr id="6" name="Image 0" descr="preencoded.png">    </p:cNvPr>
          <p:cNvPicPr>
            <a:picLocks noChangeAspect="1"/>
          </p:cNvPicPr>
          <p:nvPr/>
        </p:nvPicPr>
        <p:blipFill>
          <a:blip r:embed="rId1"/>
          <a:stretch>
            <a:fillRect/>
          </a:stretch>
        </p:blipFill>
        <p:spPr>
          <a:xfrm>
            <a:off x="758952" y="1737360"/>
            <a:ext cx="219456" cy="219456"/>
          </a:xfrm>
          <a:prstGeom prst="rect">
            <a:avLst/>
          </a:prstGeom>
        </p:spPr>
      </p:pic>
      <p:sp>
        <p:nvSpPr>
          <p:cNvPr id="7" name="Text 4"/>
          <p:cNvSpPr txBox="1"/>
          <p:nvPr/>
        </p:nvSpPr>
        <p:spPr>
          <a:xfrm>
            <a:off x="640080" y="2194560"/>
            <a:ext cx="1047902" cy="411480"/>
          </a:xfrm>
          <a:prstGeom prst="rect">
            <a:avLst/>
          </a:prstGeom>
          <a:noFill/>
          <a:ln/>
        </p:spPr>
        <p:txBody>
          <a:bodyPr wrap="square" lIns="0" tIns="0" rIns="0" bIns="0" rtlCol="0" anchor="t"/>
          <a:lstStyle/>
          <a:p>
            <a:pPr indent="0" marL="0">
              <a:buNone/>
            </a:pPr>
            <a:r>
              <a:rPr lang="en-US" sz="1300" b="1" dirty="0">
                <a:solidFill>
                  <a:srgbClr val="1F2937"/>
                </a:solidFill>
                <a:latin typeface="Calibri" pitchFamily="34" charset="0"/>
                <a:ea typeface="Calibri" pitchFamily="34" charset="-122"/>
                <a:cs typeface="Calibri" pitchFamily="34" charset="-120"/>
              </a:rPr>
              <a:t>Prompt</a:t>
            </a:r>
            <a:endParaRPr lang="en-US" sz="1300" dirty="0"/>
          </a:p>
        </p:txBody>
      </p:sp>
      <p:sp>
        <p:nvSpPr>
          <p:cNvPr id="8" name="Text 5"/>
          <p:cNvSpPr txBox="1"/>
          <p:nvPr/>
        </p:nvSpPr>
        <p:spPr>
          <a:xfrm>
            <a:off x="640080" y="2606040"/>
            <a:ext cx="1047902" cy="713232"/>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Word problem plus the tool manifest.</a:t>
            </a:r>
            <a:endParaRPr lang="en-US" sz="1200" dirty="0"/>
          </a:p>
        </p:txBody>
      </p:sp>
      <p:sp>
        <p:nvSpPr>
          <p:cNvPr id="9" name="Shape 6"/>
          <p:cNvSpPr/>
          <p:nvPr/>
        </p:nvSpPr>
        <p:spPr>
          <a:xfrm>
            <a:off x="1889150" y="2304288"/>
            <a:ext cx="219456" cy="219456"/>
          </a:xfrm>
          <a:prstGeom prst="rightArrow">
            <a:avLst/>
          </a:prstGeom>
          <a:solidFill>
            <a:srgbClr val="F5A623"/>
          </a:solidFill>
          <a:ln w="12700">
            <a:solidFill>
              <a:srgbClr val="F5A623"/>
            </a:solidFill>
            <a:prstDash val="solid"/>
          </a:ln>
        </p:spPr>
      </p:sp>
      <p:sp>
        <p:nvSpPr>
          <p:cNvPr id="10" name="Shape 7"/>
          <p:cNvSpPr/>
          <p:nvPr/>
        </p:nvSpPr>
        <p:spPr>
          <a:xfrm>
            <a:off x="2172614" y="1417320"/>
            <a:ext cx="1367942" cy="1993392"/>
          </a:xfrm>
          <a:prstGeom prst="roundRect">
            <a:avLst>
              <a:gd name="adj" fmla="val 5348"/>
            </a:avLst>
          </a:prstGeom>
          <a:solidFill>
            <a:srgbClr val="EFEBFC"/>
          </a:solidFill>
          <a:ln w="12700">
            <a:solidFill>
              <a:srgbClr val="EFEBFC"/>
            </a:solidFill>
            <a:prstDash val="solid"/>
          </a:ln>
        </p:spPr>
      </p:sp>
      <p:sp>
        <p:nvSpPr>
          <p:cNvPr id="11" name="Shape 8"/>
          <p:cNvSpPr/>
          <p:nvPr/>
        </p:nvSpPr>
        <p:spPr>
          <a:xfrm>
            <a:off x="2355494" y="1618488"/>
            <a:ext cx="457200" cy="457200"/>
          </a:xfrm>
          <a:prstGeom prst="ellipse">
            <a:avLst/>
          </a:prstGeom>
          <a:solidFill>
            <a:srgbClr val="512BD4"/>
          </a:solidFill>
          <a:ln w="12700">
            <a:solidFill>
              <a:srgbClr val="512BD4"/>
            </a:solidFill>
            <a:prstDash val="solid"/>
          </a:ln>
        </p:spPr>
      </p:sp>
      <p:pic>
        <p:nvPicPr>
          <p:cNvPr id="12" name="Image 1" descr="preencoded.png">    </p:cNvPr>
          <p:cNvPicPr>
            <a:picLocks noChangeAspect="1"/>
          </p:cNvPicPr>
          <p:nvPr/>
        </p:nvPicPr>
        <p:blipFill>
          <a:blip r:embed="rId2"/>
          <a:stretch>
            <a:fillRect/>
          </a:stretch>
        </p:blipFill>
        <p:spPr>
          <a:xfrm>
            <a:off x="2474366" y="1737360"/>
            <a:ext cx="219456" cy="219456"/>
          </a:xfrm>
          <a:prstGeom prst="rect">
            <a:avLst/>
          </a:prstGeom>
        </p:spPr>
      </p:pic>
      <p:sp>
        <p:nvSpPr>
          <p:cNvPr id="13" name="Text 9"/>
          <p:cNvSpPr txBox="1"/>
          <p:nvPr/>
        </p:nvSpPr>
        <p:spPr>
          <a:xfrm>
            <a:off x="2355494" y="2194560"/>
            <a:ext cx="1047902" cy="411480"/>
          </a:xfrm>
          <a:prstGeom prst="rect">
            <a:avLst/>
          </a:prstGeom>
          <a:noFill/>
          <a:ln/>
        </p:spPr>
        <p:txBody>
          <a:bodyPr wrap="square" lIns="0" tIns="0" rIns="0" bIns="0" rtlCol="0" anchor="t"/>
          <a:lstStyle/>
          <a:p>
            <a:pPr indent="0" marL="0">
              <a:buNone/>
            </a:pPr>
            <a:r>
              <a:rPr lang="en-US" sz="1300" b="1" dirty="0">
                <a:solidFill>
                  <a:srgbClr val="1F2937"/>
                </a:solidFill>
                <a:latin typeface="Calibri" pitchFamily="34" charset="0"/>
                <a:ea typeface="Calibri" pitchFamily="34" charset="-122"/>
                <a:cs typeface="Calibri" pitchFamily="34" charset="-120"/>
              </a:rPr>
              <a:t>Tool request</a:t>
            </a:r>
            <a:endParaRPr lang="en-US" sz="1300" dirty="0"/>
          </a:p>
        </p:txBody>
      </p:sp>
      <p:sp>
        <p:nvSpPr>
          <p:cNvPr id="14" name="Text 10"/>
          <p:cNvSpPr txBox="1"/>
          <p:nvPr/>
        </p:nvSpPr>
        <p:spPr>
          <a:xfrm>
            <a:off x="2355494" y="2606040"/>
            <a:ext cx="1047902" cy="713232"/>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Model asks for Subtract with 124, 15.</a:t>
            </a:r>
            <a:endParaRPr lang="en-US" sz="1200" dirty="0"/>
          </a:p>
        </p:txBody>
      </p:sp>
      <p:sp>
        <p:nvSpPr>
          <p:cNvPr id="15" name="Shape 11"/>
          <p:cNvSpPr/>
          <p:nvPr/>
        </p:nvSpPr>
        <p:spPr>
          <a:xfrm>
            <a:off x="3604565" y="2304288"/>
            <a:ext cx="219456" cy="219456"/>
          </a:xfrm>
          <a:prstGeom prst="rightArrow">
            <a:avLst/>
          </a:prstGeom>
          <a:solidFill>
            <a:srgbClr val="F5A623"/>
          </a:solidFill>
          <a:ln w="12700">
            <a:solidFill>
              <a:srgbClr val="F5A623"/>
            </a:solidFill>
            <a:prstDash val="solid"/>
          </a:ln>
        </p:spPr>
      </p:sp>
      <p:sp>
        <p:nvSpPr>
          <p:cNvPr id="16" name="Shape 12"/>
          <p:cNvSpPr/>
          <p:nvPr/>
        </p:nvSpPr>
        <p:spPr>
          <a:xfrm>
            <a:off x="3888029" y="1417320"/>
            <a:ext cx="1367942" cy="1993392"/>
          </a:xfrm>
          <a:prstGeom prst="roundRect">
            <a:avLst>
              <a:gd name="adj" fmla="val 5348"/>
            </a:avLst>
          </a:prstGeom>
          <a:solidFill>
            <a:srgbClr val="512BD4"/>
          </a:solidFill>
          <a:ln w="12700">
            <a:solidFill>
              <a:srgbClr val="512BD4"/>
            </a:solidFill>
            <a:prstDash val="solid"/>
          </a:ln>
        </p:spPr>
      </p:sp>
      <p:sp>
        <p:nvSpPr>
          <p:cNvPr id="17" name="Shape 13"/>
          <p:cNvSpPr/>
          <p:nvPr/>
        </p:nvSpPr>
        <p:spPr>
          <a:xfrm>
            <a:off x="4070909" y="1618488"/>
            <a:ext cx="457200" cy="457200"/>
          </a:xfrm>
          <a:prstGeom prst="ellipse">
            <a:avLst/>
          </a:prstGeom>
          <a:solidFill>
            <a:srgbClr val="FFFFFF"/>
          </a:solidFill>
          <a:ln w="12700">
            <a:solidFill>
              <a:srgbClr val="FFFFFF"/>
            </a:solidFill>
            <a:prstDash val="solid"/>
          </a:ln>
        </p:spPr>
      </p:sp>
      <p:pic>
        <p:nvPicPr>
          <p:cNvPr id="18" name="Image 2" descr="preencoded.png">    </p:cNvPr>
          <p:cNvPicPr>
            <a:picLocks noChangeAspect="1"/>
          </p:cNvPicPr>
          <p:nvPr/>
        </p:nvPicPr>
        <p:blipFill>
          <a:blip r:embed="rId3"/>
          <a:stretch>
            <a:fillRect/>
          </a:stretch>
        </p:blipFill>
        <p:spPr>
          <a:xfrm>
            <a:off x="4189781" y="1737360"/>
            <a:ext cx="219456" cy="219456"/>
          </a:xfrm>
          <a:prstGeom prst="rect">
            <a:avLst/>
          </a:prstGeom>
        </p:spPr>
      </p:pic>
      <p:sp>
        <p:nvSpPr>
          <p:cNvPr id="19" name="Text 14"/>
          <p:cNvSpPr txBox="1"/>
          <p:nvPr/>
        </p:nvSpPr>
        <p:spPr>
          <a:xfrm>
            <a:off x="4070909" y="2194560"/>
            <a:ext cx="1047902" cy="411480"/>
          </a:xfrm>
          <a:prstGeom prst="rect">
            <a:avLst/>
          </a:prstGeom>
          <a:noFill/>
          <a:ln/>
        </p:spPr>
        <p:txBody>
          <a:bodyPr wrap="square" lIns="0" tIns="0" rIns="0" bIns="0" rtlCol="0" anchor="t"/>
          <a:lstStyle/>
          <a:p>
            <a:pPr indent="0" marL="0">
              <a:buNone/>
            </a:pPr>
            <a:r>
              <a:rPr lang="en-US" sz="1300" b="1" dirty="0">
                <a:solidFill>
                  <a:srgbClr val="FFFFFF"/>
                </a:solidFill>
                <a:latin typeface="Calibri" pitchFamily="34" charset="0"/>
                <a:ea typeface="Calibri" pitchFamily="34" charset="-122"/>
                <a:cs typeface="Calibri" pitchFamily="34" charset="-120"/>
              </a:rPr>
              <a:t>Run C#</a:t>
            </a:r>
            <a:endParaRPr lang="en-US" sz="1300" dirty="0"/>
          </a:p>
        </p:txBody>
      </p:sp>
      <p:sp>
        <p:nvSpPr>
          <p:cNvPr id="20" name="Text 15"/>
          <p:cNvSpPr txBox="1"/>
          <p:nvPr/>
        </p:nvSpPr>
        <p:spPr>
          <a:xfrm>
            <a:off x="4070909" y="2606040"/>
            <a:ext cx="1047902" cy="713232"/>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SK calls the real method for you.</a:t>
            </a:r>
            <a:endParaRPr lang="en-US" sz="1200" dirty="0"/>
          </a:p>
        </p:txBody>
      </p:sp>
      <p:sp>
        <p:nvSpPr>
          <p:cNvPr id="21" name="Shape 16"/>
          <p:cNvSpPr/>
          <p:nvPr/>
        </p:nvSpPr>
        <p:spPr>
          <a:xfrm>
            <a:off x="5319979" y="2304288"/>
            <a:ext cx="219456" cy="219456"/>
          </a:xfrm>
          <a:prstGeom prst="rightArrow">
            <a:avLst/>
          </a:prstGeom>
          <a:solidFill>
            <a:srgbClr val="F5A623"/>
          </a:solidFill>
          <a:ln w="12700">
            <a:solidFill>
              <a:srgbClr val="F5A623"/>
            </a:solidFill>
            <a:prstDash val="solid"/>
          </a:ln>
        </p:spPr>
      </p:sp>
      <p:sp>
        <p:nvSpPr>
          <p:cNvPr id="22" name="Shape 17"/>
          <p:cNvSpPr/>
          <p:nvPr/>
        </p:nvSpPr>
        <p:spPr>
          <a:xfrm>
            <a:off x="5603443" y="1417320"/>
            <a:ext cx="1367942" cy="1993392"/>
          </a:xfrm>
          <a:prstGeom prst="roundRect">
            <a:avLst>
              <a:gd name="adj" fmla="val 5348"/>
            </a:avLst>
          </a:prstGeom>
          <a:solidFill>
            <a:srgbClr val="EFEBFC"/>
          </a:solidFill>
          <a:ln w="12700">
            <a:solidFill>
              <a:srgbClr val="EFEBFC"/>
            </a:solidFill>
            <a:prstDash val="solid"/>
          </a:ln>
        </p:spPr>
      </p:sp>
      <p:sp>
        <p:nvSpPr>
          <p:cNvPr id="23" name="Shape 18"/>
          <p:cNvSpPr/>
          <p:nvPr/>
        </p:nvSpPr>
        <p:spPr>
          <a:xfrm>
            <a:off x="5786323" y="1618488"/>
            <a:ext cx="457200" cy="457200"/>
          </a:xfrm>
          <a:prstGeom prst="ellipse">
            <a:avLst/>
          </a:prstGeom>
          <a:solidFill>
            <a:srgbClr val="512BD4"/>
          </a:solidFill>
          <a:ln w="12700">
            <a:solidFill>
              <a:srgbClr val="512BD4"/>
            </a:solidFill>
            <a:prstDash val="solid"/>
          </a:ln>
        </p:spPr>
      </p:sp>
      <p:pic>
        <p:nvPicPr>
          <p:cNvPr id="24" name="Image 3" descr="preencoded.png">    </p:cNvPr>
          <p:cNvPicPr>
            <a:picLocks noChangeAspect="1"/>
          </p:cNvPicPr>
          <p:nvPr/>
        </p:nvPicPr>
        <p:blipFill>
          <a:blip r:embed="rId4"/>
          <a:stretch>
            <a:fillRect/>
          </a:stretch>
        </p:blipFill>
        <p:spPr>
          <a:xfrm>
            <a:off x="5905195" y="1737360"/>
            <a:ext cx="219456" cy="219456"/>
          </a:xfrm>
          <a:prstGeom prst="rect">
            <a:avLst/>
          </a:prstGeom>
        </p:spPr>
      </p:pic>
      <p:sp>
        <p:nvSpPr>
          <p:cNvPr id="25" name="Text 19"/>
          <p:cNvSpPr txBox="1"/>
          <p:nvPr/>
        </p:nvSpPr>
        <p:spPr>
          <a:xfrm>
            <a:off x="5786323" y="2194560"/>
            <a:ext cx="1047902" cy="411480"/>
          </a:xfrm>
          <a:prstGeom prst="rect">
            <a:avLst/>
          </a:prstGeom>
          <a:noFill/>
          <a:ln/>
        </p:spPr>
        <p:txBody>
          <a:bodyPr wrap="square" lIns="0" tIns="0" rIns="0" bIns="0" rtlCol="0" anchor="t"/>
          <a:lstStyle/>
          <a:p>
            <a:pPr indent="0" marL="0">
              <a:buNone/>
            </a:pPr>
            <a:r>
              <a:rPr lang="en-US" sz="1300" b="1" dirty="0">
                <a:solidFill>
                  <a:srgbClr val="1F2937"/>
                </a:solidFill>
                <a:latin typeface="Calibri" pitchFamily="34" charset="0"/>
                <a:ea typeface="Calibri" pitchFamily="34" charset="-122"/>
                <a:cs typeface="Calibri" pitchFamily="34" charset="-120"/>
              </a:rPr>
              <a:t>Feed back</a:t>
            </a:r>
            <a:endParaRPr lang="en-US" sz="1300" dirty="0"/>
          </a:p>
        </p:txBody>
      </p:sp>
      <p:sp>
        <p:nvSpPr>
          <p:cNvPr id="26" name="Text 20"/>
          <p:cNvSpPr txBox="1"/>
          <p:nvPr/>
        </p:nvSpPr>
        <p:spPr>
          <a:xfrm>
            <a:off x="5786323" y="2606040"/>
            <a:ext cx="1047902" cy="713232"/>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The result joins the context; repeat.</a:t>
            </a:r>
            <a:endParaRPr lang="en-US" sz="1200" dirty="0"/>
          </a:p>
        </p:txBody>
      </p:sp>
      <p:sp>
        <p:nvSpPr>
          <p:cNvPr id="27" name="Shape 21"/>
          <p:cNvSpPr/>
          <p:nvPr/>
        </p:nvSpPr>
        <p:spPr>
          <a:xfrm>
            <a:off x="7035394" y="2304288"/>
            <a:ext cx="219456" cy="219456"/>
          </a:xfrm>
          <a:prstGeom prst="rightArrow">
            <a:avLst/>
          </a:prstGeom>
          <a:solidFill>
            <a:srgbClr val="F5A623"/>
          </a:solidFill>
          <a:ln w="12700">
            <a:solidFill>
              <a:srgbClr val="F5A623"/>
            </a:solidFill>
            <a:prstDash val="solid"/>
          </a:ln>
        </p:spPr>
      </p:sp>
      <p:sp>
        <p:nvSpPr>
          <p:cNvPr id="28" name="Shape 22"/>
          <p:cNvSpPr/>
          <p:nvPr/>
        </p:nvSpPr>
        <p:spPr>
          <a:xfrm>
            <a:off x="7318858" y="1417320"/>
            <a:ext cx="1367942" cy="1993392"/>
          </a:xfrm>
          <a:prstGeom prst="roundRect">
            <a:avLst>
              <a:gd name="adj" fmla="val 5348"/>
            </a:avLst>
          </a:prstGeom>
          <a:solidFill>
            <a:srgbClr val="EFEBFC"/>
          </a:solidFill>
          <a:ln w="12700">
            <a:solidFill>
              <a:srgbClr val="EFEBFC"/>
            </a:solidFill>
            <a:prstDash val="solid"/>
          </a:ln>
        </p:spPr>
      </p:sp>
      <p:sp>
        <p:nvSpPr>
          <p:cNvPr id="29" name="Shape 23"/>
          <p:cNvSpPr/>
          <p:nvPr/>
        </p:nvSpPr>
        <p:spPr>
          <a:xfrm>
            <a:off x="7501738" y="1618488"/>
            <a:ext cx="457200" cy="457200"/>
          </a:xfrm>
          <a:prstGeom prst="ellipse">
            <a:avLst/>
          </a:prstGeom>
          <a:solidFill>
            <a:srgbClr val="512BD4"/>
          </a:solidFill>
          <a:ln w="12700">
            <a:solidFill>
              <a:srgbClr val="512BD4"/>
            </a:solidFill>
            <a:prstDash val="solid"/>
          </a:ln>
        </p:spPr>
      </p:sp>
      <p:pic>
        <p:nvPicPr>
          <p:cNvPr id="30" name="Image 4" descr="preencoded.png">    </p:cNvPr>
          <p:cNvPicPr>
            <a:picLocks noChangeAspect="1"/>
          </p:cNvPicPr>
          <p:nvPr/>
        </p:nvPicPr>
        <p:blipFill>
          <a:blip r:embed="rId5"/>
          <a:stretch>
            <a:fillRect/>
          </a:stretch>
        </p:blipFill>
        <p:spPr>
          <a:xfrm>
            <a:off x="7620610" y="1737360"/>
            <a:ext cx="219456" cy="219456"/>
          </a:xfrm>
          <a:prstGeom prst="rect">
            <a:avLst/>
          </a:prstGeom>
        </p:spPr>
      </p:pic>
      <p:sp>
        <p:nvSpPr>
          <p:cNvPr id="31" name="Text 24"/>
          <p:cNvSpPr txBox="1"/>
          <p:nvPr/>
        </p:nvSpPr>
        <p:spPr>
          <a:xfrm>
            <a:off x="7501738" y="2194560"/>
            <a:ext cx="1047902" cy="411480"/>
          </a:xfrm>
          <a:prstGeom prst="rect">
            <a:avLst/>
          </a:prstGeom>
          <a:noFill/>
          <a:ln/>
        </p:spPr>
        <p:txBody>
          <a:bodyPr wrap="square" lIns="0" tIns="0" rIns="0" bIns="0" rtlCol="0" anchor="t"/>
          <a:lstStyle/>
          <a:p>
            <a:pPr indent="0" marL="0">
              <a:buNone/>
            </a:pPr>
            <a:r>
              <a:rPr lang="en-US" sz="1300" b="1" dirty="0">
                <a:solidFill>
                  <a:srgbClr val="1F2937"/>
                </a:solidFill>
                <a:latin typeface="Calibri" pitchFamily="34" charset="0"/>
                <a:ea typeface="Calibri" pitchFamily="34" charset="-122"/>
                <a:cs typeface="Calibri" pitchFamily="34" charset="-120"/>
              </a:rPr>
              <a:t>Answer</a:t>
            </a:r>
            <a:endParaRPr lang="en-US" sz="1300" dirty="0"/>
          </a:p>
        </p:txBody>
      </p:sp>
      <p:sp>
        <p:nvSpPr>
          <p:cNvPr id="32" name="Text 25"/>
          <p:cNvSpPr txBox="1"/>
          <p:nvPr/>
        </p:nvSpPr>
        <p:spPr>
          <a:xfrm>
            <a:off x="7501738" y="2606040"/>
            <a:ext cx="1047902" cy="713232"/>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Final text built from real numbers.</a:t>
            </a:r>
            <a:endParaRPr lang="en-US" sz="1200" dirty="0"/>
          </a:p>
        </p:txBody>
      </p:sp>
      <p:sp>
        <p:nvSpPr>
          <p:cNvPr id="33" name="Text 26"/>
          <p:cNvSpPr txBox="1"/>
          <p:nvPr/>
        </p:nvSpPr>
        <p:spPr>
          <a:xfrm>
            <a:off x="457200" y="3730752"/>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The loop is invisible: your code makes one call and gets one answer back.</a:t>
            </a:r>
            <a:endParaRPr lang="en-US" sz="1400" dirty="0"/>
          </a:p>
        </p:txBody>
      </p:sp>
      <p:sp>
        <p:nvSpPr>
          <p:cNvPr id="34" name="Text 27"/>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with Semantic Kernel  ·  Lesson 4 — The Calculator</a:t>
            </a:r>
            <a:endParaRPr lang="en-US" sz="900" dirty="0"/>
          </a:p>
        </p:txBody>
      </p:sp>
      <p:sp>
        <p:nvSpPr>
          <p:cNvPr id="35" name="Text 28"/>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EXECUTION SETTINGS</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Registering a tool is not enough</a:t>
            </a:r>
            <a:endParaRPr lang="en-US" sz="2800" dirty="0"/>
          </a:p>
        </p:txBody>
      </p:sp>
      <p:sp>
        <p:nvSpPr>
          <p:cNvPr id="4" name="Shape 2"/>
          <p:cNvSpPr/>
          <p:nvPr/>
        </p:nvSpPr>
        <p:spPr>
          <a:xfrm>
            <a:off x="457200" y="1371600"/>
            <a:ext cx="3931920" cy="1920240"/>
          </a:xfrm>
          <a:prstGeom prst="roundRect">
            <a:avLst>
              <a:gd name="adj" fmla="val 3810"/>
            </a:avLst>
          </a:prstGeom>
          <a:solidFill>
            <a:srgbClr val="F6F4FE"/>
          </a:solidFill>
          <a:ln w="12700">
            <a:solidFill>
              <a:srgbClr val="F6F4FE"/>
            </a:solidFill>
            <a:prstDash val="solid"/>
          </a:ln>
        </p:spPr>
      </p:sp>
      <p:sp>
        <p:nvSpPr>
          <p:cNvPr id="5" name="Shape 3"/>
          <p:cNvSpPr/>
          <p:nvPr/>
        </p:nvSpPr>
        <p:spPr>
          <a:xfrm>
            <a:off x="685800" y="1600200"/>
            <a:ext cx="438912" cy="438912"/>
          </a:xfrm>
          <a:prstGeom prst="ellipse">
            <a:avLst/>
          </a:prstGeom>
          <a:solidFill>
            <a:srgbClr val="9CA3AF"/>
          </a:solidFill>
          <a:ln w="12700">
            <a:solidFill>
              <a:srgbClr val="9CA3AF"/>
            </a:solidFill>
            <a:prstDash val="solid"/>
          </a:ln>
        </p:spPr>
      </p:sp>
      <p:pic>
        <p:nvPicPr>
          <p:cNvPr id="6" name="Image 0" descr="preencoded.png">    </p:cNvPr>
          <p:cNvPicPr>
            <a:picLocks noChangeAspect="1"/>
          </p:cNvPicPr>
          <p:nvPr/>
        </p:nvPicPr>
        <p:blipFill>
          <a:blip r:embed="rId1"/>
          <a:stretch>
            <a:fillRect/>
          </a:stretch>
        </p:blipFill>
        <p:spPr>
          <a:xfrm>
            <a:off x="799917" y="1714317"/>
            <a:ext cx="210678" cy="210678"/>
          </a:xfrm>
          <a:prstGeom prst="rect">
            <a:avLst/>
          </a:prstGeom>
        </p:spPr>
      </p:pic>
      <p:sp>
        <p:nvSpPr>
          <p:cNvPr id="7" name="Text 4"/>
          <p:cNvSpPr txBox="1"/>
          <p:nvPr/>
        </p:nvSpPr>
        <p:spPr>
          <a:xfrm>
            <a:off x="1261872" y="1600200"/>
            <a:ext cx="2926080" cy="438912"/>
          </a:xfrm>
          <a:prstGeom prst="rect">
            <a:avLst/>
          </a:prstGeom>
          <a:noFill/>
          <a:ln/>
        </p:spPr>
        <p:txBody>
          <a:bodyPr wrap="square" lIns="0" tIns="0" rIns="0" bIns="0" rtlCol="0" anchor="ctr"/>
          <a:lstStyle/>
          <a:p>
            <a:pPr indent="0" marL="0">
              <a:buNone/>
            </a:pPr>
            <a:r>
              <a:rPr lang="en-US" sz="1700" b="1" dirty="0">
                <a:solidFill>
                  <a:srgbClr val="1F2937"/>
                </a:solidFill>
                <a:latin typeface="Calibri" pitchFamily="34" charset="0"/>
                <a:ea typeface="Calibri" pitchFamily="34" charset="-122"/>
                <a:cs typeface="Calibri" pitchFamily="34" charset="-120"/>
              </a:rPr>
              <a:t>Plugin registered only</a:t>
            </a:r>
            <a:endParaRPr lang="en-US" sz="1700" dirty="0"/>
          </a:p>
        </p:txBody>
      </p:sp>
      <p:sp>
        <p:nvSpPr>
          <p:cNvPr id="8" name="Text 5"/>
          <p:cNvSpPr txBox="1"/>
          <p:nvPr/>
        </p:nvSpPr>
        <p:spPr>
          <a:xfrm>
            <a:off x="685800" y="2194560"/>
            <a:ext cx="3474720" cy="91440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Math plugin sits in the kernel</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No ToolCallBehavior set</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The model never sees the tools</a:t>
            </a:r>
            <a:endParaRPr lang="en-US" sz="1300" dirty="0"/>
          </a:p>
        </p:txBody>
      </p:sp>
      <p:sp>
        <p:nvSpPr>
          <p:cNvPr id="9" name="Shape 6"/>
          <p:cNvSpPr/>
          <p:nvPr/>
        </p:nvSpPr>
        <p:spPr>
          <a:xfrm>
            <a:off x="4754880" y="1371600"/>
            <a:ext cx="3931920" cy="1920240"/>
          </a:xfrm>
          <a:prstGeom prst="roundRect">
            <a:avLst>
              <a:gd name="adj" fmla="val 3810"/>
            </a:avLst>
          </a:prstGeom>
          <a:solidFill>
            <a:srgbClr val="EFEBFC"/>
          </a:solidFill>
          <a:ln w="12700">
            <a:solidFill>
              <a:srgbClr val="EFEBFC"/>
            </a:solidFill>
            <a:prstDash val="solid"/>
          </a:ln>
        </p:spPr>
      </p:sp>
      <p:sp>
        <p:nvSpPr>
          <p:cNvPr id="10" name="Shape 7"/>
          <p:cNvSpPr/>
          <p:nvPr/>
        </p:nvSpPr>
        <p:spPr>
          <a:xfrm>
            <a:off x="4983480" y="1600200"/>
            <a:ext cx="438912" cy="438912"/>
          </a:xfrm>
          <a:prstGeom prst="ellipse">
            <a:avLst/>
          </a:prstGeom>
          <a:solidFill>
            <a:srgbClr val="512BD4"/>
          </a:solidFill>
          <a:ln w="12700">
            <a:solidFill>
              <a:srgbClr val="512BD4"/>
            </a:solidFill>
            <a:prstDash val="solid"/>
          </a:ln>
        </p:spPr>
      </p:sp>
      <p:pic>
        <p:nvPicPr>
          <p:cNvPr id="11" name="Image 1" descr="preencoded.png">    </p:cNvPr>
          <p:cNvPicPr>
            <a:picLocks noChangeAspect="1"/>
          </p:cNvPicPr>
          <p:nvPr/>
        </p:nvPicPr>
        <p:blipFill>
          <a:blip r:embed="rId2"/>
          <a:stretch>
            <a:fillRect/>
          </a:stretch>
        </p:blipFill>
        <p:spPr>
          <a:xfrm>
            <a:off x="5097597" y="1714317"/>
            <a:ext cx="210678" cy="210678"/>
          </a:xfrm>
          <a:prstGeom prst="rect">
            <a:avLst/>
          </a:prstGeom>
        </p:spPr>
      </p:pic>
      <p:sp>
        <p:nvSpPr>
          <p:cNvPr id="12" name="Text 8"/>
          <p:cNvSpPr txBox="1"/>
          <p:nvPr/>
        </p:nvSpPr>
        <p:spPr>
          <a:xfrm>
            <a:off x="5559552" y="1600200"/>
            <a:ext cx="2926080" cy="438912"/>
          </a:xfrm>
          <a:prstGeom prst="rect">
            <a:avLst/>
          </a:prstGeom>
          <a:noFill/>
          <a:ln/>
        </p:spPr>
        <p:txBody>
          <a:bodyPr wrap="square" lIns="0" tIns="0" rIns="0" bIns="0" rtlCol="0" anchor="ctr"/>
          <a:lstStyle/>
          <a:p>
            <a:pPr indent="0" marL="0">
              <a:buNone/>
            </a:pPr>
            <a:r>
              <a:rPr lang="en-US" sz="1700" b="1" dirty="0">
                <a:solidFill>
                  <a:srgbClr val="1F2937"/>
                </a:solidFill>
                <a:latin typeface="Calibri" pitchFamily="34" charset="0"/>
                <a:ea typeface="Calibri" pitchFamily="34" charset="-122"/>
                <a:cs typeface="Calibri" pitchFamily="34" charset="-120"/>
              </a:rPr>
              <a:t>Plus AutoInvoke</a:t>
            </a:r>
            <a:endParaRPr lang="en-US" sz="1700" dirty="0"/>
          </a:p>
        </p:txBody>
      </p:sp>
      <p:sp>
        <p:nvSpPr>
          <p:cNvPr id="13" name="Text 9"/>
          <p:cNvSpPr txBox="1"/>
          <p:nvPr/>
        </p:nvSpPr>
        <p:spPr>
          <a:xfrm>
            <a:off x="4983480" y="2194560"/>
            <a:ext cx="3474720" cy="91440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AutoInvokeKernelFunctions is set</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Tools are offered to the model</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SK runs each call automatically</a:t>
            </a:r>
            <a:endParaRPr lang="en-US" sz="1300" dirty="0"/>
          </a:p>
        </p:txBody>
      </p:sp>
      <p:sp>
        <p:nvSpPr>
          <p:cNvPr id="14" name="Text 10"/>
          <p:cNvSpPr txBox="1"/>
          <p:nvPr/>
        </p:nvSpPr>
        <p:spPr>
          <a:xfrm>
            <a:off x="457200" y="3566160"/>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The settings go into new KernelArguments(executionSettings), as in Lesson 3.</a:t>
            </a:r>
            <a:endParaRPr lang="en-US" sz="1400" dirty="0"/>
          </a:p>
        </p:txBody>
      </p:sp>
      <p:sp>
        <p:nvSpPr>
          <p:cNvPr id="15" name="Text 11"/>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with Semantic Kernel  ·  Lesson 4 — The Calculator</a:t>
            </a:r>
            <a:endParaRPr lang="en-US" sz="900" dirty="0"/>
          </a:p>
        </p:txBody>
      </p:sp>
      <p:sp>
        <p:nvSpPr>
          <p:cNvPr id="16" name="Text 12"/>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EXPECTED RESULT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Run it: watch the tools fire</a:t>
            </a:r>
            <a:endParaRPr lang="en-US" sz="2800" dirty="0"/>
          </a:p>
        </p:txBody>
      </p:sp>
      <p:sp>
        <p:nvSpPr>
          <p:cNvPr id="4" name="Shape 2"/>
          <p:cNvSpPr/>
          <p:nvPr/>
        </p:nvSpPr>
        <p:spPr>
          <a:xfrm>
            <a:off x="457200" y="1325880"/>
            <a:ext cx="5257800" cy="2743200"/>
          </a:xfrm>
          <a:prstGeom prst="roundRect">
            <a:avLst>
              <a:gd name="adj" fmla="val 2667"/>
            </a:avLst>
          </a:prstGeom>
          <a:solidFill>
            <a:srgbClr val="0F1420"/>
          </a:solidFill>
          <a:ln w="12700">
            <a:solidFill>
              <a:srgbClr val="0F1420"/>
            </a:solidFill>
            <a:prstDash val="solid"/>
          </a:ln>
        </p:spPr>
      </p:sp>
      <p:sp>
        <p:nvSpPr>
          <p:cNvPr id="5" name="Text 3"/>
          <p:cNvSpPr txBox="1"/>
          <p:nvPr/>
        </p:nvSpPr>
        <p:spPr>
          <a:xfrm>
            <a:off x="640080" y="1463040"/>
            <a:ext cx="4892040" cy="2468880"/>
          </a:xfrm>
          <a:prstGeom prst="rect">
            <a:avLst/>
          </a:prstGeom>
          <a:noFill/>
          <a:ln/>
        </p:spPr>
        <p:txBody>
          <a:bodyPr wrap="square" lIns="0" tIns="0" rIns="0" bIns="0" rtlCol="0" anchor="t"/>
          <a:lstStyle/>
          <a:p>
            <a:pPr indent="0" marL="0">
              <a:buNone/>
            </a:pPr>
            <a:r>
              <a:rPr lang="en-US" sz="1000" b="1" dirty="0">
                <a:solidFill>
                  <a:srgbClr val="F5A623"/>
                </a:solidFill>
                <a:latin typeface="Courier New" pitchFamily="34" charset="0"/>
                <a:ea typeface="Courier New" pitchFamily="34" charset="-122"/>
                <a:cs typeface="Courier New" pitchFamily="34" charset="-120"/>
              </a:rPr>
              <a:t>Question: I had 124 apples.  I ate 15 of them.  Then I multiplied the amount of apples I had left by 3.  Finally, I divided all my apples equally among myself and 3 friends.  How many apples did each person get?  Do all math using my tools.  Show your work step by step.</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Thinking and invoking C# tools...</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 </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[NATIVE CODE EXECUTION] Subtracting 124 - 15</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[NATIVE CODE EXECUTION] Multiplying 109 * 3</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[NATIVE CODE EXECUTION] Dividing 327 / 4</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 </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 --- AI response ---</a:t>
            </a:r>
            <a:endParaRPr lang="en-US" sz="1000" dirty="0"/>
          </a:p>
          <a:p>
            <a:pPr indent="0" marL="0">
              <a:buNone/>
            </a:pPr>
            <a:r>
              <a:rPr lang="en-US" sz="1000" dirty="0">
                <a:solidFill>
                  <a:srgbClr val="9FE6B8"/>
                </a:solidFill>
                <a:latin typeface="Courier New" pitchFamily="34" charset="0"/>
                <a:ea typeface="Courier New" pitchFamily="34" charset="-122"/>
                <a:cs typeface="Courier New" pitchFamily="34" charset="-120"/>
              </a:rPr>
              <a:t>124 - 15 = 109; 109 x 3 = 327; 327 / 4 = 81.75.</a:t>
            </a:r>
            <a:endParaRPr lang="en-US" sz="1000" dirty="0"/>
          </a:p>
          <a:p>
            <a:pPr indent="0" marL="0">
              <a:buNone/>
            </a:pPr>
            <a:r>
              <a:rPr lang="en-US" sz="1000" dirty="0">
                <a:solidFill>
                  <a:srgbClr val="9FE6B8"/>
                </a:solidFill>
                <a:latin typeface="Courier New" pitchFamily="34" charset="0"/>
                <a:ea typeface="Courier New" pitchFamily="34" charset="-122"/>
                <a:cs typeface="Courier New" pitchFamily="34" charset="-120"/>
              </a:rPr>
              <a:t>Each person got 81.75 apples.</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a:t>
            </a:r>
            <a:endParaRPr lang="en-US" sz="1000" dirty="0"/>
          </a:p>
        </p:txBody>
      </p:sp>
      <p:sp>
        <p:nvSpPr>
          <p:cNvPr id="6" name="Shape 4"/>
          <p:cNvSpPr/>
          <p:nvPr/>
        </p:nvSpPr>
        <p:spPr>
          <a:xfrm>
            <a:off x="6035040" y="1325880"/>
            <a:ext cx="384048" cy="384048"/>
          </a:xfrm>
          <a:prstGeom prst="ellipse">
            <a:avLst/>
          </a:prstGeom>
          <a:solidFill>
            <a:srgbClr val="512BD4"/>
          </a:solidFill>
          <a:ln w="12700">
            <a:solidFill>
              <a:srgbClr val="512BD4"/>
            </a:solidFill>
            <a:prstDash val="solid"/>
          </a:ln>
        </p:spPr>
      </p:sp>
      <p:pic>
        <p:nvPicPr>
          <p:cNvPr id="7" name="Image 0" descr="preencoded.png">    </p:cNvPr>
          <p:cNvPicPr>
            <a:picLocks noChangeAspect="1"/>
          </p:cNvPicPr>
          <p:nvPr/>
        </p:nvPicPr>
        <p:blipFill>
          <a:blip r:embed="rId1"/>
          <a:stretch>
            <a:fillRect/>
          </a:stretch>
        </p:blipFill>
        <p:spPr>
          <a:xfrm>
            <a:off x="6134892" y="1425732"/>
            <a:ext cx="184343" cy="184343"/>
          </a:xfrm>
          <a:prstGeom prst="rect">
            <a:avLst/>
          </a:prstGeom>
        </p:spPr>
      </p:pic>
      <p:sp>
        <p:nvSpPr>
          <p:cNvPr id="8" name="Text 5"/>
          <p:cNvSpPr txBox="1"/>
          <p:nvPr/>
        </p:nvSpPr>
        <p:spPr>
          <a:xfrm>
            <a:off x="6537960" y="1325880"/>
            <a:ext cx="2148840" cy="384048"/>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Real tool calls</a:t>
            </a:r>
            <a:endParaRPr lang="en-US" sz="1400" dirty="0"/>
          </a:p>
        </p:txBody>
      </p:sp>
      <p:sp>
        <p:nvSpPr>
          <p:cNvPr id="9" name="Text 6"/>
          <p:cNvSpPr txBox="1"/>
          <p:nvPr/>
        </p:nvSpPr>
        <p:spPr>
          <a:xfrm>
            <a:off x="6537960" y="1709928"/>
            <a:ext cx="2148840" cy="6400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Each line is printed by MathPlugin as it runs.</a:t>
            </a:r>
            <a:endParaRPr lang="en-US" sz="1200" dirty="0"/>
          </a:p>
        </p:txBody>
      </p:sp>
      <p:sp>
        <p:nvSpPr>
          <p:cNvPr id="10" name="Shape 7"/>
          <p:cNvSpPr/>
          <p:nvPr/>
        </p:nvSpPr>
        <p:spPr>
          <a:xfrm>
            <a:off x="6035040" y="2423160"/>
            <a:ext cx="384048" cy="384048"/>
          </a:xfrm>
          <a:prstGeom prst="ellipse">
            <a:avLst/>
          </a:prstGeom>
          <a:solidFill>
            <a:srgbClr val="512BD4"/>
          </a:solidFill>
          <a:ln w="12700">
            <a:solidFill>
              <a:srgbClr val="512BD4"/>
            </a:solidFill>
            <a:prstDash val="solid"/>
          </a:ln>
        </p:spPr>
      </p:sp>
      <p:pic>
        <p:nvPicPr>
          <p:cNvPr id="11" name="Image 1" descr="preencoded.png">    </p:cNvPr>
          <p:cNvPicPr>
            <a:picLocks noChangeAspect="1"/>
          </p:cNvPicPr>
          <p:nvPr/>
        </p:nvPicPr>
        <p:blipFill>
          <a:blip r:embed="rId2"/>
          <a:stretch>
            <a:fillRect/>
          </a:stretch>
        </p:blipFill>
        <p:spPr>
          <a:xfrm>
            <a:off x="6134892" y="2523012"/>
            <a:ext cx="184343" cy="184343"/>
          </a:xfrm>
          <a:prstGeom prst="rect">
            <a:avLst/>
          </a:prstGeom>
        </p:spPr>
      </p:pic>
      <p:sp>
        <p:nvSpPr>
          <p:cNvPr id="12" name="Text 8"/>
          <p:cNvSpPr txBox="1"/>
          <p:nvPr/>
        </p:nvSpPr>
        <p:spPr>
          <a:xfrm>
            <a:off x="6537960" y="2423160"/>
            <a:ext cx="2148840" cy="384048"/>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Illustrative</a:t>
            </a:r>
            <a:endParaRPr lang="en-US" sz="1400" dirty="0"/>
          </a:p>
        </p:txBody>
      </p:sp>
      <p:sp>
        <p:nvSpPr>
          <p:cNvPr id="13" name="Text 9"/>
          <p:cNvSpPr txBox="1"/>
          <p:nvPr/>
        </p:nvSpPr>
        <p:spPr>
          <a:xfrm>
            <a:off x="6537960" y="2807208"/>
            <a:ext cx="2148840" cy="6400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The model picks the calls; it may also add 1 + 3 first.</a:t>
            </a:r>
            <a:endParaRPr lang="en-US" sz="1200" dirty="0"/>
          </a:p>
        </p:txBody>
      </p:sp>
      <p:sp>
        <p:nvSpPr>
          <p:cNvPr id="14" name="Shape 10"/>
          <p:cNvSpPr/>
          <p:nvPr/>
        </p:nvSpPr>
        <p:spPr>
          <a:xfrm>
            <a:off x="6035040" y="3520440"/>
            <a:ext cx="384048" cy="384048"/>
          </a:xfrm>
          <a:prstGeom prst="ellipse">
            <a:avLst/>
          </a:prstGeom>
          <a:solidFill>
            <a:srgbClr val="512BD4"/>
          </a:solidFill>
          <a:ln w="12700">
            <a:solidFill>
              <a:srgbClr val="512BD4"/>
            </a:solidFill>
            <a:prstDash val="solid"/>
          </a:ln>
        </p:spPr>
      </p:sp>
      <p:pic>
        <p:nvPicPr>
          <p:cNvPr id="15" name="Image 2" descr="preencoded.png">    </p:cNvPr>
          <p:cNvPicPr>
            <a:picLocks noChangeAspect="1"/>
          </p:cNvPicPr>
          <p:nvPr/>
        </p:nvPicPr>
        <p:blipFill>
          <a:blip r:embed="rId3"/>
          <a:stretch>
            <a:fillRect/>
          </a:stretch>
        </p:blipFill>
        <p:spPr>
          <a:xfrm>
            <a:off x="6134892" y="3620292"/>
            <a:ext cx="184343" cy="184343"/>
          </a:xfrm>
          <a:prstGeom prst="rect">
            <a:avLst/>
          </a:prstGeom>
        </p:spPr>
      </p:pic>
      <p:sp>
        <p:nvSpPr>
          <p:cNvPr id="16" name="Text 11"/>
          <p:cNvSpPr txBox="1"/>
          <p:nvPr/>
        </p:nvSpPr>
        <p:spPr>
          <a:xfrm>
            <a:off x="6537960" y="3520440"/>
            <a:ext cx="2148840" cy="384048"/>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81.75 each</a:t>
            </a:r>
            <a:endParaRPr lang="en-US" sz="1400" dirty="0"/>
          </a:p>
        </p:txBody>
      </p:sp>
      <p:sp>
        <p:nvSpPr>
          <p:cNvPr id="17" name="Text 12"/>
          <p:cNvSpPr txBox="1"/>
          <p:nvPr/>
        </p:nvSpPr>
        <p:spPr>
          <a:xfrm>
            <a:off x="6537960" y="3904488"/>
            <a:ext cx="2148840" cy="6400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Exact, because C# did every step.</a:t>
            </a:r>
            <a:endParaRPr lang="en-US" sz="1200" dirty="0"/>
          </a:p>
        </p:txBody>
      </p:sp>
      <p:sp>
        <p:nvSpPr>
          <p:cNvPr id="18" name="Text 13"/>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with Semantic Kernel  ·  Lesson 4 — The Calculator</a:t>
            </a:r>
            <a:endParaRPr lang="en-US" sz="900" dirty="0"/>
          </a:p>
        </p:txBody>
      </p:sp>
      <p:sp>
        <p:nvSpPr>
          <p:cNvPr id="19" name="Text 14"/>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EXERCISE</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Give the calculator a new skill</a:t>
            </a:r>
            <a:endParaRPr lang="en-US" sz="2800" dirty="0"/>
          </a:p>
        </p:txBody>
      </p:sp>
      <p:sp>
        <p:nvSpPr>
          <p:cNvPr id="4" name="Shape 2"/>
          <p:cNvSpPr/>
          <p:nvPr/>
        </p:nvSpPr>
        <p:spPr>
          <a:xfrm>
            <a:off x="457200" y="1371600"/>
            <a:ext cx="3108960" cy="3017520"/>
          </a:xfrm>
          <a:prstGeom prst="roundRect">
            <a:avLst>
              <a:gd name="adj" fmla="val 2424"/>
            </a:avLst>
          </a:prstGeom>
          <a:solidFill>
            <a:srgbClr val="512BD4"/>
          </a:solidFill>
          <a:ln w="12700">
            <a:solidFill>
              <a:srgbClr val="512BD4"/>
            </a:solidFill>
            <a:prstDash val="solid"/>
          </a:ln>
        </p:spPr>
      </p:sp>
      <p:sp>
        <p:nvSpPr>
          <p:cNvPr id="5" name="Shape 3"/>
          <p:cNvSpPr/>
          <p:nvPr/>
        </p:nvSpPr>
        <p:spPr>
          <a:xfrm>
            <a:off x="685800" y="1600200"/>
            <a:ext cx="457200" cy="457200"/>
          </a:xfrm>
          <a:prstGeom prst="ellipse">
            <a:avLst/>
          </a:prstGeom>
          <a:solidFill>
            <a:srgbClr val="FFFFFF"/>
          </a:solidFill>
          <a:ln w="12700">
            <a:solidFill>
              <a:srgbClr val="FFFFFF"/>
            </a:solidFill>
            <a:prstDash val="solid"/>
          </a:ln>
        </p:spPr>
      </p:sp>
      <p:pic>
        <p:nvPicPr>
          <p:cNvPr id="6" name="Image 0" descr="preencoded.png">    </p:cNvPr>
          <p:cNvPicPr>
            <a:picLocks noChangeAspect="1"/>
          </p:cNvPicPr>
          <p:nvPr/>
        </p:nvPicPr>
        <p:blipFill>
          <a:blip r:embed="rId1"/>
          <a:stretch>
            <a:fillRect/>
          </a:stretch>
        </p:blipFill>
        <p:spPr>
          <a:xfrm>
            <a:off x="804672" y="1719072"/>
            <a:ext cx="219456" cy="219456"/>
          </a:xfrm>
          <a:prstGeom prst="rect">
            <a:avLst/>
          </a:prstGeom>
        </p:spPr>
      </p:pic>
      <p:sp>
        <p:nvSpPr>
          <p:cNvPr id="7" name="Text 4"/>
          <p:cNvSpPr txBox="1"/>
          <p:nvPr/>
        </p:nvSpPr>
        <p:spPr>
          <a:xfrm>
            <a:off x="685800" y="2194560"/>
            <a:ext cx="2651760" cy="1371600"/>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Add a Power function to MathPlugin with full descriptions, then change the prompt to a compound-interest problem that needs it.</a:t>
            </a:r>
            <a:endParaRPr lang="en-US" sz="1400" dirty="0"/>
          </a:p>
        </p:txBody>
      </p:sp>
      <p:sp>
        <p:nvSpPr>
          <p:cNvPr id="8" name="Text 5"/>
          <p:cNvSpPr txBox="1"/>
          <p:nvPr/>
        </p:nvSpPr>
        <p:spPr>
          <a:xfrm>
            <a:off x="685800" y="3611880"/>
            <a:ext cx="2743200" cy="640080"/>
          </a:xfrm>
          <a:prstGeom prst="rect">
            <a:avLst/>
          </a:prstGeom>
          <a:noFill/>
          <a:ln/>
        </p:spPr>
        <p:txBody>
          <a:bodyPr wrap="square" lIns="0" tIns="0" rIns="0" bIns="0" rtlCol="0" anchor="b"/>
          <a:lstStyle/>
          <a:p>
            <a:pPr indent="0" marL="0">
              <a:buNone/>
            </a:pPr>
            <a:r>
              <a:rPr lang="en-US" sz="850" dirty="0">
                <a:solidFill>
                  <a:srgbClr val="B8B2E6"/>
                </a:solidFill>
                <a:latin typeface="Courier New" pitchFamily="34" charset="0"/>
                <a:ea typeface="Courier New" pitchFamily="34" charset="-122"/>
                <a:cs typeface="Courier New" pitchFamily="34" charset="-120"/>
              </a:rPr>
              <a:t>Lesson04-Calculator/</a:t>
            </a:r>
            <a:endParaRPr lang="en-US" sz="850" dirty="0"/>
          </a:p>
          <a:p>
            <a:pPr indent="0" marL="0">
              <a:buNone/>
            </a:pPr>
            <a:r>
              <a:rPr lang="en-US" sz="850" dirty="0">
                <a:solidFill>
                  <a:srgbClr val="B8B2E6"/>
                </a:solidFill>
                <a:latin typeface="Courier New" pitchFamily="34" charset="0"/>
                <a:ea typeface="Courier New" pitchFamily="34" charset="-122"/>
                <a:cs typeface="Courier New" pitchFamily="34" charset="-120"/>
              </a:rPr>
              <a:t>Calculator/MathPlugin.cs</a:t>
            </a:r>
            <a:endParaRPr lang="en-US" sz="850" dirty="0"/>
          </a:p>
        </p:txBody>
      </p:sp>
      <p:sp>
        <p:nvSpPr>
          <p:cNvPr id="9" name="Text 6"/>
          <p:cNvSpPr txBox="1"/>
          <p:nvPr/>
        </p:nvSpPr>
        <p:spPr>
          <a:xfrm>
            <a:off x="3931920" y="1371600"/>
            <a:ext cx="4754880" cy="320040"/>
          </a:xfrm>
          <a:prstGeom prst="rect">
            <a:avLst/>
          </a:prstGeom>
          <a:noFill/>
          <a:ln/>
        </p:spPr>
        <p:txBody>
          <a:bodyPr wrap="square" lIns="0" tIns="0" rIns="0" bIns="0" rtlCol="0" anchor="t"/>
          <a:lstStyle/>
          <a:p>
            <a:pPr indent="0" marL="0">
              <a:buNone/>
            </a:pPr>
            <a:r>
              <a:rPr lang="en-US" sz="1600" b="1" dirty="0">
                <a:solidFill>
                  <a:srgbClr val="1F2937"/>
                </a:solidFill>
                <a:latin typeface="Cambria" pitchFamily="34" charset="0"/>
                <a:ea typeface="Cambria" pitchFamily="34" charset="-122"/>
                <a:cs typeface="Cambria" pitchFamily="34" charset="-120"/>
              </a:rPr>
              <a:t>Done when</a:t>
            </a:r>
            <a:endParaRPr lang="en-US" sz="1600" dirty="0"/>
          </a:p>
        </p:txBody>
      </p:sp>
      <p:sp>
        <p:nvSpPr>
          <p:cNvPr id="10" name="Shape 7"/>
          <p:cNvSpPr/>
          <p:nvPr/>
        </p:nvSpPr>
        <p:spPr>
          <a:xfrm>
            <a:off x="3931920" y="1801368"/>
            <a:ext cx="292608" cy="292608"/>
          </a:xfrm>
          <a:prstGeom prst="ellipse">
            <a:avLst/>
          </a:prstGeom>
          <a:solidFill>
            <a:srgbClr val="F5A623"/>
          </a:solidFill>
          <a:ln w="12700">
            <a:solidFill>
              <a:srgbClr val="F5A623"/>
            </a:solidFill>
            <a:prstDash val="solid"/>
          </a:ln>
        </p:spPr>
      </p:sp>
      <p:pic>
        <p:nvPicPr>
          <p:cNvPr id="11" name="Image 1" descr="preencoded.png">    </p:cNvPr>
          <p:cNvPicPr>
            <a:picLocks noChangeAspect="1"/>
          </p:cNvPicPr>
          <p:nvPr/>
        </p:nvPicPr>
        <p:blipFill>
          <a:blip r:embed="rId2"/>
          <a:stretch>
            <a:fillRect/>
          </a:stretch>
        </p:blipFill>
        <p:spPr>
          <a:xfrm>
            <a:off x="4007998" y="1877446"/>
            <a:ext cx="140452" cy="140452"/>
          </a:xfrm>
          <a:prstGeom prst="rect">
            <a:avLst/>
          </a:prstGeom>
        </p:spPr>
      </p:pic>
      <p:sp>
        <p:nvSpPr>
          <p:cNvPr id="12" name="Text 8"/>
          <p:cNvSpPr txBox="1"/>
          <p:nvPr/>
        </p:nvSpPr>
        <p:spPr>
          <a:xfrm>
            <a:off x="4361688" y="1783080"/>
            <a:ext cx="4325112" cy="59436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Power has [KernelFunction] and [Description]s on both parameters</a:t>
            </a:r>
            <a:endParaRPr lang="en-US" sz="1300" dirty="0"/>
          </a:p>
        </p:txBody>
      </p:sp>
      <p:sp>
        <p:nvSpPr>
          <p:cNvPr id="13" name="Shape 9"/>
          <p:cNvSpPr/>
          <p:nvPr/>
        </p:nvSpPr>
        <p:spPr>
          <a:xfrm>
            <a:off x="3931920" y="2441448"/>
            <a:ext cx="292608" cy="292608"/>
          </a:xfrm>
          <a:prstGeom prst="ellipse">
            <a:avLst/>
          </a:prstGeom>
          <a:solidFill>
            <a:srgbClr val="F5A623"/>
          </a:solidFill>
          <a:ln w="12700">
            <a:solidFill>
              <a:srgbClr val="F5A623"/>
            </a:solidFill>
            <a:prstDash val="solid"/>
          </a:ln>
        </p:spPr>
      </p:sp>
      <p:pic>
        <p:nvPicPr>
          <p:cNvPr id="14" name="Image 2" descr="preencoded.png">    </p:cNvPr>
          <p:cNvPicPr>
            <a:picLocks noChangeAspect="1"/>
          </p:cNvPicPr>
          <p:nvPr/>
        </p:nvPicPr>
        <p:blipFill>
          <a:blip r:embed="rId3"/>
          <a:stretch>
            <a:fillRect/>
          </a:stretch>
        </p:blipFill>
        <p:spPr>
          <a:xfrm>
            <a:off x="4007998" y="2517526"/>
            <a:ext cx="140452" cy="140452"/>
          </a:xfrm>
          <a:prstGeom prst="rect">
            <a:avLst/>
          </a:prstGeom>
        </p:spPr>
      </p:pic>
      <p:sp>
        <p:nvSpPr>
          <p:cNvPr id="15" name="Text 10"/>
          <p:cNvSpPr txBox="1"/>
          <p:nvPr/>
        </p:nvSpPr>
        <p:spPr>
          <a:xfrm>
            <a:off x="4361688" y="2423160"/>
            <a:ext cx="4325112" cy="59436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It prints its own [NATIVE CODE EXECUTION] line</a:t>
            </a:r>
            <a:endParaRPr lang="en-US" sz="1300" dirty="0"/>
          </a:p>
        </p:txBody>
      </p:sp>
      <p:sp>
        <p:nvSpPr>
          <p:cNvPr id="16" name="Shape 11"/>
          <p:cNvSpPr/>
          <p:nvPr/>
        </p:nvSpPr>
        <p:spPr>
          <a:xfrm>
            <a:off x="3931920" y="3081528"/>
            <a:ext cx="292608" cy="292608"/>
          </a:xfrm>
          <a:prstGeom prst="ellipse">
            <a:avLst/>
          </a:prstGeom>
          <a:solidFill>
            <a:srgbClr val="F5A623"/>
          </a:solidFill>
          <a:ln w="12700">
            <a:solidFill>
              <a:srgbClr val="F5A623"/>
            </a:solidFill>
            <a:prstDash val="solid"/>
          </a:ln>
        </p:spPr>
      </p:sp>
      <p:pic>
        <p:nvPicPr>
          <p:cNvPr id="17" name="Image 3" descr="preencoded.png">    </p:cNvPr>
          <p:cNvPicPr>
            <a:picLocks noChangeAspect="1"/>
          </p:cNvPicPr>
          <p:nvPr/>
        </p:nvPicPr>
        <p:blipFill>
          <a:blip r:embed="rId4"/>
          <a:stretch>
            <a:fillRect/>
          </a:stretch>
        </p:blipFill>
        <p:spPr>
          <a:xfrm>
            <a:off x="4007998" y="3157606"/>
            <a:ext cx="140452" cy="140452"/>
          </a:xfrm>
          <a:prstGeom prst="rect">
            <a:avLst/>
          </a:prstGeom>
        </p:spPr>
      </p:pic>
      <p:sp>
        <p:nvSpPr>
          <p:cNvPr id="18" name="Text 12"/>
          <p:cNvSpPr txBox="1"/>
          <p:nvPr/>
        </p:nvSpPr>
        <p:spPr>
          <a:xfrm>
            <a:off x="4361688" y="3063240"/>
            <a:ext cx="4325112" cy="59436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The new prompt triggers a Math.Power call</a:t>
            </a:r>
            <a:endParaRPr lang="en-US" sz="1300" dirty="0"/>
          </a:p>
        </p:txBody>
      </p:sp>
      <p:sp>
        <p:nvSpPr>
          <p:cNvPr id="19" name="Shape 13"/>
          <p:cNvSpPr/>
          <p:nvPr/>
        </p:nvSpPr>
        <p:spPr>
          <a:xfrm>
            <a:off x="3931920" y="3721608"/>
            <a:ext cx="292608" cy="292608"/>
          </a:xfrm>
          <a:prstGeom prst="ellipse">
            <a:avLst/>
          </a:prstGeom>
          <a:solidFill>
            <a:srgbClr val="F5A623"/>
          </a:solidFill>
          <a:ln w="12700">
            <a:solidFill>
              <a:srgbClr val="F5A623"/>
            </a:solidFill>
            <a:prstDash val="solid"/>
          </a:ln>
        </p:spPr>
      </p:sp>
      <p:pic>
        <p:nvPicPr>
          <p:cNvPr id="20" name="Image 4" descr="preencoded.png">    </p:cNvPr>
          <p:cNvPicPr>
            <a:picLocks noChangeAspect="1"/>
          </p:cNvPicPr>
          <p:nvPr/>
        </p:nvPicPr>
        <p:blipFill>
          <a:blip r:embed="rId5"/>
          <a:stretch>
            <a:fillRect/>
          </a:stretch>
        </p:blipFill>
        <p:spPr>
          <a:xfrm>
            <a:off x="4007998" y="3797686"/>
            <a:ext cx="140452" cy="140452"/>
          </a:xfrm>
          <a:prstGeom prst="rect">
            <a:avLst/>
          </a:prstGeom>
        </p:spPr>
      </p:pic>
      <p:sp>
        <p:nvSpPr>
          <p:cNvPr id="21" name="Text 14"/>
          <p:cNvSpPr txBox="1"/>
          <p:nvPr/>
        </p:nvSpPr>
        <p:spPr>
          <a:xfrm>
            <a:off x="4361688" y="3703320"/>
            <a:ext cx="4325112" cy="59436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A divide-by-zero prompt reports the error, not Infinity</a:t>
            </a:r>
            <a:endParaRPr lang="en-US" sz="1300" dirty="0"/>
          </a:p>
        </p:txBody>
      </p:sp>
      <p:sp>
        <p:nvSpPr>
          <p:cNvPr id="22" name="Text 15"/>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with Semantic Kernel  ·  Lesson 4 — The Calculator</a:t>
            </a:r>
            <a:endParaRPr lang="en-US" sz="900" dirty="0"/>
          </a:p>
        </p:txBody>
      </p:sp>
      <p:sp>
        <p:nvSpPr>
          <p:cNvPr id="23" name="Text 16"/>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41B2D"/>
        </a:solidFill>
      </p:bgPr>
    </p:bg>
    <p:spTree>
      <p:nvGrpSpPr>
        <p:cNvPr id="1" name=""/>
        <p:cNvGrpSpPr/>
        <p:nvPr/>
      </p:nvGrpSpPr>
      <p:grpSpPr>
        <a:xfrm>
          <a:off x="0" y="0"/>
          <a:ext cx="0" cy="0"/>
          <a:chOff x="0" y="0"/>
          <a:chExt cx="0" cy="0"/>
        </a:xfrm>
      </p:grpSpPr>
      <p:sp>
        <p:nvSpPr>
          <p:cNvPr id="2" name="Text 0"/>
          <p:cNvSpPr txBox="1"/>
          <p:nvPr/>
        </p:nvSpPr>
        <p:spPr>
          <a:xfrm>
            <a:off x="457200" y="347472"/>
            <a:ext cx="4572000" cy="228600"/>
          </a:xfrm>
          <a:prstGeom prst="rect">
            <a:avLst/>
          </a:prstGeom>
          <a:noFill/>
          <a:ln/>
        </p:spPr>
        <p:txBody>
          <a:bodyPr wrap="square" lIns="0" tIns="0" rIns="0" bIns="0" rtlCol="0" anchor="t"/>
          <a:lstStyle/>
          <a:p>
            <a:pPr indent="0" marL="0">
              <a:buNone/>
            </a:pPr>
            <a:r>
              <a:rPr lang="en-US" sz="1100" b="1" spc="200" kern="0" dirty="0">
                <a:solidFill>
                  <a:srgbClr val="F5A623"/>
                </a:solidFill>
                <a:latin typeface="Calibri" pitchFamily="34" charset="0"/>
                <a:ea typeface="Calibri" pitchFamily="34" charset="-122"/>
                <a:cs typeface="Calibri" pitchFamily="34" charset="-120"/>
              </a:rPr>
              <a:t>SUMMARY</a:t>
            </a:r>
            <a:endParaRPr lang="en-US" sz="1100" dirty="0"/>
          </a:p>
        </p:txBody>
      </p:sp>
      <p:sp>
        <p:nvSpPr>
          <p:cNvPr id="3" name="Text 1"/>
          <p:cNvSpPr txBox="1"/>
          <p:nvPr/>
        </p:nvSpPr>
        <p:spPr>
          <a:xfrm>
            <a:off x="457200" y="566928"/>
            <a:ext cx="8229600" cy="502920"/>
          </a:xfrm>
          <a:prstGeom prst="rect">
            <a:avLst/>
          </a:prstGeom>
          <a:noFill/>
          <a:ln/>
        </p:spPr>
        <p:txBody>
          <a:bodyPr wrap="square" lIns="0" tIns="0" rIns="0" bIns="0" rtlCol="0" anchor="t"/>
          <a:lstStyle/>
          <a:p>
            <a:pPr indent="0" marL="0">
              <a:buNone/>
            </a:pPr>
            <a:r>
              <a:rPr lang="en-US" sz="2600" b="1" dirty="0">
                <a:solidFill>
                  <a:srgbClr val="FFFFFF"/>
                </a:solidFill>
                <a:latin typeface="Cambria" pitchFamily="34" charset="0"/>
                <a:ea typeface="Cambria" pitchFamily="34" charset="-122"/>
                <a:cs typeface="Cambria" pitchFamily="34" charset="-120"/>
              </a:rPr>
              <a:t>What we learned, and where it goes</a:t>
            </a:r>
            <a:endParaRPr lang="en-US" sz="2600" dirty="0"/>
          </a:p>
        </p:txBody>
      </p:sp>
      <p:sp>
        <p:nvSpPr>
          <p:cNvPr id="4" name="Shape 2"/>
          <p:cNvSpPr/>
          <p:nvPr/>
        </p:nvSpPr>
        <p:spPr>
          <a:xfrm>
            <a:off x="457200" y="1234440"/>
            <a:ext cx="2926080" cy="448056"/>
          </a:xfrm>
          <a:prstGeom prst="roundRect">
            <a:avLst>
              <a:gd name="adj" fmla="val 16327"/>
            </a:avLst>
          </a:prstGeom>
          <a:solidFill>
            <a:srgbClr val="1F2943"/>
          </a:solidFill>
          <a:ln w="12700">
            <a:solidFill>
              <a:srgbClr val="1F2943"/>
            </a:solidFill>
            <a:prstDash val="solid"/>
          </a:ln>
        </p:spPr>
      </p:sp>
      <p:sp>
        <p:nvSpPr>
          <p:cNvPr id="5" name="Text 3"/>
          <p:cNvSpPr txBox="1"/>
          <p:nvPr/>
        </p:nvSpPr>
        <p:spPr>
          <a:xfrm>
            <a:off x="621792" y="1234440"/>
            <a:ext cx="2651760" cy="44805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[KernelFunction] plugins</a:t>
            </a:r>
            <a:endParaRPr lang="en-US" sz="1300" dirty="0"/>
          </a:p>
        </p:txBody>
      </p:sp>
      <p:sp>
        <p:nvSpPr>
          <p:cNvPr id="6" name="Shape 4"/>
          <p:cNvSpPr/>
          <p:nvPr/>
        </p:nvSpPr>
        <p:spPr>
          <a:xfrm>
            <a:off x="3493008" y="1367028"/>
            <a:ext cx="329184" cy="182880"/>
          </a:xfrm>
          <a:prstGeom prst="rightArrow">
            <a:avLst/>
          </a:prstGeom>
          <a:solidFill>
            <a:srgbClr val="F5A623"/>
          </a:solidFill>
          <a:ln w="12700">
            <a:solidFill>
              <a:srgbClr val="F5A623"/>
            </a:solidFill>
            <a:prstDash val="solid"/>
          </a:ln>
        </p:spPr>
      </p:sp>
      <p:sp>
        <p:nvSpPr>
          <p:cNvPr id="7" name="Text 5"/>
          <p:cNvSpPr txBox="1"/>
          <p:nvPr/>
        </p:nvSpPr>
        <p:spPr>
          <a:xfrm>
            <a:off x="3977640" y="1234440"/>
            <a:ext cx="4709160" cy="448056"/>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Lesson 6  </a:t>
            </a:r>
            <a:pPr indent="0" marL="0">
              <a:buNone/>
            </a:pPr>
            <a:r>
              <a:rPr lang="en-US" sz="1250" dirty="0">
                <a:solidFill>
                  <a:srgbClr val="FFFFFF"/>
                </a:solidFill>
                <a:latin typeface="Calibri" pitchFamily="34" charset="0"/>
                <a:ea typeface="Calibri" pitchFamily="34" charset="-122"/>
                <a:cs typeface="Calibri" pitchFamily="34" charset="-120"/>
              </a:rPr>
              <a:t>A plugin that lists, reads and writes real files</a:t>
            </a:r>
            <a:endParaRPr lang="en-US" sz="1250" dirty="0"/>
          </a:p>
        </p:txBody>
      </p:sp>
      <p:sp>
        <p:nvSpPr>
          <p:cNvPr id="8" name="Shape 6"/>
          <p:cNvSpPr/>
          <p:nvPr/>
        </p:nvSpPr>
        <p:spPr>
          <a:xfrm>
            <a:off x="457200" y="1792224"/>
            <a:ext cx="2926080" cy="448056"/>
          </a:xfrm>
          <a:prstGeom prst="roundRect">
            <a:avLst>
              <a:gd name="adj" fmla="val 16327"/>
            </a:avLst>
          </a:prstGeom>
          <a:solidFill>
            <a:srgbClr val="1F2943"/>
          </a:solidFill>
          <a:ln w="12700">
            <a:solidFill>
              <a:srgbClr val="1F2943"/>
            </a:solidFill>
            <a:prstDash val="solid"/>
          </a:ln>
        </p:spPr>
      </p:sp>
      <p:sp>
        <p:nvSpPr>
          <p:cNvPr id="9" name="Text 7"/>
          <p:cNvSpPr txBox="1"/>
          <p:nvPr/>
        </p:nvSpPr>
        <p:spPr>
          <a:xfrm>
            <a:off x="621792" y="1792224"/>
            <a:ext cx="2651760" cy="44805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Auto tool invocation</a:t>
            </a:r>
            <a:endParaRPr lang="en-US" sz="1300" dirty="0"/>
          </a:p>
        </p:txBody>
      </p:sp>
      <p:sp>
        <p:nvSpPr>
          <p:cNvPr id="10" name="Shape 8"/>
          <p:cNvSpPr/>
          <p:nvPr/>
        </p:nvSpPr>
        <p:spPr>
          <a:xfrm>
            <a:off x="3493008" y="1924812"/>
            <a:ext cx="329184" cy="182880"/>
          </a:xfrm>
          <a:prstGeom prst="rightArrow">
            <a:avLst/>
          </a:prstGeom>
          <a:solidFill>
            <a:srgbClr val="F5A623"/>
          </a:solidFill>
          <a:ln w="12700">
            <a:solidFill>
              <a:srgbClr val="F5A623"/>
            </a:solidFill>
            <a:prstDash val="solid"/>
          </a:ln>
        </p:spPr>
      </p:sp>
      <p:sp>
        <p:nvSpPr>
          <p:cNvPr id="11" name="Text 9"/>
          <p:cNvSpPr txBox="1"/>
          <p:nvPr/>
        </p:nvSpPr>
        <p:spPr>
          <a:xfrm>
            <a:off x="3977640" y="1792224"/>
            <a:ext cx="4709160" cy="448056"/>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Lesson 15  </a:t>
            </a:r>
            <a:pPr indent="0" marL="0">
              <a:buNone/>
            </a:pPr>
            <a:r>
              <a:rPr lang="en-US" sz="1250" dirty="0">
                <a:solidFill>
                  <a:srgbClr val="FFFFFF"/>
                </a:solidFill>
                <a:latin typeface="Calibri" pitchFamily="34" charset="0"/>
                <a:ea typeface="Calibri" pitchFamily="34" charset="-122"/>
                <a:cs typeface="Calibri" pitchFamily="34" charset="-120"/>
              </a:rPr>
              <a:t>The model chooses between two plugins</a:t>
            </a:r>
            <a:endParaRPr lang="en-US" sz="1250" dirty="0"/>
          </a:p>
        </p:txBody>
      </p:sp>
      <p:sp>
        <p:nvSpPr>
          <p:cNvPr id="12" name="Shape 10"/>
          <p:cNvSpPr/>
          <p:nvPr/>
        </p:nvSpPr>
        <p:spPr>
          <a:xfrm>
            <a:off x="457200" y="2350008"/>
            <a:ext cx="2926080" cy="448056"/>
          </a:xfrm>
          <a:prstGeom prst="roundRect">
            <a:avLst>
              <a:gd name="adj" fmla="val 16327"/>
            </a:avLst>
          </a:prstGeom>
          <a:solidFill>
            <a:srgbClr val="1F2943"/>
          </a:solidFill>
          <a:ln w="12700">
            <a:solidFill>
              <a:srgbClr val="1F2943"/>
            </a:solidFill>
            <a:prstDash val="solid"/>
          </a:ln>
        </p:spPr>
      </p:sp>
      <p:sp>
        <p:nvSpPr>
          <p:cNvPr id="13" name="Text 11"/>
          <p:cNvSpPr txBox="1"/>
          <p:nvPr/>
        </p:nvSpPr>
        <p:spPr>
          <a:xfrm>
            <a:off x="621792" y="2350008"/>
            <a:ext cx="2651760" cy="44805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The hidden reasoning loop</a:t>
            </a:r>
            <a:endParaRPr lang="en-US" sz="1300" dirty="0"/>
          </a:p>
        </p:txBody>
      </p:sp>
      <p:sp>
        <p:nvSpPr>
          <p:cNvPr id="14" name="Shape 12"/>
          <p:cNvSpPr/>
          <p:nvPr/>
        </p:nvSpPr>
        <p:spPr>
          <a:xfrm>
            <a:off x="3493008" y="2482596"/>
            <a:ext cx="329184" cy="182880"/>
          </a:xfrm>
          <a:prstGeom prst="rightArrow">
            <a:avLst/>
          </a:prstGeom>
          <a:solidFill>
            <a:srgbClr val="F5A623"/>
          </a:solidFill>
          <a:ln w="12700">
            <a:solidFill>
              <a:srgbClr val="F5A623"/>
            </a:solidFill>
            <a:prstDash val="solid"/>
          </a:ln>
        </p:spPr>
      </p:sp>
      <p:sp>
        <p:nvSpPr>
          <p:cNvPr id="15" name="Text 13"/>
          <p:cNvSpPr txBox="1"/>
          <p:nvPr/>
        </p:nvSpPr>
        <p:spPr>
          <a:xfrm>
            <a:off x="3977640" y="2350008"/>
            <a:ext cx="4709160" cy="448056"/>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Lesson 16  </a:t>
            </a:r>
            <a:pPr indent="0" marL="0">
              <a:buNone/>
            </a:pPr>
            <a:r>
              <a:rPr lang="en-US" sz="1250" dirty="0">
                <a:solidFill>
                  <a:srgbClr val="FFFFFF"/>
                </a:solidFill>
                <a:latin typeface="Calibri" pitchFamily="34" charset="0"/>
                <a:ea typeface="Calibri" pitchFamily="34" charset="-122"/>
                <a:cs typeface="Calibri" pitchFamily="34" charset="-120"/>
              </a:rPr>
              <a:t>The same loop rebuilt by hand (ReAct)</a:t>
            </a:r>
            <a:endParaRPr lang="en-US" sz="1250" dirty="0"/>
          </a:p>
        </p:txBody>
      </p:sp>
      <p:sp>
        <p:nvSpPr>
          <p:cNvPr id="16" name="Shape 14"/>
          <p:cNvSpPr/>
          <p:nvPr/>
        </p:nvSpPr>
        <p:spPr>
          <a:xfrm>
            <a:off x="457200" y="2907792"/>
            <a:ext cx="2926080" cy="448056"/>
          </a:xfrm>
          <a:prstGeom prst="roundRect">
            <a:avLst>
              <a:gd name="adj" fmla="val 16327"/>
            </a:avLst>
          </a:prstGeom>
          <a:solidFill>
            <a:srgbClr val="1F2943"/>
          </a:solidFill>
          <a:ln w="12700">
            <a:solidFill>
              <a:srgbClr val="1F2943"/>
            </a:solidFill>
            <a:prstDash val="solid"/>
          </a:ln>
        </p:spPr>
      </p:sp>
      <p:sp>
        <p:nvSpPr>
          <p:cNvPr id="17" name="Text 15"/>
          <p:cNvSpPr txBox="1"/>
          <p:nvPr/>
        </p:nvSpPr>
        <p:spPr>
          <a:xfrm>
            <a:off x="621792" y="2907792"/>
            <a:ext cx="2651760" cy="44805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Native functions</a:t>
            </a:r>
            <a:endParaRPr lang="en-US" sz="1300" dirty="0"/>
          </a:p>
        </p:txBody>
      </p:sp>
      <p:sp>
        <p:nvSpPr>
          <p:cNvPr id="18" name="Shape 16"/>
          <p:cNvSpPr/>
          <p:nvPr/>
        </p:nvSpPr>
        <p:spPr>
          <a:xfrm>
            <a:off x="3493008" y="3040380"/>
            <a:ext cx="329184" cy="182880"/>
          </a:xfrm>
          <a:prstGeom prst="rightArrow">
            <a:avLst/>
          </a:prstGeom>
          <a:solidFill>
            <a:srgbClr val="F5A623"/>
          </a:solidFill>
          <a:ln w="12700">
            <a:solidFill>
              <a:srgbClr val="F5A623"/>
            </a:solidFill>
            <a:prstDash val="solid"/>
          </a:ln>
        </p:spPr>
      </p:sp>
      <p:sp>
        <p:nvSpPr>
          <p:cNvPr id="19" name="Text 17"/>
          <p:cNvSpPr txBox="1"/>
          <p:nvPr/>
        </p:nvSpPr>
        <p:spPr>
          <a:xfrm>
            <a:off x="3977640" y="2907792"/>
            <a:ext cx="4709160" cy="448056"/>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Lesson 13  </a:t>
            </a:r>
            <a:pPr indent="0" marL="0">
              <a:buNone/>
            </a:pPr>
            <a:r>
              <a:rPr lang="en-US" sz="1250" dirty="0">
                <a:solidFill>
                  <a:srgbClr val="FFFFFF"/>
                </a:solidFill>
                <a:latin typeface="Calibri" pitchFamily="34" charset="0"/>
                <a:ea typeface="Calibri" pitchFamily="34" charset="-122"/>
                <a:cs typeface="Calibri" pitchFamily="34" charset="-120"/>
              </a:rPr>
              <a:t>Templates call C# functions while rendering</a:t>
            </a:r>
            <a:endParaRPr lang="en-US" sz="1250" dirty="0"/>
          </a:p>
        </p:txBody>
      </p:sp>
      <p:sp>
        <p:nvSpPr>
          <p:cNvPr id="20" name="Shape 18"/>
          <p:cNvSpPr/>
          <p:nvPr/>
        </p:nvSpPr>
        <p:spPr>
          <a:xfrm>
            <a:off x="457200" y="3465576"/>
            <a:ext cx="2926080" cy="448056"/>
          </a:xfrm>
          <a:prstGeom prst="roundRect">
            <a:avLst>
              <a:gd name="adj" fmla="val 16327"/>
            </a:avLst>
          </a:prstGeom>
          <a:solidFill>
            <a:srgbClr val="1F2943"/>
          </a:solidFill>
          <a:ln w="12700">
            <a:solidFill>
              <a:srgbClr val="1F2943"/>
            </a:solidFill>
            <a:prstDash val="solid"/>
          </a:ln>
        </p:spPr>
      </p:sp>
      <p:sp>
        <p:nvSpPr>
          <p:cNvPr id="21" name="Text 19"/>
          <p:cNvSpPr txBox="1"/>
          <p:nvPr/>
        </p:nvSpPr>
        <p:spPr>
          <a:xfrm>
            <a:off x="621792" y="3465576"/>
            <a:ext cx="2651760" cy="44805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Watching tool calls</a:t>
            </a:r>
            <a:endParaRPr lang="en-US" sz="1300" dirty="0"/>
          </a:p>
        </p:txBody>
      </p:sp>
      <p:sp>
        <p:nvSpPr>
          <p:cNvPr id="22" name="Shape 20"/>
          <p:cNvSpPr/>
          <p:nvPr/>
        </p:nvSpPr>
        <p:spPr>
          <a:xfrm>
            <a:off x="3493008" y="3598164"/>
            <a:ext cx="329184" cy="182880"/>
          </a:xfrm>
          <a:prstGeom prst="rightArrow">
            <a:avLst/>
          </a:prstGeom>
          <a:solidFill>
            <a:srgbClr val="F5A623"/>
          </a:solidFill>
          <a:ln w="12700">
            <a:solidFill>
              <a:srgbClr val="F5A623"/>
            </a:solidFill>
            <a:prstDash val="solid"/>
          </a:ln>
        </p:spPr>
      </p:sp>
      <p:sp>
        <p:nvSpPr>
          <p:cNvPr id="23" name="Text 21"/>
          <p:cNvSpPr txBox="1"/>
          <p:nvPr/>
        </p:nvSpPr>
        <p:spPr>
          <a:xfrm>
            <a:off x="3977640" y="3465576"/>
            <a:ext cx="4709160" cy="448056"/>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Lesson 22  </a:t>
            </a:r>
            <a:pPr indent="0" marL="0">
              <a:buNone/>
            </a:pPr>
            <a:r>
              <a:rPr lang="en-US" sz="1250" dirty="0">
                <a:solidFill>
                  <a:srgbClr val="FFFFFF"/>
                </a:solidFill>
                <a:latin typeface="Calibri" pitchFamily="34" charset="0"/>
                <a:ea typeface="Calibri" pitchFamily="34" charset="-122"/>
                <a:cs typeface="Calibri" pitchFamily="34" charset="-120"/>
              </a:rPr>
              <a:t>Function filters audit and time every call</a:t>
            </a:r>
            <a:endParaRPr lang="en-US" sz="1250" dirty="0"/>
          </a:p>
        </p:txBody>
      </p:sp>
      <p:sp>
        <p:nvSpPr>
          <p:cNvPr id="24" name="Text 22"/>
          <p:cNvSpPr txBox="1"/>
          <p:nvPr/>
        </p:nvSpPr>
        <p:spPr>
          <a:xfrm>
            <a:off x="457200" y="4224528"/>
            <a:ext cx="8229600" cy="320040"/>
          </a:xfrm>
          <a:prstGeom prst="rect">
            <a:avLst/>
          </a:prstGeom>
          <a:noFill/>
          <a:ln/>
        </p:spPr>
        <p:txBody>
          <a:bodyPr wrap="square" lIns="0" tIns="0" rIns="0" bIns="0" rtlCol="0" anchor="t"/>
          <a:lstStyle/>
          <a:p>
            <a:pPr indent="0" marL="0">
              <a:buNone/>
            </a:pPr>
            <a:r>
              <a:rPr lang="en-US" sz="1300" dirty="0">
                <a:solidFill>
                  <a:srgbClr val="B8B2E6"/>
                </a:solidFill>
                <a:latin typeface="Calibri" pitchFamily="34" charset="0"/>
                <a:ea typeface="Calibri" pitchFamily="34" charset="-122"/>
                <a:cs typeface="Calibri" pitchFamily="34" charset="-120"/>
              </a:rPr>
              <a:t>Ships in  </a:t>
            </a:r>
            <a:pPr indent="0" marL="0">
              <a:buNone/>
            </a:pPr>
            <a:r>
              <a:rPr lang="en-US" sz="1300" b="1" dirty="0">
                <a:solidFill>
                  <a:srgbClr val="FFFFFF"/>
                </a:solidFill>
                <a:latin typeface="Calibri" pitchFamily="34" charset="0"/>
                <a:ea typeface="Calibri" pitchFamily="34" charset="-122"/>
                <a:cs typeface="Calibri" pitchFamily="34" charset="-120"/>
              </a:rPr>
              <a:t>Part 1: Foundations &amp; Core Orchestration</a:t>
            </a:r>
            <a:endParaRPr lang="en-US" sz="1300" dirty="0"/>
          </a:p>
        </p:txBody>
      </p:sp>
      <p:sp>
        <p:nvSpPr>
          <p:cNvPr id="25" name="Text 23"/>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B8B2E6"/>
                </a:solidFill>
                <a:latin typeface="Calibri" pitchFamily="34" charset="0"/>
                <a:ea typeface="Calibri" pitchFamily="34" charset="-122"/>
                <a:cs typeface="Calibri" pitchFamily="34" charset="-120"/>
              </a:rPr>
              <a:t>Applied Agentic Orchestration with Semantic Kernel  ·  Lesson 4 — The Calculator</a:t>
            </a:r>
            <a:endParaRPr lang="en-US" sz="900" dirty="0"/>
          </a:p>
        </p:txBody>
      </p:sp>
      <p:sp>
        <p:nvSpPr>
          <p:cNvPr id="26" name="Text 24"/>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B8B2E6"/>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Lesson 4 — The Calculator</dc:title>
  <dc:subject>PptxGenJS Presentation</dc:subject>
  <dc:creator>Media Six LLC</dc:creator>
  <cp:lastModifiedBy>Media Six LLC</cp:lastModifiedBy>
  <cp:revision>1</cp:revision>
  <dcterms:created xsi:type="dcterms:W3CDTF">2026-10-21T23:26:05Z</dcterms:created>
  <dcterms:modified xsi:type="dcterms:W3CDTF">2026-10-21T23:26:05Z</dcterms:modified>
</cp:coreProperties>
</file>