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has three teams, Marketing, Engineering and Data Science, bid for shares of one fixed ten-thousand-dollar budget. They bid round after round, revising their asks based on how far over budget the total is and what everyone else asked for. No fixed protocol decides how many rounds it takes or who concedes. It closes a different gap than Lesson 34. Lesson 34 resolved an open discussion with no single right answer. This lesson resolves a genuine resource conflict, where the outcome is a concrete allocation of money that has to add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34 and this lesson look alike from a distance: several agents, no fixed turn order, and each model call isolated so one failure doesn't stop the run. That per-turn isolation pattern is reused here directly. But a debate has no scarce resource to divide and no numeric constraint that must be satisfied. A negotiation does. Lesson 34's moderator picked the next speaker and ran a fixed six turns. Here every team bids every round, and the loop runs until the asks add up to the budget or a round cap is reached. That changes what the coordinator has to do: it does arithmetic, not speaker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is the standard Part 2 setup. You need the .NET 10 SDK and a console project. The project references Microsoft.SemanticKernel and Microsoft.SemanticKernel.Connectors.OpenAI, both at version 1.78.0. The key comes from the OPENAI_API_KEY environment variable, and the program throws an InvalidOperationException at startup if it isn't set. The model is gpt-4.1-mini, registered with AddOpenAIChatCompletion, and every bid in every round is a single call to the chat completion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round follows the same five moves. First, every participant is shown the same market signal. On round one that just says no bids have been submitted yet. Second, BidNegotiator asks each team for a bid, one participant at a time, and gets back a Bid object with a requested amount and a one-sentence justification. Third, MarketCoordinator.CheckFit adds up the asks and compares the total to the budget. Fourth, if the total is at or under budget, the program prints the allocation and stops. Fifth, if not, it builds a new market signal that states the total, how far over budget it is, and every team's ask, and goes round again. MaxRounds is four; if the bids still don't fit on round four, the proportional rationing fallback takes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Participants never talk to each other. Each round, every one of them sees the same summary: the total ask versus the budget, how far over it is, and what everyone else asked for. Then each one decides independently whether and how much to concede. That shared, public signal is the negotiation. There is no side channel and no participant with the authority to just declare an allocation. The teams' instructions give them room to move: each is told roughly what would fully cover its need, five and a half thousand, six thousand and four and a half thousand, and that it can operate on less. Those needs add up to sixteen thousand on purpose, so there is always at least one round of real concessions, and every concession is the model's own judgment in response to the signal, not a scripted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has two ways out. The one we hope for is organic agreement: CheckFit finds the total at or under budget, and every team simply gets what it asked for. The other is the fallback. Real negotiations don't always converge, so if the round cap is reached without a fit, MarketCoordinator.FinalizeProportional scales every bid down by the same ratio, budget divided by total. That is proportional rationing under excess demand, a real market mechanism rather than an arbitrary tie-break. One detail matters: rounding each share to cents independently can drift the sum a cent or two away from the budget, so every share except the last is rounded normally and the last team gets whatever remains. The numbers on the right are a worked example I calculated by hand, not program output: if asks of four thousand, forty-five hundred and three thousand were still on the table at the cap, the shares would come out to 3478.26, 3913.04 and 2608.70, which add up to exactly ten thousand.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round makes one call per participant, and the lesson's own live testing hit plenty of dropped calls from provider-side load. A single dropped call shouldn't force the negotiation to restart. So each SubmitBidAsync call sits in its own try/catch. On failure, the program prints a WARN line and reuses that team's last known bid, exactly like a real bidder who didn't get a chance to revise this time. The lastKnownBids dictionary is seeded with a zero-dollar placeholder for every team before round one, because on round one there is no real previous bid to fall back to, and the seed must be a value that can't be mistaken for a legitimate ask. Finally, bids are collected one at a time with a plain foreach and await, not Task.WhenAll. A sealed-bid round doesn't need true simultaneity to be fair: what matters is that no team sees another's bid this round before submitting, and that holds because every bid is generated from the previous round's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This is the clean run from the lesson text, trimmed to fit the slide: two long justifications are cut short, Round 3's three lines are condensed onto one, and the three allocation lines onto one. Round one opens at the teams' full needs, sixteen thousand against a ten-thousand budget. After seeing the signal, every team concedes in round two, to eleven and a half thousand. In round three the asks land on exactly ten thousand, CheckFit passes, and the allocation prints as requested. Your exact numbers, justifications and number of rounds will differ, and that is the point of not having a fixed protocol. If a run reaches round four without a fit, you'll see the no-organic-consensus line and a FINAL ALLOCATION from proportional rationing instead. And if a bid call fails, you'll see a WARN line and that team's previous bid carried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Add a fourth NegotiationParticipant, a Legal team that needs about twenty-five hundred dollars and can operate on less. Total demand now sits even further over budget, so watch whether the negotiation needs more rounds or ends in rationing more often. Then keep each team's round-one ask, and when the loop ends, print how much each team conceded from it. Check that the market signal now lists four asks, and that whichever exit the loop takes, the allocation never exceeds ten thousand dollars. Notice that MarketCoordinator needs no changes at all: it works over any number of bids.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three teams negotiated a fixed budget through a shared market signal, returning structured JSON bids, while plain C# did the arithmetic and supplied a proportional-rationing fallback at the round cap. Each bid was isolated so one dropped call couldn't sink a round. Lesson 36 reuses the bounded loop with a clear exit and makes one string of feedback the only thing the Planner gets back, this time an execution failure. Lesson 37 keeps rules that can be checked in code in code, with regex guardrail filters. The planned Lesson 40 takes the idea of agents that never call each other further, with an event bus between them, and the planned Lesson 42 goes beyond surviving one failed call to resuming a whole run after a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35  ·  PART 2</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3200" b="1" dirty="0">
                <a:solidFill>
                  <a:srgbClr val="FFFFFF"/>
                </a:solidFill>
                <a:latin typeface="Cambria" pitchFamily="34" charset="0"/>
                <a:ea typeface="Cambria" pitchFamily="34" charset="-122"/>
                <a:cs typeface="Cambria" pitchFamily="34" charset="-120"/>
              </a:rPr>
              <a:t>Negotiation &amp; Market-Based Coordination</a:t>
            </a:r>
            <a:endParaRPr lang="en-US" sz="32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Three teams bid for one fixed budget until the numbers add up</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$10000 budget, 3 teams</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an allocation that fits</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Coordinate agents through a shared market signal</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Collect structured JSON bids with ResponseFormat</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Keep budget arithmetic in plain C#, not the model</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Fall back to proportional rationing at the round cap</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Isolate each bid so one failed call can't sink a round</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35 — Market Negotiation</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450" b="1" dirty="0">
                <a:solidFill>
                  <a:srgbClr val="1F2937"/>
                </a:solidFill>
                <a:latin typeface="Cambria" pitchFamily="34" charset="0"/>
                <a:ea typeface="Cambria" pitchFamily="34" charset="-122"/>
                <a:cs typeface="Cambria" pitchFamily="34" charset="-120"/>
              </a:rPr>
              <a:t>Same scaffolding as Lesson 34, a different problem</a:t>
            </a:r>
            <a:endParaRPr lang="en-US" sz="2450" dirty="0"/>
          </a:p>
        </p:txBody>
      </p:sp>
      <p:sp>
        <p:nvSpPr>
          <p:cNvPr id="4" name="Shape 2"/>
          <p:cNvSpPr/>
          <p:nvPr/>
        </p:nvSpPr>
        <p:spPr>
          <a:xfrm>
            <a:off x="457200" y="1371600"/>
            <a:ext cx="3931920" cy="1920240"/>
          </a:xfrm>
          <a:prstGeom prst="roundRect">
            <a:avLst>
              <a:gd name="adj" fmla="val 381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34: debate</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moderator picks who speaks next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Open discussion, no right answer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Runs a fixed number of turns</a:t>
            </a:r>
            <a:endParaRPr lang="en-US" sz="1300" dirty="0"/>
          </a:p>
        </p:txBody>
      </p:sp>
      <p:sp>
        <p:nvSpPr>
          <p:cNvPr id="9" name="Shape 6"/>
          <p:cNvSpPr/>
          <p:nvPr/>
        </p:nvSpPr>
        <p:spPr>
          <a:xfrm>
            <a:off x="4754880" y="1371600"/>
            <a:ext cx="39319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35: negotiation</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Every team bids each round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scarce budget that must add up</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Runs until the bids fit, or the cap</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coordinator's job changes from picking a speaker to doing arithmetic.</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35 — Market Negotiation</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.NET 10 SDK</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console app targeting net10.0, opened as MarketNegotiation.slnx in Visual Studio 2026.</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NuGet packages</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Microsoft.SemanticKernel.Connectors.OpenAI, both version 1.78.0.</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The app throws at startup if it is missing.</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gpt-4.1-mini</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Registered with AddOpenAIChatCompletion; every bid is one chat call.</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35 — Market Negotiation</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ONE ROUND</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One bidding round, from signal to verdict</a:t>
            </a:r>
            <a:endParaRPr lang="en-US" sz="2800" dirty="0"/>
          </a:p>
        </p:txBody>
      </p:sp>
      <p:sp>
        <p:nvSpPr>
          <p:cNvPr id="4" name="Shape 2"/>
          <p:cNvSpPr/>
          <p:nvPr/>
        </p:nvSpPr>
        <p:spPr>
          <a:xfrm>
            <a:off x="457200" y="1417320"/>
            <a:ext cx="1367942" cy="2185416"/>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Signal</a:t>
            </a:r>
            <a:endParaRPr lang="en-US" sz="1300" dirty="0"/>
          </a:p>
        </p:txBody>
      </p:sp>
      <p:sp>
        <p:nvSpPr>
          <p:cNvPr id="8" name="Text 5"/>
          <p:cNvSpPr txBox="1"/>
          <p:nvPr/>
        </p:nvSpPr>
        <p:spPr>
          <a:xfrm>
            <a:off x="640080"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Everyone sees the same market summary.</a:t>
            </a:r>
            <a:endParaRPr lang="en-US" sz="1200" dirty="0"/>
          </a:p>
        </p:txBody>
      </p:sp>
      <p:sp>
        <p:nvSpPr>
          <p:cNvPr id="9" name="Shape 6"/>
          <p:cNvSpPr/>
          <p:nvPr/>
        </p:nvSpPr>
        <p:spPr>
          <a:xfrm>
            <a:off x="1889150"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2185416"/>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Bid</a:t>
            </a:r>
            <a:endParaRPr lang="en-US" sz="1300" dirty="0"/>
          </a:p>
        </p:txBody>
      </p:sp>
      <p:sp>
        <p:nvSpPr>
          <p:cNvPr id="14" name="Text 10"/>
          <p:cNvSpPr txBox="1"/>
          <p:nvPr/>
        </p:nvSpPr>
        <p:spPr>
          <a:xfrm>
            <a:off x="2355494"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Each team returns a JSON Bid, one by one.</a:t>
            </a:r>
            <a:endParaRPr lang="en-US" sz="1200" dirty="0"/>
          </a:p>
        </p:txBody>
      </p:sp>
      <p:sp>
        <p:nvSpPr>
          <p:cNvPr id="15" name="Shape 11"/>
          <p:cNvSpPr/>
          <p:nvPr/>
        </p:nvSpPr>
        <p:spPr>
          <a:xfrm>
            <a:off x="3604565"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2185416"/>
          </a:xfrm>
          <a:prstGeom prst="roundRect">
            <a:avLst>
              <a:gd name="adj" fmla="val 5348"/>
            </a:avLst>
          </a:prstGeom>
          <a:solidFill>
            <a:srgbClr val="512BD4"/>
          </a:solidFill>
          <a:ln w="12700">
            <a:solidFill>
              <a:srgbClr val="512BD4"/>
            </a:solidFill>
            <a:prstDash val="solid"/>
          </a:ln>
        </p:spPr>
      </p:sp>
      <p:sp>
        <p:nvSpPr>
          <p:cNvPr id="17" name="Shape 13"/>
          <p:cNvSpPr/>
          <p:nvPr/>
        </p:nvSpPr>
        <p:spPr>
          <a:xfrm>
            <a:off x="4070909"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CheckFit</a:t>
            </a:r>
            <a:endParaRPr lang="en-US" sz="1300" dirty="0"/>
          </a:p>
        </p:txBody>
      </p:sp>
      <p:sp>
        <p:nvSpPr>
          <p:cNvPr id="20" name="Text 15"/>
          <p:cNvSpPr txBox="1"/>
          <p:nvPr/>
        </p:nvSpPr>
        <p:spPr>
          <a:xfrm>
            <a:off x="4070909" y="2606040"/>
            <a:ext cx="1047902"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Sum the asks and compare to the budget.</a:t>
            </a:r>
            <a:endParaRPr lang="en-US" sz="1200" dirty="0"/>
          </a:p>
        </p:txBody>
      </p:sp>
      <p:sp>
        <p:nvSpPr>
          <p:cNvPr id="21" name="Shape 16"/>
          <p:cNvSpPr/>
          <p:nvPr/>
        </p:nvSpPr>
        <p:spPr>
          <a:xfrm>
            <a:off x="5319979"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2185416"/>
          </a:xfrm>
          <a:prstGeom prst="roundRect">
            <a:avLst>
              <a:gd name="adj" fmla="val 5348"/>
            </a:avLst>
          </a:prstGeom>
          <a:solidFill>
            <a:srgbClr val="EFEBFC"/>
          </a:solidFill>
          <a:ln w="12700">
            <a:solidFill>
              <a:srgbClr val="EFEBFC"/>
            </a:solidFill>
            <a:prstDash val="solid"/>
          </a:ln>
        </p:spPr>
      </p:sp>
      <p:sp>
        <p:nvSpPr>
          <p:cNvPr id="23" name="Shape 18"/>
          <p:cNvSpPr/>
          <p:nvPr/>
        </p:nvSpPr>
        <p:spPr>
          <a:xfrm>
            <a:off x="5786323"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Fits?</a:t>
            </a:r>
            <a:endParaRPr lang="en-US" sz="1300" dirty="0"/>
          </a:p>
        </p:txBody>
      </p:sp>
      <p:sp>
        <p:nvSpPr>
          <p:cNvPr id="26" name="Text 20"/>
          <p:cNvSpPr txBox="1"/>
          <p:nvPr/>
        </p:nvSpPr>
        <p:spPr>
          <a:xfrm>
            <a:off x="5786323"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Yes: print the allocation and stop.</a:t>
            </a:r>
            <a:endParaRPr lang="en-US" sz="1200" dirty="0"/>
          </a:p>
        </p:txBody>
      </p:sp>
      <p:sp>
        <p:nvSpPr>
          <p:cNvPr id="27" name="Shape 21"/>
          <p:cNvSpPr/>
          <p:nvPr/>
        </p:nvSpPr>
        <p:spPr>
          <a:xfrm>
            <a:off x="7035394" y="2400300"/>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2185416"/>
          </a:xfrm>
          <a:prstGeom prst="roundRect">
            <a:avLst>
              <a:gd name="adj" fmla="val 5348"/>
            </a:avLst>
          </a:prstGeom>
          <a:solidFill>
            <a:srgbClr val="EFEBFC"/>
          </a:solidFill>
          <a:ln w="12700">
            <a:solidFill>
              <a:srgbClr val="EFEBFC"/>
            </a:solidFill>
            <a:prstDash val="solid"/>
          </a:ln>
        </p:spPr>
      </p:sp>
      <p:sp>
        <p:nvSpPr>
          <p:cNvPr id="29" name="Shape 23"/>
          <p:cNvSpPr/>
          <p:nvPr/>
        </p:nvSpPr>
        <p:spPr>
          <a:xfrm>
            <a:off x="7501738" y="1618488"/>
            <a:ext cx="457200" cy="457200"/>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Revise</a:t>
            </a:r>
            <a:endParaRPr lang="en-US" sz="1300" dirty="0"/>
          </a:p>
        </p:txBody>
      </p:sp>
      <p:sp>
        <p:nvSpPr>
          <p:cNvPr id="32" name="Text 25"/>
          <p:cNvSpPr txBox="1"/>
          <p:nvPr/>
        </p:nvSpPr>
        <p:spPr>
          <a:xfrm>
            <a:off x="7501738"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 build a new signal for the next round.</a:t>
            </a:r>
            <a:endParaRPr lang="en-US" sz="1200" dirty="0"/>
          </a:p>
        </p:txBody>
      </p:sp>
      <p:sp>
        <p:nvSpPr>
          <p:cNvPr id="33" name="Text 26"/>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Up to four rounds; at the cap, proportional rationing decides.</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35 — Market Negotiation</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450" b="1" dirty="0">
                <a:solidFill>
                  <a:srgbClr val="1F2937"/>
                </a:solidFill>
                <a:latin typeface="Cambria" pitchFamily="34" charset="0"/>
                <a:ea typeface="Cambria" pitchFamily="34" charset="-122"/>
                <a:cs typeface="Cambria" pitchFamily="34" charset="-120"/>
              </a:rPr>
              <a:t>The market signal is the only coordination channel</a:t>
            </a:r>
            <a:endParaRPr lang="en-US" sz="245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Market signal</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One public summary per round. Teams never talk to each other directly.</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Total vs budget</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total requested and how far it exceeds the $10000 budget.</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Everyone's asks</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Every team's ask from the last round, listed by name.</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Pressure</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Revise your ask down; holding firm will not be respected.</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Each team decides on its own how much to concede.</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35 — Market Negotiation</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TWO EXITS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Organic agreement, or proportional rationing</a:t>
            </a:r>
            <a:endParaRPr lang="en-US" sz="2800" dirty="0"/>
          </a:p>
        </p:txBody>
      </p:sp>
      <p:sp>
        <p:nvSpPr>
          <p:cNvPr id="4" name="Shape 2"/>
          <p:cNvSpPr/>
          <p:nvPr/>
        </p:nvSpPr>
        <p:spPr>
          <a:xfrm>
            <a:off x="457200" y="1371600"/>
            <a:ext cx="3931920" cy="2331720"/>
          </a:xfrm>
          <a:prstGeom prst="roundRect">
            <a:avLst>
              <a:gd name="adj" fmla="val 3137"/>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Bids fit the budget</a:t>
            </a:r>
            <a:endParaRPr lang="en-US" sz="1700" dirty="0"/>
          </a:p>
        </p:txBody>
      </p:sp>
      <p:sp>
        <p:nvSpPr>
          <p:cNvPr id="8" name="Text 5"/>
          <p:cNvSpPr txBox="1"/>
          <p:nvPr/>
        </p:nvSpPr>
        <p:spPr>
          <a:xfrm>
            <a:off x="68580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CheckFit: total &lt;= budget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Each team gets exactly its ask</a:t>
            </a:r>
            <a:endParaRPr lang="en-US" sz="1300" dirty="0"/>
          </a:p>
        </p:txBody>
      </p:sp>
      <p:sp>
        <p:nvSpPr>
          <p:cNvPr id="9" name="Shape 6"/>
          <p:cNvSpPr/>
          <p:nvPr/>
        </p:nvSpPr>
        <p:spPr>
          <a:xfrm>
            <a:off x="685800" y="2907792"/>
            <a:ext cx="3474720" cy="594360"/>
          </a:xfrm>
          <a:prstGeom prst="roundRect">
            <a:avLst>
              <a:gd name="adj" fmla="val 12308"/>
            </a:avLst>
          </a:prstGeom>
          <a:solidFill>
            <a:srgbClr val="0F1420"/>
          </a:solidFill>
          <a:ln w="12700">
            <a:solidFill>
              <a:srgbClr val="0F1420"/>
            </a:solidFill>
            <a:prstDash val="solid"/>
          </a:ln>
        </p:spPr>
      </p:sp>
      <p:sp>
        <p:nvSpPr>
          <p:cNvPr id="10" name="Text 7"/>
          <p:cNvSpPr txBox="1"/>
          <p:nvPr/>
        </p:nvSpPr>
        <p:spPr>
          <a:xfrm>
            <a:off x="868680" y="3044952"/>
            <a:ext cx="3108960" cy="32004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 ALLOCATION (bids fit the</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budget as requested) ---</a:t>
            </a:r>
            <a:endParaRPr lang="en-US" sz="1100" dirty="0"/>
          </a:p>
        </p:txBody>
      </p:sp>
      <p:sp>
        <p:nvSpPr>
          <p:cNvPr id="11" name="Shape 8"/>
          <p:cNvSpPr/>
          <p:nvPr/>
        </p:nvSpPr>
        <p:spPr>
          <a:xfrm>
            <a:off x="4754880" y="1371600"/>
            <a:ext cx="3931920" cy="2331720"/>
          </a:xfrm>
          <a:prstGeom prst="roundRect">
            <a:avLst>
              <a:gd name="adj" fmla="val 3137"/>
            </a:avLst>
          </a:prstGeom>
          <a:solidFill>
            <a:srgbClr val="F6F4FE"/>
          </a:solidFill>
          <a:ln w="12700">
            <a:solidFill>
              <a:srgbClr val="F6F4FE"/>
            </a:solidFill>
            <a:prstDash val="solid"/>
          </a:ln>
        </p:spPr>
      </p:sp>
      <p:sp>
        <p:nvSpPr>
          <p:cNvPr id="12" name="Shape 9"/>
          <p:cNvSpPr/>
          <p:nvPr/>
        </p:nvSpPr>
        <p:spPr>
          <a:xfrm>
            <a:off x="4983480" y="1600200"/>
            <a:ext cx="438912" cy="438912"/>
          </a:xfrm>
          <a:prstGeom prst="ellipse">
            <a:avLst/>
          </a:prstGeom>
          <a:solidFill>
            <a:srgbClr val="512BD4"/>
          </a:solidFill>
          <a:ln w="12700">
            <a:solidFill>
              <a:srgbClr val="512BD4"/>
            </a:solidFill>
            <a:prstDash val="solid"/>
          </a:ln>
        </p:spPr>
      </p:sp>
      <p:pic>
        <p:nvPicPr>
          <p:cNvPr id="13"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4" name="Text 10"/>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Round cap reached</a:t>
            </a:r>
            <a:endParaRPr lang="en-US" sz="1700" dirty="0"/>
          </a:p>
        </p:txBody>
      </p:sp>
      <p:sp>
        <p:nvSpPr>
          <p:cNvPr id="15" name="Text 11"/>
          <p:cNvSpPr txBox="1"/>
          <p:nvPr/>
        </p:nvSpPr>
        <p:spPr>
          <a:xfrm>
            <a:off x="498348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Scale every ask by budget / total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Last team takes the remainder</a:t>
            </a:r>
            <a:endParaRPr lang="en-US" sz="1300" dirty="0"/>
          </a:p>
        </p:txBody>
      </p:sp>
      <p:sp>
        <p:nvSpPr>
          <p:cNvPr id="16" name="Shape 12"/>
          <p:cNvSpPr/>
          <p:nvPr/>
        </p:nvSpPr>
        <p:spPr>
          <a:xfrm>
            <a:off x="4983480" y="2907792"/>
            <a:ext cx="3474720" cy="594360"/>
          </a:xfrm>
          <a:prstGeom prst="roundRect">
            <a:avLst>
              <a:gd name="adj" fmla="val 12308"/>
            </a:avLst>
          </a:prstGeom>
          <a:solidFill>
            <a:srgbClr val="0F1420"/>
          </a:solidFill>
          <a:ln w="12700">
            <a:solidFill>
              <a:srgbClr val="0F1420"/>
            </a:solidFill>
            <a:prstDash val="solid"/>
          </a:ln>
        </p:spPr>
      </p:sp>
      <p:sp>
        <p:nvSpPr>
          <p:cNvPr id="17" name="Text 13"/>
          <p:cNvSpPr txBox="1"/>
          <p:nvPr/>
        </p:nvSpPr>
        <p:spPr>
          <a:xfrm>
            <a:off x="5166360" y="3044952"/>
            <a:ext cx="3108960" cy="32004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Worked example, asks 4000/4500/3000:</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3478.26+3913.04+2608.70 = 10000</a:t>
            </a:r>
            <a:endParaRPr lang="en-US" sz="1100" dirty="0"/>
          </a:p>
        </p:txBody>
      </p:sp>
      <p:sp>
        <p:nvSpPr>
          <p:cNvPr id="18" name="Text 14"/>
          <p:cNvSpPr txBox="1"/>
          <p:nvPr/>
        </p:nvSpPr>
        <p:spPr>
          <a:xfrm>
            <a:off x="457200" y="39776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worked example is hand arithmetic, not program output.</a:t>
            </a:r>
            <a:endParaRPr lang="en-US" sz="1400" dirty="0"/>
          </a:p>
        </p:txBody>
      </p:sp>
      <p:sp>
        <p:nvSpPr>
          <p:cNvPr id="19"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35 — Market Negotiation</a:t>
            </a:r>
            <a:endParaRPr lang="en-US" sz="900" dirty="0"/>
          </a:p>
        </p:txBody>
      </p:sp>
      <p:sp>
        <p:nvSpPr>
          <p:cNvPr id="20"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ROBUSTNESS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450" b="1" dirty="0">
                <a:solidFill>
                  <a:srgbClr val="1F2937"/>
                </a:solidFill>
                <a:latin typeface="Cambria" pitchFamily="34" charset="0"/>
                <a:ea typeface="Cambria" pitchFamily="34" charset="-122"/>
                <a:cs typeface="Cambria" pitchFamily="34" charset="-120"/>
              </a:rPr>
              <a:t>One dropped call shouldn't restart the negotiation</a:t>
            </a:r>
            <a:endParaRPr lang="en-US" sz="2450" dirty="0"/>
          </a:p>
        </p:txBody>
      </p:sp>
      <p:sp>
        <p:nvSpPr>
          <p:cNvPr id="4" name="Shape 2"/>
          <p:cNvSpPr/>
          <p:nvPr/>
        </p:nvSpPr>
        <p:spPr>
          <a:xfrm>
            <a:off x="457200" y="1371600"/>
            <a:ext cx="1851660" cy="1645920"/>
          </a:xfrm>
          <a:prstGeom prst="roundRect">
            <a:avLst>
              <a:gd name="adj" fmla="val 4444"/>
            </a:avLst>
          </a:prstGeom>
          <a:solidFill>
            <a:srgbClr val="512BD4"/>
          </a:solidFill>
          <a:ln w="12700">
            <a:solidFill>
              <a:srgbClr val="512BD4"/>
            </a:solidFill>
            <a:prstDash val="solid"/>
          </a:ln>
        </p:spPr>
      </p:sp>
      <p:sp>
        <p:nvSpPr>
          <p:cNvPr id="5" name="Shape 3"/>
          <p:cNvSpPr/>
          <p:nvPr/>
        </p:nvSpPr>
        <p:spPr>
          <a:xfrm>
            <a:off x="640080" y="1554480"/>
            <a:ext cx="384048" cy="384048"/>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try/catch</a:t>
            </a:r>
            <a:endParaRPr lang="en-US" sz="1300" dirty="0"/>
          </a:p>
        </p:txBody>
      </p:sp>
      <p:sp>
        <p:nvSpPr>
          <p:cNvPr id="8" name="Text 5"/>
          <p:cNvSpPr txBox="1"/>
          <p:nvPr/>
        </p:nvSpPr>
        <p:spPr>
          <a:xfrm>
            <a:off x="640080" y="2057400"/>
            <a:ext cx="1485900" cy="8686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Wraps each bid call; a failure prints a [WARN] line.</a:t>
            </a:r>
            <a:endParaRPr lang="en-US" sz="1200" dirty="0"/>
          </a:p>
        </p:txBody>
      </p:sp>
      <p:sp>
        <p:nvSpPr>
          <p:cNvPr id="9" name="Shape 6"/>
          <p:cNvSpPr/>
          <p:nvPr/>
        </p:nvSpPr>
        <p:spPr>
          <a:xfrm>
            <a:off x="2583180" y="1371600"/>
            <a:ext cx="1851660" cy="1645920"/>
          </a:xfrm>
          <a:prstGeom prst="roundRect">
            <a:avLst>
              <a:gd name="adj" fmla="val 4444"/>
            </a:avLst>
          </a:prstGeom>
          <a:solidFill>
            <a:srgbClr val="EFEBFC"/>
          </a:solidFill>
          <a:ln w="12700">
            <a:solidFill>
              <a:srgbClr val="EFEBFC"/>
            </a:solidFill>
            <a:prstDash val="solid"/>
          </a:ln>
        </p:spPr>
      </p:sp>
      <p:sp>
        <p:nvSpPr>
          <p:cNvPr id="10" name="Shape 7"/>
          <p:cNvSpPr/>
          <p:nvPr/>
        </p:nvSpPr>
        <p:spPr>
          <a:xfrm>
            <a:off x="276606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2865912" y="1654332"/>
            <a:ext cx="184343" cy="184343"/>
          </a:xfrm>
          <a:prstGeom prst="rect">
            <a:avLst/>
          </a:prstGeom>
        </p:spPr>
      </p:pic>
      <p:sp>
        <p:nvSpPr>
          <p:cNvPr id="12" name="Text 8"/>
          <p:cNvSpPr txBox="1"/>
          <p:nvPr/>
        </p:nvSpPr>
        <p:spPr>
          <a:xfrm>
            <a:off x="326898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Carry forward</a:t>
            </a:r>
            <a:endParaRPr lang="en-US" sz="1300" dirty="0"/>
          </a:p>
        </p:txBody>
      </p:sp>
      <p:sp>
        <p:nvSpPr>
          <p:cNvPr id="13" name="Text 9"/>
          <p:cNvSpPr txBox="1"/>
          <p:nvPr/>
        </p:nvSpPr>
        <p:spPr>
          <a:xfrm>
            <a:off x="2766060" y="2057400"/>
            <a:ext cx="1485900" cy="8686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team's last known bid stands in for this round.</a:t>
            </a:r>
            <a:endParaRPr lang="en-US" sz="1200" dirty="0"/>
          </a:p>
        </p:txBody>
      </p:sp>
      <p:sp>
        <p:nvSpPr>
          <p:cNvPr id="14" name="Shape 10"/>
          <p:cNvSpPr/>
          <p:nvPr/>
        </p:nvSpPr>
        <p:spPr>
          <a:xfrm>
            <a:off x="4709160" y="1371600"/>
            <a:ext cx="1851660" cy="1645920"/>
          </a:xfrm>
          <a:prstGeom prst="roundRect">
            <a:avLst>
              <a:gd name="adj" fmla="val 4444"/>
            </a:avLst>
          </a:prstGeom>
          <a:solidFill>
            <a:srgbClr val="EFEBFC"/>
          </a:solidFill>
          <a:ln w="12700">
            <a:solidFill>
              <a:srgbClr val="EFEBFC"/>
            </a:solidFill>
            <a:prstDash val="solid"/>
          </a:ln>
        </p:spPr>
      </p:sp>
      <p:sp>
        <p:nvSpPr>
          <p:cNvPr id="15" name="Shape 11"/>
          <p:cNvSpPr/>
          <p:nvPr/>
        </p:nvSpPr>
        <p:spPr>
          <a:xfrm>
            <a:off x="489204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4991892" y="1654332"/>
            <a:ext cx="184343" cy="184343"/>
          </a:xfrm>
          <a:prstGeom prst="rect">
            <a:avLst/>
          </a:prstGeom>
        </p:spPr>
      </p:pic>
      <p:sp>
        <p:nvSpPr>
          <p:cNvPr id="17" name="Text 12"/>
          <p:cNvSpPr txBox="1"/>
          <p:nvPr/>
        </p:nvSpPr>
        <p:spPr>
          <a:xfrm>
            <a:off x="539496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$0 seed</a:t>
            </a:r>
            <a:endParaRPr lang="en-US" sz="1300" dirty="0"/>
          </a:p>
        </p:txBody>
      </p:sp>
      <p:sp>
        <p:nvSpPr>
          <p:cNvPr id="18" name="Text 13"/>
          <p:cNvSpPr txBox="1"/>
          <p:nvPr/>
        </p:nvSpPr>
        <p:spPr>
          <a:xfrm>
            <a:off x="4892040" y="2057400"/>
            <a:ext cx="1485900" cy="8686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lastKnownBids starts at $0, so round 1 has a fallback too.</a:t>
            </a:r>
            <a:endParaRPr lang="en-US" sz="1200" dirty="0"/>
          </a:p>
        </p:txBody>
      </p:sp>
      <p:sp>
        <p:nvSpPr>
          <p:cNvPr id="19" name="Shape 14"/>
          <p:cNvSpPr/>
          <p:nvPr/>
        </p:nvSpPr>
        <p:spPr>
          <a:xfrm>
            <a:off x="6835140" y="1371600"/>
            <a:ext cx="1851660" cy="1645920"/>
          </a:xfrm>
          <a:prstGeom prst="roundRect">
            <a:avLst>
              <a:gd name="adj" fmla="val 4444"/>
            </a:avLst>
          </a:prstGeom>
          <a:solidFill>
            <a:srgbClr val="EFEBFC"/>
          </a:solidFill>
          <a:ln w="12700">
            <a:solidFill>
              <a:srgbClr val="EFEBFC"/>
            </a:solidFill>
            <a:prstDash val="solid"/>
          </a:ln>
        </p:spPr>
      </p:sp>
      <p:sp>
        <p:nvSpPr>
          <p:cNvPr id="20" name="Shape 15"/>
          <p:cNvSpPr/>
          <p:nvPr/>
        </p:nvSpPr>
        <p:spPr>
          <a:xfrm>
            <a:off x="7018020" y="155448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117872" y="1654332"/>
            <a:ext cx="184343" cy="184343"/>
          </a:xfrm>
          <a:prstGeom prst="rect">
            <a:avLst/>
          </a:prstGeom>
        </p:spPr>
      </p:pic>
      <p:sp>
        <p:nvSpPr>
          <p:cNvPr id="22" name="Text 16"/>
          <p:cNvSpPr txBox="1"/>
          <p:nvPr/>
        </p:nvSpPr>
        <p:spPr>
          <a:xfrm>
            <a:off x="752094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Sealed bids</a:t>
            </a:r>
            <a:endParaRPr lang="en-US" sz="1300" dirty="0"/>
          </a:p>
        </p:txBody>
      </p:sp>
      <p:sp>
        <p:nvSpPr>
          <p:cNvPr id="23" name="Text 17"/>
          <p:cNvSpPr txBox="1"/>
          <p:nvPr/>
        </p:nvSpPr>
        <p:spPr>
          <a:xfrm>
            <a:off x="7018020" y="2057400"/>
            <a:ext cx="1485900" cy="8686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Bids run one by one, but all read last round's signal.</a:t>
            </a:r>
            <a:endParaRPr lang="en-US" sz="1200" dirty="0"/>
          </a:p>
        </p:txBody>
      </p:sp>
      <p:sp>
        <p:nvSpPr>
          <p:cNvPr id="24" name="Text 18"/>
          <p:cNvSpPr txBox="1"/>
          <p:nvPr/>
        </p:nvSpPr>
        <p:spPr>
          <a:xfrm>
            <a:off x="457200" y="32461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Every failure path ends in a usable bid, never a crash.</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35 — Market Negotiation</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the total falls until it fits</a:t>
            </a:r>
            <a:endParaRPr lang="en-US" sz="2800" dirty="0"/>
          </a:p>
        </p:txBody>
      </p:sp>
      <p:sp>
        <p:nvSpPr>
          <p:cNvPr id="4" name="Shape 2"/>
          <p:cNvSpPr/>
          <p:nvPr/>
        </p:nvSpPr>
        <p:spPr>
          <a:xfrm>
            <a:off x="457200" y="1325880"/>
            <a:ext cx="8229600" cy="2788920"/>
          </a:xfrm>
          <a:prstGeom prst="roundRect">
            <a:avLst>
              <a:gd name="adj" fmla="val 2623"/>
            </a:avLst>
          </a:prstGeom>
          <a:solidFill>
            <a:srgbClr val="0F1420"/>
          </a:solidFill>
          <a:ln w="12700">
            <a:solidFill>
              <a:srgbClr val="0F1420"/>
            </a:solidFill>
            <a:prstDash val="solid"/>
          </a:ln>
        </p:spPr>
      </p:sp>
      <p:sp>
        <p:nvSpPr>
          <p:cNvPr id="5" name="Text 3"/>
          <p:cNvSpPr txBox="1"/>
          <p:nvPr/>
        </p:nvSpPr>
        <p:spPr>
          <a:xfrm>
            <a:off x="640080" y="1463040"/>
            <a:ext cx="7863840" cy="251460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TOTAL BUDGET: $10000</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Round 1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Marketing: $5500 - Full funding needed for a high-impact product launch campaign.</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Engineering: $6000 - New build servers are critical for development velocity.</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DataScience: $4500 - GPU cluster upgrade required for competitive model training times.</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  Total requested: $16000 (budget: $10000)</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Round 2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Marketing: $4000 - Reduced scope campaign still covers the core launch activities.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Engineering: $4500 - Scaled back server order while still addressing the most urgent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DataScience: $3000 - A smaller GPU allocation can still meaningfully accelerate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  Total requested: $11500 (budget: $10000)</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Round 3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Marketing: $3500 / Engineering: $4000 / DataScience: $2500  (justifications omitted)</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  Total requested: $10000 (budget: $10000)</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ALLOCATION (bids fit the budget as requested)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Marketing: $3500   Engineering: $4000   DataScience: $2500</a:t>
            </a:r>
            <a:endParaRPr lang="en-US" sz="1000" dirty="0"/>
          </a:p>
        </p:txBody>
      </p:sp>
      <p:sp>
        <p:nvSpPr>
          <p:cNvPr id="6" name="Text 4"/>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35 — Market Negotiation</a:t>
            </a:r>
            <a:endParaRPr lang="en-US" sz="900" dirty="0"/>
          </a:p>
        </p:txBody>
      </p:sp>
      <p:sp>
        <p:nvSpPr>
          <p:cNvPr id="7" name="Text 5"/>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Add a fourth bidder and track concessions</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Add a Legal team that needs about $2,500, then print how much each team conceded from its round 1 ask.</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Lesson35-MarketNegotiation/</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MarketNegotiation/Program.cs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Four teams bid in every round</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market signal lists all four asks</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final output shows each team's concession</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Any allocation still totals at most $10000</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35 — Market Negotiation</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Bounded loop, stated exit</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36  </a:t>
            </a:r>
            <a:pPr indent="0" marL="0">
              <a:buNone/>
            </a:pPr>
            <a:r>
              <a:rPr lang="en-US" sz="1250" dirty="0">
                <a:solidFill>
                  <a:srgbClr val="FFFFFF"/>
                </a:solidFill>
                <a:latin typeface="Calibri" pitchFamily="34" charset="0"/>
                <a:ea typeface="Calibri" pitchFamily="34" charset="-122"/>
                <a:cs typeface="Calibri" pitchFamily="34" charset="-120"/>
              </a:rPr>
              <a:t>A failed plan triggers a full replan, capped at 3</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Feedback as one public string</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36  </a:t>
            </a:r>
            <a:pPr indent="0" marL="0">
              <a:buNone/>
            </a:pPr>
            <a:r>
              <a:rPr lang="en-US" sz="1250" dirty="0">
                <a:solidFill>
                  <a:srgbClr val="FFFFFF"/>
                </a:solidFill>
                <a:latin typeface="Calibri" pitchFamily="34" charset="0"/>
                <a:ea typeface="Calibri" pitchFamily="34" charset="-122"/>
                <a:cs typeface="Calibri" pitchFamily="34" charset="-120"/>
              </a:rPr>
              <a:t>The failure message is the Planner's only input</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Rules checked in plain C#</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37  </a:t>
            </a:r>
            <a:pPr indent="0" marL="0">
              <a:buNone/>
            </a:pPr>
            <a:r>
              <a:rPr lang="en-US" sz="1250" dirty="0">
                <a:solidFill>
                  <a:srgbClr val="FFFFFF"/>
                </a:solidFill>
                <a:latin typeface="Calibri" pitchFamily="34" charset="0"/>
                <a:ea typeface="Calibri" pitchFamily="34" charset="-122"/>
                <a:cs typeface="Calibri" pitchFamily="34" charset="-120"/>
              </a:rPr>
              <a:t>Guardrail filters use regex, not a second model</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Agents that never call each other</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40  </a:t>
            </a:r>
            <a:pPr indent="0" marL="0">
              <a:buNone/>
            </a:pPr>
            <a:r>
              <a:rPr lang="en-US" sz="1250" dirty="0">
                <a:solidFill>
                  <a:srgbClr val="FFFFFF"/>
                </a:solidFill>
                <a:latin typeface="Calibri" pitchFamily="34" charset="0"/>
                <a:ea typeface="Calibri" pitchFamily="34" charset="-122"/>
                <a:cs typeface="Calibri" pitchFamily="34" charset="-120"/>
              </a:rPr>
              <a:t>Agents coordinate over an event bus (planned)</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One failure, not a restart</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42  </a:t>
            </a:r>
            <a:pPr indent="0" marL="0">
              <a:buNone/>
            </a:pPr>
            <a:r>
              <a:rPr lang="en-US" sz="1250" dirty="0">
                <a:solidFill>
                  <a:srgbClr val="FFFFFF"/>
                </a:solidFill>
                <a:latin typeface="Calibri" pitchFamily="34" charset="0"/>
                <a:ea typeface="Calibri" pitchFamily="34" charset="-122"/>
                <a:cs typeface="Calibri" pitchFamily="34" charset="-120"/>
              </a:rPr>
              <a:t>Checkpoints let a run resume after a crash (planned)</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2: Dynamic Multi-Agent Interaction</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35 — Market Negotiation</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35 — Negotiation &amp; Market-Based Coordination</dc:title>
  <dc:subject>PptxGenJS Presentation</dc:subject>
  <dc:creator>Media Six LLC</dc:creator>
  <cp:lastModifiedBy>Media Six LLC</cp:lastModifiedBy>
  <cp:revision>1</cp:revision>
  <dcterms:created xsi:type="dcterms:W3CDTF">2026-10-21T23:08:53Z</dcterms:created>
  <dcterms:modified xsi:type="dcterms:W3CDTF">2026-10-21T23:08:53Z</dcterms:modified>
</cp:coreProperties>
</file>