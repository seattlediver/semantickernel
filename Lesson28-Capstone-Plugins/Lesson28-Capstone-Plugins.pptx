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two of the four-part Universal Project Manager capstone. Lesson 27 scaffolded the shape of the system: the IProjectAgent interface, the shared ProjectState and ProjectTask blackboard, and a GoalRefinerAgent. Lesson 28 adds the muscle: two new agents, a PlannerAgent and a DeveloperAgent, plus a state-aware Semantic Kernel plugin called ProjectManagementPlugin. Program.cs now runs the Refiner, the Planner and the Developer in a fixed, hand-written order and prints the final state, including the generated code for every task. The key shift is that the Planner's model is handed a tool and permission to call it, so the model itself changes the application's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are in the capstone. Lesson 27 built the architecture. Lesson 28, highlighted, adds the Planner and Developer agents and the CreateTask tool. Lesson 29 will replace this lesson's hand-written sequence with a ProjectOrchestrator and add a Reviewer that can send work back, and Lesson 30 deploys the result as a console app and a Web API. Nothing in Lesson 27's ProjectState, ProjectTask or IProjectAgent changes today; the two new agents simply implement the same contract and read and write the same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27 the model only produced text: the GoalRefiner got a sentence back, and C# code wrote it into the state. In Lesson 28 the Planner's model is given a tool. When it decides a task is needed it calls CreateTask itself, and each call adds a real ProjectTask to the shared list. The Developer then discovers its work by reading that list. That is the core shift a state-aware plugin represents: the model is no longer just describing what should happen, it is making it happen in your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nothing new to install. The project is still the UniversalProjectManager console app, referencing Microsoft.SemanticKernel and Microsoft.SemanticKernel.Connectors.OpenAI at version 1.78.0. The connectors package already contains everything tool calling needs, including OpenAIPromptExecutionSettings and ToolCallBehavior. The key comes from OPENAI_API_KEY, and the model is gpt-4.1-mini, registered once on a base kernel that Program.cs passes to every agent. As we'll see, the Planner and Developer each clone that base kernel before they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Program.cs builds the base kernel, reads the rough idea into a new ProjectState, and creates three agents, each held as an IProjectAgent. Then it awaits them in a fixed, hand-written order. The GoalRefiner writes the refined goal, exactly as in Lesson 27. The Planner, highlighted, reads that goal and lets the model call CreateTask, so the task list fills up. The Developer looks for pending tasks assigned to it and writes C# code for each one. Finally Program.cs prints every task's ID, description, status and code. Hard-wiring the sequence is a deliberate stepping stone; Lesson 29 replaces it with a real orchestrator.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ProjectManagementPlugin is the first plugin in the capstone, and it is state-aware: it takes the shared ProjectState in its constructor and keeps a reference to it. Its one method, CreateTask, carries a KernelFunction attribute naming the tool, and Description attributes on the method and on both parameters, description and assignedTo. Those descriptions are the entire interface the model sees; Semantic Kernel turns them into a tool schema. When the model calls the tool, the method builds a ProjectTask, adds it to the very same Tasks list every agent reads, prints a short TOOL EXECUTED line, and returns a confirmation that includes the new task's ID, which goes back to the model as the tool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Planner's prompt. It sets the model up as a technical project manager, injects the refined goal from the state, and asks for exactly two implementation tasks, both assigned to the Developer role through the CreateTask tool, with no code. The execution settings do the rest. ToolCallBehavior.AutoInvokeKernelFunctions tells Semantic Kernel that when the model asks to call a tool, it should run the real C# method and feed the result back to the model, all inside one InvokePromptAsync call. Temperature is 0.2 for a predictable plan. If the call fails, a try/catch prints which stage failed and leaves the task list empty, which the Developer already handles by reporting that it found no pending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new agents call Clone on the base kernel before using it. The Planner adds ProjectManagementPlugin to its own clone, under the plugin name ProjectManager, so only the Planner's model can see CreateTask. The Developer's clone never gets the plugin at all, so the code-writing agent structurally cannot create tasks, even by accident. Because the plugin is only ever added to a clone, the base kernel stays clean, and each agent sees exactly the tools its job needs. The Developer runs at temperature 0.1 and is told to output only C# code with no markdown or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After the banner and your rough idea, the program prints the refined target goal. The Planner stage then shows one TOOL EXECUTED line per CreateTask call: the first thirty characters of the description, three dots, and the assigned role. Those lines are printed by the plugin itself, which proves the model really did call your C# code. The Developer stage prints one Executing task line per task, and the final project state lists each task's ID, description, a status of DONE, and the generated code, which is cut off on this slide. The idea, goal, task text and task IDs shown here are illustrative; yours will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Today a task assigned to 'developer' in lower case, or to 'Tester', is silently orphaned, because the Developer only picks up tasks whose AssignedTo exactly matches its Name. Normalize the casing inside CreateTask, and when the role is one nobody handles, return an explanatory string instead of adding the task; the model reads tool results, so it can correct itself. Then refuse any call once the plan already holds five tasks. All of this belongs in the plugin, so the Developer's code shouldn't need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added a state-aware plugin whose CreateTask tool adds real tasks to the shared state, let the Planner's model call it automatically, isolated tools by cloning the kernel per agent, and handed work from Planner to Developer purely through the blackboard. Lesson 29 replaces the hand-wired sequence with a ProjectOrchestrator that loops over the agents, and adds a ReviewerAgent that can send a completed task back to the Developer. Lesson 36, in Part 2, extends this lesson's Planner directly: when a step fails, the Planner regenerates the whole plan instead of only retrying one task. And Lesson 30 takes the per-agent kernel idea further, with dependency injection building a fresh Kernel for every HTTP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28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Capstone I: Plugins &amp; Single Agents</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Planner that creates tasks through a tool, and a Developer that writes the code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ProjectState + GoalRefiner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2 tasks, each with C# code</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Give a plugin the shared state so tool calls change it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Let the model call CreateTask on its own</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Clone the kernel so each agent gets only its own tools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Hand work between agents through the blackboard</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Chain three agents in a fixed sequence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CAPSTONE ARC</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Part 2 of 4: agents that plan and build</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Architecture</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27: ProjectState, a contract, GoalRefiner</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Plugins</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Lesson 28: Planner, Developer and a CreateTask tool</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Orchestration</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29: an orchestrator and a Reviewer loop</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Deployment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30: console app plus a Web API with Scalar</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ProjectState and IProjectAgent as Lesson 27; two new agents plug in.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describing work to changing state</a:t>
            </a:r>
            <a:endParaRPr lang="en-US" sz="280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27: one agent</a:t>
            </a:r>
            <a:endParaRPr lang="en-US" sz="1700" dirty="0"/>
          </a:p>
        </p:txBody>
      </p:sp>
      <p:sp>
        <p:nvSpPr>
          <p:cNvPr id="8" name="Text 5"/>
          <p:cNvSpPr txBox="1"/>
          <p:nvPr/>
        </p:nvSpPr>
        <p:spPr>
          <a:xfrm>
            <a:off x="68580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GoalRefiner returns text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 code writes it into the state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Tasks stays empty</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28: tools and hand-offs</a:t>
            </a:r>
            <a:endParaRPr lang="en-US" sz="1700" dirty="0"/>
          </a:p>
        </p:txBody>
      </p:sp>
      <p:sp>
        <p:nvSpPr>
          <p:cNvPr id="13" name="Text 9"/>
          <p:cNvSpPr txBox="1"/>
          <p:nvPr/>
        </p:nvSpPr>
        <p:spPr>
          <a:xfrm>
            <a:off x="498348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Planner's model calls CreateTask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call adds a task to the state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Developer finds its own work there</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plugin lets the model change application state, not just produce text.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Same packages, same key: no new setup</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UniversalProjectManager console app, opened from its .slnx file.</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base kernel. Each agent clones it before use.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PROGRAM FLOW</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agents, one state, a fixed order</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Refine</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GoalRefiner writes RefinedGoal, as in Lesson 27.</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Plan</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Planner's model calls CreateTask twice.</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Develop</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Code for each pending Developer task.</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Print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Task ID, Desc, Status and Code per task.</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Program.cs awaits each agent by hand; Lesson 29 replaces this with a loop.</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plugin that closes over the shared state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Project plugin</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ProjectManagementPlugin gets the ProjectState in its constructor.</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Tool attribute</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[KernelFunction("CreateTask")] exposes the method as a tool.</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Descriptions</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[Description] on the method and each parameter is what the model reads.</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Adds a task</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Builds a ProjectTask and adds it to the shared Tasks list.</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Confirmation</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Returns the new task's ID, which goes back to the model.</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AUTO-INVOKED TOOLS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Planner plans; the model calls the tool</a:t>
            </a:r>
            <a:endParaRPr lang="en-US" sz="2800" dirty="0"/>
          </a:p>
        </p:txBody>
      </p:sp>
      <p:sp>
        <p:nvSpPr>
          <p:cNvPr id="4" name="Shape 2"/>
          <p:cNvSpPr/>
          <p:nvPr/>
        </p:nvSpPr>
        <p:spPr>
          <a:xfrm>
            <a:off x="457200" y="1325880"/>
            <a:ext cx="5257800" cy="1508760"/>
          </a:xfrm>
          <a:prstGeom prst="roundRect">
            <a:avLst>
              <a:gd name="adj" fmla="val 4848"/>
            </a:avLst>
          </a:prstGeom>
          <a:solidFill>
            <a:srgbClr val="0F1420"/>
          </a:solidFill>
          <a:ln w="12700">
            <a:solidFill>
              <a:srgbClr val="0F1420"/>
            </a:solidFill>
            <a:prstDash val="solid"/>
          </a:ln>
        </p:spPr>
      </p:sp>
      <p:sp>
        <p:nvSpPr>
          <p:cNvPr id="5" name="Text 3"/>
          <p:cNvSpPr txBox="1"/>
          <p:nvPr/>
        </p:nvSpPr>
        <p:spPr>
          <a:xfrm>
            <a:off x="640080" y="1463040"/>
            <a:ext cx="4892040" cy="1234440"/>
          </a:xfrm>
          <a:prstGeom prst="rect">
            <a:avLst/>
          </a:prstGeom>
          <a:noFill/>
          <a:ln/>
        </p:spPr>
        <p:txBody>
          <a:bodyPr wrap="square" lIns="0" tIns="0" rIns="0" bIns="0" rtlCol="0" anchor="t"/>
          <a:lstStyle/>
          <a:p>
            <a:pPr indent="0" marL="0">
              <a:buNone/>
            </a:pPr>
            <a:r>
              <a:rPr lang="en-US" sz="1200" dirty="0">
                <a:solidFill>
                  <a:srgbClr val="D7E3F4"/>
                </a:solidFill>
                <a:latin typeface="Courier New" pitchFamily="34" charset="0"/>
                <a:ea typeface="Courier New" pitchFamily="34" charset="-122"/>
                <a:cs typeface="Courier New" pitchFamily="34" charset="-120"/>
              </a:rPr>
              <a:t>You are a Technical Project Manager.</a:t>
            </a:r>
            <a:endParaRPr lang="en-US" sz="1200" dirty="0"/>
          </a:p>
          <a:p>
            <a:pPr indent="0" marL="0">
              <a:buNone/>
            </a:pPr>
            <a:r>
              <a:rPr lang="en-US" sz="1200" b="1" dirty="0">
                <a:solidFill>
                  <a:srgbClr val="F5A623"/>
                </a:solidFill>
                <a:latin typeface="Courier New" pitchFamily="34" charset="0"/>
                <a:ea typeface="Courier New" pitchFamily="34" charset="-122"/>
                <a:cs typeface="Courier New" pitchFamily="34" charset="-120"/>
              </a:rPr>
              <a:t>Your objective is: {state.RefinedGoal}</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Break this objective into exactly 2 technical</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implementation tasks. Assign both tasks to the</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'Developer' role using the CreateTask tool.</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Do not write code.  Just plan.</a:t>
            </a:r>
            <a:endParaRPr lang="en-US" sz="12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AutoInvoke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Semantic Kernel runs the C# method for you.</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Temperature 0.2</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Low, for a predictable plan.</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try / catch</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 failure Tasks stays empty; the Developer copes.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TOOL ISOLATION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350" b="1" dirty="0">
                <a:solidFill>
                  <a:srgbClr val="1F2937"/>
                </a:solidFill>
                <a:latin typeface="Cambria" pitchFamily="34" charset="0"/>
                <a:ea typeface="Cambria" pitchFamily="34" charset="-122"/>
                <a:cs typeface="Cambria" pitchFamily="34" charset="-120"/>
              </a:rPr>
              <a:t>Each agent clones the kernel and keeps its own tools</a:t>
            </a:r>
            <a:endParaRPr lang="en-US" sz="2350" dirty="0"/>
          </a:p>
        </p:txBody>
      </p:sp>
      <p:sp>
        <p:nvSpPr>
          <p:cNvPr id="4" name="Shape 2"/>
          <p:cNvSpPr/>
          <p:nvPr/>
        </p:nvSpPr>
        <p:spPr>
          <a:xfrm>
            <a:off x="457200" y="1371600"/>
            <a:ext cx="3931920" cy="1783080"/>
          </a:xfrm>
          <a:prstGeom prst="roundRect">
            <a:avLst>
              <a:gd name="adj" fmla="val 4103"/>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Planner's clone</a:t>
            </a:r>
            <a:endParaRPr lang="en-US" sz="1700" dirty="0"/>
          </a:p>
        </p:txBody>
      </p:sp>
      <p:sp>
        <p:nvSpPr>
          <p:cNvPr id="8" name="Text 5"/>
          <p:cNvSpPr txBox="1"/>
          <p:nvPr/>
        </p:nvSpPr>
        <p:spPr>
          <a:xfrm>
            <a:off x="68580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_baseKernel.Clone(), then add the plugin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Registered as "ProjectManager"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Can call CreateTask</a:t>
            </a:r>
            <a:endParaRPr lang="en-US" sz="1300" dirty="0"/>
          </a:p>
        </p:txBody>
      </p:sp>
      <p:sp>
        <p:nvSpPr>
          <p:cNvPr id="9" name="Shape 6"/>
          <p:cNvSpPr/>
          <p:nvPr/>
        </p:nvSpPr>
        <p:spPr>
          <a:xfrm>
            <a:off x="4754880" y="1371600"/>
            <a:ext cx="3931920" cy="1783080"/>
          </a:xfrm>
          <a:prstGeom prst="roundRect">
            <a:avLst>
              <a:gd name="adj" fmla="val 4103"/>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Developer's clone</a:t>
            </a:r>
            <a:endParaRPr lang="en-US" sz="1700" dirty="0"/>
          </a:p>
        </p:txBody>
      </p:sp>
      <p:sp>
        <p:nvSpPr>
          <p:cNvPr id="13" name="Text 9"/>
          <p:cNvSpPr txBox="1"/>
          <p:nvPr/>
        </p:nvSpPr>
        <p:spPr>
          <a:xfrm>
            <a:off x="498348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_baseKernel.Clone() with no plugins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Temperature 0.1, code only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Cannot create tasks, even by accident</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base kernel never gets the plugin, so tools don't leak between agents.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two tasks planned, two tasks coded</a:t>
            </a:r>
            <a:endParaRPr lang="en-US" sz="2800" dirty="0"/>
          </a:p>
        </p:txBody>
      </p:sp>
      <p:sp>
        <p:nvSpPr>
          <p:cNvPr id="4" name="Shape 2"/>
          <p:cNvSpPr/>
          <p:nvPr/>
        </p:nvSpPr>
        <p:spPr>
          <a:xfrm>
            <a:off x="457200" y="1325880"/>
            <a:ext cx="5257800" cy="2834640"/>
          </a:xfrm>
          <a:prstGeom prst="roundRect">
            <a:avLst>
              <a:gd name="adj" fmla="val 2581"/>
            </a:avLst>
          </a:prstGeom>
          <a:solidFill>
            <a:srgbClr val="0F1420"/>
          </a:solidFill>
          <a:ln w="12700">
            <a:solidFill>
              <a:srgbClr val="0F1420"/>
            </a:solidFill>
            <a:prstDash val="solid"/>
          </a:ln>
        </p:spPr>
      </p:sp>
      <p:sp>
        <p:nvSpPr>
          <p:cNvPr id="5" name="Text 3"/>
          <p:cNvSpPr txBox="1"/>
          <p:nvPr/>
        </p:nvSpPr>
        <p:spPr>
          <a:xfrm>
            <a:off x="640080" y="1463040"/>
            <a:ext cx="4892040" cy="2560320"/>
          </a:xfrm>
          <a:prstGeom prst="rect">
            <a:avLst/>
          </a:prstGeom>
          <a:noFill/>
          <a:ln/>
        </p:spPr>
        <p:txBody>
          <a:bodyPr wrap="square" lIns="0" tIns="0" rIns="0" bIns="0" rtlCol="0" anchor="t"/>
          <a:lstStyle/>
          <a:p>
            <a:pPr indent="0" marL="0">
              <a:buNone/>
            </a:pPr>
            <a:r>
              <a:rPr lang="en-US" sz="1050" dirty="0">
                <a:solidFill>
                  <a:srgbClr val="D7E3F4"/>
                </a:solidFill>
                <a:latin typeface="Courier New" pitchFamily="34" charset="0"/>
                <a:ea typeface="Courier New" pitchFamily="34" charset="-122"/>
                <a:cs typeface="Courier New" pitchFamily="34" charset="-120"/>
              </a:rPr>
              <a:t>Universal Project Manager (UPM) - Phase 2 Implementation</a:t>
            </a:r>
            <a:endParaRPr lang="en-US" sz="1050" dirty="0"/>
          </a:p>
          <a:p>
            <a:pPr indent="0" marL="0">
              <a:buNone/>
            </a:pPr>
            <a:r>
              <a:rPr lang="en-US" sz="1050" b="1" dirty="0">
                <a:solidFill>
                  <a:srgbClr val="F5A623"/>
                </a:solidFill>
                <a:latin typeface="Courier New" pitchFamily="34" charset="0"/>
                <a:ea typeface="Courier New" pitchFamily="34" charset="-122"/>
                <a:cs typeface="Courier New" pitchFamily="34" charset="-120"/>
              </a:rPr>
              <a:t>Enter a rough project idea:a console tip calculator</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Target Goal: Build a C# console app that calculates tips.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[PLANNER] is analyzing the goal and generating tasks...</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[TOOL EXECUTED] Task created: Parse bill input...Developer</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  [TOOL EXECUTED] Task created: Compute the tip...Developer</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Planning complete. 2 tasks created.</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[DEVELOPER] is writing the code...</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[DEVELOPER] Executing task: 3f9a1c2e Parse bill input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[DEVELOPER] Executing task: b71d04e5 Compute the tip</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FINAL PROJECT STATE ---</a:t>
            </a:r>
            <a:endParaRPr lang="en-US" sz="105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Fixed lines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Banner, stage messages and labels come from the code.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Idea, goal, task text and IDs are examples.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Then the code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task prints its ID, Desc, Status: DONE and Code.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Harden the CreateTask tool</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Normalize assignedTo, refuse unknown roles with a message the model can read, and cap the plan at five tasks.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Lesson28-Capstone-Plugins/</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UniversalProjectManager/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ProjectManagementPlugin.cs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"developer" from the model still reaches the DeveloperAgent</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unknown role adds no task and returns an error string</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sixth CreateTask call is refused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DeveloperAgent.cs is unchanged</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fixed, hand-wired sequence</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ProjectOrchestrator loops a List&lt;IProjectAgent&gt;</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Tasks completed once</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ReviewerAgent sends rejected tasks back</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plan written once</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A failed step makes the Planner replan from scratch</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Kernel cloned per agent</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30  </a:t>
            </a:r>
            <a:pPr indent="0" marL="0">
              <a:buNone/>
            </a:pPr>
            <a:r>
              <a:rPr lang="en-US" sz="1250" dirty="0">
                <a:solidFill>
                  <a:srgbClr val="FFFFFF"/>
                </a:solidFill>
                <a:latin typeface="Calibri" pitchFamily="34" charset="0"/>
                <a:ea typeface="Calibri" pitchFamily="34" charset="-122"/>
                <a:cs typeface="Calibri" pitchFamily="34" charset="-120"/>
              </a:rPr>
              <a:t>DI builds a fresh Kernel for every request</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Capstone I: Universal Project Manager</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28 — Capstone I: Plugins &amp; Single Agents</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28 — Capstone I: Plugins &amp; Single Agents</dc:title>
  <dc:subject>PptxGenJS Presentation</dc:subject>
  <dc:creator>Media Six LLC</dc:creator>
  <cp:lastModifiedBy>Media Six LLC</cp:lastModifiedBy>
  <cp:revision>1</cp:revision>
  <dcterms:created xsi:type="dcterms:W3CDTF">2026-10-21T23:10:08Z</dcterms:created>
  <dcterms:modified xsi:type="dcterms:W3CDTF">2026-10-21T23:10:08Z</dcterms:modified>
</cp:coreProperties>
</file>