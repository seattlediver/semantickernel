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turns the ChatHistory conversation loop from earlier lessons into a persona-driven developer agent. You describe a class or function in plain English, and the agent replies with a single fenced C# code block. Because every request and every response goes into the same ChatHistory, you can keep iterating, asking it to make the code async or add null checks, and it revises the code it already wrote. This is the first lesson where the system prompt's output-format rules matter as much as its persona. The output is meant to be consumed by something else, and in fact Lesson 11's Critic reviews exactly this kind of code. It is also the first place we push the execution settings toward determinism instead of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with Lesson 9. The interviewer used Temperature 0.7, because natural conversation benefits from a little variety, and its output was prose meant for a person to read. The developer agent uses Temperature 0.2 and TopP 0.1. Temperature controls how adventurous the sampling is, and TopP limits sampling to the most likely tokens. Pushing both down means the same request tends to produce the same reasonable code, rather than creative variation you don't want from a code generator. And the output is no longer conversation: it is a code block with no filler, shaped so the next step, whether that's you or another agent, can use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earlier chat lessons. You need the .NET 10 SDK and a console application referencing Microsoft.SemanticKernel and Microsoft.SemanticKernel.Connectors.OpenAI, both at version 1.78.0. The key comes from the OPENAI_API_KEY environment variable, and the program throws at startup if it is missing. The model is gpt-4.1-mini, registered with AddOpenAIChatCompletion, and the program talks to it through IChatCompletionService.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prompt names the persona, an expert C# developer agent, and its goal: clean, maintainable and high-performance code. Then come four numbered rules. Rule 1: always use modern C# syntax, such as file-scoped namespaces and primary constructors where they apply. Rule 2: include XML documentation comments for all public members. Rule 3: make the code self-contained with the using directives it needs. Rule 4 is the output-format rule: output only the code within markdown blocks, with no conversational filler. A chat model's natural instinct is to wrap code in explanations, so this rule has to be stated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turn of the loop works the same way. The program reads your request, skipping blank lines and breaking on exit. It doesn't send your words verbatim: it wraps them in a small instruction, Write a c# implementation for, followed by your request. That is prompt templating at the call site. The wrapped request is added to the ChatHistory as a user message. Then, highlighted, the program calls GetChatMessageContentAsync with the whole history and the low-temperature settings and prints the code. Finally the reply is added back to the history as an assistant message, which is what lets you say make it async on the next turn and have the agent revise the code it just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multi-turn refinement in action. On the first turn you ask for a Fibonacci calculator. The history now holds the wrapped request and the generated code. On the second turn you type now make it async. On its own that request means nothing, but the model receives the full history, including the code it produced on turn one, so it can return an async version of that same class. One detail worth noticing: the call-site wrapper applies to every request, so the follow-up is actually sent as Write a c# implementation for: now make it async. The model copes with that fine because the history makes the intent clear, but it's a good example of how a template shapes everything that passes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turn can end three ways. On success, the code is printed and appended to the history. If the model returns no content, there's no assistant turn to pair with the request, so the program removes the request with RemoveAt rather than leave an orphaned, unanswered user message in the history. If the call throws, for example a transient API error or a safety-filter rejection, the program again removes the request that caused it and prints an error line telling you to try again or type exit. Removing the failed request matters: if it stayed in the history, it would be resent on every later turn, and a content-filter rejection could keep recurring. And because the snippets only live in memory, catching the error is what stops one bad call from losing every snippet generated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It prints Developer agent ready, then waits for a request. Type a Fibonacci calculator. The program prints the Generating code divider and then the model's answer. The code on this slide is illustrative and abridged; the real output is a complete class, and its exact contents will differ from run to run, though low temperature keeps it fairly stable. What you should see is a single markdown code block in modern C#, with a file-scoped namespace and XML documentation comments, and no explanatory prose around it. Then try a follow-up such as now make it async or add input validation, and watch the agent revise the same code. Type exit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Right now every generated snippet lives only in memory and disappears when you type exit. After a successful turn, take the response content, drop the lines that start with three backticks, and write the rest to a file such as snippet-1.cs, snippet-2.cs and so on in a generated folder. Print the path so you know where it went. Make sure the empty-reply and exception paths don't write anything. As a stretch goal, notice how much easier this is because rule 4 forces a single code block with no prose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gave a persona output-format rules as well as a role, pushed Temperature and TopP down for steadier code, wrapped raw input in an instruction at the call site, refined code across turns through shared history, and rolled back failed turns so the history stays clean. Lesson 11 picks this up directly with a Critic that scores code against a rubric. Lesson 19 has a Coordinator decide when a Coder specialist should act. In the first capstone, Lesson 28's DeveloperAgent generates code for each task the Planner creates. And in Part 2, Lesson 31 has a single agent draft, critique and revise its own output in a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10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Code Generator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developer agent that writes C# and revises it turn by turn</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plain-English request</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one fenced C# code block</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Give a persona output-format rules, not just a role</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Lower Temperature and TopP for steadier code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Wrap raw input in an instruction at the call site</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Refine earlier code through shared ChatHistory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Roll back a failed turn so history stays clean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From conversation to machine-ready output</a:t>
            </a:r>
            <a:endParaRPr lang="en-US" sz="28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9: interviewer</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0.7 for natural talk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Prose questions and follow-ups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Output read by a person</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10: developer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Temperature 0.2, TopP 0.1</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Code block only, no filler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Output consumed by the next step</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Lower settings narrow the token choices, so the same request yields steadier code.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never hard-coded. The app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the code uses the chat completion service directly.</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PERSONA</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rules shape every answer</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Developer 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 expert C# developer whose goal is clean, maintainable, high-performance code.</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Modern C#</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File-scoped namespaces, primary constructors.</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XML docs</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Documentation comments on all public members.</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Self-contained</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Includes the using directives it needs.</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Code only</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Markdown code blocks. No conversational filler.</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ONE TURN</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happens on every request</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Read</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Blank lines skipped; exit ends the loop.</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Wrap</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Prefixed with an instruction to implement it.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Append</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Added to ChatHistory as a user message.</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whole history, sent with low Temperature.</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Remember</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reply goes back into history.</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reply stays in history, so the next request can refactor it.</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REFINEMENT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second request builds on the first</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Turn 1: generate</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ask for a Fibonacci calculator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History: request plus generated code</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Request: a Fibonacci calculator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 Generating code ---</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Turn 2: revise</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ask to make it 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sees the code from turn 1</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Request: now make it async</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 Generating code ---</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Follow-ups are wrapped too: Write a c# implementation for: now make it async.</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ways a turn can end</a:t>
            </a:r>
            <a:endParaRPr lang="en-US" sz="2800" dirty="0"/>
          </a:p>
        </p:txBody>
      </p:sp>
      <p:sp>
        <p:nvSpPr>
          <p:cNvPr id="4" name="Shape 2"/>
          <p:cNvSpPr/>
          <p:nvPr/>
        </p:nvSpPr>
        <p:spPr>
          <a:xfrm>
            <a:off x="457200" y="1371600"/>
            <a:ext cx="2560320" cy="1463040"/>
          </a:xfrm>
          <a:prstGeom prst="roundRect">
            <a:avLst>
              <a:gd name="adj" fmla="val 500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Success</a:t>
            </a:r>
            <a:endParaRPr lang="en-US" sz="1500" dirty="0"/>
          </a:p>
        </p:txBody>
      </p:sp>
      <p:sp>
        <p:nvSpPr>
          <p:cNvPr id="8" name="Text 5"/>
          <p:cNvSpPr txBox="1"/>
          <p:nvPr/>
        </p:nvSpPr>
        <p:spPr>
          <a:xfrm>
            <a:off x="640080" y="20574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code prints and is added to history as an assistant message.</a:t>
            </a:r>
            <a:endParaRPr lang="en-US" sz="1200" dirty="0"/>
          </a:p>
        </p:txBody>
      </p:sp>
      <p:sp>
        <p:nvSpPr>
          <p:cNvPr id="9" name="Shape 6"/>
          <p:cNvSpPr/>
          <p:nvPr/>
        </p:nvSpPr>
        <p:spPr>
          <a:xfrm>
            <a:off x="3291840" y="1371600"/>
            <a:ext cx="2560320" cy="1463040"/>
          </a:xfrm>
          <a:prstGeom prst="roundRect">
            <a:avLst>
              <a:gd name="adj" fmla="val 500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Empty reply</a:t>
            </a:r>
            <a:endParaRPr lang="en-US" sz="1500" dirty="0"/>
          </a:p>
        </p:txBody>
      </p:sp>
      <p:sp>
        <p:nvSpPr>
          <p:cNvPr id="13" name="Text 9"/>
          <p:cNvSpPr txBox="1"/>
          <p:nvPr/>
        </p:nvSpPr>
        <p:spPr>
          <a:xfrm>
            <a:off x="3474720" y="2057400"/>
            <a:ext cx="219456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content comes back, so the request is removed from history.</a:t>
            </a:r>
            <a:endParaRPr lang="en-US" sz="1200" dirty="0"/>
          </a:p>
        </p:txBody>
      </p:sp>
      <p:sp>
        <p:nvSpPr>
          <p:cNvPr id="14" name="Shape 10"/>
          <p:cNvSpPr/>
          <p:nvPr/>
        </p:nvSpPr>
        <p:spPr>
          <a:xfrm>
            <a:off x="6126480" y="1371600"/>
            <a:ext cx="2560320" cy="1463040"/>
          </a:xfrm>
          <a:prstGeom prst="roundRect">
            <a:avLst>
              <a:gd name="adj" fmla="val 500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Exception</a:t>
            </a:r>
            <a:endParaRPr lang="en-US" sz="1500" dirty="0"/>
          </a:p>
        </p:txBody>
      </p:sp>
      <p:sp>
        <p:nvSpPr>
          <p:cNvPr id="18" name="Text 13"/>
          <p:cNvSpPr txBox="1"/>
          <p:nvPr/>
        </p:nvSpPr>
        <p:spPr>
          <a:xfrm>
            <a:off x="6309360" y="2057400"/>
            <a:ext cx="2194560" cy="685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request is removed, an [Error] line prints, and you can try again.</a:t>
            </a:r>
            <a:endParaRPr lang="en-US" sz="1200" dirty="0"/>
          </a:p>
        </p:txBody>
      </p:sp>
      <p:sp>
        <p:nvSpPr>
          <p:cNvPr id="19" name="Text 14"/>
          <p:cNvSpPr txBox="1"/>
          <p:nvPr/>
        </p:nvSpPr>
        <p:spPr>
          <a:xfrm>
            <a:off x="457200" y="3063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Every request in history is paired with a reply, so nothing failed is resent later.</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describe it, get code back</a:t>
            </a:r>
            <a:endParaRPr lang="en-US" sz="2800" dirty="0"/>
          </a:p>
        </p:txBody>
      </p:sp>
      <p:sp>
        <p:nvSpPr>
          <p:cNvPr id="4" name="Shape 2"/>
          <p:cNvSpPr/>
          <p:nvPr/>
        </p:nvSpPr>
        <p:spPr>
          <a:xfrm>
            <a:off x="457200" y="1325880"/>
            <a:ext cx="5257800" cy="2377440"/>
          </a:xfrm>
          <a:prstGeom prst="roundRect">
            <a:avLst>
              <a:gd name="adj" fmla="val 3077"/>
            </a:avLst>
          </a:prstGeom>
          <a:solidFill>
            <a:srgbClr val="0F1420"/>
          </a:solidFill>
          <a:ln w="12700">
            <a:solidFill>
              <a:srgbClr val="0F1420"/>
            </a:solidFill>
            <a:prstDash val="solid"/>
          </a:ln>
        </p:spPr>
      </p:sp>
      <p:sp>
        <p:nvSpPr>
          <p:cNvPr id="5" name="Text 3"/>
          <p:cNvSpPr txBox="1"/>
          <p:nvPr/>
        </p:nvSpPr>
        <p:spPr>
          <a:xfrm>
            <a:off x="640080" y="1463040"/>
            <a:ext cx="4892040" cy="21031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Developer agent ready.  Describe the class or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function you need.</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Request: a Fibonacci calculator</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 Generating code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```csharp</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namespace FibonacciCalculator;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&lt;summary&gt;Calculates Fibonacci numbers.&lt;/summary&gt;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public static class Fibonacci { ...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generated code is abridged and will differ.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code block</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prose around it, as rule 4 asks.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exit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Ends the session; blank lines are skipped.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Save each snippet to disk</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After each successful turn, strip the ``` fence lines from the reply and save the code to a new numbered .cs file.</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Lesson10-CodeGenerator/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CodeGenerator/Program.cs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Each successful turn writes a new snippet-N.cs file</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Saved files contain no ``` fence lines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console prints the path of each saved file</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failed or empty turn writes no file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Code as an agent's output</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11  </a:t>
            </a:r>
            <a:pPr indent="0" marL="0">
              <a:buNone/>
            </a:pPr>
            <a:r>
              <a:rPr lang="en-US" sz="1250" dirty="0">
                <a:solidFill>
                  <a:srgbClr val="FFFFFF"/>
                </a:solidFill>
                <a:latin typeface="Calibri" pitchFamily="34" charset="0"/>
                <a:ea typeface="Calibri" pitchFamily="34" charset="-122"/>
                <a:cs typeface="Calibri" pitchFamily="34" charset="-120"/>
              </a:rPr>
              <a:t>A Critic scores code like this against a rubric</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Coder persona</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19  </a:t>
            </a:r>
            <a:pPr indent="0" marL="0">
              <a:buNone/>
            </a:pPr>
            <a:r>
              <a:rPr lang="en-US" sz="1250" dirty="0">
                <a:solidFill>
                  <a:srgbClr val="FFFFFF"/>
                </a:solidFill>
                <a:latin typeface="Calibri" pitchFamily="34" charset="0"/>
                <a:ea typeface="Calibri" pitchFamily="34" charset="-122"/>
                <a:cs typeface="Calibri" pitchFamily="34" charset="-120"/>
              </a:rPr>
              <a:t>A Coordinator decides when the Coder acts next</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Generate code per request</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28  </a:t>
            </a:r>
            <a:pPr indent="0" marL="0">
              <a:buNone/>
            </a:pPr>
            <a:r>
              <a:rPr lang="en-US" sz="1250" dirty="0">
                <a:solidFill>
                  <a:srgbClr val="FFFFFF"/>
                </a:solidFill>
                <a:latin typeface="Calibri" pitchFamily="34" charset="0"/>
                <a:ea typeface="Calibri" pitchFamily="34" charset="-122"/>
                <a:cs typeface="Calibri" pitchFamily="34" charset="-120"/>
              </a:rPr>
              <a:t>DeveloperAgent writes code for each planned task</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Revise through history</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31  </a:t>
            </a:r>
            <a:pPr indent="0" marL="0">
              <a:buNone/>
            </a:pPr>
            <a:r>
              <a:rPr lang="en-US" sz="1250" dirty="0">
                <a:solidFill>
                  <a:srgbClr val="FFFFFF"/>
                </a:solidFill>
                <a:latin typeface="Calibri" pitchFamily="34" charset="0"/>
                <a:ea typeface="Calibri" pitchFamily="34" charset="-122"/>
                <a:cs typeface="Calibri" pitchFamily="34" charset="-120"/>
              </a:rPr>
              <a:t>One agent drafts, critiques and revises itself</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10 — The Code Generator</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 — The Code Generator</dc:title>
  <dc:subject>PptxGenJS Presentation</dc:subject>
  <dc:creator>Media Six LLC</dc:creator>
  <cp:lastModifiedBy>Media Six LLC</cp:lastModifiedBy>
  <cp:revision>1</cp:revision>
  <dcterms:created xsi:type="dcterms:W3CDTF">2026-10-21T23:08:52Z</dcterms:created>
  <dcterms:modified xsi:type="dcterms:W3CDTF">2026-10-21T23:08:52Z</dcterms:modified>
</cp:coreProperties>
</file>