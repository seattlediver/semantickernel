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built retrieval-augmented generation from first principles: it embedded a five-fact company knowledge base into a List in memory and computed cosine similarity in a for-loop. Lesson 8 was explicit that this was a stand-in for what a real vector database automates. This lesson is that automation. The same five facts are embedded with text-embedding-3-small exactly as before, but each one is upserted into a Pinecone serverless index through Semantic Kernel's vector store abstraction, from Microsoft.Extensions.VectorData. The question is embedded the same way and handed to the collection's own SearchAsync, which returns the closest match and its score. That match goes into the same grounded prompt Lesson 8 used, so the two lessons are directly comparable. It is also the first lesson with two cloud dependencies at once: OpenAI for embeddings and chat, Pinecone for storage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change in one picture. In Lesson 8 the knowledge base lived in a List of documents in memory, and retrieval meant ordering that list by a cosine similarity function we wrote ourselves. It worked for five facts, and it disappeared when the process ended. In this lesson the vectors are written into a Pinecone index in the cloud, and the index does the ranking for us when we call SearchAsync. Everything around retrieval stays the same: the same five facts, the same question about heating lunch, and the same grounded prompt. That makes it easy to see exactly what a vector database takes off your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.NET 10 SDK and a console app. The project references Microsoft.SemanticKernel and Microsoft.SemanticKernel.Connectors.OpenAI at version 1.78.0, plus Microsoft.SemanticKernel.Connectors.Pinecone at 1.74.0-preview. That last one is a preview package that sits behind the core version, and we'll come back to why that matters. The embedding generator registration is marked experimental, so the csproj suppresses warning SKEXP0010. There are two keys this time, both read from the environment: OPENAI_API_KEY for embeddings and the answer, and PINECONE_API_KEY for the vector index. The program throws at startup if either is missing. The chat model is gpt-4.1-mini and the embedding model is text-embedding-3-small.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six steps. Steps 1 and 2 read both keys and build the kernel with the OpenAI chat model and the OpenAI embedding generator, then fetch the embedding service from the kernel. Step 3 creates a PineconeClient, wraps it in a PineconeVectorStore, gets the collection named company-knowledge-base, and makes sure it exists. Step 4 embeds each of the five facts with GenerateVectorAsync and upserts it. Step 5, highlighted, embeds the question the same way and calls SearchAsync with top set to 1, so Pinecone's own index finds the closest fact. Step 6 places that fact into the same grounded prompt template Lesson 8 used and calls InvokePromptAsync.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KnowledgeRecord is an ordinary class with three properties, and three attributes from Microsoft.Extensions.VectorData map it onto what Pinecone stores. VectorStoreKey marks Id as the unique key. VectorStoreData marks Text as a data field that is stored and returned alongside search results. VectorStoreVector marks the embedding itself, with 1536 dimensions and DistanceFunction set to CosineSimilarity as a separate named property. Note the attribute names: the current package uses VectorStoreKey, VectorStoreData and VectorStoreVector, not the older VectorStoreRecord names you may see in older samples. And the dimension is not cosmetic. It must match the embedding model's output, which is 1536 for text-embedding-3-small. Pinecone fixes an index's dimension when the index is first created, so a mismatch either fails the upsert or corrupts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collection has a provider-agnostic lifecycle of three calls. EnsureCollectionExistsAsync creates the index if it is missing and does nothing otherwise, so it is safe to call on every run. It is wrapped in a try/catch, because a bad Pinecone key, an unreachable project or a plan limit would otherwise surface as a raw HTTP exception; the program prints what to check and exits. UpsertAsync writes a record by key, inserting it or overwriting it, so running the program twice rewrites the same five ids rather than duplicating them. SearchAsync takes the question's vector and returns an async stream of results, each carrying the Record and its similarity Score. This replaces Lesson 8's OrderByDescending over a cosine function. Because all three calls go through the abstraction, switching to another connector such as Qdrant or Azure AI Search changes only the line that constructs the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worth being honest about the moving parts. Pinecone has archived its official .NET client repository, and Microsoft's connector documentation flags this. The Semantic Kernel Pinecone connector used here, version 1.74.0-preview, still builds and runs, but it is a preview package sitting behind the 1.78.0 core, with no guarantee of further updates. The good news is that the risk is contained. The record class, the three collection calls and the grounded prompt all sit on the provider-agnostic abstraction, so if Pinecone connectivity breaks in a future update, the fix is to swap the vector store construction for an actively maintained connector. One more thing to know: Pinecone is eventually consistent, so a search immediately after the upserts can occasionally find nothing. The program guards against that and prints a message; just run it again. Also, no cloud or region is set when the index is created, so if creation fails, check your Pinecone project's default serverless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both OPENAI_API_KEY and PINECONE_API_KEY and run the project. It reports that it is embedding and upserting the knowledge base, prints the question, then prints the retrieved document with its similarity score. The fact it should find is the one about the microwave in the second-floor breakroom. Then it generates the answer and prints it between divider lines. The score and the answer on this slide are illustrative; your exact numbers and wording will differ. What should stay the same is that the answer is built only from the retrieved fact. If you see No matching documents were found in the Pinecone index, the index probably had not caught up with the upserts yet, so just run it again. You can also open the Pinecone dashboard and see the company-knowledge-base index with five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Change SearchAsync to return the top two results instead of one, collect the text of each record, and join them into the context argument. Then change the question to something that needs two facts, for example asking when the office is closed and how to get IT help. Check that two retrieval lines print, each with its own score, that the answer covers both parts, and that the no-match guard still works when nothing comes back. Notice that only the retrieval call and the context assembly change; the prompt template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replaced Lesson 8's in-memory list and hand-written cosine loop with a real Pinecone index, mapped a plain C# class onto it with three attributes, and used the collection's ensure, upsert and search calls before grounding the answer in the retrieved fact. These ideas come back. Lesson 14 takes the opposite approach and stuffs a whole manual into the prompt, which is a useful contrast with retrieval. Lesson 23 improves retrieval itself with hybrid search, blending vector similarity with keyword matching. Lesson 25 gives an agent memory that survives a restart. And in Part 2, Lesson 38 indexes remembered facts by their embeddings so the agent can recall the most relevant one rather than the most recent.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8A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Cloud Librarian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Lesson 8's RAG pipeline, backed by a real Pinecone vector index</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5 facts + 1 question</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grounded answer</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Replace a hand-rolled vector list with a cloud index</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Map a C# class onto the index with attributes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Create, upsert and search a vector collection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Ground the answer in the retrieved fact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 with two cloud keys: OpenAI and Pinecone</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From a List in memory to a cloud vector index</a:t>
            </a:r>
            <a:endParaRPr lang="en-US" sz="275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8: by hand</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Vectors held in a List&lt;T&gt; in RAM</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Cosine similarity in a for-loop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Gone when the process exits</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8a: Pinecone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Vectors upserted into a serverless index</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SearchAsync ranks by similarity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Scales past a handful of documents</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facts, same question, same prompt: only retrieval moves to the cloud.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cloud services, three packages</a:t>
            </a:r>
            <a:endParaRPr lang="en-US" sz="280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as a .slnx solution.</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Core packages</a:t>
            </a:r>
            <a:endParaRPr lang="en-US" sz="15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version 1.78.0.</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Pinecone 1.74.0-preview</a:t>
            </a:r>
            <a:endParaRPr lang="en-US" sz="13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Connectors.Pinecone is a preview package, behind the 1.78.0 core.</a:t>
            </a:r>
            <a:endParaRPr lang="en-US" sz="1200" dirty="0"/>
          </a:p>
        </p:txBody>
      </p:sp>
      <p:sp>
        <p:nvSpPr>
          <p:cNvPr id="19" name="Shape 14"/>
          <p:cNvSpPr/>
          <p:nvPr/>
        </p:nvSpPr>
        <p:spPr>
          <a:xfrm>
            <a:off x="457200" y="2994660"/>
            <a:ext cx="256032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64008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OPENAI_API_KEY</a:t>
            </a:r>
            <a:endParaRPr lang="en-US" sz="13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Embeddings and the final answer. Missing key: exception at startup.</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ourier New" pitchFamily="34" charset="0"/>
                <a:ea typeface="Courier New" pitchFamily="34" charset="-122"/>
                <a:cs typeface="Courier New" pitchFamily="34" charset="-120"/>
              </a:rPr>
              <a:t>PINECONE_API_KEY</a:t>
            </a:r>
            <a:endParaRPr lang="en-US" sz="13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Storage and search. Read and validated the same way.</a:t>
            </a:r>
            <a:endParaRPr lang="en-US" sz="1200" dirty="0"/>
          </a:p>
        </p:txBody>
      </p:sp>
      <p:sp>
        <p:nvSpPr>
          <p:cNvPr id="29" name="Shape 22"/>
          <p:cNvSpPr/>
          <p:nvPr/>
        </p:nvSpPr>
        <p:spPr>
          <a:xfrm>
            <a:off x="6126480" y="2994660"/>
            <a:ext cx="2560320" cy="1394460"/>
          </a:xfrm>
          <a:prstGeom prst="roundRect">
            <a:avLst>
              <a:gd name="adj" fmla="val 5246"/>
            </a:avLst>
          </a:prstGeom>
          <a:solidFill>
            <a:srgbClr val="EFEBFC"/>
          </a:solidFill>
          <a:ln w="12700">
            <a:solidFill>
              <a:srgbClr val="EFEBFC"/>
            </a:solidFill>
            <a:prstDash val="solid"/>
          </a:ln>
        </p:spPr>
      </p:sp>
      <p:sp>
        <p:nvSpPr>
          <p:cNvPr id="30" name="Shape 23"/>
          <p:cNvSpPr/>
          <p:nvPr/>
        </p:nvSpPr>
        <p:spPr>
          <a:xfrm>
            <a:off x="6309360" y="317754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models</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answers the question; vectors come from</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text-embedding-3-small.</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6</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pipeline, step by step</a:t>
            </a:r>
            <a:endParaRPr lang="en-US" sz="2800" dirty="0"/>
          </a:p>
        </p:txBody>
      </p:sp>
      <p:sp>
        <p:nvSpPr>
          <p:cNvPr id="4" name="Shape 2"/>
          <p:cNvSpPr/>
          <p:nvPr/>
        </p:nvSpPr>
        <p:spPr>
          <a:xfrm>
            <a:off x="457200" y="1417320"/>
            <a:ext cx="1367942" cy="2377440"/>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Kernel</a:t>
            </a:r>
            <a:endParaRPr lang="en-US" sz="1300" dirty="0"/>
          </a:p>
        </p:txBody>
      </p:sp>
      <p:sp>
        <p:nvSpPr>
          <p:cNvPr id="8" name="Text 5"/>
          <p:cNvSpPr txBox="1"/>
          <p:nvPr/>
        </p:nvSpPr>
        <p:spPr>
          <a:xfrm>
            <a:off x="640080" y="2606040"/>
            <a:ext cx="1047902"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keys read; chat and embedding models registered.</a:t>
            </a:r>
            <a:endParaRPr lang="en-US" sz="1200" dirty="0"/>
          </a:p>
        </p:txBody>
      </p:sp>
      <p:sp>
        <p:nvSpPr>
          <p:cNvPr id="9" name="Shape 6"/>
          <p:cNvSpPr/>
          <p:nvPr/>
        </p:nvSpPr>
        <p:spPr>
          <a:xfrm>
            <a:off x="1889150" y="2496312"/>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377440"/>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Collection</a:t>
            </a:r>
            <a:endParaRPr lang="en-US" sz="1300" dirty="0"/>
          </a:p>
        </p:txBody>
      </p:sp>
      <p:sp>
        <p:nvSpPr>
          <p:cNvPr id="14" name="Text 10"/>
          <p:cNvSpPr txBox="1"/>
          <p:nvPr/>
        </p:nvSpPr>
        <p:spPr>
          <a:xfrm>
            <a:off x="2355494" y="2606040"/>
            <a:ext cx="1047902"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Get or create the Pinecone index.</a:t>
            </a:r>
            <a:endParaRPr lang="en-US" sz="1200" dirty="0"/>
          </a:p>
        </p:txBody>
      </p:sp>
      <p:sp>
        <p:nvSpPr>
          <p:cNvPr id="15" name="Shape 11"/>
          <p:cNvSpPr/>
          <p:nvPr/>
        </p:nvSpPr>
        <p:spPr>
          <a:xfrm>
            <a:off x="3604565" y="2496312"/>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377440"/>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Upsert</a:t>
            </a:r>
            <a:endParaRPr lang="en-US" sz="1300" dirty="0"/>
          </a:p>
        </p:txBody>
      </p:sp>
      <p:sp>
        <p:nvSpPr>
          <p:cNvPr id="20" name="Text 15"/>
          <p:cNvSpPr txBox="1"/>
          <p:nvPr/>
        </p:nvSpPr>
        <p:spPr>
          <a:xfrm>
            <a:off x="4070909" y="2606040"/>
            <a:ext cx="1047902"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Embed each fact and write it with its text.</a:t>
            </a:r>
            <a:endParaRPr lang="en-US" sz="1200" dirty="0"/>
          </a:p>
        </p:txBody>
      </p:sp>
      <p:sp>
        <p:nvSpPr>
          <p:cNvPr id="21" name="Shape 16"/>
          <p:cNvSpPr/>
          <p:nvPr/>
        </p:nvSpPr>
        <p:spPr>
          <a:xfrm>
            <a:off x="5319979" y="2496312"/>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377440"/>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Search</a:t>
            </a:r>
            <a:endParaRPr lang="en-US" sz="1300" dirty="0"/>
          </a:p>
        </p:txBody>
      </p:sp>
      <p:sp>
        <p:nvSpPr>
          <p:cNvPr id="26" name="Text 20"/>
          <p:cNvSpPr txBox="1"/>
          <p:nvPr/>
        </p:nvSpPr>
        <p:spPr>
          <a:xfrm>
            <a:off x="5786323" y="2606040"/>
            <a:ext cx="1047902" cy="10972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Embed the question; Pinecone returns top 1.</a:t>
            </a:r>
            <a:endParaRPr lang="en-US" sz="1200" dirty="0"/>
          </a:p>
        </p:txBody>
      </p:sp>
      <p:sp>
        <p:nvSpPr>
          <p:cNvPr id="27" name="Shape 21"/>
          <p:cNvSpPr/>
          <p:nvPr/>
        </p:nvSpPr>
        <p:spPr>
          <a:xfrm>
            <a:off x="7035394" y="2496312"/>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377440"/>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Answer</a:t>
            </a:r>
            <a:endParaRPr lang="en-US" sz="1300" dirty="0"/>
          </a:p>
        </p:txBody>
      </p:sp>
      <p:sp>
        <p:nvSpPr>
          <p:cNvPr id="32" name="Text 25"/>
          <p:cNvSpPr txBox="1"/>
          <p:nvPr/>
        </p:nvSpPr>
        <p:spPr>
          <a:xfrm>
            <a:off x="7501738" y="2606040"/>
            <a:ext cx="1047902" cy="10972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8's grounded prompt, filled with the match.</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Retrieval is now a call to the index, not a loop over a list.</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plain C# class becomes a Pinecone record</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KnowledgeRecord</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Three VectorData attributes tell the connector what each property holds.</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Key: Id</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[VectorStoreKey] marks the unique record id.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Data: Text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[VectorStoreData] stores the fact, returned with each hit.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Vector: 1536</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[VectorStoreVector(1536)] with cosine similarity.</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dimension must match the embedding model: 1536 for text-embedding-3-small.</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COLLECTION LIFECYCLE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Three calls replace Lesson 8's hand-written search</a:t>
            </a:r>
            <a:endParaRPr lang="en-US" sz="2450" dirty="0"/>
          </a:p>
        </p:txBody>
      </p:sp>
      <p:sp>
        <p:nvSpPr>
          <p:cNvPr id="4" name="Shape 2"/>
          <p:cNvSpPr/>
          <p:nvPr/>
        </p:nvSpPr>
        <p:spPr>
          <a:xfrm>
            <a:off x="457200" y="1371600"/>
            <a:ext cx="2560320" cy="1463040"/>
          </a:xfrm>
          <a:prstGeom prst="roundRect">
            <a:avLst>
              <a:gd name="adj" fmla="val 50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Ensure</a:t>
            </a:r>
            <a:endParaRPr lang="en-US" sz="1500" dirty="0"/>
          </a:p>
        </p:txBody>
      </p:sp>
      <p:sp>
        <p:nvSpPr>
          <p:cNvPr id="8" name="Text 5"/>
          <p:cNvSpPr txBox="1"/>
          <p:nvPr/>
        </p:nvSpPr>
        <p:spPr>
          <a:xfrm>
            <a:off x="640080" y="2057400"/>
            <a:ext cx="219456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EnsureCollectionExistsAsync is idempotent: it creates the index only on the first run.</a:t>
            </a:r>
            <a:endParaRPr lang="en-US" sz="1200" dirty="0"/>
          </a:p>
        </p:txBody>
      </p:sp>
      <p:sp>
        <p:nvSpPr>
          <p:cNvPr id="9" name="Shape 6"/>
          <p:cNvSpPr/>
          <p:nvPr/>
        </p:nvSpPr>
        <p:spPr>
          <a:xfrm>
            <a:off x="3291840" y="1371600"/>
            <a:ext cx="2560320" cy="1463040"/>
          </a:xfrm>
          <a:prstGeom prst="roundRect">
            <a:avLst>
              <a:gd name="adj" fmla="val 500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Upsert</a:t>
            </a:r>
            <a:endParaRPr lang="en-US" sz="1500" dirty="0"/>
          </a:p>
        </p:txBody>
      </p:sp>
      <p:sp>
        <p:nvSpPr>
          <p:cNvPr id="13" name="Text 9"/>
          <p:cNvSpPr txBox="1"/>
          <p:nvPr/>
        </p:nvSpPr>
        <p:spPr>
          <a:xfrm>
            <a:off x="3474720" y="2057400"/>
            <a:ext cx="219456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UpsertAsync inserts or overwrites by key, so rerunning rewrites ids 0 to 4.</a:t>
            </a:r>
            <a:endParaRPr lang="en-US" sz="1200" dirty="0"/>
          </a:p>
        </p:txBody>
      </p:sp>
      <p:sp>
        <p:nvSpPr>
          <p:cNvPr id="14" name="Shape 10"/>
          <p:cNvSpPr/>
          <p:nvPr/>
        </p:nvSpPr>
        <p:spPr>
          <a:xfrm>
            <a:off x="6126480" y="1371600"/>
            <a:ext cx="2560320" cy="1463040"/>
          </a:xfrm>
          <a:prstGeom prst="roundRect">
            <a:avLst>
              <a:gd name="adj" fmla="val 500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Search</a:t>
            </a:r>
            <a:endParaRPr lang="en-US" sz="1500" dirty="0"/>
          </a:p>
        </p:txBody>
      </p:sp>
      <p:sp>
        <p:nvSpPr>
          <p:cNvPr id="18" name="Text 13"/>
          <p:cNvSpPr txBox="1"/>
          <p:nvPr/>
        </p:nvSpPr>
        <p:spPr>
          <a:xfrm>
            <a:off x="6309360" y="2057400"/>
            <a:ext cx="2194560" cy="685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SearchAsync(vector, top: 1) streams results, each with a Record and a Score.</a:t>
            </a:r>
            <a:endParaRPr lang="en-US" sz="1200" dirty="0"/>
          </a:p>
        </p:txBody>
      </p:sp>
      <p:sp>
        <p:nvSpPr>
          <p:cNvPr id="19" name="Text 14"/>
          <p:cNvSpPr txBox="1"/>
          <p:nvPr/>
        </p:nvSpPr>
        <p:spPr>
          <a:xfrm>
            <a:off x="457200" y="3063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Swap the store construction line and the same calls run on another connector.</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DECISION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is stable and what is at risk</a:t>
            </a:r>
            <a:endParaRPr lang="en-US" sz="2800" dirty="0"/>
          </a:p>
        </p:txBody>
      </p:sp>
      <p:sp>
        <p:nvSpPr>
          <p:cNvPr id="4" name="Shape 2"/>
          <p:cNvSpPr/>
          <p:nvPr/>
        </p:nvSpPr>
        <p:spPr>
          <a:xfrm>
            <a:off x="457200" y="1371600"/>
            <a:ext cx="39319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Stable: the abstraction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KnowledgeRecord and its attributes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Ensure, upsert and search calls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grounded prompt and answer</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At risk: the connector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Pinecone archived its .NET client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Connector is 1.74.0-preview</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Eventual consistency can miss a fresh upsert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If Pinecone becomes unreliable, change the store, not the pipeline.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Run it: the right fact, then a grounded answer</a:t>
            </a:r>
            <a:endParaRPr lang="en-US" sz="2700" dirty="0"/>
          </a:p>
        </p:txBody>
      </p:sp>
      <p:sp>
        <p:nvSpPr>
          <p:cNvPr id="4" name="Shape 2"/>
          <p:cNvSpPr/>
          <p:nvPr/>
        </p:nvSpPr>
        <p:spPr>
          <a:xfrm>
            <a:off x="457200" y="1325880"/>
            <a:ext cx="5257800" cy="2560320"/>
          </a:xfrm>
          <a:prstGeom prst="roundRect">
            <a:avLst>
              <a:gd name="adj" fmla="val 2857"/>
            </a:avLst>
          </a:prstGeom>
          <a:solidFill>
            <a:srgbClr val="0F1420"/>
          </a:solidFill>
          <a:ln w="12700">
            <a:solidFill>
              <a:srgbClr val="0F1420"/>
            </a:solidFill>
            <a:prstDash val="solid"/>
          </a:ln>
        </p:spPr>
      </p:sp>
      <p:sp>
        <p:nvSpPr>
          <p:cNvPr id="5" name="Text 3"/>
          <p:cNvSpPr txBox="1"/>
          <p:nvPr/>
        </p:nvSpPr>
        <p:spPr>
          <a:xfrm>
            <a:off x="640080" y="1463040"/>
            <a:ext cx="4892040" cy="228600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Embedding and upserting the knowledge base into Pinecone...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User Question: 'Where can I heat my lunch?'</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[CLOUD RETRIEVAL] Found relevant document (score 0.612): The microwave in the 2nd-floor breakroom is strictly for reheating food. Do not use it to cook raw food.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Agent is reading the retrieved document and generating an answer...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AI LIBRARIAN ANSWER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You can reheat your lunch in the breakroom microwave on the 2nd floor. It is for reheating only, not for cooking raw food.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microwave fact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Retrieval should pick it out of the five facts.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score and the answer's wording will differ.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match found?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index may lag the upsert. Run it again.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Retrieve more than one fact</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Return the top 2 matches, join their text into the context, and ask a question that needs both facts.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Lesson08a-CloudLibrarian/</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CloudLibrarian/Program.cs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Two [CLOUD RETRIEVAL] lines print, each with a score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prompt's context holds both facts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two-part question gets both parts answered</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empty search still prints the no-match message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Retrieve, then generate</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No retrieval: the whole manual goes into the prompt</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Vector similarity search</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Hybrid search blends vectors with keyword matching</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store that outlives the process</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25  </a:t>
            </a:r>
            <a:pPr indent="0" marL="0">
              <a:buNone/>
            </a:pPr>
            <a:r>
              <a:rPr lang="en-US" sz="1250" dirty="0">
                <a:solidFill>
                  <a:srgbClr val="FFFFFF"/>
                </a:solidFill>
                <a:latin typeface="Calibri" pitchFamily="34" charset="0"/>
                <a:ea typeface="Calibri" pitchFamily="34" charset="-122"/>
                <a:cs typeface="Calibri" pitchFamily="34" charset="-120"/>
              </a:rPr>
              <a:t>Facts about the user persist across restarts</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Embeddings as an index</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Episodic memory recalled by relevance, not recency</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8a — The Cloud Librarian</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8a — The Cloud Librarian</dc:title>
  <dc:subject>PptxGenJS Presentation</dc:subject>
  <dc:creator>Media Six LLC</dc:creator>
  <cp:lastModifiedBy>Media Six LLC</cp:lastModifiedBy>
  <cp:revision>1</cp:revision>
  <dcterms:created xsi:type="dcterms:W3CDTF">2026-10-21T23:08:51Z</dcterms:created>
  <dcterms:modified xsi:type="dcterms:W3CDTF">2026-10-21T23:08:51Z</dcterms:modified>
</cp:coreProperties>
</file>